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34"/>
  </p:notesMasterIdLst>
  <p:sldIdLst>
    <p:sldId id="353" r:id="rId5"/>
    <p:sldId id="354" r:id="rId6"/>
    <p:sldId id="355" r:id="rId7"/>
    <p:sldId id="356" r:id="rId8"/>
    <p:sldId id="357" r:id="rId9"/>
    <p:sldId id="358" r:id="rId10"/>
    <p:sldId id="359" r:id="rId11"/>
    <p:sldId id="360" r:id="rId12"/>
    <p:sldId id="361" r:id="rId13"/>
    <p:sldId id="362" r:id="rId14"/>
    <p:sldId id="363" r:id="rId15"/>
    <p:sldId id="364" r:id="rId16"/>
    <p:sldId id="338" r:id="rId17"/>
    <p:sldId id="366" r:id="rId18"/>
    <p:sldId id="380" r:id="rId19"/>
    <p:sldId id="368" r:id="rId20"/>
    <p:sldId id="369" r:id="rId21"/>
    <p:sldId id="370" r:id="rId22"/>
    <p:sldId id="371" r:id="rId23"/>
    <p:sldId id="372" r:id="rId24"/>
    <p:sldId id="373" r:id="rId25"/>
    <p:sldId id="381" r:id="rId26"/>
    <p:sldId id="375" r:id="rId27"/>
    <p:sldId id="349" r:id="rId28"/>
    <p:sldId id="377" r:id="rId29"/>
    <p:sldId id="378" r:id="rId30"/>
    <p:sldId id="365" r:id="rId31"/>
    <p:sldId id="379" r:id="rId32"/>
    <p:sldId id="37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F3A49-432E-4A64-A3EB-399A3A66CDF0}" v="12" dt="2026-05-29T02:43:19.576"/>
    <p1510:client id="{E46FCE16-CDA5-E454-F93F-DBD848F531F7}" v="194" dt="2026-05-29T11:41:10.6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47" autoAdjust="0"/>
  </p:normalViewPr>
  <p:slideViewPr>
    <p:cSldViewPr snapToGrid="0">
      <p:cViewPr varScale="1">
        <p:scale>
          <a:sx n="106" d="100"/>
          <a:sy n="106" d="100"/>
        </p:scale>
        <p:origin x="756"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8CE478-358A-4E9F-AE22-0A81AAAFB230}" type="datetimeFigureOut">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C1A914-41DE-44DB-891B-AD840F0448BE}" type="slidenum">
              <a:rPr lang="en-US" smtClean="0"/>
              <a:t>‹#›</a:t>
            </a:fld>
            <a:endParaRPr lang="en-US"/>
          </a:p>
        </p:txBody>
      </p:sp>
    </p:spTree>
    <p:extLst>
      <p:ext uri="{BB962C8B-B14F-4D97-AF65-F5344CB8AC3E}">
        <p14:creationId xmlns:p14="http://schemas.microsoft.com/office/powerpoint/2010/main" val="413120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vi-VN">
                <a:latin typeface="Arial"/>
                <a:cs typeface="Arial"/>
              </a:rPr>
              <a:t>Hôm nay, chúng em xin trình bày khóa luận tốt nghiệp với đề tài: </a:t>
            </a:r>
            <a:r>
              <a:rPr lang="vi-VN" b="1">
                <a:latin typeface="Arial"/>
                <a:cs typeface="Arial"/>
              </a:rPr>
              <a:t>“Phát hiện ranh giới cảnh quay dựa trên mô hình học sâu.”</a:t>
            </a:r>
            <a:endParaRPr lang="vi-VN">
              <a:latin typeface="Arial"/>
              <a:cs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Bài trình bày của chúng em gồm 5 phần chính.</a:t>
            </a:r>
          </a:p>
          <a:p>
            <a:r>
              <a:rPr lang="vi-VN"/>
              <a:t>Phần đầu tiên là </a:t>
            </a:r>
            <a:r>
              <a:rPr lang="vi-VN" b="1"/>
              <a:t>tổng quan bài toán</a:t>
            </a:r>
            <a:r>
              <a:rPr lang="vi-VN"/>
              <a:t>, trong đó chúng em trình bày bối cảnh, động lực và phát biểu bài toán Shot Boundary Detection.</a:t>
            </a:r>
          </a:p>
          <a:p>
            <a:r>
              <a:rPr lang="vi-VN"/>
              <a:t>Phần thứ hai là </a:t>
            </a:r>
            <a:r>
              <a:rPr lang="vi-VN" b="1"/>
              <a:t>các công trình liên quan</a:t>
            </a:r>
            <a:r>
              <a:rPr lang="vi-VN"/>
              <a:t>, nhằm làm rõ sự phát triển của các phương pháp từ truyền thống, deep learning cho đến NAS.</a:t>
            </a:r>
          </a:p>
          <a:p>
            <a:r>
              <a:rPr lang="vi-VN"/>
              <a:t>Phần thứ ba là </a:t>
            </a:r>
            <a:r>
              <a:rPr lang="vi-VN" b="1"/>
              <a:t>phương pháp đề xuất AutoShotV2</a:t>
            </a:r>
            <a:r>
              <a:rPr lang="vi-VN"/>
              <a:t>, đây là đóng góp chính của khóa luận.</a:t>
            </a:r>
          </a:p>
          <a:p>
            <a:r>
              <a:rPr lang="vi-VN"/>
              <a:t>Phần thứ tư trình bày </a:t>
            </a:r>
            <a:r>
              <a:rPr lang="vi-VN" b="1"/>
              <a:t>thực nghiệm và kết quả</a:t>
            </a:r>
            <a:r>
              <a:rPr lang="vi-VN"/>
              <a:t> trên các bộ dữ liệu.</a:t>
            </a:r>
          </a:p>
          <a:p>
            <a:r>
              <a:rPr lang="vi-VN"/>
              <a:t>Cuối cùng là </a:t>
            </a:r>
            <a:r>
              <a:rPr lang="vi-VN" b="1"/>
              <a:t>kết luận, hạn chế và hướng phát triển</a:t>
            </a:r>
            <a:r>
              <a:rPr lang="vi-VN"/>
              <a:t>.</a:t>
            </a:r>
          </a:p>
          <a:p>
            <a:r>
              <a:rPr lang="vi-VN"/>
              <a:t>Em xin bắt đầu với phần thứ nhất: tổng quan bài toán.</a:t>
            </a:r>
          </a:p>
          <a:p>
            <a:endParaRPr lang="vi-VN" sz="1200" b="0" i="0" kern="1200">
              <a:solidFill>
                <a:schemeClr val="tx1"/>
              </a:solidFill>
              <a:effectLst/>
              <a:latin typeface="Arial"/>
              <a:cs typeface="Arial"/>
            </a:endParaRPr>
          </a:p>
        </p:txBody>
      </p:sp>
      <p:sp>
        <p:nvSpPr>
          <p:cNvPr id="4" name="Slide Number Placeholder 3"/>
          <p:cNvSpPr>
            <a:spLocks noGrp="1"/>
          </p:cNvSpPr>
          <p:nvPr>
            <p:ph type="sldNum" sz="quarter" idx="5"/>
          </p:nvPr>
        </p:nvSpPr>
        <p:spPr/>
        <p:txBody>
          <a:bodyPr/>
          <a:lstStyle/>
          <a:p>
            <a:fld id="{2BC1A914-41DE-44DB-891B-AD840F0448BE}" type="slidenum">
              <a:rPr lang="en-US" smtClean="0"/>
              <a:t>2</a:t>
            </a:fld>
            <a:endParaRPr lang="en-US"/>
          </a:p>
        </p:txBody>
      </p:sp>
    </p:spTree>
    <p:extLst>
      <p:ext uri="{BB962C8B-B14F-4D97-AF65-F5344CB8AC3E}">
        <p14:creationId xmlns:p14="http://schemas.microsoft.com/office/powerpoint/2010/main" val="498739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Trong vài năm gần đây, video dạng ngắn như TikTok, Reels và YouTube Shorts phát triển rất mạnh và chiếm tỷ trọng lớn trong nội dung số.</a:t>
            </a:r>
          </a:p>
          <a:p>
            <a:r>
              <a:rPr lang="vi-VN"/>
              <a:t>Khi số lượng video tăng nhanh, nhu cầu phân tích video tự động cũng trở nên rất quan trọng, chẳng hạn như lập chỉ mục nội dung, đề xuất video, kiểm duyệt nội dung và chèn quảng cáo.</a:t>
            </a:r>
          </a:p>
          <a:p>
            <a:r>
              <a:rPr lang="vi-VN"/>
              <a:t>Để các hệ thống này hoạt động hiệu quả, một bước nền tảng là phải chia video thành các cảnh quay nhỏ hơn. Đây chính là bài toán </a:t>
            </a:r>
            <a:r>
              <a:rPr lang="vi-VN" b="1"/>
              <a:t>Shot Boundary Detection</a:t>
            </a:r>
            <a:r>
              <a:rPr lang="vi-VN"/>
              <a:t>, hay phát hiện ranh giới cảnh quay.</a:t>
            </a:r>
          </a:p>
          <a:p>
            <a:r>
              <a:rPr lang="vi-VN"/>
              <a:t>Tuy nhiên, các phương pháp truyền thống thường được xây dựng trên phim dài hoặc video có cấu trúc ổn định. Khi áp dụng sang video ngắn, nơi có nhịp cắt nhanh, nhiều hiệu ứng và nội dung thay đổi liên tục, hiệu năng thường bị giảm.</a:t>
            </a:r>
          </a:p>
          <a:p>
            <a:r>
              <a:rPr lang="vi-VN"/>
              <a:t>Đây chính là động lực để chúng em nghiên cứu một hướng cải tiến phù hợp hơn với miền video ngắn.</a:t>
            </a:r>
          </a:p>
          <a:p>
            <a:endParaRPr lang="vi-VN">
              <a:latin typeface="Arial"/>
              <a:cs typeface="Arial"/>
            </a:endParaRPr>
          </a:p>
        </p:txBody>
      </p:sp>
      <p:sp>
        <p:nvSpPr>
          <p:cNvPr id="4" name="Slide Number Placeholder 3"/>
          <p:cNvSpPr>
            <a:spLocks noGrp="1"/>
          </p:cNvSpPr>
          <p:nvPr>
            <p:ph type="sldNum" sz="quarter" idx="5"/>
          </p:nvPr>
        </p:nvSpPr>
        <p:spPr/>
        <p:txBody>
          <a:bodyPr/>
          <a:lstStyle/>
          <a:p>
            <a:fld id="{2BC1A914-41DE-44DB-891B-AD840F0448BE}" type="slidenum">
              <a:rPr lang="en-US" smtClean="0"/>
              <a:t>3</a:t>
            </a:fld>
            <a:endParaRPr lang="en-US"/>
          </a:p>
        </p:txBody>
      </p:sp>
    </p:spTree>
    <p:extLst>
      <p:ext uri="{BB962C8B-B14F-4D97-AF65-F5344CB8AC3E}">
        <p14:creationId xmlns:p14="http://schemas.microsoft.com/office/powerpoint/2010/main" val="2979312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Bài toán Shot Boundary Detection có thể được phát biểu như sau.</a:t>
            </a:r>
          </a:p>
          <a:p>
            <a:r>
              <a:rPr lang="vi-VN"/>
              <a:t>Đầu vào là một video gồm nhiều khung hình liên tiếp, ký hiệu là tập V gồm các frame từ f1 đến fn.</a:t>
            </a:r>
          </a:p>
          <a:p>
            <a:r>
              <a:rPr lang="vi-VN"/>
              <a:t>Đầu ra là tập các vị trí ranh giới giữa các shot, tức là những thời điểm mà video chuyển từ một cảnh quay sang cảnh quay khác.</a:t>
            </a:r>
          </a:p>
          <a:p>
            <a:r>
              <a:rPr lang="vi-VN"/>
              <a:t>Trong thực tế, có hai nhóm chuyển cảnh chính.</a:t>
            </a:r>
          </a:p>
          <a:p>
            <a:r>
              <a:rPr lang="vi-VN"/>
              <a:t>Loại thứ nhất là </a:t>
            </a:r>
            <a:r>
              <a:rPr lang="vi-VN" b="1"/>
              <a:t>cut</a:t>
            </a:r>
            <a:r>
              <a:rPr lang="vi-VN"/>
              <a:t>, tức chuyển cảnh đột ngột giữa hai khung hình liên tiếp. Đây là trường hợp thường dễ phát hiện hơn vì sự thay đổi hình ảnh xảy ra rất rõ ràng.</a:t>
            </a:r>
          </a:p>
          <a:p>
            <a:r>
              <a:rPr lang="vi-VN"/>
              <a:t>Loại thứ hai là </a:t>
            </a:r>
            <a:r>
              <a:rPr lang="vi-VN" b="1"/>
              <a:t>gradual transition</a:t>
            </a:r>
            <a:r>
              <a:rPr lang="vi-VN"/>
              <a:t>, bao gồm fade, dissolve và wipe. Các chuyển cảnh này diễn ra trong nhiều khung hình nên khó phát hiện hơn, vì ranh giới không còn là một điểm rõ ràng mà là một vùng chuyển tiếp.</a:t>
            </a:r>
          </a:p>
          <a:p>
            <a:r>
              <a:rPr lang="vi-VN"/>
              <a:t>Do đó, một mô hình SBD tốt cần vừa phát hiện chính xác các cut, vừa xử lý tốt các chuyển cảnh dần.</a:t>
            </a:r>
          </a:p>
          <a:p>
            <a:endParaRPr lang="vi-VN">
              <a:latin typeface="Arial"/>
              <a:cs typeface="Arial"/>
            </a:endParaRPr>
          </a:p>
        </p:txBody>
      </p:sp>
      <p:sp>
        <p:nvSpPr>
          <p:cNvPr id="4" name="Slide Number Placeholder 3"/>
          <p:cNvSpPr>
            <a:spLocks noGrp="1"/>
          </p:cNvSpPr>
          <p:nvPr>
            <p:ph type="sldNum" sz="quarter" idx="5"/>
          </p:nvPr>
        </p:nvSpPr>
        <p:spPr/>
        <p:txBody>
          <a:bodyPr/>
          <a:lstStyle/>
          <a:p>
            <a:fld id="{2BC1A914-41DE-44DB-891B-AD840F0448BE}" type="slidenum">
              <a:rPr lang="en-US" smtClean="0"/>
              <a:t>4</a:t>
            </a:fld>
            <a:endParaRPr lang="en-US"/>
          </a:p>
        </p:txBody>
      </p:sp>
    </p:spTree>
    <p:extLst>
      <p:ext uri="{BB962C8B-B14F-4D97-AF65-F5344CB8AC3E}">
        <p14:creationId xmlns:p14="http://schemas.microsoft.com/office/powerpoint/2010/main" val="1957757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này minh họa bốn loại chuyển cảnh phổ biến trong video.</a:t>
            </a:r>
          </a:p>
          <a:p>
            <a:r>
              <a:rPr lang="vi-VN"/>
              <a:t>Đầu tiên là </a:t>
            </a:r>
            <a:r>
              <a:rPr lang="vi-VN" b="1"/>
              <a:t>cut</a:t>
            </a:r>
            <a:r>
              <a:rPr lang="vi-VN"/>
              <a:t>, tức là cảnh thay đổi đột ngột từ khung hình này sang khung hình kế tiếp.</a:t>
            </a:r>
          </a:p>
          <a:p>
            <a:r>
              <a:rPr lang="vi-VN"/>
              <a:t>Thứ hai là </a:t>
            </a:r>
            <a:r>
              <a:rPr lang="vi-VN" b="1"/>
              <a:t>dissolve</a:t>
            </a:r>
            <a:r>
              <a:rPr lang="vi-VN"/>
              <a:t>, trong đó cảnh cũ mờ dần đồng thời cảnh mới hiện dần lên, tạo ra sự hòa trộn giữa hai cảnh.</a:t>
            </a:r>
          </a:p>
          <a:p>
            <a:r>
              <a:rPr lang="vi-VN"/>
              <a:t>Thứ ba là </a:t>
            </a:r>
            <a:r>
              <a:rPr lang="vi-VN" b="1"/>
              <a:t>fade</a:t>
            </a:r>
            <a:r>
              <a:rPr lang="vi-VN"/>
              <a:t>, thường là cảnh xuất hiện dần từ nền đen hoặc biến mất dần về nền đen.</a:t>
            </a:r>
          </a:p>
          <a:p>
            <a:r>
              <a:rPr lang="vi-VN"/>
              <a:t>Cuối cùng là </a:t>
            </a:r>
            <a:r>
              <a:rPr lang="vi-VN" b="1"/>
              <a:t>wipe</a:t>
            </a:r>
            <a:r>
              <a:rPr lang="vi-VN"/>
              <a:t>, trong đó một ranh giới hình học quét qua khung hình để thay thế cảnh cũ bằng cảnh mới.</a:t>
            </a:r>
          </a:p>
          <a:p>
            <a:r>
              <a:rPr lang="vi-VN"/>
              <a:t>Trong bốn loại này, cut thường dễ nhận biết hơn. Ba loại còn lại thuộc nhóm gradual transition và là thách thức lớn hơn đối với các mô hình phát hiện ranh giới cảnh quay.</a:t>
            </a:r>
          </a:p>
          <a:p>
            <a:endParaRPr lang="vi-VN">
              <a:latin typeface="Arial"/>
              <a:cs typeface="Arial"/>
            </a:endParaRPr>
          </a:p>
        </p:txBody>
      </p:sp>
      <p:sp>
        <p:nvSpPr>
          <p:cNvPr id="4" name="Slide Number Placeholder 3"/>
          <p:cNvSpPr>
            <a:spLocks noGrp="1"/>
          </p:cNvSpPr>
          <p:nvPr>
            <p:ph type="sldNum" sz="quarter" idx="5"/>
          </p:nvPr>
        </p:nvSpPr>
        <p:spPr/>
        <p:txBody>
          <a:bodyPr/>
          <a:lstStyle/>
          <a:p>
            <a:fld id="{2BC1A914-41DE-44DB-891B-AD840F0448BE}" type="slidenum">
              <a:rPr lang="en-US" smtClean="0"/>
              <a:t>5</a:t>
            </a:fld>
            <a:endParaRPr lang="en-US"/>
          </a:p>
        </p:txBody>
      </p:sp>
    </p:spTree>
    <p:extLst>
      <p:ext uri="{BB962C8B-B14F-4D97-AF65-F5344CB8AC3E}">
        <p14:creationId xmlns:p14="http://schemas.microsoft.com/office/powerpoint/2010/main" val="127303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Video ngắn có nhiều đặc trưng khiến bài toán SBD trở nên khó hơn so với phim dài.</a:t>
            </a:r>
          </a:p>
          <a:p>
            <a:r>
              <a:rPr lang="vi-VN"/>
              <a:t>Thứ nhất, nhịp cắt trong video ngắn rất nhanh. Độ dài shot trung bình chỉ khoảng 2,59 giây, thấp hơn nhiều so với video truyền thống.</a:t>
            </a:r>
          </a:p>
          <a:p>
            <a:r>
              <a:rPr lang="vi-VN"/>
              <a:t>Thứ hai, các hiệu ứng chuyển cảnh trong video ngắn rất đa dạng, do người dùng thường chỉnh sửa bằng các công cụ editor với nhiều hiệu ứng phức tạp.</a:t>
            </a:r>
          </a:p>
          <a:p>
            <a:r>
              <a:rPr lang="vi-VN"/>
              <a:t>Thứ ba, video dọc thường có cấu trúc ba phần, ví dụ phần nội dung chính ở giữa và vùng viền tĩnh ở trên hoặc dưới. Cấu trúc này có thể gây nhiễu cho mô hình.</a:t>
            </a:r>
          </a:p>
          <a:p>
            <a:r>
              <a:rPr lang="vi-VN"/>
              <a:t>Thứ tư, các yếu tố như flash, thay đổi ánh sáng, camera motion hoặc zoom nhanh có thể làm mô hình nhầm là có ranh giới cảnh quay, dù thực tế vẫn nằm trong cùng một shot.</a:t>
            </a:r>
          </a:p>
          <a:p>
            <a:r>
              <a:rPr lang="vi-VN"/>
              <a:t>Cuối cùng, với video game hoặc nội dung ảo, hình ảnh có thể thay đổi rất mạnh ngay trong cùng một shot.</a:t>
            </a:r>
          </a:p>
          <a:p>
            <a:r>
              <a:rPr lang="vi-VN"/>
              <a:t>Từ những đặc trưng này, có thể thấy video ngắn là một miền dữ liệu riêng và cần có phương pháp xử lý phù hợp hơn.</a:t>
            </a:r>
          </a:p>
          <a:p>
            <a:endParaRPr lang="vi-VN">
              <a:latin typeface="Arial"/>
              <a:cs typeface="Arial"/>
            </a:endParaRPr>
          </a:p>
        </p:txBody>
      </p:sp>
      <p:sp>
        <p:nvSpPr>
          <p:cNvPr id="4" name="Slide Number Placeholder 3"/>
          <p:cNvSpPr>
            <a:spLocks noGrp="1"/>
          </p:cNvSpPr>
          <p:nvPr>
            <p:ph type="sldNum" sz="quarter" idx="5"/>
          </p:nvPr>
        </p:nvSpPr>
        <p:spPr/>
        <p:txBody>
          <a:bodyPr/>
          <a:lstStyle/>
          <a:p>
            <a:fld id="{2BC1A914-41DE-44DB-891B-AD840F0448BE}" type="slidenum">
              <a:rPr lang="en-US" smtClean="0"/>
              <a:t>6</a:t>
            </a:fld>
            <a:endParaRPr lang="en-US"/>
          </a:p>
        </p:txBody>
      </p:sp>
    </p:spTree>
    <p:extLst>
      <p:ext uri="{BB962C8B-B14F-4D97-AF65-F5344CB8AC3E}">
        <p14:creationId xmlns:p14="http://schemas.microsoft.com/office/powerpoint/2010/main" val="1525277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Từ các thách thức vừa nêu, khóa luận đặt ra ba câu hỏi nghiên cứu.</a:t>
            </a:r>
          </a:p>
          <a:p>
            <a:r>
              <a:rPr lang="vi-VN"/>
              <a:t>Câu hỏi thứ nhất là: liệu kiến trúc được tìm kiếm bằng NAS có thực sự phù hợp hơn so với các backbone cố định khi áp dụng cho video ngắn hay không? Câu hỏi này giúp chúng em xác định nền tảng phù hợp để kế thừa.</a:t>
            </a:r>
          </a:p>
          <a:p>
            <a:r>
              <a:rPr lang="vi-VN"/>
              <a:t>Câu hỏi thứ hai là: nếu giữ nguyên backbone, liệu các cải tiến ở tầng phân loại và hậu xử lý như Focal Loss, many-hot labels, temperature scaling và Gaussian smoothing có thể cải thiện F1 hay không?</a:t>
            </a:r>
          </a:p>
          <a:p>
            <a:r>
              <a:rPr lang="vi-VN"/>
              <a:t>Câu hỏi thứ ba là: các cải tiến này có tổng quát hóa tốt sang các bộ dữ liệu khác như BBC và ClipShots hay không?</a:t>
            </a:r>
          </a:p>
          <a:p>
            <a:r>
              <a:rPr lang="vi-VN"/>
              <a:t>Tương ứng, khóa luận có ba đóng góp chính.</a:t>
            </a:r>
          </a:p>
          <a:p>
            <a:r>
              <a:rPr lang="vi-VN"/>
              <a:t>Thứ nhất, chúng em hệ thống hóa các hướng tiếp cận SBD từ phương pháp cổ điển, deep learning đến NAS.</a:t>
            </a:r>
          </a:p>
          <a:p>
            <a:r>
              <a:rPr lang="vi-VN"/>
              <a:t>Thứ hai, chúng em đề xuất pipeline </a:t>
            </a:r>
            <a:r>
              <a:rPr lang="vi-VN" b="1"/>
              <a:t>AutoShotV2</a:t>
            </a:r>
            <a:r>
              <a:rPr lang="vi-VN"/>
              <a:t>, tập trung cải tiến tầng đầu ra và hậu xử lý trên backbone NAS đã được tối ưu.</a:t>
            </a:r>
          </a:p>
          <a:p>
            <a:r>
              <a:rPr lang="vi-VN"/>
              <a:t>Thứ ba, chúng em đánh giá mô hình trên nhiều bộ dữ liệu để phân tích khả năng tổng quát hóa.</a:t>
            </a:r>
          </a:p>
          <a:p>
            <a:endParaRPr lang="vi-VN">
              <a:latin typeface="Arial"/>
              <a:cs typeface="Arial"/>
            </a:endParaRPr>
          </a:p>
        </p:txBody>
      </p:sp>
      <p:sp>
        <p:nvSpPr>
          <p:cNvPr id="4" name="Slide Number Placeholder 3"/>
          <p:cNvSpPr>
            <a:spLocks noGrp="1"/>
          </p:cNvSpPr>
          <p:nvPr>
            <p:ph type="sldNum" sz="quarter" idx="5"/>
          </p:nvPr>
        </p:nvSpPr>
        <p:spPr/>
        <p:txBody>
          <a:bodyPr/>
          <a:lstStyle/>
          <a:p>
            <a:fld id="{2BC1A914-41DE-44DB-891B-AD840F0448BE}" type="slidenum">
              <a:rPr lang="en-US" smtClean="0"/>
              <a:t>7</a:t>
            </a:fld>
            <a:endParaRPr lang="en-US"/>
          </a:p>
        </p:txBody>
      </p:sp>
    </p:spTree>
    <p:extLst>
      <p:ext uri="{BB962C8B-B14F-4D97-AF65-F5344CB8AC3E}">
        <p14:creationId xmlns:p14="http://schemas.microsoft.com/office/powerpoint/2010/main" val="1445229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 phương pháp SBD có thể được chia thành ba giai đoạn chính.</a:t>
            </a:r>
          </a:p>
          <a:p>
            <a:r>
              <a:rPr lang="vi-VN"/>
              <a:t>Giai đoạn đầu là các phương pháp cổ điển, thường dựa trên histogram màu, độ khác biệt pixel hoặc cạnh ảnh. Những phương pháp này có ưu điểm là đơn giản, dễ hiểu và nhẹ về tính toán, nhưng khả năng tổng quát hóa không cao.</a:t>
            </a:r>
          </a:p>
          <a:p>
            <a:r>
              <a:rPr lang="vi-VN"/>
              <a:t>Giai đoạn tiếp theo là các phương pháp deep learning, tiêu biểu như DeepSBD, C3D và TransNetV2. Các mô hình này học đặc trưng không gian — thời gian trực tiếp từ dữ liệu, nên đạt hiệu năng tốt hơn đáng kể.</a:t>
            </a:r>
          </a:p>
          <a:p>
            <a:r>
              <a:rPr lang="vi-VN"/>
              <a:t>Giai đoạn gần đây là hướng sử dụng </a:t>
            </a:r>
            <a:r>
              <a:rPr lang="vi-VN" b="1"/>
              <a:t>Neural Architecture Search</a:t>
            </a:r>
            <a:r>
              <a:rPr lang="vi-VN"/>
              <a:t>, tiêu biểu là AutoShot. Thay vì thiết kế kiến trúc thủ công, AutoShot tự động tìm kiếm kiến trúc phù hợp hơn cho video ngắn.</a:t>
            </a:r>
          </a:p>
          <a:p>
            <a:r>
              <a:rPr lang="vi-VN"/>
              <a:t>AutoShotV2 của chúng em kế thừa hướng tiếp cận này, nhưng thay vì tìm lại backbone, chúng em tập trung cải tiến phần classification head và hậu xử lý.</a:t>
            </a:r>
          </a:p>
          <a:p>
            <a:endParaRPr lang="vi-VN">
              <a:latin typeface="Arial"/>
              <a:cs typeface="Arial"/>
            </a:endParaRPr>
          </a:p>
        </p:txBody>
      </p:sp>
      <p:sp>
        <p:nvSpPr>
          <p:cNvPr id="4" name="Slide Number Placeholder 3"/>
          <p:cNvSpPr>
            <a:spLocks noGrp="1"/>
          </p:cNvSpPr>
          <p:nvPr>
            <p:ph type="sldNum" sz="quarter" idx="5"/>
          </p:nvPr>
        </p:nvSpPr>
        <p:spPr/>
        <p:txBody>
          <a:bodyPr/>
          <a:lstStyle/>
          <a:p>
            <a:fld id="{2BC1A914-41DE-44DB-891B-AD840F0448BE}" type="slidenum">
              <a:rPr lang="en-US" smtClean="0"/>
              <a:t>8</a:t>
            </a:fld>
            <a:endParaRPr lang="en-US"/>
          </a:p>
        </p:txBody>
      </p:sp>
    </p:spTree>
    <p:extLst>
      <p:ext uri="{BB962C8B-B14F-4D97-AF65-F5344CB8AC3E}">
        <p14:creationId xmlns:p14="http://schemas.microsoft.com/office/powerpoint/2010/main" val="690459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Bảng này tổng hợp kết quả F1-score của một số mô hình tiêu biểu trên ba bộ dữ liệu: SHOT, BBC và ClipShots.</a:t>
            </a:r>
            <a:endParaRPr lang="vi-VN"/>
          </a:p>
          <a:p>
            <a:r>
              <a:rPr lang="en-US"/>
              <a:t>Có thể thấy các mô hình deep learning như DeepSBD và TransNetV2 đạt kết quả rất tốt trên BBC, vốn là bộ dữ liệu phim tài liệu dài và ổn định hơn.</a:t>
            </a:r>
          </a:p>
          <a:p>
            <a:r>
              <a:rPr lang="en-US"/>
              <a:t>TransNetV2 là một baseline mạnh, đạt F1 cao trên BBC và ClipShots. Tuy nhiên, khi đánh giá trên SHOT, hiệu năng thấp hơn so với AutoShot.</a:t>
            </a:r>
          </a:p>
          <a:p>
            <a:r>
              <a:rPr lang="en-US"/>
              <a:t>AutoShot đạt kết quả tốt hơn trên SHOT nhờ sử dụng NAS để tìm kiếm kiến trúc phù hợp hơn với đặc trưng video ngắn.</a:t>
            </a:r>
          </a:p>
          <a:p>
            <a:r>
              <a:rPr lang="en-US"/>
              <a:t>Từ bảng này, chúng em chọn AutoShot làm nền tảng để phát triển AutoShotV2, vì AutoShot đã chứng minh được ưu thế trên miền short-form video.</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Qua khảo sát các công trình liên quan, chúng em nhận thấy ba khoảng trống chính.</a:t>
            </a:r>
          </a:p>
          <a:p>
            <a:r>
              <a:rPr lang="vi-VN"/>
              <a:t>Thứ nhất, các bộ dữ liệu SBD có đặc trưng rất khác nhau, nhưng nhiều nghiên cứu chưa phân tích rõ sự khác biệt giữa các miền dữ liệu.</a:t>
            </a:r>
          </a:p>
          <a:p>
            <a:r>
              <a:rPr lang="vi-VN"/>
              <a:t>Thứ hai, nhiều mô hình đạt kết quả tốt trên bộ dữ liệu mà chúng được huấn luyện hoặc tối ưu, nhưng chưa được kiểm chứng đầy đủ về khả năng tổng quát hóa sang miền khác.</a:t>
            </a:r>
          </a:p>
          <a:p>
            <a:r>
              <a:rPr lang="vi-VN"/>
              <a:t>Thứ ba, phần lớn nghiên cứu tập trung vào backbone, trong khi tầng classification head, hiệu chỉnh xác suất và hậu xử lý theo thời gian chưa được khảo sát một cách hệ thống.</a:t>
            </a:r>
          </a:p>
          <a:p>
            <a:r>
              <a:rPr lang="vi-VN"/>
              <a:t>AutoShotV2 tập trung vào khoảng trống thứ ba: cải tiến tầng đầu ra và hậu xử lý mà không thay đổi backbone. Đồng thời, chúng em cũng đánh giá trên nhiều bộ dữ liệu để quan sát khả năng tổng quát hóa.</a:t>
            </a:r>
          </a:p>
          <a:p>
            <a:endParaRPr lang="vi-VN">
              <a:latin typeface="Arial"/>
              <a:cs typeface="Arial"/>
            </a:endParaRPr>
          </a:p>
        </p:txBody>
      </p:sp>
      <p:sp>
        <p:nvSpPr>
          <p:cNvPr id="4" name="Slide Number Placeholder 3"/>
          <p:cNvSpPr>
            <a:spLocks noGrp="1"/>
          </p:cNvSpPr>
          <p:nvPr>
            <p:ph type="sldNum" sz="quarter" idx="5"/>
          </p:nvPr>
        </p:nvSpPr>
        <p:spPr/>
        <p:txBody>
          <a:bodyPr/>
          <a:lstStyle/>
          <a:p>
            <a:fld id="{2BC1A914-41DE-44DB-891B-AD840F0448BE}" type="slidenum">
              <a:rPr lang="en-US" smtClean="0"/>
              <a:t>10</a:t>
            </a:fld>
            <a:endParaRPr lang="en-US"/>
          </a:p>
        </p:txBody>
      </p:sp>
    </p:spTree>
    <p:extLst>
      <p:ext uri="{BB962C8B-B14F-4D97-AF65-F5344CB8AC3E}">
        <p14:creationId xmlns:p14="http://schemas.microsoft.com/office/powerpoint/2010/main" val="2955208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Trước khi trình bày AutoShot và AutoShotV2, em xin giới thiệu ngắn về TransNetV2, vì đây là một nền tảng quan trọng trong bài toán SBD.</a:t>
            </a:r>
          </a:p>
          <a:p>
            <a:r>
              <a:rPr lang="vi-VN"/>
              <a:t>TransNetV2 sử dụng kiến trúc DDCNN, tức là mạng tích chập giãn nở theo thời gian. Các khối tích chập với nhiều hệ số dilation khác nhau giúp mô hình quan sát được ngữ cảnh ở nhiều phạm vi thời gian.</a:t>
            </a:r>
          </a:p>
          <a:p>
            <a:r>
              <a:rPr lang="vi-VN"/>
              <a:t>Ngoài nhánh đặc trưng chính, TransNetV2 còn sử dụng nhánh similarity, bao gồm histogram RGB và learned similarity, nhằm bổ sung tín hiệu về mức độ thay đổi giữa các khung hình.</a:t>
            </a:r>
          </a:p>
          <a:p>
            <a:r>
              <a:rPr lang="vi-VN"/>
              <a:t>Mô hình có hai đầu phân loại song song: single-frame head và all-frame head. Khi suy diễn, mô hình xử lý video bằng cửa sổ trượt 100 khung hình.</a:t>
            </a:r>
          </a:p>
          <a:p>
            <a:r>
              <a:rPr lang="vi-VN"/>
              <a:t>TransNetV2 là một baseline rất mạnh, đặc biệt trên phim dài, và là nền tảng mà AutoShot kế thừa để tiếp tục cải tiến.</a:t>
            </a:r>
          </a:p>
          <a:p>
            <a:endParaRPr lang="vi-VN">
              <a:latin typeface="Arial"/>
              <a:ea typeface="Calibri"/>
              <a:cs typeface="Arial"/>
            </a:endParaRPr>
          </a:p>
        </p:txBody>
      </p:sp>
      <p:sp>
        <p:nvSpPr>
          <p:cNvPr id="4" name="Chỗ dành sẵn cho Số hiệu Bản chiếu 3"/>
          <p:cNvSpPr>
            <a:spLocks noGrp="1"/>
          </p:cNvSpPr>
          <p:nvPr>
            <p:ph type="sldNum" sz="quarter" idx="5"/>
          </p:nvPr>
        </p:nvSpPr>
        <p:spPr/>
        <p:txBody>
          <a:bodyPr/>
          <a:lstStyle/>
          <a:p>
            <a:fld id="{2BC1A914-41DE-44DB-891B-AD840F0448BE}" type="slidenum">
              <a:rPr lang="en-US" smtClean="0"/>
              <a:t>11</a:t>
            </a:fld>
            <a:endParaRPr lang="en-US"/>
          </a:p>
        </p:txBody>
      </p:sp>
    </p:spTree>
    <p:extLst>
      <p:ext uri="{BB962C8B-B14F-4D97-AF65-F5344CB8AC3E}">
        <p14:creationId xmlns:p14="http://schemas.microsoft.com/office/powerpoint/2010/main" val="2095054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09933-D7C5-AF42-19CA-8820826CF2C4}"/>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D88B910F-1030-951E-7F7D-865DC45E592E}"/>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488E8E6D-B22D-3F9C-2AAB-B0DAEA77D37D}"/>
              </a:ext>
            </a:extLst>
          </p:cNvPr>
          <p:cNvSpPr>
            <a:spLocks noGrp="1"/>
          </p:cNvSpPr>
          <p:nvPr>
            <p:ph type="body" idx="1"/>
          </p:nvPr>
        </p:nvSpPr>
        <p:spPr/>
        <p:txBody>
          <a:bodyPr/>
          <a:lstStyle/>
          <a:p>
            <a:r>
              <a:rPr lang="vi-VN"/>
              <a:t>AutoShot là mô hình áp dụng Neural Architecture Search cho bài toán phát hiện ranh giới cảnh quay.</a:t>
            </a:r>
          </a:p>
          <a:p>
            <a:r>
              <a:rPr lang="vi-VN"/>
              <a:t>Thay vì dùng một backbone cố định, AutoShot kế thừa khung TransNetV2 và tìm kiếm kiến trúc tối ưu tại 7 vị trí trong mạng.</a:t>
            </a:r>
          </a:p>
          <a:p>
            <a:r>
              <a:rPr lang="vi-VN"/>
              <a:t>Cụ thể, 6 vị trí đầu là các khối tích chập 3D phân tách, mỗi vị trí có thể chọn một trong nhiều biến thể kiến trúc. Vị trí cuối cùng liên quan đến khối Transformer 1D.</a:t>
            </a:r>
          </a:p>
          <a:p>
            <a:r>
              <a:rPr lang="vi-VN"/>
              <a:t>Không gian tìm kiếm của AutoShot rất lớn, khoảng 83,9 triệu kiến trúc. Để việc tìm kiếm khả thi, AutoShot sử dụng chiến lược SPOS, tức Single Path One-Shot.</a:t>
            </a:r>
          </a:p>
          <a:p>
            <a:r>
              <a:rPr lang="vi-VN"/>
              <a:t>Kết quả cho thấy kiến trúc được NAS tìm thấy đạt hiệu năng tốt hơn TransNetV2 trên SHOT. Điều này chứng minh rằng việc tối ưu kiến trúc cho miền video ngắn là có ý nghĩa.</a:t>
            </a:r>
          </a:p>
          <a:p>
            <a:r>
              <a:rPr lang="vi-VN"/>
              <a:t>Tuy nhiên, AutoShot chủ yếu giải quyết phần backbone. Câu hỏi của chúng em là: nếu backbone đã tốt, liệu phần đầu ra còn có thể cải thiện thêm không?</a:t>
            </a:r>
          </a:p>
          <a:p>
            <a:endParaRPr lang="vi-VN">
              <a:latin typeface="Arial"/>
              <a:ea typeface="Calibri"/>
              <a:cs typeface="Arial"/>
            </a:endParaRPr>
          </a:p>
        </p:txBody>
      </p:sp>
      <p:sp>
        <p:nvSpPr>
          <p:cNvPr id="4" name="Chỗ dành sẵn cho Số hiệu Bản chiếu 3">
            <a:extLst>
              <a:ext uri="{FF2B5EF4-FFF2-40B4-BE49-F238E27FC236}">
                <a16:creationId xmlns:a16="http://schemas.microsoft.com/office/drawing/2014/main" id="{C970DABE-3620-2089-7015-5D55F0088431}"/>
              </a:ext>
            </a:extLst>
          </p:cNvPr>
          <p:cNvSpPr>
            <a:spLocks noGrp="1"/>
          </p:cNvSpPr>
          <p:nvPr>
            <p:ph type="sldNum" sz="quarter" idx="5"/>
          </p:nvPr>
        </p:nvSpPr>
        <p:spPr/>
        <p:txBody>
          <a:bodyPr/>
          <a:lstStyle/>
          <a:p>
            <a:fld id="{2BC1A914-41DE-44DB-891B-AD840F0448BE}" type="slidenum">
              <a:rPr lang="en-US" smtClean="0"/>
              <a:t>12</a:t>
            </a:fld>
            <a:endParaRPr lang="en-US"/>
          </a:p>
        </p:txBody>
      </p:sp>
    </p:spTree>
    <p:extLst>
      <p:ext uri="{BB962C8B-B14F-4D97-AF65-F5344CB8AC3E}">
        <p14:creationId xmlns:p14="http://schemas.microsoft.com/office/powerpoint/2010/main" val="3968416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“Bây giờ, em xin chuyển sang phần ba: phương pháp đề xuất và các cải tiến mà nhóm đã nghiên cứu, được đặt tên là </a:t>
            </a:r>
            <a:r>
              <a:rPr lang="vi-VN" b="1"/>
              <a:t>AutoShotV2</a:t>
            </a:r>
            <a:r>
              <a:rPr lang="vi-VN"/>
              <a:t>.</a:t>
            </a:r>
            <a:endParaRPr lang="en-US"/>
          </a:p>
          <a:p>
            <a:endParaRPr lang="vi-VN"/>
          </a:p>
          <a:p>
            <a:r>
              <a:rPr lang="vi-VN"/>
              <a:t>Triết lý thiết kế của nhóm là tận dụng tối đa kết quả đã được tối ưu bởi phương pháp tìm kiếm kiến trúc tự động trong AutoShot. Do kiến trúc nền của AutoShot đã cho thấy hiệu quả tốt, phiên bản AutoShotV2 không thay đổi toàn bộ mô hình mà tập trung cải tiến ở tầng đầu ra — khu vực dễ bị ảnh hưởng bởi mất cân bằng dữ liệu và nhiễu trong quá trình dự đoán ranh giới cảnh quay.</a:t>
            </a:r>
            <a:endParaRPr lang="en-US"/>
          </a:p>
          <a:p>
            <a:endParaRPr lang="vi-VN"/>
          </a:p>
          <a:p>
            <a:r>
              <a:rPr lang="vi-VN"/>
              <a:t>Cụ thể, nhóm giữ nguyên và đóng băng phần trích xuất đặc trưng của mô hình, sau đó chỉ tinh chỉnh phần phân loại và bước hậu xử lý. Cách tiếp cận này giúp giảm chi phí huấn luyện, hạn chế rủi ro làm thay đổi các đặc trưng đã học, đồng thời tăng khả năng tái sử dụng mô hình trong các thiết lập thực nghiệm khác nhau.”</a:t>
            </a:r>
          </a:p>
        </p:txBody>
      </p:sp>
      <p:sp>
        <p:nvSpPr>
          <p:cNvPr id="4" name="Chỗ dành sẵn cho Số hiệu Bản chiếu 3"/>
          <p:cNvSpPr>
            <a:spLocks noGrp="1"/>
          </p:cNvSpPr>
          <p:nvPr>
            <p:ph type="sldNum" sz="quarter" idx="5"/>
          </p:nvPr>
        </p:nvSpPr>
        <p:spPr/>
        <p:txBody>
          <a:bodyPr/>
          <a:lstStyle/>
          <a:p>
            <a:fld id="{2BC1A914-41DE-44DB-891B-AD840F0448BE}" type="slidenum">
              <a:rPr lang="en-US" smtClean="0"/>
              <a:t>13</a:t>
            </a:fld>
            <a:endParaRPr lang="en-US"/>
          </a:p>
        </p:txBody>
      </p:sp>
    </p:spTree>
    <p:extLst>
      <p:ext uri="{BB962C8B-B14F-4D97-AF65-F5344CB8AC3E}">
        <p14:creationId xmlns:p14="http://schemas.microsoft.com/office/powerpoint/2010/main" val="2036785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A4130-197C-E3EC-1299-BCF1791EB46C}"/>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F8A5F89E-5854-00BD-0D7A-92ED880FE7C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Chỗ dành sẵn cho Ghi chú 2">
                <a:extLst>
                  <a:ext uri="{FF2B5EF4-FFF2-40B4-BE49-F238E27FC236}">
                    <a16:creationId xmlns:a16="http://schemas.microsoft.com/office/drawing/2014/main" id="{112D3D51-54AB-7732-53AA-8E31A62CAF90}"/>
                  </a:ext>
                </a:extLst>
              </p:cNvPr>
              <p:cNvSpPr>
                <a:spLocks noGrp="1"/>
              </p:cNvSpPr>
              <p:nvPr>
                <p:ph type="body" idx="1"/>
              </p:nvPr>
            </p:nvSpPr>
            <p:spPr/>
            <p:txBody>
              <a:bodyPr/>
              <a:lstStyle/>
              <a:p>
                <a:r>
                  <a:rPr lang="vi-VN"/>
                  <a:t>“Cải tiến đầu tiên của AutoShotV2 nằm ở việc thiết kế lại </a:t>
                </a:r>
                <a:r>
                  <a:rPr lang="vi-VN" b="1"/>
                  <a:t>tầng phân loại</a:t>
                </a:r>
                <a:r>
                  <a:rPr lang="vi-VN"/>
                  <a:t>.</a:t>
                </a:r>
              </a:p>
              <a:p>
                <a:r>
                  <a:rPr lang="vi-VN"/>
                  <a:t>Ý tưởng chính của nhóm là tách hai mục tiêu trong bài toán phát hiện ranh giới cảnh quay: một là định vị chính xác khung hình tại vị trí ranh giới, hai là học thêm ngữ cảnh của các khung hình lân cận quanh vùng chuyển cảnh.</a:t>
                </a:r>
              </a:p>
              <a:p>
                <a:r>
                  <a:rPr lang="vi-VN"/>
                  <a:t>Cụ thể, đầu vào của tầng phân loại là vector đặc trưng 4864 chiều được trích xuất từ phần kiến trúc nền đã đóng băng. Từ đặc trưng này, mô hình được chia thành hai nhánh song song.</a:t>
                </a:r>
              </a:p>
              <a:p>
                <a:r>
                  <a:rPr lang="vi-VN"/>
                  <a:t>Nhánh thứ nhất sử dụng nhãn </a:t>
                </a:r>
                <a:r>
                  <a:rPr lang="vi-VN" b="1"/>
                  <a:t>one-hot</a:t>
                </a:r>
                <a:r>
                  <a:rPr lang="vi-VN"/>
                  <a:t>, có nhiệm vụ giữ độ sắc nét của dự đoán và tập trung xác định đúng khung hình ranh giới tại thời điểm </a:t>
                </a:r>
                <a14:m>
                  <m:oMath xmlns:m="http://schemas.openxmlformats.org/officeDocument/2006/math">
                    <m:r>
                      <a:rPr lang="vi-VN" sz="1200" i="1" kern="1200">
                        <a:solidFill>
                          <a:schemeClr val="tx1"/>
                        </a:solidFill>
                        <a:latin typeface="Cambria Math" panose="02040503050406030204" pitchFamily="18" charset="0"/>
                        <a:ea typeface="+mn-ea"/>
                        <a:cs typeface="+mn-cs"/>
                      </a:rPr>
                      <m:t>𝑡</m:t>
                    </m:r>
                  </m:oMath>
                </a14:m>
                <a:r>
                  <a:rPr lang="vi-VN"/>
                  <a:t>.</a:t>
                </a:r>
              </a:p>
              <a:p>
                <a:r>
                  <a:rPr lang="vi-VN"/>
                  <a:t>Nhánh thứ hai sử dụng nhãn </a:t>
                </a:r>
                <a:r>
                  <a:rPr lang="vi-VN" b="1"/>
                  <a:t>many-hot</a:t>
                </a:r>
                <a:r>
                  <a:rPr lang="vi-VN"/>
                  <a:t>, mở rộng vùng giám sát sang các khung hình lân cận </a:t>
                </a:r>
                <a14:m>
                  <m:oMath xmlns:m="http://schemas.openxmlformats.org/officeDocument/2006/math">
                    <m:r>
                      <a:rPr lang="vi-VN" sz="1200" i="1" kern="1200">
                        <a:solidFill>
                          <a:schemeClr val="tx1"/>
                        </a:solidFill>
                        <a:latin typeface="Cambria Math" panose="02040503050406030204" pitchFamily="18" charset="0"/>
                        <a:ea typeface="+mn-ea"/>
                        <a:cs typeface="+mn-cs"/>
                      </a:rPr>
                      <m:t>𝑡</m:t>
                    </m:r>
                    <m:r>
                      <a:rPr lang="vi-VN" sz="1200" i="0" kern="1200">
                        <a:solidFill>
                          <a:schemeClr val="tx1"/>
                        </a:solidFill>
                        <a:latin typeface="Cambria Math" panose="02040503050406030204" pitchFamily="18" charset="0"/>
                        <a:ea typeface="+mn-ea"/>
                        <a:cs typeface="+mn-cs"/>
                      </a:rPr>
                      <m:t>±</m:t>
                    </m:r>
                    <m:r>
                      <a:rPr lang="vi-VN" sz="1200" i="0" kern="1200">
                        <a:solidFill>
                          <a:schemeClr val="tx1"/>
                        </a:solidFill>
                        <a:latin typeface="Cambria Math" panose="02040503050406030204" pitchFamily="18" charset="0"/>
                        <a:ea typeface="+mn-ea"/>
                        <a:cs typeface="+mn-cs"/>
                      </a:rPr>
                      <m:t>1</m:t>
                    </m:r>
                  </m:oMath>
                </a14:m>
                <a:r>
                  <a:rPr lang="vi-VN"/>
                  <a:t>. Nhờ đó, mô hình nhận được tín hiệu học dày đặc hơn, đặc biệt tại các vùng gần ranh giới cảnh quay.</a:t>
                </a:r>
              </a:p>
              <a:p>
                <a:r>
                  <a:rPr lang="vi-VN"/>
                  <a:t>Hai nhánh này được huấn luyện đồng thời. Trong giai đoạn suy diễn, đầu ra của hai nhánh được kết hợp để đưa ra dự đoán cuối cùng. Cách thiết kế này giúp mô hình vừa duy trì khả năng định vị chính xác ranh giới, vừa khai thác tốt hơn thông tin ngữ cảnh xung quanh vùng chuyển cảnh.”</a:t>
                </a:r>
              </a:p>
            </p:txBody>
          </p:sp>
        </mc:Choice>
        <mc:Fallback xmlns="">
          <p:sp>
            <p:nvSpPr>
              <p:cNvPr id="3" name="Chỗ dành sẵn cho Ghi chú 2">
                <a:extLst>
                  <a:ext uri="{FF2B5EF4-FFF2-40B4-BE49-F238E27FC236}">
                    <a16:creationId xmlns:a16="http://schemas.microsoft.com/office/drawing/2014/main" id="{112D3D51-54AB-7732-53AA-8E31A62CAF90}"/>
                  </a:ext>
                </a:extLst>
              </p:cNvPr>
              <p:cNvSpPr>
                <a:spLocks noGrp="1"/>
              </p:cNvSpPr>
              <p:nvPr>
                <p:ph type="body" idx="1"/>
              </p:nvPr>
            </p:nvSpPr>
            <p:spPr/>
            <p:txBody>
              <a:bodyPr/>
              <a:lstStyle/>
              <a:p>
                <a:r>
                  <a:rPr lang="vi-VN"/>
                  <a:t>“Cải tiến đầu tiên của AutoShotV2 nằm ở việc thiết kế lại </a:t>
                </a:r>
                <a:r>
                  <a:rPr lang="vi-VN" b="1"/>
                  <a:t>tầng phân loại</a:t>
                </a:r>
                <a:r>
                  <a:rPr lang="vi-VN"/>
                  <a:t>.</a:t>
                </a:r>
              </a:p>
              <a:p>
                <a:r>
                  <a:rPr lang="vi-VN"/>
                  <a:t>Ý tưởng chính của nhóm là tách hai mục tiêu trong bài toán phát hiện ranh giới cảnh quay: một là định vị chính xác khung hình tại vị trí ranh giới, hai là học thêm ngữ cảnh của các khung hình lân cận quanh vùng chuyển cảnh.</a:t>
                </a:r>
              </a:p>
              <a:p>
                <a:r>
                  <a:rPr lang="vi-VN"/>
                  <a:t>Cụ thể, đầu vào của tầng phân loại là vector đặc trưng 4864 chiều được trích xuất từ phần kiến trúc nền đã đóng băng. Từ đặc trưng này, mô hình được chia thành hai nhánh song song.</a:t>
                </a:r>
              </a:p>
              <a:p>
                <a:r>
                  <a:rPr lang="vi-VN"/>
                  <a:t>Nhánh thứ nhất sử dụng nhãn </a:t>
                </a:r>
                <a:r>
                  <a:rPr lang="vi-VN" b="1"/>
                  <a:t>one-hot</a:t>
                </a:r>
                <a:r>
                  <a:rPr lang="vi-VN"/>
                  <a:t>, có nhiệm vụ giữ độ sắc nét của dự đoán và tập trung xác định đúng khung hình ranh giới tại thời điểm </a:t>
                </a:r>
                <a:r>
                  <a:rPr lang="vi-VN" sz="1200" i="0" kern="1200">
                    <a:solidFill>
                      <a:schemeClr val="tx1"/>
                    </a:solidFill>
                    <a:latin typeface="+mn-lt"/>
                    <a:ea typeface="+mn-ea"/>
                    <a:cs typeface="+mn-cs"/>
                  </a:rPr>
                  <a:t>𝑡</a:t>
                </a:r>
                <a:r>
                  <a:rPr lang="vi-VN"/>
                  <a:t>.</a:t>
                </a:r>
              </a:p>
              <a:p>
                <a:r>
                  <a:rPr lang="vi-VN"/>
                  <a:t>Nhánh thứ hai sử dụng nhãn </a:t>
                </a:r>
                <a:r>
                  <a:rPr lang="vi-VN" b="1"/>
                  <a:t>many-hot</a:t>
                </a:r>
                <a:r>
                  <a:rPr lang="vi-VN"/>
                  <a:t>, mở rộng vùng giám sát sang các khung hình lân cận </a:t>
                </a:r>
                <a:r>
                  <a:rPr lang="vi-VN" sz="1200" i="0" kern="1200">
                    <a:solidFill>
                      <a:schemeClr val="tx1"/>
                    </a:solidFill>
                    <a:latin typeface="+mn-lt"/>
                    <a:ea typeface="+mn-ea"/>
                    <a:cs typeface="+mn-cs"/>
                  </a:rPr>
                  <a:t>𝑡±1</a:t>
                </a:r>
                <a:r>
                  <a:rPr lang="vi-VN"/>
                  <a:t>. Nhờ đó, mô hình nhận được tín hiệu học dày đặc hơn, đặc biệt tại các vùng gần ranh giới cảnh quay.</a:t>
                </a:r>
              </a:p>
              <a:p>
                <a:r>
                  <a:rPr lang="vi-VN"/>
                  <a:t>Hai nhánh này được huấn luyện đồng thời. Trong giai đoạn suy diễn, đầu ra của hai nhánh được kết hợp để đưa ra dự đoán cuối cùng. Cách thiết kế này giúp mô hình vừa duy trì khả năng định vị chính xác ranh giới, vừa khai thác tốt hơn thông tin ngữ cảnh xung quanh vùng chuyển cảnh.”</a:t>
                </a:r>
              </a:p>
            </p:txBody>
          </p:sp>
        </mc:Fallback>
      </mc:AlternateContent>
      <p:sp>
        <p:nvSpPr>
          <p:cNvPr id="4" name="Chỗ dành sẵn cho Số hiệu Bản chiếu 3">
            <a:extLst>
              <a:ext uri="{FF2B5EF4-FFF2-40B4-BE49-F238E27FC236}">
                <a16:creationId xmlns:a16="http://schemas.microsoft.com/office/drawing/2014/main" id="{8B750F33-04DE-CBAF-F3B8-AD4E0B2794CD}"/>
              </a:ext>
            </a:extLst>
          </p:cNvPr>
          <p:cNvSpPr>
            <a:spLocks noGrp="1"/>
          </p:cNvSpPr>
          <p:nvPr>
            <p:ph type="sldNum" sz="quarter" idx="5"/>
          </p:nvPr>
        </p:nvSpPr>
        <p:spPr/>
        <p:txBody>
          <a:bodyPr/>
          <a:lstStyle/>
          <a:p>
            <a:fld id="{2BC1A914-41DE-44DB-891B-AD840F0448BE}" type="slidenum">
              <a:rPr lang="en-US" smtClean="0"/>
              <a:t>14</a:t>
            </a:fld>
            <a:endParaRPr lang="en-US"/>
          </a:p>
        </p:txBody>
      </p:sp>
    </p:spTree>
    <p:extLst>
      <p:ext uri="{BB962C8B-B14F-4D97-AF65-F5344CB8AC3E}">
        <p14:creationId xmlns:p14="http://schemas.microsoft.com/office/powerpoint/2010/main" val="985178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73815-3294-CBB8-814D-34C0D37F3899}"/>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2FED9C8E-6A99-A122-7247-A6834DEDA27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Chỗ dành sẵn cho Ghi chú 2">
                <a:extLst>
                  <a:ext uri="{FF2B5EF4-FFF2-40B4-BE49-F238E27FC236}">
                    <a16:creationId xmlns:a16="http://schemas.microsoft.com/office/drawing/2014/main" id="{630FD3B6-5554-D4F5-8611-3F71D21A08FC}"/>
                  </a:ext>
                </a:extLst>
              </p:cNvPr>
              <p:cNvSpPr>
                <a:spLocks noGrp="1"/>
              </p:cNvSpPr>
              <p:nvPr>
                <p:ph type="body" idx="1"/>
              </p:nvPr>
            </p:nvSpPr>
            <p:spPr/>
            <p:txBody>
              <a:bodyPr/>
              <a:lstStyle/>
              <a:p>
                <a:r>
                  <a:rPr lang="vi-VN"/>
                  <a:t>"</a:t>
                </a:r>
                <a:r>
                  <a:rPr lang="vi-VN" b="1"/>
                  <a:t>Cải tiến thứ hai</a:t>
                </a:r>
                <a:r>
                  <a:rPr lang="vi-VN"/>
                  <a:t> gồm hai kỹ thuật song song:</a:t>
                </a:r>
              </a:p>
              <a:p>
                <a:r>
                  <a:rPr lang="vi-VN" b="1"/>
                  <a:t>Phần A — </a:t>
                </a:r>
                <a:r>
                  <a:rPr lang="vi-VN" b="1" err="1"/>
                  <a:t>Focal</a:t>
                </a:r>
                <a:r>
                  <a:rPr lang="vi-VN" b="1"/>
                  <a:t> </a:t>
                </a:r>
                <a:r>
                  <a:rPr lang="vi-VN" b="1" err="1"/>
                  <a:t>Loss</a:t>
                </a:r>
                <a:r>
                  <a:rPr lang="vi-VN"/>
                  <a:t> giải quyết bài toán mất cân bằng lớp.</a:t>
                </a:r>
              </a:p>
              <a:p>
                <a:r>
                  <a:rPr lang="vi-VN"/>
                  <a:t>Trong </a:t>
                </a:r>
                <a:r>
                  <a:rPr lang="vi-VN" err="1"/>
                  <a:t>SBD</a:t>
                </a:r>
                <a:r>
                  <a:rPr lang="vi-VN"/>
                  <a:t>, số khung ranh giới thật rất ít so với khung </a:t>
                </a:r>
                <a:r>
                  <a:rPr lang="vi-VN" err="1"/>
                  <a:t>background</a:t>
                </a:r>
                <a:r>
                  <a:rPr lang="vi-VN"/>
                  <a:t>. </a:t>
                </a:r>
                <a:r>
                  <a:rPr lang="vi-VN" err="1"/>
                  <a:t>BCE</a:t>
                </a:r>
                <a:r>
                  <a:rPr lang="vi-VN"/>
                  <a:t> </a:t>
                </a:r>
                <a:r>
                  <a:rPr lang="vi-VN" err="1"/>
                  <a:t>loss</a:t>
                </a:r>
                <a:r>
                  <a:rPr lang="vi-VN"/>
                  <a:t> truyền thống bị các mẫu dễ chi phối. </a:t>
                </a:r>
                <a:r>
                  <a:rPr lang="vi-VN" err="1"/>
                  <a:t>Focal</a:t>
                </a:r>
                <a:r>
                  <a:rPr lang="vi-VN"/>
                  <a:t> </a:t>
                </a:r>
                <a:r>
                  <a:rPr lang="vi-VN" err="1"/>
                  <a:t>Loss</a:t>
                </a:r>
                <a:r>
                  <a:rPr lang="vi-VN"/>
                  <a:t> có dạng:</a:t>
                </a:r>
              </a:p>
              <a:p>
                <a:pPr/>
                <a14:m>
                  <m:oMathPara xmlns:m="http://schemas.openxmlformats.org/officeDocument/2006/math">
                    <m:oMathParaPr>
                      <m:jc m:val="centerGroup"/>
                    </m:oMathParaPr>
                    <m:oMath xmlns:m="http://schemas.openxmlformats.org/officeDocument/2006/math">
                      <m:r>
                        <a:rPr lang="vi-VN" sz="1200" i="1" kern="1200">
                          <a:solidFill>
                            <a:schemeClr val="tx1"/>
                          </a:solidFill>
                          <a:latin typeface="Cambria Math" panose="02040503050406030204" pitchFamily="18" charset="0"/>
                          <a:ea typeface="+mn-ea"/>
                          <a:cs typeface="+mn-cs"/>
                        </a:rPr>
                        <m:t>𝐹𝐿</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𝑝</m:t>
                              </m:r>
                            </m:e>
                            <m:sub>
                              <m:r>
                                <a:rPr lang="ar-AE" sz="1200" i="1" kern="1200">
                                  <a:solidFill>
                                    <a:schemeClr val="tx1"/>
                                  </a:solidFill>
                                  <a:latin typeface="Cambria Math" panose="02040503050406030204" pitchFamily="18" charset="0"/>
                                  <a:ea typeface="+mn-ea"/>
                                  <a:cs typeface="+mn-cs"/>
                                </a:rPr>
                                <m:t>𝑡</m:t>
                              </m:r>
                            </m:sub>
                          </m:sSub>
                        </m:e>
                      </m:d>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𝑝</m:t>
                                  </m:r>
                                </m:e>
                                <m:sub>
                                  <m:r>
                                    <a:rPr lang="ar-AE" sz="1200" i="1" kern="1200">
                                      <a:solidFill>
                                        <a:schemeClr val="tx1"/>
                                      </a:solidFill>
                                      <a:latin typeface="Cambria Math" panose="02040503050406030204" pitchFamily="18" charset="0"/>
                                      <a:ea typeface="+mn-ea"/>
                                      <a:cs typeface="+mn-cs"/>
                                    </a:rPr>
                                    <m:t>𝑡</m:t>
                                  </m:r>
                                </m:sub>
                              </m:sSub>
                            </m:e>
                          </m:d>
                        </m:e>
                        <m:sup>
                          <m:r>
                            <a:rPr lang="ar-AE" sz="1200" i="1" kern="1200">
                              <a:solidFill>
                                <a:schemeClr val="tx1"/>
                              </a:solidFill>
                              <a:latin typeface="Cambria Math" panose="02040503050406030204" pitchFamily="18" charset="0"/>
                              <a:ea typeface="+mn-ea"/>
                              <a:cs typeface="+mn-cs"/>
                            </a:rPr>
                            <m:t>𝛾</m:t>
                          </m:r>
                        </m:sup>
                      </m:sSup>
                      <m:func>
                        <m:funcPr>
                          <m:ctrlPr>
                            <a:rPr lang="ar-AE" sz="1200" i="1" kern="1200">
                              <a:solidFill>
                                <a:schemeClr val="tx1"/>
                              </a:solidFill>
                              <a:latin typeface="Cambria Math" panose="02040503050406030204" pitchFamily="18" charset="0"/>
                              <a:ea typeface="+mn-ea"/>
                              <a:cs typeface="+mn-cs"/>
                            </a:rPr>
                          </m:ctrlPr>
                        </m:funcPr>
                        <m:fName>
                          <m:r>
                            <m:rPr>
                              <m:sty m:val="p"/>
                            </m:rPr>
                            <a:rPr lang="vi-VN" sz="1200" i="0" kern="1200">
                              <a:solidFill>
                                <a:schemeClr val="tx1"/>
                              </a:solidFill>
                              <a:latin typeface="Cambria Math" panose="02040503050406030204" pitchFamily="18" charset="0"/>
                              <a:ea typeface="+mn-ea"/>
                              <a:cs typeface="+mn-cs"/>
                            </a:rPr>
                            <m:t>log</m:t>
                          </m:r>
                        </m:fNa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𝑝</m:t>
                              </m:r>
                            </m:e>
                            <m:sub>
                              <m:r>
                                <a:rPr lang="ar-AE" sz="1200" i="1" kern="1200">
                                  <a:solidFill>
                                    <a:schemeClr val="tx1"/>
                                  </a:solidFill>
                                  <a:latin typeface="Cambria Math" panose="02040503050406030204" pitchFamily="18" charset="0"/>
                                  <a:ea typeface="+mn-ea"/>
                                  <a:cs typeface="+mn-cs"/>
                                </a:rPr>
                                <m:t>𝑡</m:t>
                              </m:r>
                            </m:sub>
                          </m:sSub>
                        </m:e>
                      </m:func>
                    </m:oMath>
                  </m:oMathPara>
                </a14:m>
                <a:endParaRPr lang="ar-AE"/>
              </a:p>
              <a:p>
                <a:r>
                  <a:rPr lang="vi-VN"/>
                  <a:t>với </a:t>
                </a:r>
                <a:r>
                  <a:rPr lang="el-GR"/>
                  <a:t>γ = 2.0 </a:t>
                </a:r>
                <a:r>
                  <a:rPr lang="vi-VN"/>
                  <a:t>và </a:t>
                </a:r>
                <a:r>
                  <a:rPr lang="el-GR"/>
                  <a:t>α = 0.25. </a:t>
                </a:r>
                <a:r>
                  <a:rPr lang="vi-VN"/>
                  <a:t>Hàm này </a:t>
                </a:r>
                <a:r>
                  <a:rPr lang="vi-VN" b="1"/>
                  <a:t>giảm trọng số các mẫu dễ</a:t>
                </a:r>
                <a:r>
                  <a:rPr lang="vi-VN"/>
                  <a:t> (</a:t>
                </a:r>
                <a:r>
                  <a:rPr lang="vi-VN" err="1"/>
                  <a:t>background</a:t>
                </a:r>
                <a:r>
                  <a:rPr lang="vi-VN"/>
                  <a:t> </a:t>
                </a:r>
                <a:r>
                  <a:rPr lang="vi-VN" err="1"/>
                  <a:t>frames</a:t>
                </a:r>
                <a:r>
                  <a:rPr lang="vi-VN"/>
                  <a:t>) và </a:t>
                </a:r>
                <a:r>
                  <a:rPr lang="vi-VN" b="1"/>
                  <a:t>tập trung học các chuyển cảnh dần</a:t>
                </a:r>
                <a:r>
                  <a:rPr lang="vi-VN"/>
                  <a:t> — vốn là loại mẫu khó nhất. Quan trọng là </a:t>
                </a:r>
                <a:r>
                  <a:rPr lang="vi-VN" err="1"/>
                  <a:t>Focal</a:t>
                </a:r>
                <a:r>
                  <a:rPr lang="vi-VN"/>
                  <a:t> </a:t>
                </a:r>
                <a:r>
                  <a:rPr lang="vi-VN" err="1"/>
                  <a:t>Loss</a:t>
                </a:r>
                <a:r>
                  <a:rPr lang="vi-VN"/>
                  <a:t> thay thế trực tiếp </a:t>
                </a:r>
                <a:r>
                  <a:rPr lang="vi-VN" err="1"/>
                  <a:t>BCE</a:t>
                </a:r>
                <a:r>
                  <a:rPr lang="vi-VN"/>
                  <a:t>, không cần thay đổi kiến trúc.</a:t>
                </a:r>
              </a:p>
              <a:p>
                <a:r>
                  <a:rPr lang="vi-VN" b="1"/>
                  <a:t>Phần B — </a:t>
                </a:r>
                <a:r>
                  <a:rPr lang="vi-VN" b="1" err="1"/>
                  <a:t>Many-hot</a:t>
                </a:r>
                <a:r>
                  <a:rPr lang="vi-VN" b="1"/>
                  <a:t> </a:t>
                </a:r>
                <a:r>
                  <a:rPr lang="vi-VN" b="1" err="1"/>
                  <a:t>Labels</a:t>
                </a:r>
                <a:r>
                  <a:rPr lang="vi-VN"/>
                  <a:t> làm dày tín hiệu giám sát.</a:t>
                </a:r>
              </a:p>
              <a:p>
                <a:r>
                  <a:rPr lang="vi-VN"/>
                  <a:t>Thay vì chỉ gán nhãn 1 cho đúng khung ranh giới t, chúng em mở rộng nhãn sang </a:t>
                </a:r>
                <a:r>
                  <a:rPr lang="vi-VN" b="1" err="1"/>
                  <a:t>t±1</a:t>
                </a:r>
                <a:r>
                  <a:rPr lang="vi-VN"/>
                  <a:t>. Cách này:</a:t>
                </a:r>
              </a:p>
              <a:p>
                <a:r>
                  <a:rPr lang="vi-VN"/>
                  <a:t>Cung cấp </a:t>
                </a:r>
                <a:r>
                  <a:rPr lang="vi-VN" err="1"/>
                  <a:t>gradient</a:t>
                </a:r>
                <a:r>
                  <a:rPr lang="vi-VN"/>
                  <a:t> dày đặc hơn quanh vùng ranh giới.</a:t>
                </a:r>
              </a:p>
              <a:p>
                <a:r>
                  <a:rPr lang="vi-VN"/>
                  <a:t>Phù hợp tự nhiên với chuyển cảnh dần vốn trải qua nhiều khung.</a:t>
                </a:r>
              </a:p>
              <a:p>
                <a:r>
                  <a:rPr lang="vi-VN"/>
                  <a:t>Hai kỹ thuật này bổ trợ lẫn nhau, cải thiện độ nhạy của mô hình với các </a:t>
                </a:r>
                <a:r>
                  <a:rPr lang="vi-VN" err="1"/>
                  <a:t>transition</a:t>
                </a:r>
                <a:r>
                  <a:rPr lang="vi-VN"/>
                  <a:t> khó."</a:t>
                </a:r>
              </a:p>
              <a:p>
                <a:endParaRPr lang="vi-VN"/>
              </a:p>
            </p:txBody>
          </p:sp>
        </mc:Choice>
        <mc:Fallback xmlns="">
          <p:sp>
            <p:nvSpPr>
              <p:cNvPr id="3" name="Chỗ dành sẵn cho Ghi chú 2">
                <a:extLst>
                  <a:ext uri="{FF2B5EF4-FFF2-40B4-BE49-F238E27FC236}">
                    <a16:creationId xmlns:a16="http://schemas.microsoft.com/office/drawing/2014/main" id="{630FD3B6-5554-D4F5-8611-3F71D21A08FC}"/>
                  </a:ext>
                </a:extLst>
              </p:cNvPr>
              <p:cNvSpPr>
                <a:spLocks noGrp="1"/>
              </p:cNvSpPr>
              <p:nvPr>
                <p:ph type="body" idx="1"/>
              </p:nvPr>
            </p:nvSpPr>
            <p:spPr/>
            <p:txBody>
              <a:bodyPr/>
              <a:lstStyle/>
              <a:p>
                <a:r>
                  <a:rPr lang="vi-VN"/>
                  <a:t>"</a:t>
                </a:r>
                <a:r>
                  <a:rPr lang="vi-VN" b="1"/>
                  <a:t>Cải tiến thứ hai</a:t>
                </a:r>
                <a:r>
                  <a:rPr lang="vi-VN"/>
                  <a:t> gồm hai kỹ thuật song song:</a:t>
                </a:r>
              </a:p>
              <a:p>
                <a:r>
                  <a:rPr lang="vi-VN" b="1"/>
                  <a:t>Phần A — </a:t>
                </a:r>
                <a:r>
                  <a:rPr lang="vi-VN" b="1" err="1"/>
                  <a:t>Focal</a:t>
                </a:r>
                <a:r>
                  <a:rPr lang="vi-VN" b="1"/>
                  <a:t> </a:t>
                </a:r>
                <a:r>
                  <a:rPr lang="vi-VN" b="1" err="1"/>
                  <a:t>Loss</a:t>
                </a:r>
                <a:r>
                  <a:rPr lang="vi-VN"/>
                  <a:t> giải quyết bài toán mất cân bằng lớp.</a:t>
                </a:r>
              </a:p>
              <a:p>
                <a:r>
                  <a:rPr lang="vi-VN"/>
                  <a:t>Trong </a:t>
                </a:r>
                <a:r>
                  <a:rPr lang="vi-VN" err="1"/>
                  <a:t>SBD</a:t>
                </a:r>
                <a:r>
                  <a:rPr lang="vi-VN"/>
                  <a:t>, số khung ranh giới thật rất ít so với khung </a:t>
                </a:r>
                <a:r>
                  <a:rPr lang="vi-VN" err="1"/>
                  <a:t>background</a:t>
                </a:r>
                <a:r>
                  <a:rPr lang="vi-VN"/>
                  <a:t>. </a:t>
                </a:r>
                <a:r>
                  <a:rPr lang="vi-VN" err="1"/>
                  <a:t>BCE</a:t>
                </a:r>
                <a:r>
                  <a:rPr lang="vi-VN"/>
                  <a:t> </a:t>
                </a:r>
                <a:r>
                  <a:rPr lang="vi-VN" err="1"/>
                  <a:t>loss</a:t>
                </a:r>
                <a:r>
                  <a:rPr lang="vi-VN"/>
                  <a:t> truyền thống bị các mẫu dễ chi phối. </a:t>
                </a:r>
                <a:r>
                  <a:rPr lang="vi-VN" err="1"/>
                  <a:t>Focal</a:t>
                </a:r>
                <a:r>
                  <a:rPr lang="vi-VN"/>
                  <a:t> </a:t>
                </a:r>
                <a:r>
                  <a:rPr lang="vi-VN" err="1"/>
                  <a:t>Loss</a:t>
                </a:r>
                <a:r>
                  <a:rPr lang="vi-VN"/>
                  <a:t> có dạng:</a:t>
                </a:r>
              </a:p>
              <a:p>
                <a:pPr/>
                <a:r>
                  <a:rPr lang="vi-VN" sz="1200" i="0" kern="1200">
                    <a:solidFill>
                      <a:schemeClr val="tx1"/>
                    </a:solidFill>
                    <a:latin typeface="Cambria Math" panose="02040503050406030204" pitchFamily="18" charset="0"/>
                    <a:ea typeface="+mn-ea"/>
                    <a:cs typeface="+mn-cs"/>
                  </a:rPr>
                  <a:t>𝐹𝐿</a:t>
                </a:r>
                <a:r>
                  <a:rPr lang="ar-AE" sz="1200" i="0" kern="1200">
                    <a:solidFill>
                      <a:schemeClr val="tx1"/>
                    </a:solidFill>
                    <a:latin typeface="Cambria Math" panose="02040503050406030204" pitchFamily="18" charset="0"/>
                    <a:ea typeface="+mn-ea"/>
                    <a:cs typeface="+mn-cs"/>
                  </a:rPr>
                  <a:t>(𝑝_𝑡 )=−(1−𝑝_𝑡 )^𝛾 </a:t>
                </a:r>
                <a:r>
                  <a:rPr lang="vi-VN" sz="1200" i="0" kern="1200">
                    <a:solidFill>
                      <a:schemeClr val="tx1"/>
                    </a:solidFill>
                    <a:latin typeface="Cambria Math" panose="02040503050406030204" pitchFamily="18" charset="0"/>
                    <a:ea typeface="+mn-ea"/>
                    <a:cs typeface="+mn-cs"/>
                  </a:rPr>
                  <a:t> log</a:t>
                </a:r>
                <a:r>
                  <a:rPr lang="ar-AE" sz="1200" i="0" kern="1200">
                    <a:solidFill>
                      <a:schemeClr val="tx1"/>
                    </a:solidFill>
                    <a:latin typeface="Cambria Math" panose="02040503050406030204" pitchFamily="18" charset="0"/>
                    <a:ea typeface="+mn-ea"/>
                    <a:cs typeface="+mn-cs"/>
                  </a:rPr>
                  <a:t>⁡〖𝑝_𝑡 〗</a:t>
                </a:r>
                <a:endParaRPr lang="ar-AE"/>
              </a:p>
              <a:p>
                <a:r>
                  <a:rPr lang="vi-VN"/>
                  <a:t>với </a:t>
                </a:r>
                <a:r>
                  <a:rPr lang="el-GR"/>
                  <a:t>γ = 2.0 </a:t>
                </a:r>
                <a:r>
                  <a:rPr lang="vi-VN"/>
                  <a:t>và </a:t>
                </a:r>
                <a:r>
                  <a:rPr lang="el-GR"/>
                  <a:t>α = 0.25. </a:t>
                </a:r>
                <a:r>
                  <a:rPr lang="vi-VN"/>
                  <a:t>Hàm này </a:t>
                </a:r>
                <a:r>
                  <a:rPr lang="vi-VN" b="1"/>
                  <a:t>giảm trọng số các mẫu dễ</a:t>
                </a:r>
                <a:r>
                  <a:rPr lang="vi-VN"/>
                  <a:t> (</a:t>
                </a:r>
                <a:r>
                  <a:rPr lang="vi-VN" err="1"/>
                  <a:t>background</a:t>
                </a:r>
                <a:r>
                  <a:rPr lang="vi-VN"/>
                  <a:t> </a:t>
                </a:r>
                <a:r>
                  <a:rPr lang="vi-VN" err="1"/>
                  <a:t>frames</a:t>
                </a:r>
                <a:r>
                  <a:rPr lang="vi-VN"/>
                  <a:t>) và </a:t>
                </a:r>
                <a:r>
                  <a:rPr lang="vi-VN" b="1"/>
                  <a:t>tập trung học các chuyển cảnh dần</a:t>
                </a:r>
                <a:r>
                  <a:rPr lang="vi-VN"/>
                  <a:t> — vốn là loại mẫu khó nhất. Quan trọng là </a:t>
                </a:r>
                <a:r>
                  <a:rPr lang="vi-VN" err="1"/>
                  <a:t>Focal</a:t>
                </a:r>
                <a:r>
                  <a:rPr lang="vi-VN"/>
                  <a:t> </a:t>
                </a:r>
                <a:r>
                  <a:rPr lang="vi-VN" err="1"/>
                  <a:t>Loss</a:t>
                </a:r>
                <a:r>
                  <a:rPr lang="vi-VN"/>
                  <a:t> thay thế trực tiếp </a:t>
                </a:r>
                <a:r>
                  <a:rPr lang="vi-VN" err="1"/>
                  <a:t>BCE</a:t>
                </a:r>
                <a:r>
                  <a:rPr lang="vi-VN"/>
                  <a:t>, không cần thay đổi kiến trúc.</a:t>
                </a:r>
              </a:p>
              <a:p>
                <a:r>
                  <a:rPr lang="vi-VN" b="1"/>
                  <a:t>Phần B — </a:t>
                </a:r>
                <a:r>
                  <a:rPr lang="vi-VN" b="1" err="1"/>
                  <a:t>Many-hot</a:t>
                </a:r>
                <a:r>
                  <a:rPr lang="vi-VN" b="1"/>
                  <a:t> </a:t>
                </a:r>
                <a:r>
                  <a:rPr lang="vi-VN" b="1" err="1"/>
                  <a:t>Labels</a:t>
                </a:r>
                <a:r>
                  <a:rPr lang="vi-VN"/>
                  <a:t> làm dày tín hiệu giám sát.</a:t>
                </a:r>
              </a:p>
              <a:p>
                <a:r>
                  <a:rPr lang="vi-VN"/>
                  <a:t>Thay vì chỉ gán nhãn 1 cho đúng khung ranh giới t, chúng em mở rộng nhãn sang </a:t>
                </a:r>
                <a:r>
                  <a:rPr lang="vi-VN" b="1" err="1"/>
                  <a:t>t±1</a:t>
                </a:r>
                <a:r>
                  <a:rPr lang="vi-VN"/>
                  <a:t>. Cách này:</a:t>
                </a:r>
              </a:p>
              <a:p>
                <a:r>
                  <a:rPr lang="vi-VN"/>
                  <a:t>Cung cấp </a:t>
                </a:r>
                <a:r>
                  <a:rPr lang="vi-VN" err="1"/>
                  <a:t>gradient</a:t>
                </a:r>
                <a:r>
                  <a:rPr lang="vi-VN"/>
                  <a:t> dày đặc hơn quanh vùng ranh giới.</a:t>
                </a:r>
              </a:p>
              <a:p>
                <a:r>
                  <a:rPr lang="vi-VN"/>
                  <a:t>Phù hợp tự nhiên với chuyển cảnh dần vốn trải qua nhiều khung.</a:t>
                </a:r>
              </a:p>
              <a:p>
                <a:r>
                  <a:rPr lang="vi-VN"/>
                  <a:t>Hai kỹ thuật này bổ trợ lẫn nhau, cải thiện độ nhạy của mô hình với các </a:t>
                </a:r>
                <a:r>
                  <a:rPr lang="vi-VN" err="1"/>
                  <a:t>transition</a:t>
                </a:r>
                <a:r>
                  <a:rPr lang="vi-VN"/>
                  <a:t> khó."</a:t>
                </a:r>
              </a:p>
              <a:p>
                <a:endParaRPr lang="vi-VN"/>
              </a:p>
            </p:txBody>
          </p:sp>
        </mc:Fallback>
      </mc:AlternateContent>
      <p:sp>
        <p:nvSpPr>
          <p:cNvPr id="4" name="Chỗ dành sẵn cho Số hiệu Bản chiếu 3">
            <a:extLst>
              <a:ext uri="{FF2B5EF4-FFF2-40B4-BE49-F238E27FC236}">
                <a16:creationId xmlns:a16="http://schemas.microsoft.com/office/drawing/2014/main" id="{3A924D31-73D7-612D-8472-372B822364FB}"/>
              </a:ext>
            </a:extLst>
          </p:cNvPr>
          <p:cNvSpPr>
            <a:spLocks noGrp="1"/>
          </p:cNvSpPr>
          <p:nvPr>
            <p:ph type="sldNum" sz="quarter" idx="5"/>
          </p:nvPr>
        </p:nvSpPr>
        <p:spPr/>
        <p:txBody>
          <a:bodyPr/>
          <a:lstStyle/>
          <a:p>
            <a:fld id="{2BC1A914-41DE-44DB-891B-AD840F0448BE}" type="slidenum">
              <a:rPr lang="en-US" smtClean="0"/>
              <a:t>15</a:t>
            </a:fld>
            <a:endParaRPr lang="en-US"/>
          </a:p>
        </p:txBody>
      </p:sp>
    </p:spTree>
    <p:extLst>
      <p:ext uri="{BB962C8B-B14F-4D97-AF65-F5344CB8AC3E}">
        <p14:creationId xmlns:p14="http://schemas.microsoft.com/office/powerpoint/2010/main" val="32622617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F71AF-88D0-45DA-95AD-C16EFA941CC0}"/>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006BA4C8-A6C4-3028-B5A5-A9132682223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Chỗ dành sẵn cho Ghi chú 2">
                <a:extLst>
                  <a:ext uri="{FF2B5EF4-FFF2-40B4-BE49-F238E27FC236}">
                    <a16:creationId xmlns:a16="http://schemas.microsoft.com/office/drawing/2014/main" id="{3E99669B-EF96-808B-F903-6B39151642E6}"/>
                  </a:ext>
                </a:extLst>
              </p:cNvPr>
              <p:cNvSpPr>
                <a:spLocks noGrp="1"/>
              </p:cNvSpPr>
              <p:nvPr>
                <p:ph type="body" idx="1"/>
              </p:nvPr>
            </p:nvSpPr>
            <p:spPr/>
            <p:txBody>
              <a:bodyPr/>
              <a:lstStyle/>
              <a:p>
                <a:r>
                  <a:rPr lang="vi-VN"/>
                  <a:t>"</a:t>
                </a:r>
                <a:r>
                  <a:rPr lang="vi-VN" b="1"/>
                  <a:t>Cải tiến thứ ba</a:t>
                </a:r>
                <a:r>
                  <a:rPr lang="vi-VN"/>
                  <a:t> nằm ở khâu hậu xử lý — hai kỹ thuật </a:t>
                </a:r>
                <a:r>
                  <a:rPr lang="vi-VN" b="1"/>
                  <a:t>không yêu cầu huấn luyện lại, chi phí gần như bằng không</a:t>
                </a:r>
                <a:r>
                  <a:rPr lang="vi-VN"/>
                  <a:t>, nhưng giúp ổn định hóa quyết định khi đặt ngưỡng:</a:t>
                </a:r>
              </a:p>
              <a:p>
                <a:r>
                  <a:rPr lang="vi-VN" b="1"/>
                  <a:t>Phần A —</a:t>
                </a:r>
                <a:r>
                  <a:rPr lang="en-US" b="1"/>
                  <a:t>Temperature Scaling</a:t>
                </a:r>
                <a:r>
                  <a:rPr lang="en-US"/>
                  <a:t> là kỹ thuật điều chỉnh độ “gắt” của xác suất đầu ra bằng cách chia </a:t>
                </a:r>
                <a:r>
                  <a:rPr lang="en-US" b="1"/>
                  <a:t>logit</a:t>
                </a:r>
                <a:r>
                  <a:rPr lang="en-US"/>
                  <a:t> cho một hệ số </a:t>
                </a:r>
                <a14:m>
                  <m:oMath xmlns:m="http://schemas.openxmlformats.org/officeDocument/2006/math">
                    <m:r>
                      <a:rPr lang="en-US" sz="1200" i="1" kern="1200">
                        <a:solidFill>
                          <a:schemeClr val="tx1"/>
                        </a:solidFill>
                        <a:latin typeface="Cambria Math" panose="02040503050406030204" pitchFamily="18" charset="0"/>
                        <a:ea typeface="+mn-ea"/>
                        <a:cs typeface="+mn-cs"/>
                      </a:rPr>
                      <m:t>𝑇</m:t>
                    </m:r>
                  </m:oMath>
                </a14:m>
                <a:r>
                  <a:rPr lang="en-US"/>
                  <a:t>.</a:t>
                </a:r>
                <a:endParaRPr lang="ar-AE" b="0"/>
              </a:p>
              <a:p>
                <a:r>
                  <a:rPr lang="vi-VN"/>
                  <a:t>Chỉ một hệ số T duy nhất nhân vào </a:t>
                </a:r>
                <a:r>
                  <a:rPr lang="vi-VN" err="1"/>
                  <a:t>logits</a:t>
                </a:r>
                <a:r>
                  <a:rPr lang="vi-VN"/>
                  <a:t>, được tối ưu trên tập </a:t>
                </a:r>
                <a:r>
                  <a:rPr lang="vi-VN" err="1"/>
                  <a:t>validation</a:t>
                </a:r>
                <a:r>
                  <a:rPr lang="vi-VN"/>
                  <a:t>. Kết quả là </a:t>
                </a:r>
                <a:r>
                  <a:rPr lang="vi-VN" b="1"/>
                  <a:t>ngưỡng quyết định trở nên ổn định hơn</a:t>
                </a:r>
                <a:r>
                  <a:rPr lang="vi-VN"/>
                  <a:t>, mô hình không bị tự tin thái quá ở các vùng gây tranh cãi.</a:t>
                </a:r>
                <a:endParaRPr lang="en-US"/>
              </a:p>
              <a:p>
                <a:endParaRPr lang="vi-VN"/>
              </a:p>
              <a:p>
                <a:r>
                  <a:rPr lang="vi-VN" b="1"/>
                  <a:t>Phần B — </a:t>
                </a:r>
                <a:r>
                  <a:rPr lang="vi-VN" b="1" err="1"/>
                  <a:t>Gaussian</a:t>
                </a:r>
                <a:r>
                  <a:rPr lang="vi-VN" b="1"/>
                  <a:t> </a:t>
                </a:r>
                <a:r>
                  <a:rPr lang="vi-VN" b="1" err="1"/>
                  <a:t>Smoothing</a:t>
                </a:r>
                <a:r>
                  <a:rPr lang="vi-VN"/>
                  <a:t> triệt tiêu nhiễu đơn lẻ:</a:t>
                </a:r>
              </a:p>
              <a:p>
                <a:pPr/>
                <a14:m>
                  <m:oMathPara xmlns:m="http://schemas.openxmlformats.org/officeDocument/2006/math">
                    <m:oMathParaPr>
                      <m:jc m:val="centerGroup"/>
                    </m:oMathParaPr>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𝑝</m:t>
                          </m:r>
                        </m:e>
                      </m:acc>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𝐺</m:t>
                          </m:r>
                        </m:e>
                        <m:sub>
                          <m:r>
                            <a:rPr lang="ar-AE" sz="1200" i="1" kern="1200">
                              <a:solidFill>
                                <a:schemeClr val="tx1"/>
                              </a:solidFill>
                              <a:latin typeface="Cambria Math" panose="02040503050406030204" pitchFamily="18" charset="0"/>
                              <a:ea typeface="+mn-ea"/>
                              <a:cs typeface="+mn-cs"/>
                            </a:rPr>
                            <m:t>𝜎</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𝑝</m:t>
                      </m:r>
                    </m:oMath>
                  </m:oMathPara>
                </a14:m>
                <a:endParaRPr lang="ar-AE"/>
              </a:p>
              <a:p>
                <a:r>
                  <a:rPr lang="vi-VN"/>
                  <a:t>Một bộ lọc </a:t>
                </a:r>
                <a:r>
                  <a:rPr lang="vi-VN" err="1"/>
                  <a:t>Gauss</a:t>
                </a:r>
                <a:r>
                  <a:rPr lang="vi-VN"/>
                  <a:t> nhỏ áp lên chuỗi xác suất theo thời gian — </a:t>
                </a:r>
                <a:r>
                  <a:rPr lang="vi-VN" b="1"/>
                  <a:t>làm mượt chuỗi xác suất</a:t>
                </a:r>
                <a:r>
                  <a:rPr lang="vi-VN"/>
                  <a:t> và triệt tiêu các đỉnh cô lập do </a:t>
                </a:r>
                <a:r>
                  <a:rPr lang="vi-VN" err="1"/>
                  <a:t>flash</a:t>
                </a:r>
                <a:r>
                  <a:rPr lang="vi-VN"/>
                  <a:t> hoặc rung lắc </a:t>
                </a:r>
                <a:r>
                  <a:rPr lang="vi-VN" err="1"/>
                  <a:t>camera</a:t>
                </a:r>
                <a:r>
                  <a:rPr lang="vi-VN"/>
                  <a:t> gây ra.</a:t>
                </a:r>
              </a:p>
              <a:p>
                <a:r>
                  <a:rPr lang="vi-VN"/>
                  <a:t>Cả hai đều cực rẻ về tính toán — chỉ vài dòng </a:t>
                </a:r>
                <a:r>
                  <a:rPr lang="vi-VN" err="1"/>
                  <a:t>code</a:t>
                </a:r>
                <a:r>
                  <a:rPr lang="vi-VN"/>
                  <a:t> — nhưng đóng góp đáng kể vào kết quả cuối cùng, như em sẽ trình bày ở phần thực nghiệm."</a:t>
                </a:r>
              </a:p>
              <a:p>
                <a:endParaRPr lang="vi-VN"/>
              </a:p>
            </p:txBody>
          </p:sp>
        </mc:Choice>
        <mc:Fallback xmlns="">
          <p:sp>
            <p:nvSpPr>
              <p:cNvPr id="3" name="Chỗ dành sẵn cho Ghi chú 2">
                <a:extLst>
                  <a:ext uri="{FF2B5EF4-FFF2-40B4-BE49-F238E27FC236}">
                    <a16:creationId xmlns:a16="http://schemas.microsoft.com/office/drawing/2014/main" id="{3E99669B-EF96-808B-F903-6B39151642E6}"/>
                  </a:ext>
                </a:extLst>
              </p:cNvPr>
              <p:cNvSpPr>
                <a:spLocks noGrp="1"/>
              </p:cNvSpPr>
              <p:nvPr>
                <p:ph type="body" idx="1"/>
              </p:nvPr>
            </p:nvSpPr>
            <p:spPr/>
            <p:txBody>
              <a:bodyPr/>
              <a:lstStyle/>
              <a:p>
                <a:r>
                  <a:rPr lang="vi-VN"/>
                  <a:t>"</a:t>
                </a:r>
                <a:r>
                  <a:rPr lang="vi-VN" b="1"/>
                  <a:t>Cải tiến thứ ba</a:t>
                </a:r>
                <a:r>
                  <a:rPr lang="vi-VN"/>
                  <a:t> nằm ở khâu hậu xử lý — hai kỹ thuật </a:t>
                </a:r>
                <a:r>
                  <a:rPr lang="vi-VN" b="1"/>
                  <a:t>không yêu cầu huấn luyện lại, chi phí gần như bằng không</a:t>
                </a:r>
                <a:r>
                  <a:rPr lang="vi-VN"/>
                  <a:t>, nhưng giúp ổn định hóa quyết định khi đặt ngưỡng:</a:t>
                </a:r>
              </a:p>
              <a:p>
                <a:r>
                  <a:rPr lang="vi-VN" b="1"/>
                  <a:t>Phần A —</a:t>
                </a:r>
                <a:r>
                  <a:rPr lang="en-US" b="1"/>
                  <a:t>Temperature Scaling</a:t>
                </a:r>
                <a:r>
                  <a:rPr lang="en-US"/>
                  <a:t> là kỹ thuật điều chỉnh độ “gắt” của xác suất đầu ra bằng cách chia </a:t>
                </a:r>
                <a:r>
                  <a:rPr lang="en-US" b="1"/>
                  <a:t>logit</a:t>
                </a:r>
                <a:r>
                  <a:rPr lang="en-US"/>
                  <a:t> cho một hệ số </a:t>
                </a:r>
                <a:r>
                  <a:rPr lang="en-US" sz="1200" i="0" kern="1200">
                    <a:solidFill>
                      <a:schemeClr val="tx1"/>
                    </a:solidFill>
                    <a:latin typeface="Cambria Math" panose="02040503050406030204" pitchFamily="18" charset="0"/>
                    <a:ea typeface="+mn-ea"/>
                    <a:cs typeface="+mn-cs"/>
                  </a:rPr>
                  <a:t>𝑇</a:t>
                </a:r>
                <a:r>
                  <a:rPr lang="en-US"/>
                  <a:t>.</a:t>
                </a:r>
                <a:endParaRPr lang="ar-AE" b="0"/>
              </a:p>
              <a:p>
                <a:r>
                  <a:rPr lang="vi-VN"/>
                  <a:t>Chỉ một hệ số T duy nhất nhân vào </a:t>
                </a:r>
                <a:r>
                  <a:rPr lang="vi-VN" err="1"/>
                  <a:t>logits</a:t>
                </a:r>
                <a:r>
                  <a:rPr lang="vi-VN"/>
                  <a:t>, được tối ưu trên tập </a:t>
                </a:r>
                <a:r>
                  <a:rPr lang="vi-VN" err="1"/>
                  <a:t>validation</a:t>
                </a:r>
                <a:r>
                  <a:rPr lang="vi-VN"/>
                  <a:t>. Kết quả là </a:t>
                </a:r>
                <a:r>
                  <a:rPr lang="vi-VN" b="1"/>
                  <a:t>ngưỡng quyết định trở nên ổn định hơn</a:t>
                </a:r>
                <a:r>
                  <a:rPr lang="vi-VN"/>
                  <a:t>, mô hình không bị tự tin thái quá ở các vùng gây tranh cãi.</a:t>
                </a:r>
                <a:endParaRPr lang="en-US"/>
              </a:p>
              <a:p>
                <a:endParaRPr lang="vi-VN"/>
              </a:p>
              <a:p>
                <a:r>
                  <a:rPr lang="vi-VN" b="1"/>
                  <a:t>Phần B — </a:t>
                </a:r>
                <a:r>
                  <a:rPr lang="vi-VN" b="1" err="1"/>
                  <a:t>Gaussian</a:t>
                </a:r>
                <a:r>
                  <a:rPr lang="vi-VN" b="1"/>
                  <a:t> </a:t>
                </a:r>
                <a:r>
                  <a:rPr lang="vi-VN" b="1" err="1"/>
                  <a:t>Smoothing</a:t>
                </a:r>
                <a:r>
                  <a:rPr lang="vi-VN"/>
                  <a:t> triệt tiêu nhiễu đơn lẻ:</a:t>
                </a:r>
              </a:p>
              <a:p>
                <a:pPr/>
                <a:r>
                  <a:rPr lang="ar-AE" sz="1200" i="0" kern="1200">
                    <a:solidFill>
                      <a:schemeClr val="tx1"/>
                    </a:solidFill>
                    <a:latin typeface="Cambria Math" panose="02040503050406030204" pitchFamily="18" charset="0"/>
                    <a:ea typeface="+mn-ea"/>
                    <a:cs typeface="+mn-cs"/>
                  </a:rPr>
                  <a:t>𝑝 ̃=𝐺_𝜎∗𝑝</a:t>
                </a:r>
                <a:endParaRPr lang="ar-AE"/>
              </a:p>
              <a:p>
                <a:r>
                  <a:rPr lang="vi-VN"/>
                  <a:t>Một bộ lọc </a:t>
                </a:r>
                <a:r>
                  <a:rPr lang="vi-VN" err="1"/>
                  <a:t>Gauss</a:t>
                </a:r>
                <a:r>
                  <a:rPr lang="vi-VN"/>
                  <a:t> nhỏ áp lên chuỗi xác suất theo thời gian — </a:t>
                </a:r>
                <a:r>
                  <a:rPr lang="vi-VN" b="1"/>
                  <a:t>làm mượt chuỗi xác suất</a:t>
                </a:r>
                <a:r>
                  <a:rPr lang="vi-VN"/>
                  <a:t> và triệt tiêu các đỉnh cô lập do </a:t>
                </a:r>
                <a:r>
                  <a:rPr lang="vi-VN" err="1"/>
                  <a:t>flash</a:t>
                </a:r>
                <a:r>
                  <a:rPr lang="vi-VN"/>
                  <a:t> hoặc rung lắc </a:t>
                </a:r>
                <a:r>
                  <a:rPr lang="vi-VN" err="1"/>
                  <a:t>camera</a:t>
                </a:r>
                <a:r>
                  <a:rPr lang="vi-VN"/>
                  <a:t> gây ra.</a:t>
                </a:r>
              </a:p>
              <a:p>
                <a:r>
                  <a:rPr lang="vi-VN"/>
                  <a:t>Cả hai đều cực rẻ về tính toán — chỉ vài dòng </a:t>
                </a:r>
                <a:r>
                  <a:rPr lang="vi-VN" err="1"/>
                  <a:t>code</a:t>
                </a:r>
                <a:r>
                  <a:rPr lang="vi-VN"/>
                  <a:t> — nhưng đóng góp đáng kể vào kết quả cuối cùng, như em sẽ trình bày ở phần thực nghiệm."</a:t>
                </a:r>
              </a:p>
              <a:p>
                <a:endParaRPr lang="vi-VN"/>
              </a:p>
            </p:txBody>
          </p:sp>
        </mc:Fallback>
      </mc:AlternateContent>
      <p:sp>
        <p:nvSpPr>
          <p:cNvPr id="4" name="Chỗ dành sẵn cho Số hiệu Bản chiếu 3">
            <a:extLst>
              <a:ext uri="{FF2B5EF4-FFF2-40B4-BE49-F238E27FC236}">
                <a16:creationId xmlns:a16="http://schemas.microsoft.com/office/drawing/2014/main" id="{FDDCBA4A-627C-F9C2-D04B-E687C586D28A}"/>
              </a:ext>
            </a:extLst>
          </p:cNvPr>
          <p:cNvSpPr>
            <a:spLocks noGrp="1"/>
          </p:cNvSpPr>
          <p:nvPr>
            <p:ph type="sldNum" sz="quarter" idx="5"/>
          </p:nvPr>
        </p:nvSpPr>
        <p:spPr/>
        <p:txBody>
          <a:bodyPr/>
          <a:lstStyle/>
          <a:p>
            <a:fld id="{2BC1A914-41DE-44DB-891B-AD840F0448BE}" type="slidenum">
              <a:rPr lang="en-US" smtClean="0"/>
              <a:t>16</a:t>
            </a:fld>
            <a:endParaRPr lang="en-US"/>
          </a:p>
        </p:txBody>
      </p:sp>
    </p:spTree>
    <p:extLst>
      <p:ext uri="{BB962C8B-B14F-4D97-AF65-F5344CB8AC3E}">
        <p14:creationId xmlns:p14="http://schemas.microsoft.com/office/powerpoint/2010/main" val="2624641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Bộ dữ liệu chính trong khóa luận là SHOT, một bộ dữ liệu dành cho bài toán phát hiện ranh giới cảnh quay trên video ngắn.</a:t>
            </a:r>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 SHOT gồm 853 video, 11.606 nhãn boundary và 960.794 khung hình. Độ dài trung bình của mỗi video là khoảng 39,5 giây, còn độ dài trung bình mỗi shot chỉ khoảng 2,59 giây.</a:t>
            </a:r>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 Những con số này cho thấy SHOT có nhịp cắt cảnh rất nhanh. So với các bộ dữ liệu truyền thống, shot trong SHOT ngắn hơn nhiều, nên đây là một bộ dữ liệu phù hợp để đánh giá mô hình trên short-form video. </a:t>
            </a:r>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Đồng thời, SHOT cũng khó hơn vì chứa nhiều hiệu ứng biên tập hiện đại, nội dung biến đổi nhanh và nhiều yếu tố gây nhiễu thị giác.</a:t>
            </a:r>
            <a:endParaRPr lang="en-US"/>
          </a:p>
        </p:txBody>
      </p:sp>
      <p:sp>
        <p:nvSpPr>
          <p:cNvPr id="4" name="Slide Number Placeholder 3"/>
          <p:cNvSpPr>
            <a:spLocks noGrp="1"/>
          </p:cNvSpPr>
          <p:nvPr>
            <p:ph type="sldNum" sz="quarter" idx="5"/>
          </p:nvPr>
        </p:nvSpPr>
        <p:spPr/>
        <p:txBody>
          <a:bodyPr/>
          <a:lstStyle/>
          <a:p>
            <a:fld id="{2BC1A914-41DE-44DB-891B-AD840F0448BE}" type="slidenum">
              <a:rPr lang="en-US" smtClean="0"/>
              <a:t>17</a:t>
            </a:fld>
            <a:endParaRPr lang="en-US"/>
          </a:p>
        </p:txBody>
      </p:sp>
    </p:spTree>
    <p:extLst>
      <p:ext uri="{BB962C8B-B14F-4D97-AF65-F5344CB8AC3E}">
        <p14:creationId xmlns:p14="http://schemas.microsoft.com/office/powerpoint/2010/main" val="3001542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SHOT có nhiều đặc trưng khiến bài toán SBD trở nên khó hơn.</a:t>
            </a:r>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 Đầu tiên là các chuyển cảnh gradual phức tạp, ví dụ dissolve hoặc wipe chồng nhiều lớp. Những chuyển cảnh này không tạo ra điểm ngắt rõ ràng như cut, nên mô hình cần quan sát chuỗi frame theo thời gian. </a:t>
            </a:r>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Thứ hai là cấu trúc ba phần trong video dọc. Phần trên và dưới có thể gần như không đổi, trong khi nội dung ở giữa thay đổi. Điều này có thể làm mô hình đánh giá sai mức độ thay đổi toàn khung hình. </a:t>
            </a:r>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Thứ ba là nội dung game hoặc cảnh ảo, nơi hình ảnh có thể biến đổi rất mạnh trong cùng một shot. Nếu mô hình chỉ dựa vào thay đổi thị giác mạnh, nó dễ dự đoán nhầm thành boundary. </a:t>
            </a:r>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Ngoài ra, camera motion nhanh, flash và thay đổi ánh sáng đột ngột cũng dễ tạo false positive. Đây là lý do nhóm em bổ sung Gaussian smoothing để giảm các đỉnh nhiễu đơn lẻ trong chuỗi xác suất.</a:t>
            </a:r>
            <a:endParaRPr lang="en-US"/>
          </a:p>
        </p:txBody>
      </p:sp>
      <p:sp>
        <p:nvSpPr>
          <p:cNvPr id="4" name="Slide Number Placeholder 3"/>
          <p:cNvSpPr>
            <a:spLocks noGrp="1"/>
          </p:cNvSpPr>
          <p:nvPr>
            <p:ph type="sldNum" sz="quarter" idx="5"/>
          </p:nvPr>
        </p:nvSpPr>
        <p:spPr/>
        <p:txBody>
          <a:bodyPr/>
          <a:lstStyle/>
          <a:p>
            <a:fld id="{2BC1A914-41DE-44DB-891B-AD840F0448BE}" type="slidenum">
              <a:rPr lang="en-US" smtClean="0"/>
              <a:t>18</a:t>
            </a:fld>
            <a:endParaRPr lang="en-US"/>
          </a:p>
        </p:txBody>
      </p:sp>
    </p:spTree>
    <p:extLst>
      <p:ext uri="{BB962C8B-B14F-4D97-AF65-F5344CB8AC3E}">
        <p14:creationId xmlns:p14="http://schemas.microsoft.com/office/powerpoint/2010/main" val="32441736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"Để đánh giá khả năng tổng quát hóa, chúng em </a:t>
            </a:r>
            <a:r>
              <a:rPr lang="vi-VN" err="1"/>
              <a:t>test</a:t>
            </a:r>
            <a:r>
              <a:rPr lang="vi-VN"/>
              <a:t> trên cả </a:t>
            </a:r>
            <a:r>
              <a:rPr lang="vi-VN" b="1"/>
              <a:t>ba bộ dữ liệu</a:t>
            </a:r>
            <a:r>
              <a:rPr lang="vi-VN"/>
              <a:t>:</a:t>
            </a:r>
          </a:p>
          <a:p>
            <a:r>
              <a:rPr lang="vi-VN" b="1" err="1"/>
              <a:t>SHOT</a:t>
            </a:r>
            <a:r>
              <a:rPr lang="vi-VN"/>
              <a:t> — </a:t>
            </a:r>
            <a:r>
              <a:rPr lang="vi-VN" err="1"/>
              <a:t>short-form</a:t>
            </a:r>
            <a:r>
              <a:rPr lang="vi-VN"/>
              <a:t> đa nền tảng, </a:t>
            </a:r>
            <a:r>
              <a:rPr lang="vi-VN" err="1"/>
              <a:t>shot</a:t>
            </a:r>
            <a:r>
              <a:rPr lang="vi-VN"/>
              <a:t> trung bình 2,59 giây.</a:t>
            </a:r>
            <a:endParaRPr lang="en-US"/>
          </a:p>
          <a:p>
            <a:r>
              <a:rPr lang="en-US" sz="1200" b="0" i="0" kern="1200">
                <a:solidFill>
                  <a:schemeClr val="tx1"/>
                </a:solidFill>
                <a:effectLst/>
                <a:latin typeface="+mn-lt"/>
                <a:ea typeface="+mn-ea"/>
                <a:cs typeface="+mn-cs"/>
              </a:rPr>
              <a:t>Ngoài SHOT, nhóm em sử dụng thêm các bộ dữ liệu đối chứng để đánh giá khả năng tổng quát hóa.</a:t>
            </a:r>
          </a:p>
          <a:p>
            <a:r>
              <a:rPr lang="en-US" sz="1200" b="0" i="0" kern="1200">
                <a:solidFill>
                  <a:schemeClr val="tx1"/>
                </a:solidFill>
                <a:effectLst/>
                <a:latin typeface="+mn-lt"/>
                <a:ea typeface="+mn-ea"/>
                <a:cs typeface="+mn-cs"/>
              </a:rPr>
              <a:t>Bộ dữ liệu BBC Planet Earth, gồm 11 video phim tài liệu thiên nhiên với độ dài shot trung bình khoảng 6,57 giây.</a:t>
            </a:r>
          </a:p>
          <a:p>
            <a:r>
              <a:rPr lang="en-US" sz="1200" b="0" i="0" kern="1200">
                <a:solidFill>
                  <a:schemeClr val="tx1"/>
                </a:solidFill>
                <a:effectLst/>
                <a:latin typeface="+mn-lt"/>
                <a:ea typeface="+mn-ea"/>
                <a:cs typeface="+mn-cs"/>
              </a:rPr>
              <a:t>Tiếp theo là ClipShots, gồm khoảng 500 video </a:t>
            </a:r>
            <a:r>
              <a:rPr lang="vi-VN"/>
              <a:t>YouTube/Weibo đa dạng, shot trung bình 15,34 giây.</a:t>
            </a:r>
          </a:p>
          <a:p>
            <a:r>
              <a:rPr lang="vi-VN" sz="1200" b="0" i="0" kern="1200">
                <a:solidFill>
                  <a:schemeClr val="tx1"/>
                </a:solidFill>
                <a:effectLst/>
                <a:latin typeface="+mn-lt"/>
                <a:ea typeface="+mn-ea"/>
                <a:cs typeface="+mn-cs"/>
              </a:rPr>
              <a:t>So với hai bộ này, SHOT có độ dài video trung bình chỉ 39,5 giây và shot trung bình 2,59 giây. Như vậy, SHOT có shot ngắn hơn từ khoảng 2 đến 6 lần so với các bộ truyền thống.</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Việc đánh giá trên cả ba bộ giúp nhóm em kiểm tra xem cải tiến trên SHOT có còn hiệu quả khi chuyển sang các miền dữ liệu khác hay không. </a:t>
            </a:r>
          </a:p>
          <a:p>
            <a:endParaRPr lang="vi-VN"/>
          </a:p>
          <a:p>
            <a:r>
              <a:rPr lang="vi-VN"/>
              <a:t>Điểm quan trọng cần lưu ý: </a:t>
            </a:r>
            <a:r>
              <a:rPr lang="vi-VN" b="1" err="1"/>
              <a:t>SHOT</a:t>
            </a:r>
            <a:r>
              <a:rPr lang="vi-VN" b="1"/>
              <a:t> có </a:t>
            </a:r>
            <a:r>
              <a:rPr lang="vi-VN" b="1" err="1"/>
              <a:t>shot</a:t>
            </a:r>
            <a:r>
              <a:rPr lang="vi-VN" b="1"/>
              <a:t> ngắn gấp 2 đến 6 lần</a:t>
            </a:r>
            <a:r>
              <a:rPr lang="vi-VN"/>
              <a:t> so với hai bộ còn lại — tức là ba miền hoàn toàn khác nhau. Việc đánh giá trên cả ba bộ cho phép chúng em đo kiểm khả năng tổng quát hóa của </a:t>
            </a:r>
            <a:r>
              <a:rPr lang="vi-VN" err="1"/>
              <a:t>AutoShotV2</a:t>
            </a:r>
            <a:r>
              <a:rPr lang="vi-VN"/>
              <a:t>."</a:t>
            </a: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BC1A914-41DE-44DB-891B-AD840F0448BE}" type="slidenum">
              <a:rPr lang="en-US" smtClean="0"/>
              <a:t>19</a:t>
            </a:fld>
            <a:endParaRPr lang="en-US"/>
          </a:p>
        </p:txBody>
      </p:sp>
    </p:spTree>
    <p:extLst>
      <p:ext uri="{BB962C8B-B14F-4D97-AF65-F5344CB8AC3E}">
        <p14:creationId xmlns:p14="http://schemas.microsoft.com/office/powerpoint/2010/main" val="112775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"Chúng em sử dụng ba độ đo tiêu chuẩn:</a:t>
            </a:r>
          </a:p>
          <a:p>
            <a:r>
              <a:rPr lang="vi-VN" b="1" err="1"/>
              <a:t>Precision</a:t>
            </a:r>
            <a:r>
              <a:rPr lang="vi-VN"/>
              <a:t> — tỉ lệ dự đoán đúng trong số </a:t>
            </a:r>
            <a:r>
              <a:rPr lang="vi-VN" err="1"/>
              <a:t>boundary</a:t>
            </a:r>
            <a:r>
              <a:rPr lang="vi-VN"/>
              <a:t> được dự đoán.</a:t>
            </a:r>
          </a:p>
          <a:p>
            <a:r>
              <a:rPr lang="vi-VN" b="1" err="1"/>
              <a:t>Recall</a:t>
            </a:r>
            <a:r>
              <a:rPr lang="vi-VN"/>
              <a:t> — tỉ lệ </a:t>
            </a:r>
            <a:r>
              <a:rPr lang="vi-VN" err="1"/>
              <a:t>boundary</a:t>
            </a:r>
            <a:r>
              <a:rPr lang="vi-VN"/>
              <a:t> thật được phát hiện.</a:t>
            </a:r>
          </a:p>
          <a:p>
            <a:r>
              <a:rPr lang="vi-VN" b="1" err="1"/>
              <a:t>F1-Score</a:t>
            </a:r>
            <a:r>
              <a:rPr lang="vi-VN"/>
              <a:t> — trung bình điều hòa của </a:t>
            </a:r>
            <a:r>
              <a:rPr lang="vi-VN" err="1"/>
              <a:t>Precision</a:t>
            </a:r>
            <a:r>
              <a:rPr lang="vi-VN"/>
              <a:t> và </a:t>
            </a:r>
            <a:r>
              <a:rPr lang="vi-VN" err="1"/>
              <a:t>Recall</a:t>
            </a:r>
            <a:r>
              <a:rPr lang="vi-VN"/>
              <a:t>, là </a:t>
            </a:r>
            <a:r>
              <a:rPr lang="vi-VN" b="1"/>
              <a:t>độ đo chính</a:t>
            </a:r>
            <a:r>
              <a:rPr lang="vi-VN"/>
              <a:t> trong </a:t>
            </a:r>
            <a:r>
              <a:rPr lang="vi-VN" err="1"/>
              <a:t>SBD</a:t>
            </a:r>
            <a:r>
              <a:rPr lang="vi-VN"/>
              <a:t> vì cân bằng cả hai </a:t>
            </a:r>
            <a:r>
              <a:rPr lang="vi-VN" err="1"/>
              <a:t>khía</a:t>
            </a:r>
            <a:r>
              <a:rPr lang="vi-VN"/>
              <a:t> cạnh.</a:t>
            </a:r>
          </a:p>
          <a:p>
            <a:r>
              <a:rPr lang="vi-VN"/>
              <a:t>Trong đó </a:t>
            </a:r>
            <a:r>
              <a:rPr lang="vi-VN" err="1"/>
              <a:t>TP</a:t>
            </a:r>
            <a:r>
              <a:rPr lang="vi-VN"/>
              <a:t> là dự đoán đúng </a:t>
            </a:r>
            <a:r>
              <a:rPr lang="vi-VN" err="1"/>
              <a:t>Positive</a:t>
            </a:r>
            <a:r>
              <a:rPr lang="vi-VN"/>
              <a:t>, </a:t>
            </a:r>
            <a:r>
              <a:rPr lang="vi-VN" err="1"/>
              <a:t>FP</a:t>
            </a:r>
            <a:r>
              <a:rPr lang="vi-VN"/>
              <a:t> là dự đoán sai thành </a:t>
            </a:r>
            <a:r>
              <a:rPr lang="vi-VN" err="1"/>
              <a:t>Positive</a:t>
            </a:r>
            <a:r>
              <a:rPr lang="vi-VN"/>
              <a:t>, </a:t>
            </a:r>
            <a:r>
              <a:rPr lang="vi-VN" err="1"/>
              <a:t>FN</a:t>
            </a:r>
            <a:r>
              <a:rPr lang="vi-VN"/>
              <a:t> là bỏ sót, </a:t>
            </a:r>
            <a:r>
              <a:rPr lang="vi-VN" err="1"/>
              <a:t>TN</a:t>
            </a:r>
            <a:r>
              <a:rPr lang="vi-VN"/>
              <a:t> là dự đoán đúng </a:t>
            </a:r>
            <a:r>
              <a:rPr lang="vi-VN" err="1"/>
              <a:t>Negative</a:t>
            </a:r>
            <a:r>
              <a:rPr lang="vi-VN"/>
              <a:t>."</a:t>
            </a:r>
          </a:p>
          <a:p>
            <a:endParaRPr lang="en-US"/>
          </a:p>
        </p:txBody>
      </p:sp>
      <p:sp>
        <p:nvSpPr>
          <p:cNvPr id="4" name="Slide Number Placeholder 3"/>
          <p:cNvSpPr>
            <a:spLocks noGrp="1"/>
          </p:cNvSpPr>
          <p:nvPr>
            <p:ph type="sldNum" sz="quarter" idx="5"/>
          </p:nvPr>
        </p:nvSpPr>
        <p:spPr/>
        <p:txBody>
          <a:bodyPr/>
          <a:lstStyle/>
          <a:p>
            <a:fld id="{2BC1A914-41DE-44DB-891B-AD840F0448BE}" type="slidenum">
              <a:rPr lang="en-US" smtClean="0"/>
              <a:t>20</a:t>
            </a:fld>
            <a:endParaRPr lang="en-US"/>
          </a:p>
        </p:txBody>
      </p:sp>
    </p:spTree>
    <p:extLst>
      <p:ext uri="{BB962C8B-B14F-4D97-AF65-F5344CB8AC3E}">
        <p14:creationId xmlns:p14="http://schemas.microsoft.com/office/powerpoint/2010/main" val="353837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"Và đây là </a:t>
            </a:r>
            <a:r>
              <a:rPr lang="vi-VN" b="1"/>
              <a:t>kết quả chính</a:t>
            </a:r>
            <a:r>
              <a:rPr lang="vi-VN"/>
              <a:t> trên bộ </a:t>
            </a:r>
            <a:r>
              <a:rPr lang="vi-VN" err="1"/>
              <a:t>SHOT</a:t>
            </a:r>
            <a:r>
              <a:rPr lang="vi-VN"/>
              <a:t>:</a:t>
            </a:r>
          </a:p>
          <a:p>
            <a:r>
              <a:rPr lang="vi-VN" b="1" err="1"/>
              <a:t>TransNetV2</a:t>
            </a:r>
            <a:r>
              <a:rPr lang="vi-VN"/>
              <a:t> đạt </a:t>
            </a:r>
            <a:r>
              <a:rPr lang="vi-VN" err="1"/>
              <a:t>F1</a:t>
            </a:r>
            <a:r>
              <a:rPr lang="vi-VN"/>
              <a:t> = 0.799.</a:t>
            </a:r>
          </a:p>
          <a:p>
            <a:r>
              <a:rPr lang="vi-VN" b="1" err="1"/>
              <a:t>AutoShot</a:t>
            </a:r>
            <a:r>
              <a:rPr lang="vi-VN"/>
              <a:t> (</a:t>
            </a:r>
            <a:r>
              <a:rPr lang="vi-VN" err="1"/>
              <a:t>baseline</a:t>
            </a:r>
            <a:r>
              <a:rPr lang="vi-VN"/>
              <a:t>) đạt </a:t>
            </a:r>
            <a:r>
              <a:rPr lang="vi-VN" err="1"/>
              <a:t>F1</a:t>
            </a:r>
            <a:r>
              <a:rPr lang="vi-VN"/>
              <a:t> = 0.841.</a:t>
            </a:r>
          </a:p>
          <a:p>
            <a:r>
              <a:rPr lang="vi-VN" b="1" err="1"/>
              <a:t>AutoShotV2</a:t>
            </a:r>
            <a:r>
              <a:rPr lang="vi-VN"/>
              <a:t> của chúng em đạt </a:t>
            </a:r>
            <a:r>
              <a:rPr lang="vi-VN" b="1" err="1"/>
              <a:t>F1</a:t>
            </a:r>
            <a:r>
              <a:rPr lang="vi-VN" b="1"/>
              <a:t> = 0.855</a:t>
            </a:r>
            <a:r>
              <a:rPr lang="vi-VN"/>
              <a:t> — cao nhất.</a:t>
            </a:r>
          </a:p>
          <a:p>
            <a:r>
              <a:rPr lang="vi-VN"/>
              <a:t>Cụ thể, </a:t>
            </a:r>
            <a:r>
              <a:rPr lang="vi-VN" err="1"/>
              <a:t>AutoShotV2</a:t>
            </a:r>
            <a:r>
              <a:rPr lang="vi-VN"/>
              <a:t> cải thiện </a:t>
            </a:r>
            <a:r>
              <a:rPr lang="vi-VN" b="1"/>
              <a:t>+1,</a:t>
            </a:r>
            <a:r>
              <a:rPr lang="en-US" b="1"/>
              <a:t>66</a:t>
            </a:r>
            <a:r>
              <a:rPr lang="vi-VN" b="1"/>
              <a:t>% so với </a:t>
            </a:r>
            <a:r>
              <a:rPr lang="vi-VN" b="1" err="1"/>
              <a:t>AutoShot</a:t>
            </a:r>
            <a:r>
              <a:rPr lang="vi-VN" b="1"/>
              <a:t> gốc</a:t>
            </a:r>
            <a:r>
              <a:rPr lang="vi-VN"/>
              <a:t> và </a:t>
            </a:r>
            <a:r>
              <a:rPr lang="vi-VN" b="1"/>
              <a:t>+5,6% so với </a:t>
            </a:r>
            <a:r>
              <a:rPr lang="vi-VN" b="1" err="1"/>
              <a:t>TransNetV2</a:t>
            </a:r>
            <a:r>
              <a:rPr lang="vi-VN"/>
              <a:t>.</a:t>
            </a:r>
          </a:p>
          <a:p>
            <a:r>
              <a:rPr lang="vi-VN"/>
              <a:t>Con số 1,</a:t>
            </a:r>
            <a:r>
              <a:rPr lang="en-US"/>
              <a:t>66</a:t>
            </a:r>
            <a:r>
              <a:rPr lang="vi-VN"/>
              <a:t>% nghe có vẻ nhỏ, nhưng cần nhấn mạnh: kết quả này đạt được mà </a:t>
            </a:r>
            <a:r>
              <a:rPr lang="vi-VN" b="1"/>
              <a:t>không cần đào tạo lại </a:t>
            </a:r>
            <a:r>
              <a:rPr lang="vi-VN" b="1" err="1"/>
              <a:t>backbone</a:t>
            </a:r>
            <a:r>
              <a:rPr lang="vi-VN"/>
              <a:t>, chỉ tinh chỉnh tầng </a:t>
            </a:r>
            <a:r>
              <a:rPr lang="vi-VN" err="1"/>
              <a:t>head</a:t>
            </a:r>
            <a:r>
              <a:rPr lang="vi-VN"/>
              <a:t> và hậu xử lý — chứng minh tiềm năng cải thiện đáng kể ở khâu </a:t>
            </a:r>
            <a:r>
              <a:rPr lang="vi-VN" err="1"/>
              <a:t>output</a:t>
            </a:r>
            <a:r>
              <a:rPr lang="vi-VN"/>
              <a:t> đối với các mô hình </a:t>
            </a:r>
            <a:r>
              <a:rPr lang="vi-VN" err="1"/>
              <a:t>NAS</a:t>
            </a:r>
            <a:r>
              <a:rPr lang="vi-VN"/>
              <a:t> đã tối ưu sẵn."</a:t>
            </a:r>
          </a:p>
          <a:p>
            <a:endParaRPr lang="en-US"/>
          </a:p>
        </p:txBody>
      </p:sp>
      <p:sp>
        <p:nvSpPr>
          <p:cNvPr id="4" name="Slide Number Placeholder 3"/>
          <p:cNvSpPr>
            <a:spLocks noGrp="1"/>
          </p:cNvSpPr>
          <p:nvPr>
            <p:ph type="sldNum" sz="quarter" idx="5"/>
          </p:nvPr>
        </p:nvSpPr>
        <p:spPr/>
        <p:txBody>
          <a:bodyPr/>
          <a:lstStyle/>
          <a:p>
            <a:fld id="{2BC1A914-41DE-44DB-891B-AD840F0448BE}" type="slidenum">
              <a:rPr lang="en-US" smtClean="0"/>
              <a:t>21</a:t>
            </a:fld>
            <a:endParaRPr lang="en-US"/>
          </a:p>
        </p:txBody>
      </p:sp>
    </p:spTree>
    <p:extLst>
      <p:ext uri="{BB962C8B-B14F-4D97-AF65-F5344CB8AC3E}">
        <p14:creationId xmlns:p14="http://schemas.microsoft.com/office/powerpoint/2010/main" val="4132330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E8510-6B1F-D71D-3EFC-183DA3E3B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8E537-83D6-8B0F-A93D-67C601109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63E003-E7D0-6884-E639-FB06A58BE4FC}"/>
              </a:ext>
            </a:extLst>
          </p:cNvPr>
          <p:cNvSpPr>
            <a:spLocks noGrp="1"/>
          </p:cNvSpPr>
          <p:nvPr>
            <p:ph type="body" idx="1"/>
          </p:nvPr>
        </p:nvSpPr>
        <p:spPr/>
        <p:txBody>
          <a:bodyPr/>
          <a:lstStyle/>
          <a:p>
            <a:r>
              <a:rPr lang="vi-VN"/>
              <a:t>"Để chứng minh </a:t>
            </a:r>
            <a:r>
              <a:rPr lang="vi-VN" b="1"/>
              <a:t>đóng góp riêng của từng thành phần</a:t>
            </a:r>
            <a:r>
              <a:rPr lang="vi-VN"/>
              <a:t>, chúng em thực hiện </a:t>
            </a:r>
            <a:r>
              <a:rPr lang="en-US" b="1"/>
              <a:t>nghiên cứu từng phần</a:t>
            </a:r>
            <a:r>
              <a:rPr lang="vi-VN"/>
              <a:t>:</a:t>
            </a:r>
          </a:p>
          <a:p>
            <a:r>
              <a:rPr lang="vi-VN" b="1"/>
              <a:t>Cấu hình 0</a:t>
            </a:r>
            <a:r>
              <a:rPr lang="vi-VN"/>
              <a:t> — </a:t>
            </a:r>
            <a:r>
              <a:rPr lang="vi-VN" err="1"/>
              <a:t>AutoShot</a:t>
            </a:r>
            <a:r>
              <a:rPr lang="vi-VN"/>
              <a:t> gốc, </a:t>
            </a:r>
            <a:r>
              <a:rPr lang="vi-VN" err="1"/>
              <a:t>baseline</a:t>
            </a:r>
            <a:r>
              <a:rPr lang="vi-VN"/>
              <a:t>, </a:t>
            </a:r>
            <a:r>
              <a:rPr lang="vi-VN" err="1"/>
              <a:t>F1</a:t>
            </a:r>
            <a:r>
              <a:rPr lang="vi-VN"/>
              <a:t> = 0.840.</a:t>
            </a:r>
          </a:p>
          <a:p>
            <a:r>
              <a:rPr lang="vi-VN" b="1"/>
              <a:t>Cấu hình 1</a:t>
            </a:r>
            <a:r>
              <a:rPr lang="vi-VN"/>
              <a:t> — thêm Gaussian Smoothing, F1 = 0.8</a:t>
            </a:r>
            <a:r>
              <a:rPr lang="en-US"/>
              <a:t>48</a:t>
            </a:r>
            <a:r>
              <a:rPr lang="vi-VN"/>
              <a:t>, +</a:t>
            </a:r>
            <a:r>
              <a:rPr lang="en-US"/>
              <a:t>0.83</a:t>
            </a:r>
            <a:r>
              <a:rPr lang="vi-VN"/>
              <a:t>.</a:t>
            </a:r>
          </a:p>
          <a:p>
            <a:r>
              <a:rPr lang="vi-VN" b="1"/>
              <a:t>Cấu hình </a:t>
            </a:r>
            <a:r>
              <a:rPr lang="en-US" b="1"/>
              <a:t>2</a:t>
            </a:r>
            <a:r>
              <a:rPr lang="vi-VN"/>
              <a:t> — </a:t>
            </a:r>
            <a:r>
              <a:rPr lang="en-US"/>
              <a:t>Cách train hàm lỗi mới cùng với</a:t>
            </a:r>
            <a:r>
              <a:rPr lang="vi-VN"/>
              <a:t> </a:t>
            </a:r>
            <a:r>
              <a:rPr lang="vi-VN" err="1"/>
              <a:t>Temperature</a:t>
            </a:r>
            <a:r>
              <a:rPr lang="vi-VN"/>
              <a:t> </a:t>
            </a:r>
            <a:r>
              <a:rPr lang="vi-VN" err="1"/>
              <a:t>Scaling</a:t>
            </a:r>
            <a:r>
              <a:rPr lang="vi-VN"/>
              <a:t> và </a:t>
            </a:r>
            <a:r>
              <a:rPr lang="vi-VN" err="1"/>
              <a:t>Gaussian</a:t>
            </a:r>
            <a:r>
              <a:rPr lang="vi-VN"/>
              <a:t> </a:t>
            </a:r>
            <a:r>
              <a:rPr lang="vi-VN" err="1"/>
              <a:t>Smoothing</a:t>
            </a:r>
            <a:r>
              <a:rPr lang="vi-VN"/>
              <a:t>, tức </a:t>
            </a:r>
            <a:r>
              <a:rPr lang="vi-VN" b="1" err="1"/>
              <a:t>AutoShotV2</a:t>
            </a:r>
            <a:r>
              <a:rPr lang="vi-VN" b="1"/>
              <a:t> đầy đủ</a:t>
            </a:r>
            <a:r>
              <a:rPr lang="vi-VN"/>
              <a:t>: </a:t>
            </a:r>
            <a:r>
              <a:rPr lang="vi-VN" err="1"/>
              <a:t>F1</a:t>
            </a:r>
            <a:r>
              <a:rPr lang="vi-VN"/>
              <a:t> = 0.855, +1.</a:t>
            </a:r>
            <a:r>
              <a:rPr lang="en-US"/>
              <a:t>66</a:t>
            </a:r>
            <a:r>
              <a:rPr lang="vi-VN"/>
              <a:t>.</a:t>
            </a:r>
          </a:p>
          <a:p>
            <a:endParaRPr lang="en-US"/>
          </a:p>
          <a:p>
            <a:r>
              <a:rPr lang="vi-VN"/>
              <a:t>Có thể thấy </a:t>
            </a:r>
            <a:r>
              <a:rPr lang="vi-VN" b="1"/>
              <a:t>mỗi thành phần đều đóng góp một mức cải thiện nhỏ và ổn định</a:t>
            </a:r>
            <a:r>
              <a:rPr lang="vi-VN"/>
              <a:t> — các kỹ thuật bổ sung lẫn nhau, không trùng lặp tác dụng. Đây là bằng chứng cho thấy thiết kế của chúng em hợp lý — không có thành phần nào dư thừa."</a:t>
            </a:r>
          </a:p>
          <a:p>
            <a:endParaRPr lang="en-US"/>
          </a:p>
        </p:txBody>
      </p:sp>
      <p:sp>
        <p:nvSpPr>
          <p:cNvPr id="4" name="Slide Number Placeholder 3">
            <a:extLst>
              <a:ext uri="{FF2B5EF4-FFF2-40B4-BE49-F238E27FC236}">
                <a16:creationId xmlns:a16="http://schemas.microsoft.com/office/drawing/2014/main" id="{32B977CD-F92D-87DD-E531-9C3A03BD4A9F}"/>
              </a:ext>
            </a:extLst>
          </p:cNvPr>
          <p:cNvSpPr>
            <a:spLocks noGrp="1"/>
          </p:cNvSpPr>
          <p:nvPr>
            <p:ph type="sldNum" sz="quarter" idx="5"/>
          </p:nvPr>
        </p:nvSpPr>
        <p:spPr/>
        <p:txBody>
          <a:bodyPr/>
          <a:lstStyle/>
          <a:p>
            <a:fld id="{2BC1A914-41DE-44DB-891B-AD840F0448BE}" type="slidenum">
              <a:rPr lang="en-US" smtClean="0"/>
              <a:t>22</a:t>
            </a:fld>
            <a:endParaRPr lang="en-US"/>
          </a:p>
        </p:txBody>
      </p:sp>
    </p:spTree>
    <p:extLst>
      <p:ext uri="{BB962C8B-B14F-4D97-AF65-F5344CB8AC3E}">
        <p14:creationId xmlns:p14="http://schemas.microsoft.com/office/powerpoint/2010/main" val="40037678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"Câu hỏi tiếp theo: liệu các cải tiến này có </a:t>
            </a:r>
            <a:r>
              <a:rPr lang="vi-VN" b="1"/>
              <a:t>tổng quát hóa</a:t>
            </a:r>
            <a:r>
              <a:rPr lang="vi-VN"/>
              <a:t> sang dữ liệu khác hay không?</a:t>
            </a:r>
          </a:p>
          <a:p>
            <a:r>
              <a:rPr lang="vi-VN"/>
              <a:t>Kết quả trên ba tập như sau:</a:t>
            </a:r>
          </a:p>
          <a:p>
            <a:r>
              <a:rPr lang="vi-VN"/>
              <a:t>Trên </a:t>
            </a:r>
            <a:r>
              <a:rPr lang="vi-VN" b="1" err="1"/>
              <a:t>SHOT</a:t>
            </a:r>
            <a:r>
              <a:rPr lang="vi-VN"/>
              <a:t> , </a:t>
            </a:r>
            <a:r>
              <a:rPr lang="vi-VN" err="1"/>
              <a:t>AutoShotV2</a:t>
            </a:r>
            <a:r>
              <a:rPr lang="vi-VN"/>
              <a:t> đạt </a:t>
            </a:r>
            <a:r>
              <a:rPr lang="vi-VN" err="1"/>
              <a:t>F1</a:t>
            </a:r>
            <a:r>
              <a:rPr lang="vi-VN"/>
              <a:t> cao nhất là </a:t>
            </a:r>
            <a:r>
              <a:rPr lang="vi-VN" b="1"/>
              <a:t>0.855</a:t>
            </a:r>
            <a:r>
              <a:rPr lang="vi-VN"/>
              <a:t>.</a:t>
            </a:r>
            <a:endParaRPr lang="en-US"/>
          </a:p>
          <a:p>
            <a:endParaRPr lang="en-US"/>
          </a:p>
          <a:p>
            <a:r>
              <a:rPr lang="en-US"/>
              <a:t>Do sự khác biệt về thiết bị và cách tác giả đánh giá trên các tập dữ liệu. Kết quả trong báo cáo và thực tế nhóm chạy lại có sự khác biệt.</a:t>
            </a:r>
          </a:p>
          <a:p>
            <a:r>
              <a:rPr lang="en-US"/>
              <a:t> Nhóm sẽ dùng kết quả tự đánh giá được để so sánh với mô hình cải tiến.</a:t>
            </a:r>
          </a:p>
          <a:p>
            <a:endParaRPr lang="vi-VN"/>
          </a:p>
          <a:p>
            <a:r>
              <a:rPr lang="vi-VN"/>
              <a:t>Trên </a:t>
            </a:r>
            <a:r>
              <a:rPr lang="vi-VN" b="1" err="1"/>
              <a:t>BBC</a:t>
            </a:r>
            <a:r>
              <a:rPr lang="vi-VN"/>
              <a:t>, </a:t>
            </a:r>
            <a:r>
              <a:rPr lang="vi-VN" err="1"/>
              <a:t>AutoShotV2</a:t>
            </a:r>
            <a:r>
              <a:rPr lang="vi-VN"/>
              <a:t> đạt 0.9</a:t>
            </a:r>
            <a:r>
              <a:rPr lang="en-US"/>
              <a:t>66</a:t>
            </a:r>
            <a:r>
              <a:rPr lang="vi-VN"/>
              <a:t> — </a:t>
            </a:r>
            <a:r>
              <a:rPr lang="en-US"/>
              <a:t>tăng</a:t>
            </a:r>
            <a:r>
              <a:rPr lang="vi-VN"/>
              <a:t> </a:t>
            </a:r>
            <a:r>
              <a:rPr lang="en-US"/>
              <a:t>nhẹ hơn 1%</a:t>
            </a:r>
            <a:r>
              <a:rPr lang="vi-VN"/>
              <a:t> so với </a:t>
            </a:r>
            <a:r>
              <a:rPr lang="vi-VN" err="1"/>
              <a:t>AutoShot</a:t>
            </a:r>
            <a:r>
              <a:rPr lang="vi-VN"/>
              <a:t> (</a:t>
            </a:r>
            <a:r>
              <a:rPr lang="en-US"/>
              <a:t>0.955</a:t>
            </a:r>
            <a:r>
              <a:rPr lang="vi-VN"/>
              <a:t>).</a:t>
            </a:r>
          </a:p>
          <a:p>
            <a:r>
              <a:rPr lang="vi-VN"/>
              <a:t>Trên </a:t>
            </a:r>
            <a:r>
              <a:rPr lang="vi-VN" b="1" err="1"/>
              <a:t>ClipShots</a:t>
            </a:r>
            <a:r>
              <a:rPr lang="vi-VN"/>
              <a:t>, </a:t>
            </a:r>
            <a:r>
              <a:rPr lang="vi-VN" err="1"/>
              <a:t>AutoShotV2</a:t>
            </a:r>
            <a:r>
              <a:rPr lang="vi-VN"/>
              <a:t> đạt 0.73</a:t>
            </a:r>
            <a:r>
              <a:rPr lang="en-US"/>
              <a:t>3</a:t>
            </a:r>
            <a:r>
              <a:rPr lang="vi-VN"/>
              <a:t> — giảm</a:t>
            </a:r>
            <a:r>
              <a:rPr lang="en-US"/>
              <a:t> nhẹ</a:t>
            </a:r>
            <a:r>
              <a:rPr lang="vi-VN"/>
              <a:t> khoảng </a:t>
            </a:r>
            <a:r>
              <a:rPr lang="en-US"/>
              <a:t>1</a:t>
            </a:r>
            <a:r>
              <a:rPr lang="vi-VN"/>
              <a:t>,</a:t>
            </a:r>
            <a:r>
              <a:rPr lang="en-US"/>
              <a:t>54</a:t>
            </a:r>
            <a:r>
              <a:rPr lang="vi-VN"/>
              <a:t>%.</a:t>
            </a:r>
          </a:p>
          <a:p>
            <a:r>
              <a:rPr lang="vi-VN"/>
              <a:t>Đây là một phát hiện </a:t>
            </a:r>
            <a:r>
              <a:rPr lang="vi-VN" b="1"/>
              <a:t>rất trung thực và quan trọng</a:t>
            </a:r>
            <a:r>
              <a:rPr lang="vi-VN"/>
              <a:t> của khóa luận: </a:t>
            </a:r>
            <a:r>
              <a:rPr lang="vi-VN" b="1"/>
              <a:t>cấu hình tối ưu cho </a:t>
            </a:r>
            <a:r>
              <a:rPr lang="vi-VN" b="1" err="1"/>
              <a:t>short-form</a:t>
            </a:r>
            <a:r>
              <a:rPr lang="vi-VN" b="1"/>
              <a:t> không còn vượt trội trên phim dài</a:t>
            </a:r>
            <a:r>
              <a:rPr lang="vi-VN"/>
              <a:t>.</a:t>
            </a:r>
          </a:p>
          <a:p>
            <a:r>
              <a:rPr lang="vi-VN"/>
              <a:t>Điều này khẳng định: </a:t>
            </a:r>
            <a:r>
              <a:rPr lang="vi-VN" b="1"/>
              <a:t>không có cấu hình duy nhất cho mọi </a:t>
            </a:r>
            <a:r>
              <a:rPr lang="vi-VN" b="1" err="1"/>
              <a:t>domain</a:t>
            </a:r>
            <a:r>
              <a:rPr lang="vi-VN"/>
              <a:t> — và đây cũng chính là hướng phát triển tiếp theo của chúng em."</a:t>
            </a:r>
          </a:p>
          <a:p>
            <a:endParaRPr lang="en-US"/>
          </a:p>
        </p:txBody>
      </p:sp>
      <p:sp>
        <p:nvSpPr>
          <p:cNvPr id="4" name="Slide Number Placeholder 3"/>
          <p:cNvSpPr>
            <a:spLocks noGrp="1"/>
          </p:cNvSpPr>
          <p:nvPr>
            <p:ph type="sldNum" sz="quarter" idx="5"/>
          </p:nvPr>
        </p:nvSpPr>
        <p:spPr/>
        <p:txBody>
          <a:bodyPr/>
          <a:lstStyle/>
          <a:p>
            <a:fld id="{2BC1A914-41DE-44DB-891B-AD840F0448BE}" type="slidenum">
              <a:rPr lang="en-US" smtClean="0"/>
              <a:t>23</a:t>
            </a:fld>
            <a:endParaRPr lang="en-US"/>
          </a:p>
        </p:txBody>
      </p:sp>
    </p:spTree>
    <p:extLst>
      <p:ext uri="{BB962C8B-B14F-4D97-AF65-F5344CB8AC3E}">
        <p14:creationId xmlns:p14="http://schemas.microsoft.com/office/powerpoint/2010/main" val="1137040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"Sang </a:t>
            </a:r>
            <a:r>
              <a:rPr lang="vi-VN" b="1"/>
              <a:t>phần năm — kết luận</a:t>
            </a:r>
            <a:r>
              <a:rPr lang="vi-VN"/>
              <a:t>.</a:t>
            </a:r>
          </a:p>
          <a:p>
            <a:r>
              <a:rPr lang="vi-VN" b="1"/>
              <a:t>Về đóng góp</a:t>
            </a:r>
            <a:r>
              <a:rPr lang="vi-VN"/>
              <a:t>, khóa luận đã:</a:t>
            </a:r>
          </a:p>
          <a:p>
            <a:r>
              <a:rPr lang="vi-VN"/>
              <a:t>Hệ thống hóa lý thuyết SBD và tái hiện thành công AutoShot trên SHOT.</a:t>
            </a:r>
          </a:p>
          <a:p>
            <a:r>
              <a:rPr lang="vi-VN"/>
              <a:t>Đề xuất AutoShotV2 đạt </a:t>
            </a:r>
            <a:r>
              <a:rPr lang="vi-VN" b="1"/>
              <a:t>F1 = 0.855</a:t>
            </a:r>
            <a:r>
              <a:rPr lang="vi-VN"/>
              <a:t> — cải thiện rõ rệt mà không cần thay backbone.</a:t>
            </a:r>
          </a:p>
          <a:p>
            <a:r>
              <a:rPr lang="vi-VN"/>
              <a:t>Chứng minh tầng phân loại có thể bổ trợ tốt cho các mô hình NAS đã được tối ưu sẵn.</a:t>
            </a:r>
          </a:p>
          <a:p>
            <a:r>
              <a:rPr lang="vi-VN" b="1"/>
              <a:t>Về hạn chế</a:t>
            </a:r>
            <a:r>
              <a:rPr lang="vi-VN"/>
              <a:t>, chúng em nhìn nhận:</a:t>
            </a:r>
          </a:p>
          <a:p>
            <a:r>
              <a:rPr lang="vi-VN"/>
              <a:t>Chi phí tính toán giai đoạn NAS vẫn còn cao.</a:t>
            </a:r>
          </a:p>
          <a:p>
            <a:r>
              <a:rPr lang="vi-VN"/>
              <a:t>Mô hình nhạy cảm với chuyển động cực nhanh và flash mạnh.</a:t>
            </a:r>
          </a:p>
          <a:p>
            <a:r>
              <a:rPr lang="vi-VN"/>
              <a:t>Còn khoảng cách miền giữa SHOT và các bộ dữ liệu khác.</a:t>
            </a:r>
          </a:p>
          <a:p>
            <a:r>
              <a:rPr lang="vi-VN" b="1"/>
              <a:t>Về hướng phát triển</a:t>
            </a:r>
            <a:r>
              <a:rPr lang="vi-VN"/>
              <a:t>, chúng em đề xuất:</a:t>
            </a:r>
          </a:p>
          <a:p>
            <a:endParaRPr lang="en-US">
              <a:latin typeface="Calibri"/>
              <a:ea typeface="Calibri"/>
              <a:cs typeface="Calibri"/>
            </a:endParaRPr>
          </a:p>
          <a:p>
            <a:endParaRPr lang="en-US">
              <a:latin typeface="Calibri"/>
              <a:ea typeface="Calibri"/>
              <a:cs typeface="Calibri"/>
            </a:endParaRPr>
          </a:p>
        </p:txBody>
      </p:sp>
      <p:sp>
        <p:nvSpPr>
          <p:cNvPr id="4" name="Chỗ dành sẵn cho Số hiệu Bản chiếu 3"/>
          <p:cNvSpPr>
            <a:spLocks noGrp="1"/>
          </p:cNvSpPr>
          <p:nvPr>
            <p:ph type="sldNum" sz="quarter" idx="5"/>
          </p:nvPr>
        </p:nvSpPr>
        <p:spPr/>
        <p:txBody>
          <a:bodyPr/>
          <a:lstStyle/>
          <a:p>
            <a:fld id="{2BC1A914-41DE-44DB-891B-AD840F0448BE}" type="slidenum">
              <a:rPr lang="en-US" smtClean="0"/>
              <a:t>24</a:t>
            </a:fld>
            <a:endParaRPr lang="en-US"/>
          </a:p>
        </p:txBody>
      </p:sp>
    </p:spTree>
    <p:extLst>
      <p:ext uri="{BB962C8B-B14F-4D97-AF65-F5344CB8AC3E}">
        <p14:creationId xmlns:p14="http://schemas.microsoft.com/office/powerpoint/2010/main" val="17750312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"Bài trình bày của chúng em đến đây là kết thúc.</a:t>
            </a:r>
          </a:p>
          <a:p>
            <a:r>
              <a:rPr lang="vi-VN"/>
              <a:t>Chúng em xin trân trọng cảm ơn </a:t>
            </a:r>
            <a:r>
              <a:rPr lang="vi-VN" b="1" err="1"/>
              <a:t>TS</a:t>
            </a:r>
            <a:r>
              <a:rPr lang="vi-VN" b="1"/>
              <a:t>. Trần Thái Sơn</a:t>
            </a:r>
            <a:r>
              <a:rPr lang="vi-VN"/>
              <a:t> đã tận tình hướng dẫn trong suốt quá trình thực hiện khóa luận.</a:t>
            </a:r>
          </a:p>
          <a:p>
            <a:r>
              <a:rPr lang="vi-VN"/>
              <a:t>Chúng em cũng xin cảm ơn quý thầy cô trong hội đồng đã dành thời gian lắng nghe.</a:t>
            </a:r>
          </a:p>
          <a:p>
            <a:r>
              <a:rPr lang="vi-VN"/>
              <a:t>Chúng em rất mong nhận được những nhận xét, góp ý quý báu từ hội đồng để hoàn thiện hơn nữa nghiên cứu của mình.</a:t>
            </a:r>
          </a:p>
          <a:p>
            <a:r>
              <a:rPr lang="vi-VN" b="1"/>
              <a:t>Em xin chân thành cảm ơn ạ!</a:t>
            </a:r>
            <a:r>
              <a:rPr lang="vi-VN"/>
              <a: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"Bây giờ em xin chuyển sang </a:t>
            </a:r>
            <a:r>
              <a:rPr lang="vi-VN" b="1"/>
              <a:t>phần ba — phương pháp đề xuất </a:t>
            </a:r>
            <a:r>
              <a:rPr lang="vi-VN" b="1" err="1"/>
              <a:t>AutoShotV2</a:t>
            </a:r>
            <a:r>
              <a:rPr lang="vi-VN"/>
              <a:t>.</a:t>
            </a:r>
          </a:p>
          <a:p>
            <a:r>
              <a:rPr lang="vi-VN"/>
              <a:t>Triết lý thiết kế của chúng em là: </a:t>
            </a:r>
            <a:r>
              <a:rPr lang="vi-VN" b="1"/>
              <a:t>tận dụng tối đa biểu diễn đã được </a:t>
            </a:r>
            <a:r>
              <a:rPr lang="vi-VN" b="1" err="1"/>
              <a:t>NAS</a:t>
            </a:r>
            <a:r>
              <a:rPr lang="vi-VN" b="1"/>
              <a:t> tối ưu</a:t>
            </a:r>
            <a:r>
              <a:rPr lang="vi-VN"/>
              <a:t> — vì </a:t>
            </a:r>
            <a:r>
              <a:rPr lang="vi-VN" err="1"/>
              <a:t>backbone</a:t>
            </a:r>
            <a:r>
              <a:rPr lang="vi-VN"/>
              <a:t> của </a:t>
            </a:r>
            <a:r>
              <a:rPr lang="vi-VN" err="1"/>
              <a:t>AutoShot</a:t>
            </a:r>
            <a:r>
              <a:rPr lang="vi-VN"/>
              <a:t> đã rất tốt rồi — và </a:t>
            </a:r>
            <a:r>
              <a:rPr lang="vi-VN" b="1"/>
              <a:t>chỉ tập trung cải tiến tầng đầu ra</a:t>
            </a:r>
            <a:r>
              <a:rPr lang="vi-VN"/>
              <a:t>, nơi mà mô hình dễ tổn thương nhất do mất cân bằng dữ liệu và nhiễu.</a:t>
            </a:r>
          </a:p>
          <a:p>
            <a:r>
              <a:rPr lang="vi-VN"/>
              <a:t>Nói cách khác, chúng em giữ nguyên </a:t>
            </a:r>
            <a:r>
              <a:rPr lang="vi-VN" err="1"/>
              <a:t>backbone</a:t>
            </a:r>
            <a:r>
              <a:rPr lang="vi-VN"/>
              <a:t>, đóng băng nó lại, và chỉ tinh chỉnh phần </a:t>
            </a:r>
            <a:r>
              <a:rPr lang="vi-VN" err="1"/>
              <a:t>head</a:t>
            </a:r>
            <a:r>
              <a:rPr lang="vi-VN"/>
              <a:t> và hậu xử lý. Cách tiếp cận này có chi phí huấn luyện thấp và dễ tái sử dụng."</a:t>
            </a:r>
          </a:p>
          <a:p>
            <a:endParaRPr lang="vi-VN"/>
          </a:p>
        </p:txBody>
      </p:sp>
      <p:sp>
        <p:nvSpPr>
          <p:cNvPr id="4" name="Chỗ dành sẵn cho Số hiệu Bản chiếu 3"/>
          <p:cNvSpPr>
            <a:spLocks noGrp="1"/>
          </p:cNvSpPr>
          <p:nvPr>
            <p:ph type="sldNum" sz="quarter" idx="5"/>
          </p:nvPr>
        </p:nvSpPr>
        <p:spPr/>
        <p:txBody>
          <a:bodyPr/>
          <a:lstStyle/>
          <a:p>
            <a:fld id="{2BC1A914-41DE-44DB-891B-AD840F0448BE}" type="slidenum">
              <a:rPr lang="en-US" smtClean="0"/>
              <a:t>27</a:t>
            </a:fld>
            <a:endParaRPr lang="en-US"/>
          </a:p>
        </p:txBody>
      </p:sp>
    </p:spTree>
    <p:extLst>
      <p:ext uri="{BB962C8B-B14F-4D97-AF65-F5344CB8AC3E}">
        <p14:creationId xmlns:p14="http://schemas.microsoft.com/office/powerpoint/2010/main" val="20367855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07917-7289-508F-B429-D925D97CAD3E}"/>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B12D15BA-F895-5551-48C0-E86C1037D30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Chỗ dành sẵn cho Ghi chú 2">
                <a:extLst>
                  <a:ext uri="{FF2B5EF4-FFF2-40B4-BE49-F238E27FC236}">
                    <a16:creationId xmlns:a16="http://schemas.microsoft.com/office/drawing/2014/main" id="{67AEDD00-5657-5590-B636-2364D386D067}"/>
                  </a:ext>
                </a:extLst>
              </p:cNvPr>
              <p:cNvSpPr>
                <a:spLocks noGrp="1"/>
              </p:cNvSpPr>
              <p:nvPr>
                <p:ph type="body" idx="1"/>
              </p:nvPr>
            </p:nvSpPr>
            <p:spPr/>
            <p:txBody>
              <a:bodyPr/>
              <a:lstStyle/>
              <a:p>
                <a:r>
                  <a:rPr lang="vi-VN"/>
                  <a:t>"</a:t>
                </a:r>
                <a:r>
                  <a:rPr lang="vi-VN" b="1"/>
                  <a:t>Cải tiến thứ hai</a:t>
                </a:r>
                <a:r>
                  <a:rPr lang="vi-VN"/>
                  <a:t> gồm hai kỹ thuật song song:</a:t>
                </a:r>
              </a:p>
              <a:p>
                <a:r>
                  <a:rPr lang="vi-VN" b="1"/>
                  <a:t>Phần A — </a:t>
                </a:r>
                <a:r>
                  <a:rPr lang="vi-VN" b="1" err="1"/>
                  <a:t>Focal</a:t>
                </a:r>
                <a:r>
                  <a:rPr lang="vi-VN" b="1"/>
                  <a:t> </a:t>
                </a:r>
                <a:r>
                  <a:rPr lang="vi-VN" b="1" err="1"/>
                  <a:t>Loss</a:t>
                </a:r>
                <a:r>
                  <a:rPr lang="vi-VN"/>
                  <a:t> giải quyết bài toán mất cân bằng lớp.</a:t>
                </a:r>
              </a:p>
              <a:p>
                <a:r>
                  <a:rPr lang="vi-VN"/>
                  <a:t>Trong </a:t>
                </a:r>
                <a:r>
                  <a:rPr lang="vi-VN" err="1"/>
                  <a:t>SBD</a:t>
                </a:r>
                <a:r>
                  <a:rPr lang="vi-VN"/>
                  <a:t>, số khung ranh giới thật rất ít so với khung </a:t>
                </a:r>
                <a:r>
                  <a:rPr lang="vi-VN" err="1"/>
                  <a:t>background</a:t>
                </a:r>
                <a:r>
                  <a:rPr lang="vi-VN"/>
                  <a:t>. </a:t>
                </a:r>
                <a:r>
                  <a:rPr lang="vi-VN" err="1"/>
                  <a:t>BCE</a:t>
                </a:r>
                <a:r>
                  <a:rPr lang="vi-VN"/>
                  <a:t> </a:t>
                </a:r>
                <a:r>
                  <a:rPr lang="vi-VN" err="1"/>
                  <a:t>loss</a:t>
                </a:r>
                <a:r>
                  <a:rPr lang="vi-VN"/>
                  <a:t> truyền thống bị các mẫu dễ chi phối. </a:t>
                </a:r>
                <a:r>
                  <a:rPr lang="vi-VN" err="1"/>
                  <a:t>Focal</a:t>
                </a:r>
                <a:r>
                  <a:rPr lang="vi-VN"/>
                  <a:t> </a:t>
                </a:r>
                <a:r>
                  <a:rPr lang="vi-VN" err="1"/>
                  <a:t>Loss</a:t>
                </a:r>
                <a:r>
                  <a:rPr lang="vi-VN"/>
                  <a:t> có dạng:</a:t>
                </a:r>
              </a:p>
              <a:p>
                <a:pPr/>
                <a14:m>
                  <m:oMathPara xmlns:m="http://schemas.openxmlformats.org/officeDocument/2006/math">
                    <m:oMathParaPr>
                      <m:jc m:val="centerGroup"/>
                    </m:oMathParaPr>
                    <m:oMath xmlns:m="http://schemas.openxmlformats.org/officeDocument/2006/math">
                      <m:r>
                        <a:rPr lang="vi-VN" sz="1200" i="1" kern="1200">
                          <a:solidFill>
                            <a:schemeClr val="tx1"/>
                          </a:solidFill>
                          <a:latin typeface="Cambria Math" panose="02040503050406030204" pitchFamily="18" charset="0"/>
                          <a:ea typeface="+mn-ea"/>
                          <a:cs typeface="+mn-cs"/>
                        </a:rPr>
                        <m:t>𝐹𝐿</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𝑝</m:t>
                              </m:r>
                            </m:e>
                            <m:sub>
                              <m:r>
                                <a:rPr lang="ar-AE" sz="1200" i="1" kern="1200">
                                  <a:solidFill>
                                    <a:schemeClr val="tx1"/>
                                  </a:solidFill>
                                  <a:latin typeface="Cambria Math" panose="02040503050406030204" pitchFamily="18" charset="0"/>
                                  <a:ea typeface="+mn-ea"/>
                                  <a:cs typeface="+mn-cs"/>
                                </a:rPr>
                                <m:t>𝑡</m:t>
                              </m:r>
                            </m:sub>
                          </m:sSub>
                        </m:e>
                      </m:d>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𝑝</m:t>
                                  </m:r>
                                </m:e>
                                <m:sub>
                                  <m:r>
                                    <a:rPr lang="ar-AE" sz="1200" i="1" kern="1200">
                                      <a:solidFill>
                                        <a:schemeClr val="tx1"/>
                                      </a:solidFill>
                                      <a:latin typeface="Cambria Math" panose="02040503050406030204" pitchFamily="18" charset="0"/>
                                      <a:ea typeface="+mn-ea"/>
                                      <a:cs typeface="+mn-cs"/>
                                    </a:rPr>
                                    <m:t>𝑡</m:t>
                                  </m:r>
                                </m:sub>
                              </m:sSub>
                            </m:e>
                          </m:d>
                        </m:e>
                        <m:sup>
                          <m:r>
                            <a:rPr lang="ar-AE" sz="1200" i="1" kern="1200">
                              <a:solidFill>
                                <a:schemeClr val="tx1"/>
                              </a:solidFill>
                              <a:latin typeface="Cambria Math" panose="02040503050406030204" pitchFamily="18" charset="0"/>
                              <a:ea typeface="+mn-ea"/>
                              <a:cs typeface="+mn-cs"/>
                            </a:rPr>
                            <m:t>𝛾</m:t>
                          </m:r>
                        </m:sup>
                      </m:sSup>
                      <m:func>
                        <m:funcPr>
                          <m:ctrlPr>
                            <a:rPr lang="ar-AE" sz="1200" i="1" kern="1200">
                              <a:solidFill>
                                <a:schemeClr val="tx1"/>
                              </a:solidFill>
                              <a:latin typeface="Cambria Math" panose="02040503050406030204" pitchFamily="18" charset="0"/>
                              <a:ea typeface="+mn-ea"/>
                              <a:cs typeface="+mn-cs"/>
                            </a:rPr>
                          </m:ctrlPr>
                        </m:funcPr>
                        <m:fName>
                          <m:r>
                            <m:rPr>
                              <m:sty m:val="p"/>
                            </m:rPr>
                            <a:rPr lang="vi-VN" sz="1200" i="0" kern="1200">
                              <a:solidFill>
                                <a:schemeClr val="tx1"/>
                              </a:solidFill>
                              <a:latin typeface="Cambria Math" panose="02040503050406030204" pitchFamily="18" charset="0"/>
                              <a:ea typeface="+mn-ea"/>
                              <a:cs typeface="+mn-cs"/>
                            </a:rPr>
                            <m:t>log</m:t>
                          </m:r>
                        </m:fName>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𝑝</m:t>
                              </m:r>
                            </m:e>
                            <m:sub>
                              <m:r>
                                <a:rPr lang="ar-AE" sz="1200" i="1" kern="1200">
                                  <a:solidFill>
                                    <a:schemeClr val="tx1"/>
                                  </a:solidFill>
                                  <a:latin typeface="Cambria Math" panose="02040503050406030204" pitchFamily="18" charset="0"/>
                                  <a:ea typeface="+mn-ea"/>
                                  <a:cs typeface="+mn-cs"/>
                                </a:rPr>
                                <m:t>𝑡</m:t>
                              </m:r>
                            </m:sub>
                          </m:sSub>
                        </m:e>
                      </m:func>
                    </m:oMath>
                  </m:oMathPara>
                </a14:m>
                <a:endParaRPr lang="ar-AE"/>
              </a:p>
              <a:p>
                <a:r>
                  <a:rPr lang="vi-VN"/>
                  <a:t>với </a:t>
                </a:r>
                <a:r>
                  <a:rPr lang="el-GR"/>
                  <a:t>γ = 2.0 </a:t>
                </a:r>
                <a:r>
                  <a:rPr lang="vi-VN"/>
                  <a:t>và </a:t>
                </a:r>
                <a:r>
                  <a:rPr lang="el-GR"/>
                  <a:t>α = 0.25. </a:t>
                </a:r>
                <a:r>
                  <a:rPr lang="vi-VN"/>
                  <a:t>Hàm này </a:t>
                </a:r>
                <a:r>
                  <a:rPr lang="vi-VN" b="1"/>
                  <a:t>giảm trọng số các mẫu dễ</a:t>
                </a:r>
                <a:r>
                  <a:rPr lang="vi-VN"/>
                  <a:t> (</a:t>
                </a:r>
                <a:r>
                  <a:rPr lang="vi-VN" err="1"/>
                  <a:t>background</a:t>
                </a:r>
                <a:r>
                  <a:rPr lang="vi-VN"/>
                  <a:t> </a:t>
                </a:r>
                <a:r>
                  <a:rPr lang="vi-VN" err="1"/>
                  <a:t>frames</a:t>
                </a:r>
                <a:r>
                  <a:rPr lang="vi-VN"/>
                  <a:t>) và </a:t>
                </a:r>
                <a:r>
                  <a:rPr lang="vi-VN" b="1"/>
                  <a:t>tập trung học các chuyển cảnh dần</a:t>
                </a:r>
                <a:r>
                  <a:rPr lang="vi-VN"/>
                  <a:t> — vốn là loại mẫu khó nhất. Quan trọng là </a:t>
                </a:r>
                <a:r>
                  <a:rPr lang="vi-VN" err="1"/>
                  <a:t>Focal</a:t>
                </a:r>
                <a:r>
                  <a:rPr lang="vi-VN"/>
                  <a:t> </a:t>
                </a:r>
                <a:r>
                  <a:rPr lang="vi-VN" err="1"/>
                  <a:t>Loss</a:t>
                </a:r>
                <a:r>
                  <a:rPr lang="vi-VN"/>
                  <a:t> thay thế trực tiếp </a:t>
                </a:r>
                <a:r>
                  <a:rPr lang="vi-VN" err="1"/>
                  <a:t>BCE</a:t>
                </a:r>
                <a:r>
                  <a:rPr lang="vi-VN"/>
                  <a:t>, không cần thay đổi kiến trúc.</a:t>
                </a:r>
              </a:p>
              <a:p>
                <a:r>
                  <a:rPr lang="vi-VN" b="1"/>
                  <a:t>Phần B — </a:t>
                </a:r>
                <a:r>
                  <a:rPr lang="vi-VN" b="1" err="1"/>
                  <a:t>Many-hot</a:t>
                </a:r>
                <a:r>
                  <a:rPr lang="vi-VN" b="1"/>
                  <a:t> </a:t>
                </a:r>
                <a:r>
                  <a:rPr lang="vi-VN" b="1" err="1"/>
                  <a:t>Labels</a:t>
                </a:r>
                <a:r>
                  <a:rPr lang="vi-VN"/>
                  <a:t> làm dày tín hiệu giám sát.</a:t>
                </a:r>
              </a:p>
              <a:p>
                <a:r>
                  <a:rPr lang="vi-VN"/>
                  <a:t>Thay vì chỉ gán nhãn 1 cho đúng khung ranh giới t, chúng em mở rộng nhãn sang </a:t>
                </a:r>
                <a:r>
                  <a:rPr lang="vi-VN" b="1" err="1"/>
                  <a:t>t±1</a:t>
                </a:r>
                <a:r>
                  <a:rPr lang="vi-VN"/>
                  <a:t>. Cách này:</a:t>
                </a:r>
              </a:p>
              <a:p>
                <a:r>
                  <a:rPr lang="vi-VN"/>
                  <a:t>Cung cấp </a:t>
                </a:r>
                <a:r>
                  <a:rPr lang="vi-VN" err="1"/>
                  <a:t>gradient</a:t>
                </a:r>
                <a:r>
                  <a:rPr lang="vi-VN"/>
                  <a:t> dày đặc hơn quanh vùng ranh giới.</a:t>
                </a:r>
              </a:p>
              <a:p>
                <a:r>
                  <a:rPr lang="vi-VN"/>
                  <a:t>Phù hợp tự nhiên với chuyển cảnh dần vốn trải qua nhiều khung.</a:t>
                </a:r>
              </a:p>
              <a:p>
                <a:r>
                  <a:rPr lang="vi-VN"/>
                  <a:t>Hai kỹ thuật này bổ trợ lẫn nhau, cải thiện độ nhạy của mô hình với các </a:t>
                </a:r>
                <a:r>
                  <a:rPr lang="vi-VN" err="1"/>
                  <a:t>transition</a:t>
                </a:r>
                <a:r>
                  <a:rPr lang="vi-VN"/>
                  <a:t> khó."</a:t>
                </a:r>
              </a:p>
              <a:p>
                <a:endParaRPr lang="vi-VN"/>
              </a:p>
            </p:txBody>
          </p:sp>
        </mc:Choice>
        <mc:Fallback xmlns="">
          <p:sp>
            <p:nvSpPr>
              <p:cNvPr id="3" name="Chỗ dành sẵn cho Ghi chú 2">
                <a:extLst>
                  <a:ext uri="{FF2B5EF4-FFF2-40B4-BE49-F238E27FC236}">
                    <a16:creationId xmlns:a16="http://schemas.microsoft.com/office/drawing/2014/main" id="{67AEDD00-5657-5590-B636-2364D386D067}"/>
                  </a:ext>
                </a:extLst>
              </p:cNvPr>
              <p:cNvSpPr>
                <a:spLocks noGrp="1"/>
              </p:cNvSpPr>
              <p:nvPr>
                <p:ph type="body" idx="1"/>
              </p:nvPr>
            </p:nvSpPr>
            <p:spPr/>
            <p:txBody>
              <a:bodyPr/>
              <a:lstStyle/>
              <a:p>
                <a:r>
                  <a:rPr lang="vi-VN"/>
                  <a:t>"</a:t>
                </a:r>
                <a:r>
                  <a:rPr lang="vi-VN" b="1"/>
                  <a:t>Cải tiến thứ hai</a:t>
                </a:r>
                <a:r>
                  <a:rPr lang="vi-VN"/>
                  <a:t> gồm hai kỹ thuật song song:</a:t>
                </a:r>
              </a:p>
              <a:p>
                <a:r>
                  <a:rPr lang="vi-VN" b="1"/>
                  <a:t>Phần A — </a:t>
                </a:r>
                <a:r>
                  <a:rPr lang="vi-VN" b="1" err="1"/>
                  <a:t>Focal</a:t>
                </a:r>
                <a:r>
                  <a:rPr lang="vi-VN" b="1"/>
                  <a:t> </a:t>
                </a:r>
                <a:r>
                  <a:rPr lang="vi-VN" b="1" err="1"/>
                  <a:t>Loss</a:t>
                </a:r>
                <a:r>
                  <a:rPr lang="vi-VN"/>
                  <a:t> giải quyết bài toán mất cân bằng lớp.</a:t>
                </a:r>
              </a:p>
              <a:p>
                <a:r>
                  <a:rPr lang="vi-VN"/>
                  <a:t>Trong </a:t>
                </a:r>
                <a:r>
                  <a:rPr lang="vi-VN" err="1"/>
                  <a:t>SBD</a:t>
                </a:r>
                <a:r>
                  <a:rPr lang="vi-VN"/>
                  <a:t>, số khung ranh giới thật rất ít so với khung </a:t>
                </a:r>
                <a:r>
                  <a:rPr lang="vi-VN" err="1"/>
                  <a:t>background</a:t>
                </a:r>
                <a:r>
                  <a:rPr lang="vi-VN"/>
                  <a:t>. </a:t>
                </a:r>
                <a:r>
                  <a:rPr lang="vi-VN" err="1"/>
                  <a:t>BCE</a:t>
                </a:r>
                <a:r>
                  <a:rPr lang="vi-VN"/>
                  <a:t> </a:t>
                </a:r>
                <a:r>
                  <a:rPr lang="vi-VN" err="1"/>
                  <a:t>loss</a:t>
                </a:r>
                <a:r>
                  <a:rPr lang="vi-VN"/>
                  <a:t> truyền thống bị các mẫu dễ chi phối. </a:t>
                </a:r>
                <a:r>
                  <a:rPr lang="vi-VN" err="1"/>
                  <a:t>Focal</a:t>
                </a:r>
                <a:r>
                  <a:rPr lang="vi-VN"/>
                  <a:t> </a:t>
                </a:r>
                <a:r>
                  <a:rPr lang="vi-VN" err="1"/>
                  <a:t>Loss</a:t>
                </a:r>
                <a:r>
                  <a:rPr lang="vi-VN"/>
                  <a:t> có dạng:</a:t>
                </a:r>
              </a:p>
              <a:p>
                <a:pPr/>
                <a:r>
                  <a:rPr lang="vi-VN" sz="1200" i="0" kern="1200">
                    <a:solidFill>
                      <a:schemeClr val="tx1"/>
                    </a:solidFill>
                    <a:latin typeface="Cambria Math" panose="02040503050406030204" pitchFamily="18" charset="0"/>
                    <a:ea typeface="+mn-ea"/>
                    <a:cs typeface="+mn-cs"/>
                  </a:rPr>
                  <a:t>𝐹𝐿</a:t>
                </a:r>
                <a:r>
                  <a:rPr lang="ar-AE" sz="1200" i="0" kern="1200">
                    <a:solidFill>
                      <a:schemeClr val="tx1"/>
                    </a:solidFill>
                    <a:latin typeface="Cambria Math" panose="02040503050406030204" pitchFamily="18" charset="0"/>
                    <a:ea typeface="+mn-ea"/>
                    <a:cs typeface="+mn-cs"/>
                  </a:rPr>
                  <a:t>(𝑝_𝑡 )=−(1−𝑝_𝑡 )^𝛾 </a:t>
                </a:r>
                <a:r>
                  <a:rPr lang="vi-VN" sz="1200" i="0" kern="1200">
                    <a:solidFill>
                      <a:schemeClr val="tx1"/>
                    </a:solidFill>
                    <a:latin typeface="Cambria Math" panose="02040503050406030204" pitchFamily="18" charset="0"/>
                    <a:ea typeface="+mn-ea"/>
                    <a:cs typeface="+mn-cs"/>
                  </a:rPr>
                  <a:t> log</a:t>
                </a:r>
                <a:r>
                  <a:rPr lang="ar-AE" sz="1200" i="0" kern="1200">
                    <a:solidFill>
                      <a:schemeClr val="tx1"/>
                    </a:solidFill>
                    <a:latin typeface="Cambria Math" panose="02040503050406030204" pitchFamily="18" charset="0"/>
                    <a:ea typeface="+mn-ea"/>
                    <a:cs typeface="+mn-cs"/>
                  </a:rPr>
                  <a:t>⁡〖𝑝_𝑡 〗</a:t>
                </a:r>
                <a:endParaRPr lang="ar-AE"/>
              </a:p>
              <a:p>
                <a:r>
                  <a:rPr lang="vi-VN"/>
                  <a:t>với </a:t>
                </a:r>
                <a:r>
                  <a:rPr lang="el-GR"/>
                  <a:t>γ = 2.0 </a:t>
                </a:r>
                <a:r>
                  <a:rPr lang="vi-VN"/>
                  <a:t>và </a:t>
                </a:r>
                <a:r>
                  <a:rPr lang="el-GR"/>
                  <a:t>α = 0.25. </a:t>
                </a:r>
                <a:r>
                  <a:rPr lang="vi-VN"/>
                  <a:t>Hàm này </a:t>
                </a:r>
                <a:r>
                  <a:rPr lang="vi-VN" b="1"/>
                  <a:t>giảm trọng số các mẫu dễ</a:t>
                </a:r>
                <a:r>
                  <a:rPr lang="vi-VN"/>
                  <a:t> (</a:t>
                </a:r>
                <a:r>
                  <a:rPr lang="vi-VN" err="1"/>
                  <a:t>background</a:t>
                </a:r>
                <a:r>
                  <a:rPr lang="vi-VN"/>
                  <a:t> </a:t>
                </a:r>
                <a:r>
                  <a:rPr lang="vi-VN" err="1"/>
                  <a:t>frames</a:t>
                </a:r>
                <a:r>
                  <a:rPr lang="vi-VN"/>
                  <a:t>) và </a:t>
                </a:r>
                <a:r>
                  <a:rPr lang="vi-VN" b="1"/>
                  <a:t>tập trung học các chuyển cảnh dần</a:t>
                </a:r>
                <a:r>
                  <a:rPr lang="vi-VN"/>
                  <a:t> — vốn là loại mẫu khó nhất. Quan trọng là </a:t>
                </a:r>
                <a:r>
                  <a:rPr lang="vi-VN" err="1"/>
                  <a:t>Focal</a:t>
                </a:r>
                <a:r>
                  <a:rPr lang="vi-VN"/>
                  <a:t> </a:t>
                </a:r>
                <a:r>
                  <a:rPr lang="vi-VN" err="1"/>
                  <a:t>Loss</a:t>
                </a:r>
                <a:r>
                  <a:rPr lang="vi-VN"/>
                  <a:t> thay thế trực tiếp </a:t>
                </a:r>
                <a:r>
                  <a:rPr lang="vi-VN" err="1"/>
                  <a:t>BCE</a:t>
                </a:r>
                <a:r>
                  <a:rPr lang="vi-VN"/>
                  <a:t>, không cần thay đổi kiến trúc.</a:t>
                </a:r>
              </a:p>
              <a:p>
                <a:r>
                  <a:rPr lang="vi-VN" b="1"/>
                  <a:t>Phần B — </a:t>
                </a:r>
                <a:r>
                  <a:rPr lang="vi-VN" b="1" err="1"/>
                  <a:t>Many-hot</a:t>
                </a:r>
                <a:r>
                  <a:rPr lang="vi-VN" b="1"/>
                  <a:t> </a:t>
                </a:r>
                <a:r>
                  <a:rPr lang="vi-VN" b="1" err="1"/>
                  <a:t>Labels</a:t>
                </a:r>
                <a:r>
                  <a:rPr lang="vi-VN"/>
                  <a:t> làm dày tín hiệu giám sát.</a:t>
                </a:r>
              </a:p>
              <a:p>
                <a:r>
                  <a:rPr lang="vi-VN"/>
                  <a:t>Thay vì chỉ gán nhãn 1 cho đúng khung ranh giới t, chúng em mở rộng nhãn sang </a:t>
                </a:r>
                <a:r>
                  <a:rPr lang="vi-VN" b="1" err="1"/>
                  <a:t>t±1</a:t>
                </a:r>
                <a:r>
                  <a:rPr lang="vi-VN"/>
                  <a:t>. Cách này:</a:t>
                </a:r>
              </a:p>
              <a:p>
                <a:r>
                  <a:rPr lang="vi-VN"/>
                  <a:t>Cung cấp </a:t>
                </a:r>
                <a:r>
                  <a:rPr lang="vi-VN" err="1"/>
                  <a:t>gradient</a:t>
                </a:r>
                <a:r>
                  <a:rPr lang="vi-VN"/>
                  <a:t> dày đặc hơn quanh vùng ranh giới.</a:t>
                </a:r>
              </a:p>
              <a:p>
                <a:r>
                  <a:rPr lang="vi-VN"/>
                  <a:t>Phù hợp tự nhiên với chuyển cảnh dần vốn trải qua nhiều khung.</a:t>
                </a:r>
              </a:p>
              <a:p>
                <a:r>
                  <a:rPr lang="vi-VN"/>
                  <a:t>Hai kỹ thuật này bổ trợ lẫn nhau, cải thiện độ nhạy của mô hình với các </a:t>
                </a:r>
                <a:r>
                  <a:rPr lang="vi-VN" err="1"/>
                  <a:t>transition</a:t>
                </a:r>
                <a:r>
                  <a:rPr lang="vi-VN"/>
                  <a:t> khó."</a:t>
                </a:r>
              </a:p>
              <a:p>
                <a:endParaRPr lang="vi-VN"/>
              </a:p>
            </p:txBody>
          </p:sp>
        </mc:Fallback>
      </mc:AlternateContent>
      <p:sp>
        <p:nvSpPr>
          <p:cNvPr id="4" name="Chỗ dành sẵn cho Số hiệu Bản chiếu 3">
            <a:extLst>
              <a:ext uri="{FF2B5EF4-FFF2-40B4-BE49-F238E27FC236}">
                <a16:creationId xmlns:a16="http://schemas.microsoft.com/office/drawing/2014/main" id="{A385EF76-3C4C-C6B3-5602-E4F2D539569D}"/>
              </a:ext>
            </a:extLst>
          </p:cNvPr>
          <p:cNvSpPr>
            <a:spLocks noGrp="1"/>
          </p:cNvSpPr>
          <p:nvPr>
            <p:ph type="sldNum" sz="quarter" idx="5"/>
          </p:nvPr>
        </p:nvSpPr>
        <p:spPr/>
        <p:txBody>
          <a:bodyPr/>
          <a:lstStyle/>
          <a:p>
            <a:fld id="{2BC1A914-41DE-44DB-891B-AD840F0448BE}" type="slidenum">
              <a:rPr lang="en-US" smtClean="0"/>
              <a:t>28</a:t>
            </a:fld>
            <a:endParaRPr lang="en-US"/>
          </a:p>
        </p:txBody>
      </p:sp>
    </p:spTree>
    <p:extLst>
      <p:ext uri="{BB962C8B-B14F-4D97-AF65-F5344CB8AC3E}">
        <p14:creationId xmlns:p14="http://schemas.microsoft.com/office/powerpoint/2010/main" val="40903004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D39CA-5993-FDA8-9238-57DEE7515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FEEED-ACAD-48C0-8E81-F6707BBD9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8B759-9563-E587-BB59-FA6FF6FAA88D}"/>
              </a:ext>
            </a:extLst>
          </p:cNvPr>
          <p:cNvSpPr>
            <a:spLocks noGrp="1"/>
          </p:cNvSpPr>
          <p:nvPr>
            <p:ph type="body" idx="1"/>
          </p:nvPr>
        </p:nvSpPr>
        <p:spPr/>
        <p:txBody>
          <a:bodyPr/>
          <a:lstStyle/>
          <a:p>
            <a:r>
              <a:rPr lang="vi-VN"/>
              <a:t>"Để chứng minh </a:t>
            </a:r>
            <a:r>
              <a:rPr lang="vi-VN" b="1"/>
              <a:t>đóng góp riêng của từng thành phần</a:t>
            </a:r>
            <a:r>
              <a:rPr lang="vi-VN"/>
              <a:t>, chúng em thực hiện </a:t>
            </a:r>
            <a:r>
              <a:rPr lang="en-US" b="1"/>
              <a:t>nghiên cứu từng phần</a:t>
            </a:r>
            <a:r>
              <a:rPr lang="vi-VN"/>
              <a:t>:</a:t>
            </a:r>
          </a:p>
          <a:p>
            <a:r>
              <a:rPr lang="vi-VN" b="1"/>
              <a:t>Cấu hình 0</a:t>
            </a:r>
            <a:r>
              <a:rPr lang="vi-VN"/>
              <a:t> — </a:t>
            </a:r>
            <a:r>
              <a:rPr lang="vi-VN" err="1"/>
              <a:t>AutoShot</a:t>
            </a:r>
            <a:r>
              <a:rPr lang="vi-VN"/>
              <a:t> gốc, </a:t>
            </a:r>
            <a:r>
              <a:rPr lang="vi-VN" err="1"/>
              <a:t>baseline</a:t>
            </a:r>
            <a:r>
              <a:rPr lang="vi-VN"/>
              <a:t>, </a:t>
            </a:r>
            <a:r>
              <a:rPr lang="vi-VN" err="1"/>
              <a:t>F1</a:t>
            </a:r>
            <a:r>
              <a:rPr lang="vi-VN"/>
              <a:t> = 0.840.</a:t>
            </a:r>
          </a:p>
          <a:p>
            <a:r>
              <a:rPr lang="vi-VN" b="1"/>
              <a:t>Cấu hình 1</a:t>
            </a:r>
            <a:r>
              <a:rPr lang="vi-VN"/>
              <a:t> — thêm </a:t>
            </a:r>
            <a:r>
              <a:rPr lang="vi-VN" err="1"/>
              <a:t>Classification</a:t>
            </a:r>
            <a:r>
              <a:rPr lang="vi-VN"/>
              <a:t> </a:t>
            </a:r>
            <a:r>
              <a:rPr lang="vi-VN" err="1"/>
              <a:t>Head</a:t>
            </a:r>
            <a:r>
              <a:rPr lang="vi-VN"/>
              <a:t> mới (vẫn dùng </a:t>
            </a:r>
            <a:r>
              <a:rPr lang="vi-VN" err="1"/>
              <a:t>BCE</a:t>
            </a:r>
            <a:r>
              <a:rPr lang="vi-VN"/>
              <a:t> </a:t>
            </a:r>
            <a:r>
              <a:rPr lang="vi-VN" err="1"/>
              <a:t>one-hot</a:t>
            </a:r>
            <a:r>
              <a:rPr lang="vi-VN"/>
              <a:t>): </a:t>
            </a:r>
            <a:r>
              <a:rPr lang="vi-VN" err="1"/>
              <a:t>F1</a:t>
            </a:r>
            <a:r>
              <a:rPr lang="vi-VN"/>
              <a:t> = 0.845, +0.5.</a:t>
            </a:r>
          </a:p>
          <a:p>
            <a:r>
              <a:rPr lang="vi-VN" b="1"/>
              <a:t>Cấu hình 2</a:t>
            </a:r>
            <a:r>
              <a:rPr lang="vi-VN"/>
              <a:t> — thêm </a:t>
            </a:r>
            <a:r>
              <a:rPr lang="vi-VN" err="1"/>
              <a:t>Focal</a:t>
            </a:r>
            <a:r>
              <a:rPr lang="vi-VN"/>
              <a:t> </a:t>
            </a:r>
            <a:r>
              <a:rPr lang="vi-VN" err="1"/>
              <a:t>Loss</a:t>
            </a:r>
            <a:r>
              <a:rPr lang="vi-VN"/>
              <a:t> với </a:t>
            </a:r>
            <a:r>
              <a:rPr lang="el-GR"/>
              <a:t>γ = 2.0: </a:t>
            </a:r>
            <a:r>
              <a:rPr lang="vi-VN" err="1"/>
              <a:t>F1</a:t>
            </a:r>
            <a:r>
              <a:rPr lang="vi-VN"/>
              <a:t> = 0.848, +0.7.</a:t>
            </a:r>
          </a:p>
          <a:p>
            <a:r>
              <a:rPr lang="vi-VN" b="1"/>
              <a:t>Cấu hình 3</a:t>
            </a:r>
            <a:r>
              <a:rPr lang="vi-VN"/>
              <a:t> — thêm </a:t>
            </a:r>
            <a:r>
              <a:rPr lang="vi-VN" err="1"/>
              <a:t>many-hot</a:t>
            </a:r>
            <a:r>
              <a:rPr lang="vi-VN"/>
              <a:t> </a:t>
            </a:r>
            <a:r>
              <a:rPr lang="vi-VN" err="1"/>
              <a:t>labels</a:t>
            </a:r>
            <a:r>
              <a:rPr lang="vi-VN"/>
              <a:t>: </a:t>
            </a:r>
            <a:r>
              <a:rPr lang="vi-VN" err="1"/>
              <a:t>F1</a:t>
            </a:r>
            <a:r>
              <a:rPr lang="vi-VN"/>
              <a:t> = 0.851, +1.0.</a:t>
            </a:r>
          </a:p>
          <a:p>
            <a:r>
              <a:rPr lang="vi-VN" b="1"/>
              <a:t>Cấu hình 4</a:t>
            </a:r>
            <a:r>
              <a:rPr lang="vi-VN"/>
              <a:t> — thêm </a:t>
            </a:r>
            <a:r>
              <a:rPr lang="vi-VN" err="1"/>
              <a:t>Temperature</a:t>
            </a:r>
            <a:r>
              <a:rPr lang="vi-VN"/>
              <a:t> </a:t>
            </a:r>
            <a:r>
              <a:rPr lang="vi-VN" err="1"/>
              <a:t>Scaling</a:t>
            </a:r>
            <a:r>
              <a:rPr lang="vi-VN"/>
              <a:t> và </a:t>
            </a:r>
            <a:r>
              <a:rPr lang="vi-VN" err="1"/>
              <a:t>Gaussian</a:t>
            </a:r>
            <a:r>
              <a:rPr lang="vi-VN"/>
              <a:t> </a:t>
            </a:r>
            <a:r>
              <a:rPr lang="vi-VN" err="1"/>
              <a:t>Smoothing</a:t>
            </a:r>
            <a:r>
              <a:rPr lang="vi-VN"/>
              <a:t>, tức </a:t>
            </a:r>
            <a:r>
              <a:rPr lang="vi-VN" b="1" err="1"/>
              <a:t>AutoShotV2</a:t>
            </a:r>
            <a:r>
              <a:rPr lang="vi-VN" b="1"/>
              <a:t> đầy đủ</a:t>
            </a:r>
            <a:r>
              <a:rPr lang="vi-VN"/>
              <a:t>: </a:t>
            </a:r>
            <a:r>
              <a:rPr lang="vi-VN" err="1"/>
              <a:t>F1</a:t>
            </a:r>
            <a:r>
              <a:rPr lang="vi-VN"/>
              <a:t> = 0.855, +1.4.</a:t>
            </a:r>
          </a:p>
          <a:p>
            <a:r>
              <a:rPr lang="vi-VN"/>
              <a:t>Có thể thấy </a:t>
            </a:r>
            <a:r>
              <a:rPr lang="vi-VN" b="1"/>
              <a:t>mỗi thành phần đều đóng góp một mức cải thiện nhỏ và ổn định</a:t>
            </a:r>
            <a:r>
              <a:rPr lang="vi-VN"/>
              <a:t> — các kỹ thuật bổ sung lẫn nhau, không trùng lặp tác dụng. Đây là bằng chứng cho thấy thiết kế của chúng em hợp lý — không có thành phần nào dư thừa."</a:t>
            </a:r>
          </a:p>
          <a:p>
            <a:endParaRPr lang="en-US"/>
          </a:p>
        </p:txBody>
      </p:sp>
      <p:sp>
        <p:nvSpPr>
          <p:cNvPr id="4" name="Slide Number Placeholder 3">
            <a:extLst>
              <a:ext uri="{FF2B5EF4-FFF2-40B4-BE49-F238E27FC236}">
                <a16:creationId xmlns:a16="http://schemas.microsoft.com/office/drawing/2014/main" id="{8A07D6A0-C620-3A9B-83FC-5D02A780C2E0}"/>
              </a:ext>
            </a:extLst>
          </p:cNvPr>
          <p:cNvSpPr>
            <a:spLocks noGrp="1"/>
          </p:cNvSpPr>
          <p:nvPr>
            <p:ph type="sldNum" sz="quarter" idx="5"/>
          </p:nvPr>
        </p:nvSpPr>
        <p:spPr/>
        <p:txBody>
          <a:bodyPr/>
          <a:lstStyle/>
          <a:p>
            <a:fld id="{2BC1A914-41DE-44DB-891B-AD840F0448BE}" type="slidenum">
              <a:rPr lang="en-US" smtClean="0"/>
              <a:t>29</a:t>
            </a:fld>
            <a:endParaRPr lang="en-US"/>
          </a:p>
        </p:txBody>
      </p:sp>
    </p:spTree>
    <p:extLst>
      <p:ext uri="{BB962C8B-B14F-4D97-AF65-F5344CB8AC3E}">
        <p14:creationId xmlns:p14="http://schemas.microsoft.com/office/powerpoint/2010/main" val="4116386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03178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jpeg"/><Relationship Id="rId4" Type="http://schemas.openxmlformats.org/officeDocument/2006/relationships/image" Target="../media/image13.jpeg"/><Relationship Id="rId5" Type="http://schemas.openxmlformats.org/officeDocument/2006/relationships/image" Target="../media/image14.jpeg"/><Relationship Id="rId6" Type="http://schemas.openxmlformats.org/officeDocument/2006/relationships/image" Target="../media/image1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C">
            <a:alpha val="100000"/>
          </a:srgbClr>
        </a:solidFill>
        <a:effectLst/>
      </p:bgPr>
    </p:bg>
    <p:spTree>
      <p:nvGrpSpPr>
        <p:cNvPr id="1" name=""/>
        <p:cNvGrpSpPr/>
        <p:nvPr/>
      </p:nvGrpSpPr>
      <p:grpSpPr>
        <a:xfrm>
          <a:off x="0" y="0"/>
          <a:ext cx="0" cy="0"/>
          <a:chOff x="0" y="0"/>
          <a:chExt cx="0" cy="0"/>
        </a:xfrm>
      </p:grpSpPr>
      <p:sp>
        <p:nvSpPr>
          <p:cNvPr id="3" name="Rectangle 2"/>
          <p:cNvSpPr/>
          <p:nvPr/>
        </p:nvSpPr>
        <p:spPr>
          <a:xfrm>
            <a:off x="0" y="0"/>
            <a:ext cx="4114800" cy="6858000"/>
          </a:xfrm>
          <a:prstGeom prst="rect">
            <a:avLst/>
          </a:prstGeom>
          <a:solidFill>
            <a:srgbClr val="00B0F0"/>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solidFill>
                <a:schemeClr val="bg1"/>
              </a:solidFill>
              <a:latin typeface="+mj-lt"/>
            </a:endParaRPr>
          </a:p>
        </p:txBody>
      </p:sp>
      <p:sp>
        <p:nvSpPr>
          <p:cNvPr id="5" name="TextBox 4"/>
          <p:cNvSpPr txBox="1"/>
          <p:nvPr/>
        </p:nvSpPr>
        <p:spPr>
          <a:xfrm>
            <a:off x="392900" y="675329"/>
            <a:ext cx="3474720" cy="276999"/>
          </a:xfrm>
          <a:prstGeom prst="rect">
            <a:avLst/>
          </a:prstGeom>
          <a:noFill/>
        </p:spPr>
        <p:txBody>
          <a:bodyPr wrap="square" lIns="0" tIns="0" rIns="0" bIns="0" anchor="t">
            <a:spAutoFit/>
          </a:bodyPr>
          <a:lstStyle/>
          <a:p>
            <a:pPr algn="l"/>
            <a:r>
              <a:rPr lang="vi-VN" b="1" spc="200">
                <a:latin typeface="+mj-lt"/>
              </a:rPr>
              <a:t>KHÓA LUẬN TỐT NGHIỆP</a:t>
            </a:r>
          </a:p>
        </p:txBody>
      </p:sp>
      <p:sp>
        <p:nvSpPr>
          <p:cNvPr id="6" name="TextBox 5"/>
          <p:cNvSpPr txBox="1"/>
          <p:nvPr/>
        </p:nvSpPr>
        <p:spPr>
          <a:xfrm>
            <a:off x="392900" y="989911"/>
            <a:ext cx="3474720" cy="246221"/>
          </a:xfrm>
          <a:prstGeom prst="rect">
            <a:avLst/>
          </a:prstGeom>
          <a:noFill/>
        </p:spPr>
        <p:txBody>
          <a:bodyPr wrap="square" lIns="0" tIns="0" rIns="0" bIns="0" anchor="t">
            <a:spAutoFit/>
          </a:bodyPr>
          <a:lstStyle/>
          <a:p>
            <a:pPr algn="l"/>
            <a:r>
              <a:rPr lang="vi-VN" sz="1600" b="0" spc="100">
                <a:latin typeface="+mj-lt"/>
              </a:rPr>
              <a:t>HCMUS  |  Khoa CNTT</a:t>
            </a:r>
          </a:p>
        </p:txBody>
      </p:sp>
      <p:pic>
        <p:nvPicPr>
          <p:cNvPr id="7" name="Picture 6" descr="logo-khtn.png"/>
          <p:cNvPicPr>
            <a:picLocks noChangeAspect="1"/>
          </p:cNvPicPr>
          <p:nvPr/>
        </p:nvPicPr>
        <p:blipFill>
          <a:blip r:embed="rId3"/>
          <a:stretch>
            <a:fillRect/>
          </a:stretch>
        </p:blipFill>
        <p:spPr>
          <a:xfrm>
            <a:off x="392900" y="3429000"/>
            <a:ext cx="3329000" cy="2615171"/>
          </a:xfrm>
          <a:prstGeom prst="rect">
            <a:avLst/>
          </a:prstGeom>
        </p:spPr>
      </p:pic>
      <p:sp>
        <p:nvSpPr>
          <p:cNvPr id="8" name="TextBox 7"/>
          <p:cNvSpPr txBox="1"/>
          <p:nvPr/>
        </p:nvSpPr>
        <p:spPr>
          <a:xfrm>
            <a:off x="4572000" y="743690"/>
            <a:ext cx="7132320" cy="246221"/>
          </a:xfrm>
          <a:prstGeom prst="rect">
            <a:avLst/>
          </a:prstGeom>
          <a:noFill/>
        </p:spPr>
        <p:txBody>
          <a:bodyPr wrap="square" lIns="0" tIns="0" rIns="0" bIns="0" anchor="t">
            <a:spAutoFit/>
          </a:bodyPr>
          <a:lstStyle/>
          <a:p>
            <a:pPr algn="l"/>
            <a:r>
              <a:rPr lang="vi-VN" sz="1600" b="1" spc="200">
                <a:latin typeface="+mj-lt"/>
              </a:rPr>
              <a:t>ĐỀ TÀI NGHIÊN CỨU</a:t>
            </a:r>
          </a:p>
        </p:txBody>
      </p:sp>
      <p:sp>
        <p:nvSpPr>
          <p:cNvPr id="9" name="TextBox 8"/>
          <p:cNvSpPr txBox="1"/>
          <p:nvPr/>
        </p:nvSpPr>
        <p:spPr>
          <a:xfrm>
            <a:off x="4572000" y="1080632"/>
            <a:ext cx="7315200" cy="1515351"/>
          </a:xfrm>
          <a:prstGeom prst="rect">
            <a:avLst/>
          </a:prstGeom>
          <a:noFill/>
        </p:spPr>
        <p:txBody>
          <a:bodyPr wrap="square" lIns="0" tIns="0" rIns="0" bIns="0" anchor="t">
            <a:spAutoFit/>
          </a:bodyPr>
          <a:lstStyle/>
          <a:p>
            <a:pPr algn="l">
              <a:lnSpc>
                <a:spcPct val="105000"/>
              </a:lnSpc>
            </a:pPr>
            <a:r>
              <a:rPr lang="vi-VN" sz="3200" b="1">
                <a:latin typeface="+mj-lt"/>
              </a:rPr>
              <a:t>PHÁT HIỆN RANH GIỚI</a:t>
            </a:r>
          </a:p>
          <a:p>
            <a:pPr algn="l">
              <a:lnSpc>
                <a:spcPct val="105000"/>
              </a:lnSpc>
            </a:pPr>
            <a:r>
              <a:rPr lang="vi-VN" sz="3200" b="1">
                <a:latin typeface="+mj-lt"/>
              </a:rPr>
              <a:t>CẢNH QUAY DỰA TRÊN</a:t>
            </a:r>
          </a:p>
          <a:p>
            <a:pPr algn="l">
              <a:lnSpc>
                <a:spcPct val="105000"/>
              </a:lnSpc>
            </a:pPr>
            <a:r>
              <a:rPr lang="vi-VN" sz="3200" b="1">
                <a:latin typeface="+mj-lt"/>
              </a:rPr>
              <a:t>MÔ HÌNH HỌC SÂU</a:t>
            </a:r>
          </a:p>
        </p:txBody>
      </p:sp>
      <p:cxnSp>
        <p:nvCxnSpPr>
          <p:cNvPr id="10" name="Connector 9"/>
          <p:cNvCxnSpPr/>
          <p:nvPr/>
        </p:nvCxnSpPr>
        <p:spPr>
          <a:xfrm>
            <a:off x="4572000" y="3617318"/>
            <a:ext cx="1828800" cy="0"/>
          </a:xfrm>
          <a:prstGeom prst="line">
            <a:avLst/>
          </a:prstGeom>
          <a:ln w="28575">
            <a:solidFill>
              <a:srgbClr val="0891B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0" y="3800198"/>
            <a:ext cx="7132320" cy="246221"/>
          </a:xfrm>
          <a:prstGeom prst="rect">
            <a:avLst/>
          </a:prstGeom>
          <a:noFill/>
        </p:spPr>
        <p:txBody>
          <a:bodyPr wrap="square" lIns="0" tIns="0" rIns="0" bIns="0" anchor="t">
            <a:spAutoFit/>
          </a:bodyPr>
          <a:lstStyle/>
          <a:p>
            <a:pPr algn="l"/>
            <a:r>
              <a:rPr lang="vi-VN" sz="1600" b="1" spc="150">
                <a:solidFill>
                  <a:srgbClr val="64748B"/>
                </a:solidFill>
                <a:latin typeface="+mj-lt"/>
              </a:rPr>
              <a:t>SINH VIÊN THỰC HIỆN</a:t>
            </a:r>
          </a:p>
        </p:txBody>
      </p:sp>
      <p:sp>
        <p:nvSpPr>
          <p:cNvPr id="12" name="TextBox 11"/>
          <p:cNvSpPr txBox="1"/>
          <p:nvPr/>
        </p:nvSpPr>
        <p:spPr>
          <a:xfrm>
            <a:off x="4572000" y="4120238"/>
            <a:ext cx="7132320" cy="307777"/>
          </a:xfrm>
          <a:prstGeom prst="rect">
            <a:avLst/>
          </a:prstGeom>
          <a:noFill/>
        </p:spPr>
        <p:txBody>
          <a:bodyPr wrap="square" lIns="0" tIns="0" rIns="0" bIns="0" anchor="t">
            <a:spAutoFit/>
          </a:bodyPr>
          <a:lstStyle/>
          <a:p>
            <a:pPr algn="l"/>
            <a:r>
              <a:rPr lang="vi-VN" sz="2000" b="1">
                <a:solidFill>
                  <a:srgbClr val="1B365D"/>
                </a:solidFill>
                <a:latin typeface="+mj-lt"/>
              </a:rPr>
              <a:t>T</a:t>
            </a:r>
            <a:r>
              <a:rPr lang="en-US" sz="2000" b="1">
                <a:solidFill>
                  <a:srgbClr val="1B365D"/>
                </a:solidFill>
                <a:latin typeface="+mj-lt"/>
                <a:cs typeface="Arial" panose="020B0604020202020204" pitchFamily="34" charset="0"/>
              </a:rPr>
              <a:t>ằ</a:t>
            </a:r>
            <a:r>
              <a:rPr lang="vi-VN" sz="2000" b="1" err="1">
                <a:solidFill>
                  <a:srgbClr val="1B365D"/>
                </a:solidFill>
                <a:latin typeface="+mj-lt"/>
              </a:rPr>
              <a:t>ng</a:t>
            </a:r>
            <a:r>
              <a:rPr lang="vi-VN" sz="2000" b="1">
                <a:solidFill>
                  <a:srgbClr val="1B365D"/>
                </a:solidFill>
                <a:latin typeface="+mj-lt"/>
              </a:rPr>
              <a:t> Sềnh Mành </a:t>
            </a:r>
            <a:r>
              <a:rPr lang="vi-VN" sz="2000" b="0">
                <a:solidFill>
                  <a:srgbClr val="64748B"/>
                </a:solidFill>
                <a:latin typeface="+mj-lt"/>
              </a:rPr>
              <a:t>— 22120202</a:t>
            </a:r>
          </a:p>
        </p:txBody>
      </p:sp>
      <p:sp>
        <p:nvSpPr>
          <p:cNvPr id="13" name="TextBox 12"/>
          <p:cNvSpPr txBox="1"/>
          <p:nvPr/>
        </p:nvSpPr>
        <p:spPr>
          <a:xfrm>
            <a:off x="4572000" y="4476490"/>
            <a:ext cx="7132320" cy="307777"/>
          </a:xfrm>
          <a:prstGeom prst="rect">
            <a:avLst/>
          </a:prstGeom>
          <a:noFill/>
        </p:spPr>
        <p:txBody>
          <a:bodyPr wrap="square" lIns="0" tIns="0" rIns="0" bIns="0" anchor="t">
            <a:spAutoFit/>
          </a:bodyPr>
          <a:lstStyle/>
          <a:p>
            <a:pPr algn="l"/>
            <a:r>
              <a:rPr lang="vi-VN" sz="2000" b="1">
                <a:solidFill>
                  <a:srgbClr val="1B365D"/>
                </a:solidFill>
                <a:latin typeface="+mj-lt"/>
              </a:rPr>
              <a:t>Đỗ Tiến Mạnh </a:t>
            </a:r>
            <a:r>
              <a:rPr lang="vi-VN" sz="2000" b="0">
                <a:solidFill>
                  <a:srgbClr val="64748B"/>
                </a:solidFill>
                <a:latin typeface="+mj-lt"/>
              </a:rPr>
              <a:t>— 22120203</a:t>
            </a:r>
          </a:p>
        </p:txBody>
      </p:sp>
      <p:sp>
        <p:nvSpPr>
          <p:cNvPr id="14" name="TextBox 13"/>
          <p:cNvSpPr txBox="1"/>
          <p:nvPr/>
        </p:nvSpPr>
        <p:spPr>
          <a:xfrm>
            <a:off x="4572000" y="5024675"/>
            <a:ext cx="7132320" cy="246221"/>
          </a:xfrm>
          <a:prstGeom prst="rect">
            <a:avLst/>
          </a:prstGeom>
          <a:noFill/>
        </p:spPr>
        <p:txBody>
          <a:bodyPr wrap="square" lIns="0" tIns="0" rIns="0" bIns="0" anchor="t">
            <a:spAutoFit/>
          </a:bodyPr>
          <a:lstStyle/>
          <a:p>
            <a:pPr algn="l"/>
            <a:r>
              <a:rPr lang="vi-VN" sz="1600" b="1" spc="150">
                <a:solidFill>
                  <a:srgbClr val="64748B"/>
                </a:solidFill>
                <a:latin typeface="+mj-lt"/>
              </a:rPr>
              <a:t>GIẢNG VIÊN HƯỚNG DẪN</a:t>
            </a:r>
          </a:p>
        </p:txBody>
      </p:sp>
      <p:sp>
        <p:nvSpPr>
          <p:cNvPr id="15" name="TextBox 14"/>
          <p:cNvSpPr txBox="1"/>
          <p:nvPr/>
        </p:nvSpPr>
        <p:spPr>
          <a:xfrm>
            <a:off x="4572000" y="5344715"/>
            <a:ext cx="7132320" cy="307777"/>
          </a:xfrm>
          <a:prstGeom prst="rect">
            <a:avLst/>
          </a:prstGeom>
          <a:noFill/>
        </p:spPr>
        <p:txBody>
          <a:bodyPr wrap="square" lIns="0" tIns="0" rIns="0" bIns="0" anchor="t">
            <a:spAutoFit/>
          </a:bodyPr>
          <a:lstStyle/>
          <a:p>
            <a:pPr algn="l"/>
            <a:r>
              <a:rPr lang="vi-VN" sz="2000" b="1">
                <a:solidFill>
                  <a:srgbClr val="1B365D"/>
                </a:solidFill>
                <a:latin typeface="+mj-lt"/>
              </a:rPr>
              <a:t>TS. Trần Thái Sơn</a:t>
            </a:r>
          </a:p>
        </p:txBody>
      </p:sp>
      <p:sp>
        <p:nvSpPr>
          <p:cNvPr id="16" name="TextBox 15"/>
          <p:cNvSpPr txBox="1"/>
          <p:nvPr/>
        </p:nvSpPr>
        <p:spPr>
          <a:xfrm>
            <a:off x="4572000" y="6309360"/>
            <a:ext cx="7132320" cy="246221"/>
          </a:xfrm>
          <a:prstGeom prst="rect">
            <a:avLst/>
          </a:prstGeom>
          <a:noFill/>
        </p:spPr>
        <p:txBody>
          <a:bodyPr wrap="square" lIns="0" tIns="0" rIns="0" bIns="0" anchor="t">
            <a:spAutoFit/>
          </a:bodyPr>
          <a:lstStyle/>
          <a:p>
            <a:pPr algn="l"/>
            <a:r>
              <a:rPr lang="vi-VN" sz="1600" b="0" i="1">
                <a:solidFill>
                  <a:srgbClr val="64748B"/>
                </a:solidFill>
                <a:latin typeface="+mj-lt"/>
              </a:rPr>
              <a:t>TP. Hồ Chí Minh  •  Tháng 0</a:t>
            </a:r>
            <a:r>
              <a:rPr lang="en-US" sz="1600" b="0" i="1">
                <a:solidFill>
                  <a:srgbClr val="64748B"/>
                </a:solidFill>
                <a:latin typeface="+mj-lt"/>
              </a:rPr>
              <a:t>7</a:t>
            </a:r>
            <a:r>
              <a:rPr lang="vi-VN" sz="1600" b="0" i="1">
                <a:solidFill>
                  <a:srgbClr val="64748B"/>
                </a:solidFill>
                <a:latin typeface="+mj-lt"/>
              </a:rPr>
              <a:t>/2026</a:t>
            </a:r>
          </a:p>
        </p:txBody>
      </p:sp>
    </p:spTree>
    <p:extLst>
      <p:ext uri="{BB962C8B-B14F-4D97-AF65-F5344CB8AC3E}">
        <p14:creationId xmlns:p14="http://schemas.microsoft.com/office/powerpoint/2010/main" val="1749834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lide background">
            <a:extLst>
              <a:ext uri="{FF2B5EF4-FFF2-40B4-BE49-F238E27FC236}">
                <a16:creationId xmlns:a16="http://schemas.microsoft.com/office/drawing/2014/main" id="{6B108685-43BC-4E11-932D-51880D8C0CE6}"/>
              </a:ext>
            </a:extLst>
          </p:cNvPr>
          <p:cNvSpPr/>
          <p:nvPr/>
        </p:nvSpPr>
        <p:spPr>
          <a:xfrm>
            <a:off x="0" y="0"/>
            <a:ext cx="12192000" cy="6858000"/>
          </a:xfrm>
          <a:prstGeom prst="rect">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000">
              <a:latin typeface="+mj-lt"/>
            </a:endParaRPr>
          </a:p>
        </p:txBody>
      </p:sp>
      <p:sp>
        <p:nvSpPr>
          <p:cNvPr id="29" name="Agenda badge 1">
            <a:extLst>
              <a:ext uri="{FF2B5EF4-FFF2-40B4-BE49-F238E27FC236}">
                <a16:creationId xmlns:a16="http://schemas.microsoft.com/office/drawing/2014/main" id="{5855AE4C-16FD-4BEA-9CC2-82F3452511DE}"/>
              </a:ext>
            </a:extLst>
          </p:cNvPr>
          <p:cNvSpPr/>
          <p:nvPr/>
        </p:nvSpPr>
        <p:spPr>
          <a:xfrm>
            <a:off x="736600" y="1625600"/>
            <a:ext cx="508000" cy="508000"/>
          </a:xfrm>
          <a:prstGeom prst="roundRect">
            <a:avLst/>
          </a:prstGeom>
          <a:solidFill>
            <a:srgbClr val="1B365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sz="2400" b="1">
                <a:solidFill>
                  <a:srgbClr val="FFFFFF"/>
                </a:solidFill>
                <a:latin typeface="+mj-lt"/>
              </a:rPr>
              <a:t>1</a:t>
            </a:r>
          </a:p>
        </p:txBody>
      </p:sp>
      <p:sp>
        <p:nvSpPr>
          <p:cNvPr id="30" name="Agenda title 1">
            <a:extLst>
              <a:ext uri="{FF2B5EF4-FFF2-40B4-BE49-F238E27FC236}">
                <a16:creationId xmlns:a16="http://schemas.microsoft.com/office/drawing/2014/main" id="{79373E64-557F-473C-9941-0414D85E6A87}"/>
              </a:ext>
            </a:extLst>
          </p:cNvPr>
          <p:cNvSpPr txBox="1"/>
          <p:nvPr/>
        </p:nvSpPr>
        <p:spPr>
          <a:xfrm>
            <a:off x="1600200" y="1620323"/>
            <a:ext cx="9931400" cy="317500"/>
          </a:xfrm>
          <a:prstGeom prst="rect">
            <a:avLst/>
          </a:prstGeom>
          <a:noFill/>
        </p:spPr>
        <p:txBody>
          <a:bodyPr vertOverflow="overflow" vert="horz" wrap="none" rtlCol="0" anchor="t">
            <a:noAutofit/>
          </a:bodyPr>
          <a:lstStyle/>
          <a:p>
            <a:pPr algn="l"/>
            <a:r>
              <a:rPr lang="en-US" sz="2400" b="1" err="1">
                <a:solidFill>
                  <a:srgbClr val="062A5E"/>
                </a:solidFill>
                <a:latin typeface="+mj-lt"/>
              </a:rPr>
              <a:t>Tổng</a:t>
            </a:r>
            <a:r>
              <a:rPr lang="en-US" sz="2400" b="1">
                <a:solidFill>
                  <a:srgbClr val="062A5E"/>
                </a:solidFill>
                <a:latin typeface="+mj-lt"/>
              </a:rPr>
              <a:t> </a:t>
            </a:r>
            <a:r>
              <a:rPr lang="en-US" sz="2400" b="1" err="1">
                <a:solidFill>
                  <a:srgbClr val="062A5E"/>
                </a:solidFill>
                <a:latin typeface="+mj-lt"/>
              </a:rPr>
              <a:t>quan</a:t>
            </a:r>
            <a:r>
              <a:rPr lang="en-US" sz="2400" b="1">
                <a:solidFill>
                  <a:srgbClr val="062A5E"/>
                </a:solidFill>
                <a:latin typeface="+mj-lt"/>
              </a:rPr>
              <a:t> </a:t>
            </a:r>
            <a:r>
              <a:rPr lang="en-US" sz="2400" b="1" err="1">
                <a:solidFill>
                  <a:srgbClr val="062A5E"/>
                </a:solidFill>
                <a:latin typeface="+mj-lt"/>
              </a:rPr>
              <a:t>bài</a:t>
            </a:r>
            <a:r>
              <a:rPr lang="en-US" sz="2400" b="1">
                <a:solidFill>
                  <a:srgbClr val="062A5E"/>
                </a:solidFill>
                <a:latin typeface="+mj-lt"/>
              </a:rPr>
              <a:t> </a:t>
            </a:r>
            <a:r>
              <a:rPr lang="en-US" sz="2400" b="1" err="1">
                <a:solidFill>
                  <a:srgbClr val="062A5E"/>
                </a:solidFill>
                <a:latin typeface="+mj-lt"/>
              </a:rPr>
              <a:t>toán</a:t>
            </a:r>
            <a:endParaRPr lang="en-US" sz="2400" b="1">
              <a:solidFill>
                <a:srgbClr val="062A5E"/>
              </a:solidFill>
              <a:latin typeface="+mj-lt"/>
            </a:endParaRPr>
          </a:p>
        </p:txBody>
      </p:sp>
      <p:sp>
        <p:nvSpPr>
          <p:cNvPr id="32" name="Agenda badge 2">
            <a:extLst>
              <a:ext uri="{FF2B5EF4-FFF2-40B4-BE49-F238E27FC236}">
                <a16:creationId xmlns:a16="http://schemas.microsoft.com/office/drawing/2014/main" id="{301BF661-DCE1-4328-803C-69CA69C8E0A7}"/>
              </a:ext>
            </a:extLst>
          </p:cNvPr>
          <p:cNvSpPr/>
          <p:nvPr/>
        </p:nvSpPr>
        <p:spPr>
          <a:xfrm>
            <a:off x="736600" y="2540000"/>
            <a:ext cx="508000" cy="508000"/>
          </a:xfrm>
          <a:prstGeom prst="roundRect">
            <a:avLst/>
          </a:prstGeom>
          <a:solidFill>
            <a:srgbClr val="1B365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sz="2400" b="1">
                <a:solidFill>
                  <a:srgbClr val="FFFFFF"/>
                </a:solidFill>
                <a:latin typeface="+mj-lt"/>
              </a:rPr>
              <a:t>2</a:t>
            </a:r>
          </a:p>
        </p:txBody>
      </p:sp>
      <p:sp>
        <p:nvSpPr>
          <p:cNvPr id="33" name="Agenda title 2">
            <a:extLst>
              <a:ext uri="{FF2B5EF4-FFF2-40B4-BE49-F238E27FC236}">
                <a16:creationId xmlns:a16="http://schemas.microsoft.com/office/drawing/2014/main" id="{282B3507-1767-47DB-B0CA-03919D2662F8}"/>
              </a:ext>
            </a:extLst>
          </p:cNvPr>
          <p:cNvSpPr txBox="1"/>
          <p:nvPr/>
        </p:nvSpPr>
        <p:spPr>
          <a:xfrm>
            <a:off x="1600200" y="2529008"/>
            <a:ext cx="9931400" cy="317500"/>
          </a:xfrm>
          <a:prstGeom prst="rect">
            <a:avLst/>
          </a:prstGeom>
          <a:noFill/>
        </p:spPr>
        <p:txBody>
          <a:bodyPr vertOverflow="overflow" vert="horz" wrap="none" rtlCol="0" anchor="t">
            <a:noAutofit/>
          </a:bodyPr>
          <a:lstStyle/>
          <a:p>
            <a:pPr algn="l"/>
            <a:r>
              <a:rPr lang="en-US" sz="2400" b="1">
                <a:solidFill>
                  <a:srgbClr val="062A5E"/>
                </a:solidFill>
                <a:latin typeface="+mj-lt"/>
              </a:rPr>
              <a:t>Công </a:t>
            </a:r>
            <a:r>
              <a:rPr lang="en-US" sz="2400" b="1" err="1">
                <a:solidFill>
                  <a:srgbClr val="062A5E"/>
                </a:solidFill>
                <a:latin typeface="+mj-lt"/>
              </a:rPr>
              <a:t>trình</a:t>
            </a:r>
            <a:r>
              <a:rPr lang="en-US" sz="2400" b="1">
                <a:solidFill>
                  <a:srgbClr val="062A5E"/>
                </a:solidFill>
                <a:latin typeface="+mj-lt"/>
              </a:rPr>
              <a:t> </a:t>
            </a:r>
            <a:r>
              <a:rPr lang="en-US" sz="2400" b="1" err="1">
                <a:solidFill>
                  <a:srgbClr val="062A5E"/>
                </a:solidFill>
                <a:latin typeface="+mj-lt"/>
              </a:rPr>
              <a:t>liên</a:t>
            </a:r>
            <a:r>
              <a:rPr lang="en-US" sz="2400" b="1">
                <a:solidFill>
                  <a:srgbClr val="062A5E"/>
                </a:solidFill>
                <a:latin typeface="+mj-lt"/>
              </a:rPr>
              <a:t> </a:t>
            </a:r>
            <a:r>
              <a:rPr lang="en-US" sz="2400" b="1" err="1">
                <a:solidFill>
                  <a:srgbClr val="062A5E"/>
                </a:solidFill>
                <a:latin typeface="+mj-lt"/>
              </a:rPr>
              <a:t>quan</a:t>
            </a:r>
            <a:endParaRPr lang="en-US" sz="2400" b="1">
              <a:solidFill>
                <a:srgbClr val="062A5E"/>
              </a:solidFill>
              <a:latin typeface="+mj-lt"/>
            </a:endParaRPr>
          </a:p>
        </p:txBody>
      </p:sp>
      <p:sp>
        <p:nvSpPr>
          <p:cNvPr id="35" name="Agenda badge 3">
            <a:extLst>
              <a:ext uri="{FF2B5EF4-FFF2-40B4-BE49-F238E27FC236}">
                <a16:creationId xmlns:a16="http://schemas.microsoft.com/office/drawing/2014/main" id="{D0537DCE-4362-49F5-BD06-17ED130B4D81}"/>
              </a:ext>
            </a:extLst>
          </p:cNvPr>
          <p:cNvSpPr/>
          <p:nvPr/>
        </p:nvSpPr>
        <p:spPr>
          <a:xfrm>
            <a:off x="736600" y="3454400"/>
            <a:ext cx="508000" cy="508000"/>
          </a:xfrm>
          <a:prstGeom prst="roundRect">
            <a:avLst/>
          </a:prstGeom>
          <a:solidFill>
            <a:srgbClr val="1B365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sz="2400" b="1">
                <a:solidFill>
                  <a:srgbClr val="FFFFFF"/>
                </a:solidFill>
                <a:latin typeface="+mj-lt"/>
              </a:rPr>
              <a:t>3</a:t>
            </a:r>
          </a:p>
        </p:txBody>
      </p:sp>
      <p:sp>
        <p:nvSpPr>
          <p:cNvPr id="36" name="Agenda title 3">
            <a:extLst>
              <a:ext uri="{FF2B5EF4-FFF2-40B4-BE49-F238E27FC236}">
                <a16:creationId xmlns:a16="http://schemas.microsoft.com/office/drawing/2014/main" id="{E00594DB-37B2-48E4-8BA9-355AAAA57EC8}"/>
              </a:ext>
            </a:extLst>
          </p:cNvPr>
          <p:cNvSpPr txBox="1"/>
          <p:nvPr/>
        </p:nvSpPr>
        <p:spPr>
          <a:xfrm>
            <a:off x="1600200" y="3447852"/>
            <a:ext cx="9931400" cy="317500"/>
          </a:xfrm>
          <a:prstGeom prst="rect">
            <a:avLst/>
          </a:prstGeom>
          <a:noFill/>
        </p:spPr>
        <p:txBody>
          <a:bodyPr vertOverflow="overflow" vert="horz" wrap="none" rtlCol="0" anchor="t">
            <a:noAutofit/>
          </a:bodyPr>
          <a:lstStyle/>
          <a:p>
            <a:pPr algn="l"/>
            <a:r>
              <a:rPr lang="vi-VN" sz="2400" b="1">
                <a:solidFill>
                  <a:srgbClr val="062A5E"/>
                </a:solidFill>
                <a:latin typeface="+mj-lt"/>
              </a:rPr>
              <a:t>Phương pháp đề xuất</a:t>
            </a:r>
            <a:endParaRPr lang="en-US" sz="2400" b="1">
              <a:solidFill>
                <a:srgbClr val="062A5E"/>
              </a:solidFill>
              <a:latin typeface="+mj-lt"/>
            </a:endParaRPr>
          </a:p>
        </p:txBody>
      </p:sp>
      <p:sp>
        <p:nvSpPr>
          <p:cNvPr id="38" name="Agenda badge 4">
            <a:extLst>
              <a:ext uri="{FF2B5EF4-FFF2-40B4-BE49-F238E27FC236}">
                <a16:creationId xmlns:a16="http://schemas.microsoft.com/office/drawing/2014/main" id="{6CFB147F-C0B1-4CE3-91C7-DABF835C9749}"/>
              </a:ext>
            </a:extLst>
          </p:cNvPr>
          <p:cNvSpPr/>
          <p:nvPr/>
        </p:nvSpPr>
        <p:spPr>
          <a:xfrm>
            <a:off x="736600" y="4368800"/>
            <a:ext cx="508000" cy="508000"/>
          </a:xfrm>
          <a:prstGeom prst="roundRect">
            <a:avLst/>
          </a:prstGeom>
          <a:solidFill>
            <a:srgbClr val="1B365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sz="2400" b="1">
                <a:solidFill>
                  <a:srgbClr val="FFFFFF"/>
                </a:solidFill>
                <a:latin typeface="+mj-lt"/>
              </a:rPr>
              <a:t>4</a:t>
            </a:r>
          </a:p>
        </p:txBody>
      </p:sp>
      <p:sp>
        <p:nvSpPr>
          <p:cNvPr id="39" name="Agenda title 4">
            <a:extLst>
              <a:ext uri="{FF2B5EF4-FFF2-40B4-BE49-F238E27FC236}">
                <a16:creationId xmlns:a16="http://schemas.microsoft.com/office/drawing/2014/main" id="{42F03713-B70C-4214-90EF-31FCDC982549}"/>
              </a:ext>
            </a:extLst>
          </p:cNvPr>
          <p:cNvSpPr txBox="1"/>
          <p:nvPr/>
        </p:nvSpPr>
        <p:spPr>
          <a:xfrm>
            <a:off x="1600200" y="4350823"/>
            <a:ext cx="9931400" cy="317500"/>
          </a:xfrm>
          <a:prstGeom prst="rect">
            <a:avLst/>
          </a:prstGeom>
          <a:noFill/>
        </p:spPr>
        <p:txBody>
          <a:bodyPr vertOverflow="overflow" vert="horz" wrap="none" rtlCol="0" anchor="t">
            <a:noAutofit/>
          </a:bodyPr>
          <a:lstStyle/>
          <a:p>
            <a:pPr algn="l"/>
            <a:r>
              <a:rPr lang="en-US" sz="2400" b="1" err="1">
                <a:solidFill>
                  <a:srgbClr val="062A5E"/>
                </a:solidFill>
                <a:latin typeface="+mj-lt"/>
              </a:rPr>
              <a:t>Thực</a:t>
            </a:r>
            <a:r>
              <a:rPr lang="en-US" sz="2400" b="1">
                <a:solidFill>
                  <a:srgbClr val="062A5E"/>
                </a:solidFill>
                <a:latin typeface="+mj-lt"/>
              </a:rPr>
              <a:t> </a:t>
            </a:r>
            <a:r>
              <a:rPr lang="en-US" sz="2400" b="1" err="1">
                <a:solidFill>
                  <a:srgbClr val="062A5E"/>
                </a:solidFill>
                <a:latin typeface="+mj-lt"/>
              </a:rPr>
              <a:t>nghiệm</a:t>
            </a:r>
            <a:r>
              <a:rPr lang="en-US" sz="2400" b="1">
                <a:solidFill>
                  <a:srgbClr val="062A5E"/>
                </a:solidFill>
                <a:latin typeface="+mj-lt"/>
              </a:rPr>
              <a:t> </a:t>
            </a:r>
            <a:r>
              <a:rPr lang="en-US" sz="2400" b="1" err="1">
                <a:solidFill>
                  <a:srgbClr val="062A5E"/>
                </a:solidFill>
                <a:latin typeface="+mj-lt"/>
              </a:rPr>
              <a:t>và</a:t>
            </a:r>
            <a:r>
              <a:rPr lang="en-US" sz="2400" b="1">
                <a:solidFill>
                  <a:srgbClr val="062A5E"/>
                </a:solidFill>
                <a:latin typeface="+mj-lt"/>
              </a:rPr>
              <a:t> </a:t>
            </a:r>
            <a:r>
              <a:rPr lang="en-US" sz="2400" b="1" err="1">
                <a:solidFill>
                  <a:srgbClr val="062A5E"/>
                </a:solidFill>
                <a:latin typeface="+mj-lt"/>
              </a:rPr>
              <a:t>kết</a:t>
            </a:r>
            <a:r>
              <a:rPr lang="en-US" sz="2400" b="1">
                <a:solidFill>
                  <a:srgbClr val="062A5E"/>
                </a:solidFill>
                <a:latin typeface="+mj-lt"/>
              </a:rPr>
              <a:t> </a:t>
            </a:r>
            <a:r>
              <a:rPr lang="en-US" sz="2400" b="1" err="1">
                <a:solidFill>
                  <a:srgbClr val="062A5E"/>
                </a:solidFill>
                <a:latin typeface="+mj-lt"/>
              </a:rPr>
              <a:t>quả</a:t>
            </a:r>
            <a:endParaRPr lang="en-US" sz="2400" b="1">
              <a:solidFill>
                <a:srgbClr val="062A5E"/>
              </a:solidFill>
              <a:latin typeface="+mj-lt"/>
            </a:endParaRPr>
          </a:p>
        </p:txBody>
      </p:sp>
      <p:sp>
        <p:nvSpPr>
          <p:cNvPr id="41" name="Agenda badge 5">
            <a:extLst>
              <a:ext uri="{FF2B5EF4-FFF2-40B4-BE49-F238E27FC236}">
                <a16:creationId xmlns:a16="http://schemas.microsoft.com/office/drawing/2014/main" id="{0598EA72-F5D2-4115-A8BA-D778F521A5DB}"/>
              </a:ext>
            </a:extLst>
          </p:cNvPr>
          <p:cNvSpPr/>
          <p:nvPr/>
        </p:nvSpPr>
        <p:spPr>
          <a:xfrm>
            <a:off x="736600" y="5283200"/>
            <a:ext cx="508000" cy="508000"/>
          </a:xfrm>
          <a:prstGeom prst="roundRect">
            <a:avLst/>
          </a:prstGeom>
          <a:solidFill>
            <a:srgbClr val="1B365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sz="2400" b="1">
                <a:solidFill>
                  <a:srgbClr val="FFFFFF"/>
                </a:solidFill>
                <a:latin typeface="+mj-lt"/>
              </a:rPr>
              <a:t>5</a:t>
            </a:r>
          </a:p>
        </p:txBody>
      </p:sp>
      <p:sp>
        <p:nvSpPr>
          <p:cNvPr id="42" name="Agenda title 5">
            <a:extLst>
              <a:ext uri="{FF2B5EF4-FFF2-40B4-BE49-F238E27FC236}">
                <a16:creationId xmlns:a16="http://schemas.microsoft.com/office/drawing/2014/main" id="{107ABFC8-35A9-4641-A8A0-048908037ABF}"/>
              </a:ext>
            </a:extLst>
          </p:cNvPr>
          <p:cNvSpPr txBox="1"/>
          <p:nvPr/>
        </p:nvSpPr>
        <p:spPr>
          <a:xfrm>
            <a:off x="1600200" y="5308403"/>
            <a:ext cx="9931400" cy="317500"/>
          </a:xfrm>
          <a:prstGeom prst="rect">
            <a:avLst/>
          </a:prstGeom>
          <a:noFill/>
        </p:spPr>
        <p:txBody>
          <a:bodyPr vertOverflow="overflow" vert="horz" wrap="none" rtlCol="0" anchor="t">
            <a:noAutofit/>
          </a:bodyPr>
          <a:lstStyle/>
          <a:p>
            <a:pPr algn="l"/>
            <a:r>
              <a:rPr lang="vi-VN" sz="2400" b="1">
                <a:solidFill>
                  <a:srgbClr val="062A5E"/>
                </a:solidFill>
                <a:latin typeface="+mj-lt"/>
              </a:rPr>
              <a:t>Kết luận và hướng phát triển</a:t>
            </a:r>
            <a:endParaRPr lang="en-US" sz="2400" b="1">
              <a:solidFill>
                <a:srgbClr val="062A5E"/>
              </a:solidFill>
              <a:latin typeface="+mj-lt"/>
            </a:endParaRPr>
          </a:p>
        </p:txBody>
      </p:sp>
      <p:sp>
        <p:nvSpPr>
          <p:cNvPr id="48" name="Left accent rail">
            <a:extLst>
              <a:ext uri="{FF2B5EF4-FFF2-40B4-BE49-F238E27FC236}">
                <a16:creationId xmlns:a16="http://schemas.microsoft.com/office/drawing/2014/main" id="{A1938777-41F1-4241-B85D-29AEFE302F29}"/>
              </a:ext>
            </a:extLst>
          </p:cNvPr>
          <p:cNvSpPr/>
          <p:nvPr/>
        </p:nvSpPr>
        <p:spPr>
          <a:xfrm>
            <a:off x="0" y="0"/>
            <a:ext cx="165100" cy="6858000"/>
          </a:xfrm>
          <a:prstGeom prst="rect">
            <a:avLst/>
          </a:prstGeom>
          <a:solidFill>
            <a:srgbClr val="062A5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000">
              <a:latin typeface="+mj-lt"/>
            </a:endParaRPr>
          </a:p>
        </p:txBody>
      </p:sp>
      <p:sp>
        <p:nvSpPr>
          <p:cNvPr id="49" name="Slide title">
            <a:extLst>
              <a:ext uri="{FF2B5EF4-FFF2-40B4-BE49-F238E27FC236}">
                <a16:creationId xmlns:a16="http://schemas.microsoft.com/office/drawing/2014/main" id="{79740254-F74E-4249-B4CD-0222335C532B}"/>
              </a:ext>
            </a:extLst>
          </p:cNvPr>
          <p:cNvSpPr txBox="1"/>
          <p:nvPr/>
        </p:nvSpPr>
        <p:spPr>
          <a:xfrm>
            <a:off x="548640" y="594360"/>
            <a:ext cx="10972800" cy="495300"/>
          </a:xfrm>
          <a:prstGeom prst="rect">
            <a:avLst/>
          </a:prstGeom>
          <a:noFill/>
        </p:spPr>
        <p:txBody>
          <a:bodyPr vertOverflow="overflow" vert="horz" wrap="none" rtlCol="0" anchor="t">
            <a:noAutofit/>
          </a:bodyPr>
          <a:lstStyle/>
          <a:p>
            <a:pPr algn="l"/>
            <a:r>
              <a:rPr lang="en-US" sz="3000" b="1">
                <a:solidFill>
                  <a:srgbClr val="062A5E"/>
                </a:solidFill>
                <a:latin typeface="+mj-lt"/>
              </a:rPr>
              <a:t>Nội dung trình bày</a:t>
            </a:r>
          </a:p>
        </p:txBody>
      </p:sp>
      <p:sp>
        <p:nvSpPr>
          <p:cNvPr id="50" name="Top divider">
            <a:extLst>
              <a:ext uri="{FF2B5EF4-FFF2-40B4-BE49-F238E27FC236}">
                <a16:creationId xmlns:a16="http://schemas.microsoft.com/office/drawing/2014/main" id="{9C4840D0-4245-4C47-8FA8-6CDE39B08A6F}"/>
              </a:ext>
            </a:extLst>
          </p:cNvPr>
          <p:cNvSpPr/>
          <p:nvPr/>
        </p:nvSpPr>
        <p:spPr>
          <a:xfrm>
            <a:off x="548640" y="1325880"/>
            <a:ext cx="11091672" cy="15240"/>
          </a:xfrm>
          <a:prstGeom prst="rect">
            <a:avLst/>
          </a:prstGeom>
          <a:solidFill>
            <a:srgbClr val="0797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000">
              <a:latin typeface="+mj-lt"/>
            </a:endParaRPr>
          </a:p>
        </p:txBody>
      </p:sp>
      <p:sp>
        <p:nvSpPr>
          <p:cNvPr id="51" name="Bottom divider">
            <a:extLst>
              <a:ext uri="{FF2B5EF4-FFF2-40B4-BE49-F238E27FC236}">
                <a16:creationId xmlns:a16="http://schemas.microsoft.com/office/drawing/2014/main" id="{9BB49F33-E434-4F84-BC2C-66A07B727C08}"/>
              </a:ext>
            </a:extLst>
          </p:cNvPr>
          <p:cNvSpPr/>
          <p:nvPr/>
        </p:nvSpPr>
        <p:spPr>
          <a:xfrm>
            <a:off x="548640" y="6537959"/>
            <a:ext cx="11091672" cy="15240"/>
          </a:xfrm>
          <a:prstGeom prst="rect">
            <a:avLst/>
          </a:prstGeom>
          <a:solidFill>
            <a:srgbClr val="0797B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000">
              <a:latin typeface="+mj-lt"/>
            </a:endParaRPr>
          </a:p>
        </p:txBody>
      </p:sp>
      <p:sp>
        <p:nvSpPr>
          <p:cNvPr id="52" name="Slide number">
            <a:extLst>
              <a:ext uri="{FF2B5EF4-FFF2-40B4-BE49-F238E27FC236}">
                <a16:creationId xmlns:a16="http://schemas.microsoft.com/office/drawing/2014/main" id="{477C0622-C64E-4278-BA7D-72CE7C31D8A5}"/>
              </a:ext>
            </a:extLst>
          </p:cNvPr>
          <p:cNvSpPr txBox="1"/>
          <p:nvPr/>
        </p:nvSpPr>
        <p:spPr>
          <a:xfrm>
            <a:off x="10515600" y="6583680"/>
            <a:ext cx="1124712" cy="165100"/>
          </a:xfrm>
          <a:prstGeom prst="rect">
            <a:avLst/>
          </a:prstGeom>
          <a:noFill/>
        </p:spPr>
        <p:txBody>
          <a:bodyPr vertOverflow="overflow" vert="horz" wrap="none" rtlCol="0" anchor="t">
            <a:noAutofit/>
          </a:bodyPr>
          <a:lstStyle/>
          <a:p>
            <a:pPr algn="l"/>
            <a:r>
              <a:rPr lang="en-US" sz="1000">
                <a:solidFill>
                  <a:srgbClr val="062A5E"/>
                </a:solidFill>
                <a:latin typeface="+mj-lt"/>
              </a:rPr>
              <a:t>02 / 25</a:t>
            </a:r>
          </a:p>
        </p:txBody>
      </p:sp>
    </p:spTree>
    <p:extLst>
      <p:ext uri="{BB962C8B-B14F-4D97-AF65-F5344CB8AC3E}">
        <p14:creationId xmlns:p14="http://schemas.microsoft.com/office/powerpoint/2010/main" val="4060175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4" name="TextBox 3"/>
          <p:cNvSpPr txBox="1"/>
          <p:nvPr/>
        </p:nvSpPr>
        <p:spPr>
          <a:xfrm>
            <a:off x="548640" y="320040"/>
            <a:ext cx="9144000" cy="215444"/>
          </a:xfrm>
          <a:prstGeom prst="rect">
            <a:avLst/>
          </a:prstGeom>
          <a:noFill/>
        </p:spPr>
        <p:txBody>
          <a:bodyPr wrap="square" lIns="0" tIns="0" rIns="0" bIns="0" anchor="t">
            <a:spAutoFit/>
          </a:bodyPr>
          <a:lstStyle/>
          <a:p>
            <a:pPr algn="l"/>
            <a:r>
              <a:rPr sz="1400" b="1">
                <a:solidFill>
                  <a:srgbClr val="0891B2"/>
                </a:solidFill>
                <a:latin typeface="+mj-lt"/>
              </a:rPr>
              <a:t>1</a:t>
            </a:r>
            <a:r>
              <a:rPr lang="en-US" sz="1400" b="1">
                <a:solidFill>
                  <a:srgbClr val="0891B2"/>
                </a:solidFill>
                <a:latin typeface="+mj-lt"/>
              </a:rPr>
              <a:t>. </a:t>
            </a:r>
            <a:r>
              <a:rPr lang="en-US" sz="1400" b="1" err="1">
                <a:solidFill>
                  <a:srgbClr val="0891B2"/>
                </a:solidFill>
                <a:latin typeface="+mj-lt"/>
              </a:rPr>
              <a:t>TỔNG</a:t>
            </a:r>
            <a:r>
              <a:rPr lang="en-US" sz="1400" b="1">
                <a:solidFill>
                  <a:srgbClr val="0891B2"/>
                </a:solidFill>
                <a:latin typeface="+mj-lt"/>
              </a:rPr>
              <a:t> QUAN</a:t>
            </a:r>
            <a:endParaRPr sz="1400" b="1">
              <a:solidFill>
                <a:srgbClr val="0891B2"/>
              </a:solidFill>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B365D"/>
                </a:solidFill>
                <a:latin typeface="+mj-lt"/>
              </a:rPr>
              <a:t>Bối cảnh &amp; động lực</a:t>
            </a: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03 / 25</a:t>
            </a:r>
          </a:p>
        </p:txBody>
      </p:sp>
      <p:pic>
        <p:nvPicPr>
          <p:cNvPr id="10" name="Picture 9" descr="tang_truong_short.png"/>
          <p:cNvPicPr>
            <a:picLocks noChangeAspect="1"/>
          </p:cNvPicPr>
          <p:nvPr/>
        </p:nvPicPr>
        <p:blipFill>
          <a:blip r:embed="rId3"/>
          <a:stretch>
            <a:fillRect/>
          </a:stretch>
        </p:blipFill>
        <p:spPr>
          <a:xfrm>
            <a:off x="548640" y="1689682"/>
            <a:ext cx="6400800" cy="4267200"/>
          </a:xfrm>
          <a:prstGeom prst="rect">
            <a:avLst/>
          </a:prstGeom>
        </p:spPr>
      </p:pic>
      <p:sp>
        <p:nvSpPr>
          <p:cNvPr id="11" name="TextBox 10"/>
          <p:cNvSpPr txBox="1"/>
          <p:nvPr/>
        </p:nvSpPr>
        <p:spPr>
          <a:xfrm>
            <a:off x="7315200" y="1828800"/>
            <a:ext cx="4389120" cy="3964996"/>
          </a:xfrm>
          <a:prstGeom prst="rect">
            <a:avLst/>
          </a:prstGeom>
          <a:noFill/>
        </p:spPr>
        <p:txBody>
          <a:bodyPr wrap="square" lIns="0" tIns="0" rIns="0" bIns="0" anchor="t">
            <a:spAutoFit/>
          </a:bodyPr>
          <a:lstStyle/>
          <a:p>
            <a:pPr algn="l">
              <a:lnSpc>
                <a:spcPct val="125000"/>
              </a:lnSpc>
              <a:spcAft>
                <a:spcPts val="400"/>
              </a:spcAft>
            </a:pPr>
            <a:r>
              <a:rPr sz="2000" b="1" dirty="0">
                <a:solidFill>
                  <a:srgbClr val="0891B2"/>
                </a:solidFill>
                <a:latin typeface="+mj-lt"/>
              </a:rPr>
              <a:t>•  </a:t>
            </a:r>
            <a:r>
              <a:rPr lang="en-US" sz="2000" b="1" dirty="0">
                <a:solidFill>
                  <a:srgbClr val="1B365D"/>
                </a:solidFill>
                <a:latin typeface="+mj-lt"/>
              </a:rPr>
              <a:t>Video </a:t>
            </a:r>
            <a:r>
              <a:rPr lang="en-US" sz="2000" b="1" dirty="0" err="1">
                <a:solidFill>
                  <a:srgbClr val="1B365D"/>
                </a:solidFill>
                <a:latin typeface="+mj-lt"/>
              </a:rPr>
              <a:t>ngắn</a:t>
            </a:r>
            <a:r>
              <a:rPr sz="2000" b="1" dirty="0">
                <a:solidFill>
                  <a:srgbClr val="1B365D"/>
                </a:solidFill>
                <a:latin typeface="+mj-lt"/>
              </a:rPr>
              <a:t> </a:t>
            </a:r>
            <a:r>
              <a:rPr sz="2000" b="1" dirty="0" err="1">
                <a:solidFill>
                  <a:srgbClr val="1B365D"/>
                </a:solidFill>
                <a:latin typeface="+mj-lt"/>
              </a:rPr>
              <a:t>bùng</a:t>
            </a:r>
            <a:r>
              <a:rPr sz="2000" b="1" dirty="0">
                <a:solidFill>
                  <a:srgbClr val="1B365D"/>
                </a:solidFill>
                <a:latin typeface="+mj-lt"/>
              </a:rPr>
              <a:t> </a:t>
            </a:r>
            <a:r>
              <a:rPr sz="2000" b="1" dirty="0" err="1">
                <a:solidFill>
                  <a:srgbClr val="1B365D"/>
                </a:solidFill>
                <a:latin typeface="+mj-lt"/>
              </a:rPr>
              <a:t>nổ</a:t>
            </a:r>
            <a:r>
              <a:rPr sz="2000" b="1" dirty="0">
                <a:solidFill>
                  <a:srgbClr val="1B365D"/>
                </a:solidFill>
                <a:latin typeface="+mj-lt"/>
              </a:rPr>
              <a:t>: </a:t>
            </a:r>
            <a:r>
              <a:rPr sz="2000" dirty="0">
                <a:solidFill>
                  <a:srgbClr val="1B365D"/>
                </a:solidFill>
                <a:latin typeface="+mj-lt"/>
              </a:rPr>
              <a:t>TikTok, Reels, Shorts </a:t>
            </a:r>
            <a:r>
              <a:rPr sz="2000" dirty="0" err="1">
                <a:solidFill>
                  <a:srgbClr val="1B365D"/>
                </a:solidFill>
                <a:latin typeface="+mj-lt"/>
              </a:rPr>
              <a:t>chiếm</a:t>
            </a:r>
            <a:r>
              <a:rPr sz="2000" dirty="0">
                <a:solidFill>
                  <a:srgbClr val="1B365D"/>
                </a:solidFill>
                <a:latin typeface="+mj-lt"/>
              </a:rPr>
              <a:t> </a:t>
            </a:r>
            <a:r>
              <a:rPr sz="2000" dirty="0" err="1">
                <a:solidFill>
                  <a:srgbClr val="1B365D"/>
                </a:solidFill>
                <a:latin typeface="+mj-lt"/>
              </a:rPr>
              <a:t>lĩnh</a:t>
            </a:r>
            <a:r>
              <a:rPr sz="2000" dirty="0">
                <a:solidFill>
                  <a:srgbClr val="1B365D"/>
                </a:solidFill>
                <a:latin typeface="+mj-lt"/>
              </a:rPr>
              <a:t> </a:t>
            </a:r>
            <a:r>
              <a:rPr sz="2000" dirty="0" err="1">
                <a:solidFill>
                  <a:srgbClr val="1B365D"/>
                </a:solidFill>
                <a:latin typeface="+mj-lt"/>
              </a:rPr>
              <a:t>nội</a:t>
            </a:r>
            <a:r>
              <a:rPr sz="2000" dirty="0">
                <a:solidFill>
                  <a:srgbClr val="1B365D"/>
                </a:solidFill>
                <a:latin typeface="+mj-lt"/>
              </a:rPr>
              <a:t> dung </a:t>
            </a:r>
            <a:r>
              <a:rPr sz="2000" dirty="0" err="1">
                <a:solidFill>
                  <a:srgbClr val="1B365D"/>
                </a:solidFill>
                <a:latin typeface="+mj-lt"/>
              </a:rPr>
              <a:t>số</a:t>
            </a:r>
            <a:r>
              <a:rPr sz="2000" dirty="0">
                <a:solidFill>
                  <a:srgbClr val="1B365D"/>
                </a:solidFill>
                <a:latin typeface="+mj-lt"/>
              </a:rPr>
              <a:t>.</a:t>
            </a:r>
          </a:p>
          <a:p>
            <a:pPr>
              <a:lnSpc>
                <a:spcPct val="125000"/>
              </a:lnSpc>
              <a:spcAft>
                <a:spcPts val="400"/>
              </a:spcAft>
            </a:pPr>
            <a:r>
              <a:rPr sz="2000" b="1" dirty="0">
                <a:solidFill>
                  <a:srgbClr val="0891B2"/>
                </a:solidFill>
                <a:latin typeface="+mj-lt"/>
              </a:rPr>
              <a:t>•  </a:t>
            </a:r>
            <a:r>
              <a:rPr sz="2000" b="1" dirty="0">
                <a:solidFill>
                  <a:srgbClr val="1B365D"/>
                </a:solidFill>
                <a:latin typeface="+mj-lt"/>
              </a:rPr>
              <a:t>Nhu </a:t>
            </a:r>
            <a:r>
              <a:rPr sz="2000" b="1" dirty="0" err="1">
                <a:solidFill>
                  <a:srgbClr val="1B365D"/>
                </a:solidFill>
                <a:latin typeface="+mj-lt"/>
              </a:rPr>
              <a:t>cầu</a:t>
            </a:r>
            <a:r>
              <a:rPr sz="2000" b="1" dirty="0">
                <a:solidFill>
                  <a:srgbClr val="1B365D"/>
                </a:solidFill>
                <a:latin typeface="+mj-lt"/>
              </a:rPr>
              <a:t> </a:t>
            </a:r>
            <a:r>
              <a:rPr sz="2000" b="1" dirty="0" err="1">
                <a:solidFill>
                  <a:srgbClr val="1B365D"/>
                </a:solidFill>
                <a:latin typeface="+mj-lt"/>
              </a:rPr>
              <a:t>phân</a:t>
            </a:r>
            <a:r>
              <a:rPr sz="2000" b="1" dirty="0">
                <a:solidFill>
                  <a:srgbClr val="1B365D"/>
                </a:solidFill>
                <a:latin typeface="+mj-lt"/>
              </a:rPr>
              <a:t> </a:t>
            </a:r>
            <a:r>
              <a:rPr sz="2000" b="1" dirty="0" err="1">
                <a:solidFill>
                  <a:srgbClr val="1B365D"/>
                </a:solidFill>
                <a:latin typeface="+mj-lt"/>
              </a:rPr>
              <a:t>tích</a:t>
            </a:r>
            <a:r>
              <a:rPr sz="2000" b="1" dirty="0">
                <a:solidFill>
                  <a:srgbClr val="1B365D"/>
                </a:solidFill>
                <a:latin typeface="+mj-lt"/>
              </a:rPr>
              <a:t> </a:t>
            </a:r>
            <a:r>
              <a:rPr sz="2000" b="1" dirty="0" err="1">
                <a:solidFill>
                  <a:srgbClr val="1B365D"/>
                </a:solidFill>
                <a:latin typeface="+mj-lt"/>
              </a:rPr>
              <a:t>tự</a:t>
            </a:r>
            <a:r>
              <a:rPr sz="2000" b="1" dirty="0">
                <a:solidFill>
                  <a:srgbClr val="1B365D"/>
                </a:solidFill>
                <a:latin typeface="+mj-lt"/>
              </a:rPr>
              <a:t> </a:t>
            </a:r>
            <a:r>
              <a:rPr sz="2000" b="1" dirty="0" err="1">
                <a:solidFill>
                  <a:srgbClr val="1B365D"/>
                </a:solidFill>
                <a:latin typeface="+mj-lt"/>
              </a:rPr>
              <a:t>động</a:t>
            </a:r>
            <a:r>
              <a:rPr sz="2000" b="1" dirty="0">
                <a:solidFill>
                  <a:srgbClr val="1B365D"/>
                </a:solidFill>
                <a:latin typeface="+mj-lt"/>
              </a:rPr>
              <a:t>: </a:t>
            </a:r>
            <a:r>
              <a:rPr sz="2000" dirty="0" err="1">
                <a:solidFill>
                  <a:srgbClr val="1B365D"/>
                </a:solidFill>
                <a:latin typeface="+mj-lt"/>
              </a:rPr>
              <a:t>chỉ</a:t>
            </a:r>
            <a:r>
              <a:rPr sz="2000" dirty="0">
                <a:solidFill>
                  <a:srgbClr val="1B365D"/>
                </a:solidFill>
                <a:latin typeface="+mj-lt"/>
              </a:rPr>
              <a:t> </a:t>
            </a:r>
            <a:r>
              <a:rPr sz="2000" dirty="0" err="1">
                <a:solidFill>
                  <a:srgbClr val="1B365D"/>
                </a:solidFill>
                <a:latin typeface="+mj-lt"/>
              </a:rPr>
              <a:t>mục</a:t>
            </a:r>
            <a:r>
              <a:rPr sz="2000" dirty="0">
                <a:solidFill>
                  <a:srgbClr val="1B365D"/>
                </a:solidFill>
                <a:latin typeface="+mj-lt"/>
              </a:rPr>
              <a:t>, </a:t>
            </a:r>
            <a:r>
              <a:rPr sz="2000" dirty="0" err="1">
                <a:solidFill>
                  <a:srgbClr val="1B365D"/>
                </a:solidFill>
                <a:latin typeface="+mj-lt"/>
              </a:rPr>
              <a:t>đề</a:t>
            </a:r>
            <a:r>
              <a:rPr sz="2000" dirty="0">
                <a:solidFill>
                  <a:srgbClr val="1B365D"/>
                </a:solidFill>
                <a:latin typeface="+mj-lt"/>
              </a:rPr>
              <a:t> </a:t>
            </a:r>
            <a:r>
              <a:rPr sz="2000" dirty="0" err="1">
                <a:solidFill>
                  <a:srgbClr val="1B365D"/>
                </a:solidFill>
                <a:latin typeface="+mj-lt"/>
              </a:rPr>
              <a:t>xuất</a:t>
            </a:r>
            <a:r>
              <a:rPr sz="2000" dirty="0">
                <a:solidFill>
                  <a:srgbClr val="1B365D"/>
                </a:solidFill>
                <a:latin typeface="+mj-lt"/>
              </a:rPr>
              <a:t>, </a:t>
            </a:r>
            <a:r>
              <a:rPr sz="2000" dirty="0" err="1">
                <a:solidFill>
                  <a:srgbClr val="1B365D"/>
                </a:solidFill>
                <a:latin typeface="+mj-lt"/>
              </a:rPr>
              <a:t>kiểm</a:t>
            </a:r>
            <a:r>
              <a:rPr sz="2000" dirty="0">
                <a:solidFill>
                  <a:srgbClr val="1B365D"/>
                </a:solidFill>
                <a:latin typeface="+mj-lt"/>
              </a:rPr>
              <a:t> </a:t>
            </a:r>
            <a:r>
              <a:rPr sz="2000" dirty="0" err="1">
                <a:solidFill>
                  <a:srgbClr val="1B365D"/>
                </a:solidFill>
                <a:latin typeface="+mj-lt"/>
              </a:rPr>
              <a:t>duyệt</a:t>
            </a:r>
            <a:r>
              <a:rPr sz="2000" dirty="0">
                <a:solidFill>
                  <a:srgbClr val="1B365D"/>
                </a:solidFill>
                <a:latin typeface="+mj-lt"/>
              </a:rPr>
              <a:t>, </a:t>
            </a:r>
            <a:r>
              <a:rPr sz="2000" dirty="0" err="1">
                <a:solidFill>
                  <a:srgbClr val="1B365D"/>
                </a:solidFill>
                <a:latin typeface="+mj-lt"/>
              </a:rPr>
              <a:t>quảng</a:t>
            </a:r>
            <a:r>
              <a:rPr sz="2000" dirty="0">
                <a:solidFill>
                  <a:srgbClr val="1B365D"/>
                </a:solidFill>
                <a:latin typeface="+mj-lt"/>
              </a:rPr>
              <a:t> </a:t>
            </a:r>
            <a:r>
              <a:rPr sz="2000" dirty="0" err="1">
                <a:solidFill>
                  <a:srgbClr val="1B365D"/>
                </a:solidFill>
                <a:latin typeface="+mj-lt"/>
              </a:rPr>
              <a:t>cáo</a:t>
            </a:r>
            <a:r>
              <a:rPr sz="2000" dirty="0">
                <a:solidFill>
                  <a:srgbClr val="1B365D"/>
                </a:solidFill>
                <a:latin typeface="+mj-lt"/>
              </a:rPr>
              <a:t>.</a:t>
            </a:r>
            <a:r>
              <a:rPr lang="en-US" sz="2000" dirty="0"/>
              <a:t> </a:t>
            </a:r>
            <a:r>
              <a:rPr lang="en-US" sz="2000" dirty="0" err="1"/>
              <a:t>Việc</a:t>
            </a:r>
            <a:r>
              <a:rPr lang="en-US" sz="2000" dirty="0"/>
              <a:t> </a:t>
            </a:r>
            <a:r>
              <a:rPr lang="en-US" sz="2000" dirty="0" err="1"/>
              <a:t>phân</a:t>
            </a:r>
            <a:r>
              <a:rPr lang="en-US" sz="2000" dirty="0"/>
              <a:t> </a:t>
            </a:r>
            <a:r>
              <a:rPr lang="en-US" sz="2000" dirty="0" err="1"/>
              <a:t>đoạn</a:t>
            </a:r>
            <a:r>
              <a:rPr lang="en-US" sz="2000" dirty="0"/>
              <a:t> video </a:t>
            </a:r>
            <a:r>
              <a:rPr lang="en-US" sz="2000" dirty="0" err="1"/>
              <a:t>thủ</a:t>
            </a:r>
            <a:r>
              <a:rPr lang="en-US" sz="2000" dirty="0"/>
              <a:t> </a:t>
            </a:r>
            <a:r>
              <a:rPr lang="en-US" sz="2000" dirty="0" err="1"/>
              <a:t>công</a:t>
            </a:r>
            <a:r>
              <a:rPr lang="en-US" sz="2000" dirty="0"/>
              <a:t> </a:t>
            </a:r>
            <a:r>
              <a:rPr lang="en-US" sz="2000" dirty="0" err="1"/>
              <a:t>rất</a:t>
            </a:r>
            <a:r>
              <a:rPr lang="en-US" sz="2000" dirty="0"/>
              <a:t> </a:t>
            </a:r>
            <a:r>
              <a:rPr lang="en-US" sz="2000" dirty="0" err="1"/>
              <a:t>tốn</a:t>
            </a:r>
            <a:r>
              <a:rPr lang="en-US" sz="2000" dirty="0"/>
              <a:t> </a:t>
            </a:r>
            <a:r>
              <a:rPr lang="en-US" sz="2000" dirty="0" err="1"/>
              <a:t>thời</a:t>
            </a:r>
            <a:r>
              <a:rPr lang="en-US" sz="2000" dirty="0"/>
              <a:t> </a:t>
            </a:r>
            <a:r>
              <a:rPr lang="en-US" sz="2000" dirty="0" err="1"/>
              <a:t>gian</a:t>
            </a:r>
            <a:r>
              <a:rPr lang="en-US" sz="2000" dirty="0"/>
              <a:t>.</a:t>
            </a:r>
            <a:endParaRPr sz="2000" dirty="0">
              <a:solidFill>
                <a:srgbClr val="1B365D"/>
              </a:solidFill>
              <a:latin typeface="+mj-lt"/>
            </a:endParaRPr>
          </a:p>
          <a:p>
            <a:pPr>
              <a:lnSpc>
                <a:spcPct val="125000"/>
              </a:lnSpc>
              <a:spcAft>
                <a:spcPts val="400"/>
              </a:spcAft>
            </a:pPr>
            <a:r>
              <a:rPr sz="2000" b="1" dirty="0">
                <a:solidFill>
                  <a:srgbClr val="0891B2"/>
                </a:solidFill>
                <a:latin typeface="+mj-lt"/>
              </a:rPr>
              <a:t>•</a:t>
            </a:r>
            <a:r>
              <a:rPr lang="en-US" sz="2000" b="1" dirty="0">
                <a:solidFill>
                  <a:srgbClr val="0891B2"/>
                </a:solidFill>
                <a:latin typeface="+mj-lt"/>
              </a:rPr>
              <a:t> </a:t>
            </a:r>
            <a:r>
              <a:rPr lang="en-US" sz="2000" b="1" dirty="0" err="1">
                <a:solidFill>
                  <a:srgbClr val="1B365D"/>
                </a:solidFill>
                <a:ea typeface="+mn-lt"/>
                <a:cs typeface="+mn-lt"/>
              </a:rPr>
              <a:t>Phát</a:t>
            </a:r>
            <a:r>
              <a:rPr lang="en-US" sz="2000" b="1" dirty="0">
                <a:solidFill>
                  <a:srgbClr val="1B365D"/>
                </a:solidFill>
                <a:ea typeface="+mn-lt"/>
                <a:cs typeface="+mn-lt"/>
              </a:rPr>
              <a:t> </a:t>
            </a:r>
            <a:r>
              <a:rPr lang="en-US" sz="2000" b="1" dirty="0" err="1">
                <a:solidFill>
                  <a:srgbClr val="1B365D"/>
                </a:solidFill>
                <a:ea typeface="+mn-lt"/>
                <a:cs typeface="+mn-lt"/>
              </a:rPr>
              <a:t>hiện</a:t>
            </a:r>
            <a:r>
              <a:rPr lang="en-US" sz="2000" b="1" dirty="0">
                <a:solidFill>
                  <a:srgbClr val="1B365D"/>
                </a:solidFill>
                <a:ea typeface="+mn-lt"/>
                <a:cs typeface="+mn-lt"/>
              </a:rPr>
              <a:t> </a:t>
            </a:r>
            <a:r>
              <a:rPr lang="en-US" sz="2000" b="1" dirty="0" err="1">
                <a:solidFill>
                  <a:srgbClr val="1B365D"/>
                </a:solidFill>
                <a:ea typeface="+mn-lt"/>
                <a:cs typeface="+mn-lt"/>
              </a:rPr>
              <a:t>ranh</a:t>
            </a:r>
            <a:r>
              <a:rPr lang="en-US" sz="2000" b="1" dirty="0">
                <a:solidFill>
                  <a:srgbClr val="1B365D"/>
                </a:solidFill>
                <a:ea typeface="+mn-lt"/>
                <a:cs typeface="+mn-lt"/>
              </a:rPr>
              <a:t> </a:t>
            </a:r>
            <a:r>
              <a:rPr lang="en-US" sz="2000" b="1" dirty="0" err="1">
                <a:solidFill>
                  <a:srgbClr val="1B365D"/>
                </a:solidFill>
                <a:ea typeface="+mn-lt"/>
                <a:cs typeface="+mn-lt"/>
              </a:rPr>
              <a:t>giới</a:t>
            </a:r>
            <a:r>
              <a:rPr lang="en-US" sz="2000" b="1" dirty="0">
                <a:solidFill>
                  <a:srgbClr val="1B365D"/>
                </a:solidFill>
                <a:ea typeface="+mn-lt"/>
                <a:cs typeface="+mn-lt"/>
              </a:rPr>
              <a:t> </a:t>
            </a:r>
            <a:r>
              <a:rPr lang="en-US" sz="2000" b="1" dirty="0" err="1">
                <a:solidFill>
                  <a:srgbClr val="1B365D"/>
                </a:solidFill>
                <a:ea typeface="+mn-lt"/>
                <a:cs typeface="+mn-lt"/>
              </a:rPr>
              <a:t>cảnh</a:t>
            </a:r>
            <a:r>
              <a:rPr lang="en-US" sz="2000" b="1" dirty="0">
                <a:solidFill>
                  <a:srgbClr val="1B365D"/>
                </a:solidFill>
                <a:ea typeface="+mn-lt"/>
                <a:cs typeface="+mn-lt"/>
              </a:rPr>
              <a:t> quay</a:t>
            </a:r>
            <a:r>
              <a:rPr lang="en-US" sz="2000" b="1" dirty="0">
                <a:solidFill>
                  <a:srgbClr val="1B365D"/>
                </a:solidFill>
                <a:latin typeface="+mj-lt"/>
              </a:rPr>
              <a:t> </a:t>
            </a:r>
            <a:r>
              <a:rPr sz="2000" b="1" dirty="0">
                <a:solidFill>
                  <a:srgbClr val="1B365D"/>
                </a:solidFill>
                <a:latin typeface="+mj-lt"/>
              </a:rPr>
              <a:t>(SBD): </a:t>
            </a:r>
            <a:r>
              <a:rPr sz="2000" dirty="0" err="1">
                <a:solidFill>
                  <a:srgbClr val="1B365D"/>
                </a:solidFill>
                <a:latin typeface="+mj-lt"/>
              </a:rPr>
              <a:t>bước</a:t>
            </a:r>
            <a:r>
              <a:rPr sz="2000" dirty="0">
                <a:solidFill>
                  <a:srgbClr val="1B365D"/>
                </a:solidFill>
                <a:latin typeface="+mj-lt"/>
              </a:rPr>
              <a:t> </a:t>
            </a:r>
            <a:r>
              <a:rPr sz="2000" dirty="0" err="1">
                <a:solidFill>
                  <a:srgbClr val="1B365D"/>
                </a:solidFill>
                <a:latin typeface="+mj-lt"/>
              </a:rPr>
              <a:t>nền</a:t>
            </a:r>
            <a:r>
              <a:rPr sz="2000" dirty="0">
                <a:solidFill>
                  <a:srgbClr val="1B365D"/>
                </a:solidFill>
                <a:latin typeface="+mj-lt"/>
              </a:rPr>
              <a:t> </a:t>
            </a:r>
            <a:r>
              <a:rPr sz="2000" dirty="0" err="1">
                <a:solidFill>
                  <a:srgbClr val="1B365D"/>
                </a:solidFill>
                <a:latin typeface="+mj-lt"/>
              </a:rPr>
              <a:t>cho</a:t>
            </a:r>
            <a:r>
              <a:rPr sz="2000" dirty="0">
                <a:solidFill>
                  <a:srgbClr val="1B365D"/>
                </a:solidFill>
                <a:latin typeface="+mj-lt"/>
              </a:rPr>
              <a:t> </a:t>
            </a:r>
            <a:r>
              <a:rPr sz="2000" dirty="0" err="1">
                <a:solidFill>
                  <a:srgbClr val="1B365D"/>
                </a:solidFill>
                <a:latin typeface="+mj-lt"/>
              </a:rPr>
              <a:t>hầu</a:t>
            </a:r>
            <a:r>
              <a:rPr sz="2000" dirty="0">
                <a:solidFill>
                  <a:srgbClr val="1B365D"/>
                </a:solidFill>
                <a:latin typeface="+mj-lt"/>
              </a:rPr>
              <a:t> </a:t>
            </a:r>
            <a:r>
              <a:rPr sz="2000" dirty="0" err="1">
                <a:solidFill>
                  <a:srgbClr val="1B365D"/>
                </a:solidFill>
                <a:latin typeface="+mj-lt"/>
              </a:rPr>
              <a:t>hết</a:t>
            </a:r>
            <a:r>
              <a:rPr sz="2000" dirty="0">
                <a:solidFill>
                  <a:srgbClr val="1B365D"/>
                </a:solidFill>
                <a:latin typeface="+mj-lt"/>
              </a:rPr>
              <a:t> pipeline </a:t>
            </a:r>
            <a:r>
              <a:rPr sz="2000" dirty="0" err="1">
                <a:solidFill>
                  <a:srgbClr val="1B365D"/>
                </a:solidFill>
                <a:latin typeface="+mj-lt"/>
              </a:rPr>
              <a:t>phân</a:t>
            </a:r>
            <a:r>
              <a:rPr sz="2000" dirty="0">
                <a:solidFill>
                  <a:srgbClr val="1B365D"/>
                </a:solidFill>
                <a:latin typeface="+mj-lt"/>
              </a:rPr>
              <a:t> </a:t>
            </a:r>
            <a:r>
              <a:rPr sz="2000" dirty="0" err="1">
                <a:solidFill>
                  <a:srgbClr val="1B365D"/>
                </a:solidFill>
                <a:latin typeface="+mj-lt"/>
              </a:rPr>
              <a:t>tích</a:t>
            </a:r>
            <a:r>
              <a:rPr sz="2000" dirty="0">
                <a:solidFill>
                  <a:srgbClr val="1B365D"/>
                </a:solidFill>
                <a:latin typeface="+mj-lt"/>
              </a:rPr>
              <a:t> video.</a:t>
            </a:r>
            <a:endParaRPr sz="2000" dirty="0">
              <a:solidFill>
                <a:srgbClr val="1B365D"/>
              </a:solidFill>
              <a:latin typeface="+mj-lt"/>
              <a:cs typeface="Times New Roman"/>
            </a:endParaRPr>
          </a:p>
          <a:p>
            <a:pPr algn="l">
              <a:lnSpc>
                <a:spcPct val="125000"/>
              </a:lnSpc>
              <a:spcAft>
                <a:spcPts val="400"/>
              </a:spcAft>
            </a:pPr>
            <a:r>
              <a:rPr sz="2000" b="1" dirty="0">
                <a:solidFill>
                  <a:srgbClr val="0891B2"/>
                </a:solidFill>
                <a:latin typeface="+mj-lt"/>
              </a:rPr>
              <a:t>•  </a:t>
            </a:r>
            <a:r>
              <a:rPr sz="2000" b="1" dirty="0">
                <a:solidFill>
                  <a:srgbClr val="1B365D"/>
                </a:solidFill>
                <a:latin typeface="+mj-lt"/>
              </a:rPr>
              <a:t>Phương </a:t>
            </a:r>
            <a:r>
              <a:rPr sz="2000" b="1" dirty="0" err="1">
                <a:solidFill>
                  <a:srgbClr val="1B365D"/>
                </a:solidFill>
                <a:latin typeface="+mj-lt"/>
              </a:rPr>
              <a:t>pháp</a:t>
            </a:r>
            <a:r>
              <a:rPr sz="2000" b="1" dirty="0">
                <a:solidFill>
                  <a:srgbClr val="1B365D"/>
                </a:solidFill>
                <a:latin typeface="+mj-lt"/>
              </a:rPr>
              <a:t> </a:t>
            </a:r>
            <a:r>
              <a:rPr sz="2000" b="1" dirty="0" err="1">
                <a:solidFill>
                  <a:srgbClr val="1B365D"/>
                </a:solidFill>
                <a:latin typeface="+mj-lt"/>
              </a:rPr>
              <a:t>cũ</a:t>
            </a:r>
            <a:r>
              <a:rPr sz="2000" b="1" dirty="0">
                <a:solidFill>
                  <a:srgbClr val="1B365D"/>
                </a:solidFill>
                <a:latin typeface="+mj-lt"/>
              </a:rPr>
              <a:t> </a:t>
            </a:r>
            <a:r>
              <a:rPr sz="2000" b="1" dirty="0" err="1">
                <a:solidFill>
                  <a:srgbClr val="1B365D"/>
                </a:solidFill>
                <a:latin typeface="+mj-lt"/>
              </a:rPr>
              <a:t>lệch</a:t>
            </a:r>
            <a:r>
              <a:rPr sz="2000" b="1" dirty="0">
                <a:solidFill>
                  <a:srgbClr val="1B365D"/>
                </a:solidFill>
                <a:latin typeface="+mj-lt"/>
              </a:rPr>
              <a:t> </a:t>
            </a:r>
            <a:r>
              <a:rPr sz="2000" b="1" dirty="0" err="1">
                <a:solidFill>
                  <a:srgbClr val="1B365D"/>
                </a:solidFill>
                <a:latin typeface="+mj-lt"/>
              </a:rPr>
              <a:t>miền</a:t>
            </a:r>
            <a:r>
              <a:rPr sz="2000" b="1" dirty="0">
                <a:solidFill>
                  <a:srgbClr val="1B365D"/>
                </a:solidFill>
                <a:latin typeface="+mj-lt"/>
              </a:rPr>
              <a:t>: </a:t>
            </a:r>
            <a:r>
              <a:rPr sz="2000" dirty="0" err="1">
                <a:solidFill>
                  <a:srgbClr val="1B365D"/>
                </a:solidFill>
                <a:latin typeface="+mj-lt"/>
              </a:rPr>
              <a:t>hiệu</a:t>
            </a:r>
            <a:r>
              <a:rPr sz="2000" dirty="0">
                <a:solidFill>
                  <a:srgbClr val="1B365D"/>
                </a:solidFill>
                <a:latin typeface="+mj-lt"/>
              </a:rPr>
              <a:t> </a:t>
            </a:r>
            <a:r>
              <a:rPr sz="2000" dirty="0" err="1">
                <a:solidFill>
                  <a:srgbClr val="1B365D"/>
                </a:solidFill>
                <a:latin typeface="+mj-lt"/>
              </a:rPr>
              <a:t>năng</a:t>
            </a:r>
            <a:r>
              <a:rPr sz="2000" dirty="0">
                <a:solidFill>
                  <a:srgbClr val="1B365D"/>
                </a:solidFill>
                <a:latin typeface="+mj-lt"/>
              </a:rPr>
              <a:t> </a:t>
            </a:r>
            <a:r>
              <a:rPr sz="2000" dirty="0" err="1">
                <a:solidFill>
                  <a:srgbClr val="1B365D"/>
                </a:solidFill>
                <a:latin typeface="+mj-lt"/>
              </a:rPr>
              <a:t>giảm</a:t>
            </a:r>
            <a:r>
              <a:rPr sz="2000" dirty="0">
                <a:solidFill>
                  <a:srgbClr val="1B365D"/>
                </a:solidFill>
                <a:latin typeface="+mj-lt"/>
              </a:rPr>
              <a:t> </a:t>
            </a:r>
            <a:r>
              <a:rPr sz="2000" dirty="0" err="1">
                <a:solidFill>
                  <a:srgbClr val="1B365D"/>
                </a:solidFill>
                <a:latin typeface="+mj-lt"/>
              </a:rPr>
              <a:t>mạnh</a:t>
            </a:r>
            <a:r>
              <a:rPr sz="2000" dirty="0">
                <a:solidFill>
                  <a:srgbClr val="1B365D"/>
                </a:solidFill>
                <a:latin typeface="+mj-lt"/>
              </a:rPr>
              <a:t> </a:t>
            </a:r>
            <a:r>
              <a:rPr sz="2000" dirty="0" err="1">
                <a:solidFill>
                  <a:srgbClr val="1B365D"/>
                </a:solidFill>
                <a:latin typeface="+mj-lt"/>
              </a:rPr>
              <a:t>trên</a:t>
            </a:r>
            <a:r>
              <a:rPr sz="2000" dirty="0">
                <a:solidFill>
                  <a:srgbClr val="1B365D"/>
                </a:solidFill>
                <a:latin typeface="+mj-lt"/>
              </a:rPr>
              <a:t> video </a:t>
            </a:r>
            <a:r>
              <a:rPr sz="2000" dirty="0" err="1">
                <a:solidFill>
                  <a:srgbClr val="1B365D"/>
                </a:solidFill>
                <a:latin typeface="+mj-lt"/>
              </a:rPr>
              <a:t>ngắn</a:t>
            </a:r>
            <a:r>
              <a:rPr sz="2000" dirty="0">
                <a:solidFill>
                  <a:srgbClr val="1B365D"/>
                </a:solidFill>
                <a:latin typeface="+mj-lt"/>
              </a:rPr>
              <a:t>.</a:t>
            </a:r>
            <a:endParaRPr sz="2000" dirty="0">
              <a:solidFill>
                <a:srgbClr val="1B365D"/>
              </a:solidFill>
              <a:latin typeface="+mj-lt"/>
              <a:cs typeface="Times New Roman"/>
            </a:endParaRPr>
          </a:p>
        </p:txBody>
      </p:sp>
      <p:sp>
        <p:nvSpPr>
          <p:cNvPr id="8" name="TextBox 7">
            <a:extLst>
              <a:ext uri="{FF2B5EF4-FFF2-40B4-BE49-F238E27FC236}">
                <a16:creationId xmlns:a16="http://schemas.microsoft.com/office/drawing/2014/main" id="{BA2EF56A-F731-20FA-6CAD-37C4E2CB8F47}"/>
              </a:ext>
            </a:extLst>
          </p:cNvPr>
          <p:cNvSpPr txBox="1"/>
          <p:nvPr/>
        </p:nvSpPr>
        <p:spPr>
          <a:xfrm>
            <a:off x="1592580" y="6064032"/>
            <a:ext cx="4312920" cy="307777"/>
          </a:xfrm>
          <a:prstGeom prst="rect">
            <a:avLst/>
          </a:prstGeom>
          <a:noFill/>
        </p:spPr>
        <p:txBody>
          <a:bodyPr wrap="square" rtlCol="0">
            <a:spAutoFit/>
          </a:bodyPr>
          <a:lstStyle/>
          <a:p>
            <a:r>
              <a:rPr lang="en-US" sz="1400"/>
              <a:t>Nguồn: VietNamNet, tổng hợp theo Sprout Social (2023)</a:t>
            </a:r>
          </a:p>
        </p:txBody>
      </p:sp>
    </p:spTree>
    <p:extLst>
      <p:ext uri="{BB962C8B-B14F-4D97-AF65-F5344CB8AC3E}">
        <p14:creationId xmlns:p14="http://schemas.microsoft.com/office/powerpoint/2010/main" val="99097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B365D"/>
                </a:solidFill>
                <a:latin typeface="+mj-lt"/>
              </a:rPr>
              <a:t>Bài toán Shot Boundary Detection</a:t>
            </a: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04 / 25</a:t>
            </a:r>
          </a:p>
        </p:txBody>
      </p:sp>
      <p:pic>
        <p:nvPicPr>
          <p:cNvPr id="10" name="Picture 9" descr="video_scene.png"/>
          <p:cNvPicPr>
            <a:picLocks noChangeAspect="1"/>
          </p:cNvPicPr>
          <p:nvPr/>
        </p:nvPicPr>
        <p:blipFill>
          <a:blip r:embed="rId3"/>
          <a:stretch>
            <a:fillRect/>
          </a:stretch>
        </p:blipFill>
        <p:spPr>
          <a:xfrm>
            <a:off x="548640" y="2596444"/>
            <a:ext cx="5943600" cy="2670951"/>
          </a:xfrm>
          <a:prstGeom prst="rect">
            <a:avLst/>
          </a:prstGeom>
        </p:spPr>
      </p:pic>
      <p:sp>
        <p:nvSpPr>
          <p:cNvPr id="11" name="Rounded Rectangle 10"/>
          <p:cNvSpPr/>
          <p:nvPr/>
        </p:nvSpPr>
        <p:spPr>
          <a:xfrm>
            <a:off x="6858000" y="1828799"/>
            <a:ext cx="4846320" cy="2097025"/>
          </a:xfrm>
          <a:prstGeom prst="roundRect">
            <a:avLst>
              <a:gd name="adj" fmla="val 12000"/>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2" name="TextBox 11"/>
          <p:cNvSpPr txBox="1"/>
          <p:nvPr/>
        </p:nvSpPr>
        <p:spPr>
          <a:xfrm>
            <a:off x="7086600" y="1965960"/>
            <a:ext cx="4572000" cy="307777"/>
          </a:xfrm>
          <a:prstGeom prst="rect">
            <a:avLst/>
          </a:prstGeom>
          <a:noFill/>
        </p:spPr>
        <p:txBody>
          <a:bodyPr wrap="square" lIns="0" tIns="0" rIns="0" bIns="0" anchor="t">
            <a:spAutoFit/>
          </a:bodyPr>
          <a:lstStyle/>
          <a:p>
            <a:pPr algn="l"/>
            <a:r>
              <a:rPr sz="2000" b="1">
                <a:solidFill>
                  <a:schemeClr val="bg1"/>
                </a:solidFill>
                <a:latin typeface="+mj-lt"/>
              </a:rPr>
              <a:t>Định </a:t>
            </a:r>
            <a:r>
              <a:rPr lang="en-US" sz="2000" b="1" err="1">
                <a:solidFill>
                  <a:schemeClr val="bg1"/>
                </a:solidFill>
                <a:latin typeface="+mj-lt"/>
              </a:rPr>
              <a:t>nghĩa</a:t>
            </a:r>
            <a:r>
              <a:rPr sz="2000" b="1">
                <a:solidFill>
                  <a:schemeClr val="bg1"/>
                </a:solidFill>
                <a:latin typeface="+mj-lt"/>
              </a:rPr>
              <a:t> </a:t>
            </a:r>
            <a:r>
              <a:rPr lang="en-US" sz="2000" b="1" err="1">
                <a:solidFill>
                  <a:schemeClr val="bg1"/>
                </a:solidFill>
                <a:latin typeface="+mj-lt"/>
              </a:rPr>
              <a:t>hình</a:t>
            </a:r>
            <a:r>
              <a:rPr sz="2000" b="1">
                <a:solidFill>
                  <a:schemeClr val="bg1"/>
                </a:solidFill>
                <a:latin typeface="+mj-lt"/>
              </a:rPr>
              <a:t> </a:t>
            </a:r>
            <a:r>
              <a:rPr lang="en-US" sz="2000" b="1" err="1">
                <a:solidFill>
                  <a:schemeClr val="bg1"/>
                </a:solidFill>
                <a:latin typeface="+mj-lt"/>
              </a:rPr>
              <a:t>thức</a:t>
            </a:r>
            <a:endParaRPr lang="en-US" sz="2000" b="1" err="1">
              <a:solidFill>
                <a:schemeClr val="bg1"/>
              </a:solidFill>
              <a:latin typeface="+mj-lt"/>
              <a:cs typeface="Times New Roman"/>
            </a:endParaRPr>
          </a:p>
        </p:txBody>
      </p:sp>
      <p:sp>
        <p:nvSpPr>
          <p:cNvPr id="13" name="TextBox 12"/>
          <p:cNvSpPr txBox="1"/>
          <p:nvPr/>
        </p:nvSpPr>
        <p:spPr>
          <a:xfrm>
            <a:off x="7086600" y="2286000"/>
            <a:ext cx="4572000" cy="1538883"/>
          </a:xfrm>
          <a:prstGeom prst="rect">
            <a:avLst/>
          </a:prstGeom>
          <a:noFill/>
        </p:spPr>
        <p:txBody>
          <a:bodyPr wrap="square" lIns="0" tIns="0" rIns="0" bIns="0" anchor="t">
            <a:spAutoFit/>
          </a:bodyPr>
          <a:lstStyle/>
          <a:p>
            <a:r>
              <a:rPr lang="en-US" sz="2000" b="0">
                <a:solidFill>
                  <a:schemeClr val="bg1"/>
                </a:solidFill>
                <a:latin typeface="+mj-lt"/>
              </a:rPr>
              <a:t>Đầu vào</a:t>
            </a:r>
            <a:r>
              <a:rPr sz="2000" b="0">
                <a:solidFill>
                  <a:schemeClr val="bg1"/>
                </a:solidFill>
                <a:latin typeface="+mj-lt"/>
              </a:rPr>
              <a:t>:</a:t>
            </a:r>
            <a:r>
              <a:rPr lang="en-US" sz="2000" b="0">
                <a:solidFill>
                  <a:schemeClr val="bg1"/>
                </a:solidFill>
                <a:latin typeface="+mj-lt"/>
              </a:rPr>
              <a:t> </a:t>
            </a:r>
            <a:r>
              <a:rPr lang="en-US" sz="2000">
                <a:solidFill>
                  <a:schemeClr val="bg1"/>
                </a:solidFill>
                <a:latin typeface="+mj-lt"/>
              </a:rPr>
              <a:t>một video gồm nhiều frame</a:t>
            </a:r>
          </a:p>
          <a:p>
            <a:pPr algn="l"/>
            <a:r>
              <a:rPr sz="2000" b="0">
                <a:solidFill>
                  <a:schemeClr val="bg1"/>
                </a:solidFill>
                <a:latin typeface="+mj-lt"/>
              </a:rPr>
              <a:t>  </a:t>
            </a:r>
            <a:r>
              <a:rPr lang="en-US" sz="2000" b="0">
                <a:solidFill>
                  <a:schemeClr val="bg1"/>
                </a:solidFill>
                <a:latin typeface="+mj-lt"/>
              </a:rPr>
              <a:t>		</a:t>
            </a:r>
            <a:r>
              <a:rPr sz="2000" b="0">
                <a:solidFill>
                  <a:schemeClr val="bg1"/>
                </a:solidFill>
                <a:latin typeface="+mj-lt"/>
              </a:rPr>
              <a:t>V = {f₁, f₂, …, fₙ}</a:t>
            </a:r>
            <a:endParaRPr lang="en-US" sz="2000" b="0">
              <a:solidFill>
                <a:schemeClr val="bg1"/>
              </a:solidFill>
              <a:latin typeface="+mj-lt"/>
            </a:endParaRPr>
          </a:p>
          <a:p>
            <a:r>
              <a:rPr sz="2000" b="0">
                <a:solidFill>
                  <a:schemeClr val="bg1"/>
                </a:solidFill>
                <a:latin typeface="+mj-lt"/>
              </a:rPr>
              <a:t>
</a:t>
            </a:r>
            <a:r>
              <a:rPr lang="en-US" sz="2000">
                <a:solidFill>
                  <a:schemeClr val="bg1"/>
                </a:solidFill>
                <a:latin typeface="+mj-lt"/>
              </a:rPr>
              <a:t>Đầu ra</a:t>
            </a:r>
            <a:r>
              <a:rPr sz="2000">
                <a:solidFill>
                  <a:schemeClr val="bg1"/>
                </a:solidFill>
                <a:latin typeface="+mj-lt"/>
              </a:rPr>
              <a:t>: </a:t>
            </a:r>
            <a:r>
              <a:rPr lang="en-US" sz="2000">
                <a:solidFill>
                  <a:schemeClr val="bg1"/>
                </a:solidFill>
                <a:latin typeface="+mj-lt"/>
              </a:rPr>
              <a:t>các vị trí ranh giới giữa các shot</a:t>
            </a:r>
          </a:p>
          <a:p>
            <a:pPr algn="l"/>
            <a:r>
              <a:rPr lang="en-US" sz="2000">
                <a:solidFill>
                  <a:schemeClr val="bg1"/>
                </a:solidFill>
                <a:latin typeface="+mj-lt"/>
              </a:rPr>
              <a:t>		</a:t>
            </a:r>
            <a:r>
              <a:rPr sz="2000">
                <a:solidFill>
                  <a:schemeClr val="bg1"/>
                </a:solidFill>
                <a:latin typeface="+mj-lt"/>
              </a:rPr>
              <a:t>B = {b₁, b₂, …, bₘ}</a:t>
            </a:r>
            <a:endParaRPr sz="2000" b="0">
              <a:solidFill>
                <a:schemeClr val="bg1"/>
              </a:solidFill>
              <a:latin typeface="+mj-lt"/>
            </a:endParaRPr>
          </a:p>
        </p:txBody>
      </p:sp>
      <p:sp>
        <p:nvSpPr>
          <p:cNvPr id="14" name="TextBox 13"/>
          <p:cNvSpPr txBox="1"/>
          <p:nvPr/>
        </p:nvSpPr>
        <p:spPr>
          <a:xfrm>
            <a:off x="6858000" y="4273296"/>
            <a:ext cx="4846320" cy="369332"/>
          </a:xfrm>
          <a:prstGeom prst="rect">
            <a:avLst/>
          </a:prstGeom>
          <a:noFill/>
        </p:spPr>
        <p:txBody>
          <a:bodyPr wrap="square" lIns="0" tIns="0" rIns="0" bIns="0" anchor="t">
            <a:spAutoFit/>
          </a:bodyPr>
          <a:lstStyle/>
          <a:p>
            <a:pPr algn="l"/>
            <a:r>
              <a:rPr sz="2400" b="1">
                <a:solidFill>
                  <a:srgbClr val="1B365D"/>
                </a:solidFill>
                <a:latin typeface="+mj-lt"/>
              </a:rPr>
              <a:t>Hai loại chuyển cảnh</a:t>
            </a:r>
          </a:p>
        </p:txBody>
      </p:sp>
      <p:sp>
        <p:nvSpPr>
          <p:cNvPr id="15" name="TextBox 14"/>
          <p:cNvSpPr txBox="1"/>
          <p:nvPr/>
        </p:nvSpPr>
        <p:spPr>
          <a:xfrm>
            <a:off x="6858000" y="4653461"/>
            <a:ext cx="5128155" cy="1854675"/>
          </a:xfrm>
          <a:prstGeom prst="rect">
            <a:avLst/>
          </a:prstGeom>
          <a:noFill/>
        </p:spPr>
        <p:txBody>
          <a:bodyPr wrap="square" lIns="0" tIns="0" rIns="0" bIns="0" anchor="t">
            <a:spAutoFit/>
          </a:bodyPr>
          <a:lstStyle/>
          <a:p>
            <a:pPr>
              <a:lnSpc>
                <a:spcPct val="125000"/>
              </a:lnSpc>
              <a:spcAft>
                <a:spcPts val="400"/>
              </a:spcAft>
            </a:pPr>
            <a:r>
              <a:rPr sz="2400" b="1" dirty="0">
                <a:solidFill>
                  <a:srgbClr val="0891B2"/>
                </a:solidFill>
                <a:latin typeface="+mj-lt"/>
              </a:rPr>
              <a:t>•  </a:t>
            </a:r>
            <a:r>
              <a:rPr lang="en-US" sz="2400" b="1" dirty="0">
                <a:solidFill>
                  <a:srgbClr val="1B365D"/>
                </a:solidFill>
                <a:latin typeface="+mj-lt"/>
              </a:rPr>
              <a:t>Chuyển </a:t>
            </a:r>
            <a:r>
              <a:rPr lang="en-US" sz="2400" b="1" dirty="0" err="1">
                <a:solidFill>
                  <a:srgbClr val="1B365D"/>
                </a:solidFill>
                <a:latin typeface="+mj-lt"/>
              </a:rPr>
              <a:t>cảnh</a:t>
            </a:r>
            <a:r>
              <a:rPr lang="en-US" sz="2400" b="1" dirty="0">
                <a:solidFill>
                  <a:srgbClr val="1B365D"/>
                </a:solidFill>
                <a:latin typeface="+mj-lt"/>
              </a:rPr>
              <a:t> </a:t>
            </a:r>
            <a:r>
              <a:rPr lang="en-US" sz="2400" b="1" dirty="0" err="1">
                <a:solidFill>
                  <a:srgbClr val="1B365D"/>
                </a:solidFill>
                <a:latin typeface="+mj-lt"/>
              </a:rPr>
              <a:t>đột</a:t>
            </a:r>
            <a:r>
              <a:rPr lang="en-US" sz="2400" b="1" dirty="0">
                <a:solidFill>
                  <a:srgbClr val="1B365D"/>
                </a:solidFill>
                <a:latin typeface="+mj-lt"/>
              </a:rPr>
              <a:t> </a:t>
            </a:r>
            <a:r>
              <a:rPr lang="en-US" sz="2400" b="1" dirty="0" err="1">
                <a:solidFill>
                  <a:srgbClr val="1B365D"/>
                </a:solidFill>
                <a:latin typeface="+mj-lt"/>
              </a:rPr>
              <a:t>ngột</a:t>
            </a:r>
            <a:r>
              <a:rPr sz="2400" b="1" dirty="0">
                <a:solidFill>
                  <a:srgbClr val="1B365D"/>
                </a:solidFill>
                <a:latin typeface="+mj-lt"/>
              </a:rPr>
              <a:t>: </a:t>
            </a:r>
            <a:r>
              <a:rPr sz="2400" dirty="0" err="1">
                <a:solidFill>
                  <a:srgbClr val="1B365D"/>
                </a:solidFill>
                <a:latin typeface="+mj-lt"/>
              </a:rPr>
              <a:t>ranh</a:t>
            </a:r>
            <a:r>
              <a:rPr sz="2400" dirty="0">
                <a:solidFill>
                  <a:srgbClr val="1B365D"/>
                </a:solidFill>
                <a:latin typeface="+mj-lt"/>
              </a:rPr>
              <a:t> </a:t>
            </a:r>
            <a:r>
              <a:rPr sz="2400" dirty="0" err="1">
                <a:solidFill>
                  <a:srgbClr val="1B365D"/>
                </a:solidFill>
                <a:latin typeface="+mj-lt"/>
              </a:rPr>
              <a:t>giới</a:t>
            </a:r>
            <a:r>
              <a:rPr sz="2400" dirty="0">
                <a:solidFill>
                  <a:srgbClr val="1B365D"/>
                </a:solidFill>
                <a:latin typeface="+mj-lt"/>
              </a:rPr>
              <a:t> </a:t>
            </a:r>
            <a:r>
              <a:rPr sz="2400" dirty="0" err="1">
                <a:solidFill>
                  <a:srgbClr val="1B365D"/>
                </a:solidFill>
                <a:latin typeface="+mj-lt"/>
              </a:rPr>
              <a:t>đột</a:t>
            </a:r>
            <a:r>
              <a:rPr sz="2400" dirty="0">
                <a:solidFill>
                  <a:srgbClr val="1B365D"/>
                </a:solidFill>
                <a:latin typeface="+mj-lt"/>
              </a:rPr>
              <a:t> </a:t>
            </a:r>
            <a:r>
              <a:rPr sz="2400" dirty="0" err="1">
                <a:solidFill>
                  <a:srgbClr val="1B365D"/>
                </a:solidFill>
                <a:latin typeface="+mj-lt"/>
              </a:rPr>
              <a:t>ngột</a:t>
            </a:r>
            <a:r>
              <a:rPr sz="2400" dirty="0">
                <a:solidFill>
                  <a:srgbClr val="1B365D"/>
                </a:solidFill>
                <a:latin typeface="+mj-lt"/>
              </a:rPr>
              <a:t> </a:t>
            </a:r>
            <a:r>
              <a:rPr sz="2400" dirty="0" err="1">
                <a:solidFill>
                  <a:srgbClr val="1B365D"/>
                </a:solidFill>
                <a:latin typeface="+mj-lt"/>
              </a:rPr>
              <a:t>giữa</a:t>
            </a:r>
            <a:r>
              <a:rPr sz="2400" dirty="0">
                <a:solidFill>
                  <a:srgbClr val="1B365D"/>
                </a:solidFill>
                <a:latin typeface="+mj-lt"/>
              </a:rPr>
              <a:t> 2 </a:t>
            </a:r>
            <a:r>
              <a:rPr sz="2400" dirty="0" err="1">
                <a:solidFill>
                  <a:srgbClr val="1B365D"/>
                </a:solidFill>
                <a:latin typeface="+mj-lt"/>
              </a:rPr>
              <a:t>khung</a:t>
            </a:r>
            <a:r>
              <a:rPr sz="2400" dirty="0">
                <a:solidFill>
                  <a:srgbClr val="1B365D"/>
                </a:solidFill>
                <a:latin typeface="+mj-lt"/>
              </a:rPr>
              <a:t> </a:t>
            </a:r>
            <a:r>
              <a:rPr sz="2400" dirty="0" err="1">
                <a:solidFill>
                  <a:srgbClr val="1B365D"/>
                </a:solidFill>
                <a:latin typeface="+mj-lt"/>
              </a:rPr>
              <a:t>hình</a:t>
            </a:r>
            <a:r>
              <a:rPr sz="2400" dirty="0">
                <a:solidFill>
                  <a:srgbClr val="1B365D"/>
                </a:solidFill>
                <a:latin typeface="+mj-lt"/>
              </a:rPr>
              <a:t> </a:t>
            </a:r>
            <a:r>
              <a:rPr sz="2400" dirty="0" err="1">
                <a:solidFill>
                  <a:srgbClr val="1B365D"/>
                </a:solidFill>
                <a:latin typeface="+mj-lt"/>
              </a:rPr>
              <a:t>liên</a:t>
            </a:r>
            <a:r>
              <a:rPr sz="2400" dirty="0">
                <a:solidFill>
                  <a:srgbClr val="1B365D"/>
                </a:solidFill>
                <a:latin typeface="+mj-lt"/>
              </a:rPr>
              <a:t> </a:t>
            </a:r>
            <a:r>
              <a:rPr sz="2400" dirty="0" err="1">
                <a:solidFill>
                  <a:srgbClr val="1B365D"/>
                </a:solidFill>
                <a:latin typeface="+mj-lt"/>
              </a:rPr>
              <a:t>tiếp</a:t>
            </a:r>
            <a:r>
              <a:rPr sz="2400" dirty="0">
                <a:solidFill>
                  <a:srgbClr val="1B365D"/>
                </a:solidFill>
                <a:latin typeface="+mj-lt"/>
              </a:rPr>
              <a:t>.</a:t>
            </a:r>
          </a:p>
          <a:p>
            <a:pPr>
              <a:lnSpc>
                <a:spcPct val="125000"/>
              </a:lnSpc>
              <a:spcAft>
                <a:spcPts val="400"/>
              </a:spcAft>
            </a:pPr>
            <a:r>
              <a:rPr sz="2400" b="1" dirty="0">
                <a:solidFill>
                  <a:srgbClr val="0891B2"/>
                </a:solidFill>
                <a:latin typeface="+mj-lt"/>
              </a:rPr>
              <a:t>•  </a:t>
            </a:r>
            <a:r>
              <a:rPr lang="en-US" sz="2400" b="1" dirty="0">
                <a:solidFill>
                  <a:srgbClr val="1B365D"/>
                </a:solidFill>
                <a:latin typeface="+mj-lt"/>
              </a:rPr>
              <a:t>Chuyển </a:t>
            </a:r>
            <a:r>
              <a:rPr lang="en-US" sz="2400" b="1" dirty="0" err="1">
                <a:solidFill>
                  <a:srgbClr val="1B365D"/>
                </a:solidFill>
                <a:latin typeface="+mj-lt"/>
              </a:rPr>
              <a:t>cảnh</a:t>
            </a:r>
            <a:r>
              <a:rPr lang="en-US" sz="2400" b="1" dirty="0">
                <a:solidFill>
                  <a:srgbClr val="1B365D"/>
                </a:solidFill>
                <a:latin typeface="+mj-lt"/>
              </a:rPr>
              <a:t> </a:t>
            </a:r>
            <a:r>
              <a:rPr lang="en-US" sz="2400" b="1" dirty="0" err="1">
                <a:solidFill>
                  <a:srgbClr val="1B365D"/>
                </a:solidFill>
                <a:latin typeface="+mj-lt"/>
              </a:rPr>
              <a:t>dần</a:t>
            </a:r>
            <a:r>
              <a:rPr lang="en-US" sz="2400" b="1" dirty="0">
                <a:solidFill>
                  <a:srgbClr val="1B365D"/>
                </a:solidFill>
                <a:latin typeface="+mj-lt"/>
              </a:rPr>
              <a:t> </a:t>
            </a:r>
            <a:r>
              <a:rPr lang="en-US" sz="2400" b="1" dirty="0" err="1">
                <a:solidFill>
                  <a:srgbClr val="1B365D"/>
                </a:solidFill>
                <a:latin typeface="+mj-lt"/>
              </a:rPr>
              <a:t>dần</a:t>
            </a:r>
            <a:r>
              <a:rPr sz="2400" b="1" dirty="0">
                <a:solidFill>
                  <a:srgbClr val="1B365D"/>
                </a:solidFill>
                <a:latin typeface="+mj-lt"/>
              </a:rPr>
              <a:t>:</a:t>
            </a:r>
            <a:r>
              <a:rPr sz="2400" dirty="0">
                <a:solidFill>
                  <a:srgbClr val="1B365D"/>
                </a:solidFill>
                <a:latin typeface="+mj-lt"/>
              </a:rPr>
              <a:t> </a:t>
            </a:r>
            <a:r>
              <a:rPr sz="2400" dirty="0" err="1">
                <a:solidFill>
                  <a:srgbClr val="1B365D"/>
                </a:solidFill>
                <a:latin typeface="+mj-lt"/>
              </a:rPr>
              <a:t>thay</a:t>
            </a:r>
            <a:r>
              <a:rPr sz="2400" dirty="0">
                <a:solidFill>
                  <a:srgbClr val="1B365D"/>
                </a:solidFill>
                <a:latin typeface="+mj-lt"/>
              </a:rPr>
              <a:t> </a:t>
            </a:r>
            <a:r>
              <a:rPr sz="2400" dirty="0" err="1">
                <a:solidFill>
                  <a:srgbClr val="1B365D"/>
                </a:solidFill>
                <a:latin typeface="+mj-lt"/>
              </a:rPr>
              <a:t>đổi</a:t>
            </a:r>
            <a:r>
              <a:rPr sz="2400" dirty="0">
                <a:solidFill>
                  <a:srgbClr val="1B365D"/>
                </a:solidFill>
                <a:latin typeface="+mj-lt"/>
              </a:rPr>
              <a:t> </a:t>
            </a:r>
            <a:r>
              <a:rPr sz="2400" dirty="0" err="1">
                <a:solidFill>
                  <a:srgbClr val="1B365D"/>
                </a:solidFill>
                <a:latin typeface="+mj-lt"/>
              </a:rPr>
              <a:t>trên</a:t>
            </a:r>
            <a:r>
              <a:rPr sz="2400" dirty="0">
                <a:solidFill>
                  <a:srgbClr val="1B365D"/>
                </a:solidFill>
                <a:latin typeface="+mj-lt"/>
              </a:rPr>
              <a:t> </a:t>
            </a:r>
            <a:r>
              <a:rPr sz="2400" dirty="0" err="1">
                <a:solidFill>
                  <a:srgbClr val="1B365D"/>
                </a:solidFill>
                <a:latin typeface="+mj-lt"/>
              </a:rPr>
              <a:t>nhiều</a:t>
            </a:r>
            <a:r>
              <a:rPr sz="2400" dirty="0">
                <a:solidFill>
                  <a:srgbClr val="1B365D"/>
                </a:solidFill>
                <a:latin typeface="+mj-lt"/>
              </a:rPr>
              <a:t> </a:t>
            </a:r>
            <a:r>
              <a:rPr sz="2400" dirty="0" err="1">
                <a:solidFill>
                  <a:srgbClr val="1B365D"/>
                </a:solidFill>
                <a:latin typeface="+mj-lt"/>
              </a:rPr>
              <a:t>khung</a:t>
            </a:r>
            <a:r>
              <a:rPr sz="2400" dirty="0">
                <a:solidFill>
                  <a:srgbClr val="1B365D"/>
                </a:solidFill>
                <a:latin typeface="+mj-lt"/>
              </a:rPr>
              <a:t>.</a:t>
            </a:r>
            <a:endParaRPr sz="2400" dirty="0">
              <a:solidFill>
                <a:srgbClr val="1B365D"/>
              </a:solidFill>
              <a:latin typeface="+mj-lt"/>
              <a:cs typeface="Times New Roman"/>
            </a:endParaRPr>
          </a:p>
        </p:txBody>
      </p:sp>
      <p:sp>
        <p:nvSpPr>
          <p:cNvPr id="4" name="TextBox 3">
            <a:extLst>
              <a:ext uri="{FF2B5EF4-FFF2-40B4-BE49-F238E27FC236}">
                <a16:creationId xmlns:a16="http://schemas.microsoft.com/office/drawing/2014/main" id="{93B0B4F3-EAC7-5D44-F4F6-2696843B54EF}"/>
              </a:ext>
            </a:extLst>
          </p:cNvPr>
          <p:cNvSpPr txBox="1"/>
          <p:nvPr/>
        </p:nvSpPr>
        <p:spPr>
          <a:xfrm>
            <a:off x="548640" y="320040"/>
            <a:ext cx="9144000" cy="215444"/>
          </a:xfrm>
          <a:prstGeom prst="rect">
            <a:avLst/>
          </a:prstGeom>
          <a:noFill/>
        </p:spPr>
        <p:txBody>
          <a:bodyPr wrap="square" lIns="0" tIns="0" rIns="0" bIns="0" anchor="t">
            <a:spAutoFit/>
          </a:bodyPr>
          <a:lstStyle/>
          <a:p>
            <a:pPr algn="l"/>
            <a:r>
              <a:rPr sz="1400" b="1">
                <a:solidFill>
                  <a:srgbClr val="0891B2"/>
                </a:solidFill>
                <a:latin typeface="+mj-lt"/>
              </a:rPr>
              <a:t>1</a:t>
            </a:r>
            <a:r>
              <a:rPr lang="en-US" sz="1400" b="1">
                <a:solidFill>
                  <a:srgbClr val="0891B2"/>
                </a:solidFill>
                <a:latin typeface="+mj-lt"/>
              </a:rPr>
              <a:t>. </a:t>
            </a:r>
            <a:r>
              <a:rPr lang="en-US" sz="1400" b="1" err="1">
                <a:solidFill>
                  <a:srgbClr val="0891B2"/>
                </a:solidFill>
                <a:latin typeface="+mj-lt"/>
              </a:rPr>
              <a:t>TỔNG</a:t>
            </a:r>
            <a:r>
              <a:rPr lang="en-US" sz="1400" b="1">
                <a:solidFill>
                  <a:srgbClr val="0891B2"/>
                </a:solidFill>
                <a:latin typeface="+mj-lt"/>
              </a:rPr>
              <a:t> QUAN</a:t>
            </a:r>
            <a:endParaRPr sz="1400" b="1">
              <a:solidFill>
                <a:srgbClr val="0891B2"/>
              </a:solidFill>
              <a:latin typeface="+mj-lt"/>
            </a:endParaRPr>
          </a:p>
        </p:txBody>
      </p:sp>
      <p:sp>
        <p:nvSpPr>
          <p:cNvPr id="16" name="TextBox 15">
            <a:extLst>
              <a:ext uri="{FF2B5EF4-FFF2-40B4-BE49-F238E27FC236}">
                <a16:creationId xmlns:a16="http://schemas.microsoft.com/office/drawing/2014/main" id="{8E7C8364-9147-1B1C-ADB7-2C0951D20A52}"/>
              </a:ext>
            </a:extLst>
          </p:cNvPr>
          <p:cNvSpPr txBox="1"/>
          <p:nvPr/>
        </p:nvSpPr>
        <p:spPr>
          <a:xfrm>
            <a:off x="976717" y="6064032"/>
            <a:ext cx="5221056" cy="307777"/>
          </a:xfrm>
          <a:prstGeom prst="rect">
            <a:avLst/>
          </a:prstGeom>
          <a:noFill/>
        </p:spPr>
        <p:txBody>
          <a:bodyPr wrap="square" lIns="91440" tIns="45720" rIns="91440" bIns="45720" rtlCol="0" anchor="t">
            <a:spAutoFit/>
          </a:bodyPr>
          <a:lstStyle/>
          <a:p>
            <a:r>
              <a:rPr lang="en-US" sz="1400" dirty="0"/>
              <a:t>Nguồn: </a:t>
            </a:r>
            <a:r>
              <a:rPr lang="en-US" sz="1400">
                <a:ea typeface="+mn-lt"/>
                <a:cs typeface="+mn-lt"/>
              </a:rPr>
              <a:t>Shot Boundary Detection Fundamental Concepts and Survey</a:t>
            </a:r>
            <a:endParaRPr lang="en-US" sz="1400">
              <a:cs typeface="Times New Roman"/>
            </a:endParaRPr>
          </a:p>
        </p:txBody>
      </p:sp>
    </p:spTree>
    <p:extLst>
      <p:ext uri="{BB962C8B-B14F-4D97-AF65-F5344CB8AC3E}">
        <p14:creationId xmlns:p14="http://schemas.microsoft.com/office/powerpoint/2010/main" val="1212994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B365D"/>
                </a:solidFill>
                <a:latin typeface="+mj-lt"/>
              </a:rPr>
              <a:t>Minh họa các loại chuyển cảnh</a:t>
            </a: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05 / 25</a:t>
            </a:r>
          </a:p>
        </p:txBody>
      </p:sp>
      <p:sp>
        <p:nvSpPr>
          <p:cNvPr id="10" name="Rounded Rectangle 9"/>
          <p:cNvSpPr/>
          <p:nvPr/>
        </p:nvSpPr>
        <p:spPr>
          <a:xfrm>
            <a:off x="548640" y="1828799"/>
            <a:ext cx="2697480" cy="3369675"/>
          </a:xfrm>
          <a:prstGeom prst="roundRect">
            <a:avLst>
              <a:gd name="adj" fmla="val 12000"/>
            </a:avLst>
          </a:prstGeom>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5" name="Rounded Rectangle 14"/>
          <p:cNvSpPr/>
          <p:nvPr/>
        </p:nvSpPr>
        <p:spPr>
          <a:xfrm>
            <a:off x="3429000" y="1828799"/>
            <a:ext cx="2697480" cy="3369671"/>
          </a:xfrm>
          <a:prstGeom prst="roundRect">
            <a:avLst>
              <a:gd name="adj" fmla="val 12000"/>
            </a:avLst>
          </a:prstGeom>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20" name="Rounded Rectangle 19"/>
          <p:cNvSpPr/>
          <p:nvPr/>
        </p:nvSpPr>
        <p:spPr>
          <a:xfrm>
            <a:off x="6309360" y="1828799"/>
            <a:ext cx="2697480" cy="3369667"/>
          </a:xfrm>
          <a:prstGeom prst="roundRect">
            <a:avLst>
              <a:gd name="adj" fmla="val 12000"/>
            </a:avLst>
          </a:prstGeom>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25" name="Rounded Rectangle 24"/>
          <p:cNvSpPr/>
          <p:nvPr/>
        </p:nvSpPr>
        <p:spPr>
          <a:xfrm>
            <a:off x="9189720" y="1828799"/>
            <a:ext cx="2697480" cy="3369661"/>
          </a:xfrm>
          <a:prstGeom prst="roundRect">
            <a:avLst>
              <a:gd name="adj" fmla="val 12000"/>
            </a:avLst>
          </a:prstGeom>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grpSp>
        <p:nvGrpSpPr>
          <p:cNvPr id="33" name="Group 32">
            <a:extLst>
              <a:ext uri="{FF2B5EF4-FFF2-40B4-BE49-F238E27FC236}">
                <a16:creationId xmlns:a16="http://schemas.microsoft.com/office/drawing/2014/main" id="{4B400DBD-2F3D-7285-40AF-34ED7FC73D13}"/>
              </a:ext>
            </a:extLst>
          </p:cNvPr>
          <p:cNvGrpSpPr/>
          <p:nvPr/>
        </p:nvGrpSpPr>
        <p:grpSpPr>
          <a:xfrm>
            <a:off x="548640" y="5394960"/>
            <a:ext cx="11338560" cy="822960"/>
            <a:chOff x="548640" y="4069080"/>
            <a:chExt cx="11338560" cy="822960"/>
          </a:xfrm>
        </p:grpSpPr>
        <p:sp>
          <p:nvSpPr>
            <p:cNvPr id="12" name="Rectangle 11"/>
            <p:cNvSpPr/>
            <p:nvPr/>
          </p:nvSpPr>
          <p:spPr>
            <a:xfrm>
              <a:off x="548640" y="4069080"/>
              <a:ext cx="2697480" cy="82296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3" name="TextBox 12"/>
            <p:cNvSpPr txBox="1"/>
            <p:nvPr/>
          </p:nvSpPr>
          <p:spPr>
            <a:xfrm>
              <a:off x="685800" y="4114800"/>
              <a:ext cx="2423160" cy="307777"/>
            </a:xfrm>
            <a:prstGeom prst="rect">
              <a:avLst/>
            </a:prstGeom>
            <a:noFill/>
          </p:spPr>
          <p:txBody>
            <a:bodyPr wrap="square" lIns="0" tIns="0" rIns="0" bIns="0" anchor="t">
              <a:spAutoFit/>
            </a:bodyPr>
            <a:lstStyle/>
            <a:p>
              <a:pPr algn="ctr"/>
              <a:r>
                <a:rPr lang="en-US" sz="2000" b="1" dirty="0" err="1">
                  <a:solidFill>
                    <a:schemeClr val="bg1"/>
                  </a:solidFill>
                  <a:latin typeface="+mj-lt"/>
                  <a:cs typeface="Times New Roman"/>
                </a:rPr>
                <a:t>Chuyển</a:t>
              </a:r>
              <a:r>
                <a:rPr lang="en-US" sz="2000" b="1" dirty="0">
                  <a:solidFill>
                    <a:schemeClr val="bg1"/>
                  </a:solidFill>
                  <a:latin typeface="+mj-lt"/>
                  <a:cs typeface="Times New Roman"/>
                </a:rPr>
                <a:t> </a:t>
              </a:r>
              <a:r>
                <a:rPr lang="en-US" sz="2000" b="1" dirty="0" err="1">
                  <a:solidFill>
                    <a:schemeClr val="bg1"/>
                  </a:solidFill>
                  <a:latin typeface="+mj-lt"/>
                  <a:cs typeface="Times New Roman"/>
                </a:rPr>
                <a:t>cảnh</a:t>
              </a:r>
              <a:r>
                <a:rPr lang="en-US" sz="2000" b="1" dirty="0">
                  <a:solidFill>
                    <a:schemeClr val="bg1"/>
                  </a:solidFill>
                  <a:latin typeface="+mj-lt"/>
                  <a:cs typeface="Times New Roman"/>
                </a:rPr>
                <a:t> </a:t>
              </a:r>
              <a:r>
                <a:rPr lang="en-US" sz="2000" b="1" dirty="0" err="1">
                  <a:solidFill>
                    <a:schemeClr val="bg1"/>
                  </a:solidFill>
                  <a:latin typeface="+mj-lt"/>
                  <a:cs typeface="Times New Roman"/>
                </a:rPr>
                <a:t>đột</a:t>
              </a:r>
              <a:r>
                <a:rPr lang="en-US" sz="2000" b="1" dirty="0">
                  <a:solidFill>
                    <a:schemeClr val="bg1"/>
                  </a:solidFill>
                  <a:latin typeface="+mj-lt"/>
                  <a:cs typeface="Times New Roman"/>
                </a:rPr>
                <a:t> </a:t>
              </a:r>
              <a:r>
                <a:rPr lang="en-US" sz="2000" b="1" dirty="0" err="1">
                  <a:solidFill>
                    <a:schemeClr val="bg1"/>
                  </a:solidFill>
                  <a:latin typeface="+mj-lt"/>
                  <a:cs typeface="Times New Roman"/>
                </a:rPr>
                <a:t>ngột</a:t>
              </a:r>
            </a:p>
          </p:txBody>
        </p:sp>
        <p:sp>
          <p:nvSpPr>
            <p:cNvPr id="14" name="TextBox 13"/>
            <p:cNvSpPr txBox="1"/>
            <p:nvPr/>
          </p:nvSpPr>
          <p:spPr>
            <a:xfrm>
              <a:off x="685800" y="4480560"/>
              <a:ext cx="2423160" cy="246221"/>
            </a:xfrm>
            <a:prstGeom prst="rect">
              <a:avLst/>
            </a:prstGeom>
            <a:noFill/>
          </p:spPr>
          <p:txBody>
            <a:bodyPr wrap="square" lIns="0" tIns="0" rIns="0" bIns="0" anchor="t">
              <a:spAutoFit/>
            </a:bodyPr>
            <a:lstStyle/>
            <a:p>
              <a:pPr algn="ctr"/>
              <a:r>
                <a:rPr sz="1600" b="0" err="1">
                  <a:solidFill>
                    <a:schemeClr val="bg1"/>
                  </a:solidFill>
                  <a:latin typeface="+mj-lt"/>
                </a:rPr>
                <a:t>Đổi</a:t>
              </a:r>
              <a:r>
                <a:rPr sz="1600" b="0">
                  <a:solidFill>
                    <a:schemeClr val="bg1"/>
                  </a:solidFill>
                  <a:latin typeface="+mj-lt"/>
                </a:rPr>
                <a:t> </a:t>
              </a:r>
              <a:r>
                <a:rPr sz="1600" b="0" err="1">
                  <a:solidFill>
                    <a:schemeClr val="bg1"/>
                  </a:solidFill>
                  <a:latin typeface="+mj-lt"/>
                </a:rPr>
                <a:t>đột</a:t>
              </a:r>
              <a:r>
                <a:rPr sz="1600" b="0">
                  <a:solidFill>
                    <a:schemeClr val="bg1"/>
                  </a:solidFill>
                  <a:latin typeface="+mj-lt"/>
                </a:rPr>
                <a:t> </a:t>
              </a:r>
              <a:r>
                <a:rPr sz="1600" b="0" err="1">
                  <a:solidFill>
                    <a:schemeClr val="bg1"/>
                  </a:solidFill>
                  <a:latin typeface="+mj-lt"/>
                </a:rPr>
                <a:t>ngột</a:t>
              </a:r>
              <a:r>
                <a:rPr sz="1600" b="0">
                  <a:solidFill>
                    <a:schemeClr val="bg1"/>
                  </a:solidFill>
                  <a:latin typeface="+mj-lt"/>
                </a:rPr>
                <a:t> </a:t>
              </a:r>
              <a:r>
                <a:rPr sz="1600" b="0" err="1">
                  <a:solidFill>
                    <a:schemeClr val="bg1"/>
                  </a:solidFill>
                  <a:latin typeface="+mj-lt"/>
                </a:rPr>
                <a:t>giữa</a:t>
              </a:r>
              <a:r>
                <a:rPr sz="1600" b="0">
                  <a:solidFill>
                    <a:schemeClr val="bg1"/>
                  </a:solidFill>
                  <a:latin typeface="+mj-lt"/>
                </a:rPr>
                <a:t> 2 </a:t>
              </a:r>
              <a:r>
                <a:rPr sz="1600" b="0" err="1">
                  <a:solidFill>
                    <a:schemeClr val="bg1"/>
                  </a:solidFill>
                  <a:latin typeface="+mj-lt"/>
                </a:rPr>
                <a:t>khung</a:t>
              </a:r>
              <a:endParaRPr sz="1600" b="0">
                <a:solidFill>
                  <a:schemeClr val="bg1"/>
                </a:solidFill>
                <a:latin typeface="+mj-lt"/>
              </a:endParaRPr>
            </a:p>
          </p:txBody>
        </p:sp>
        <p:sp>
          <p:nvSpPr>
            <p:cNvPr id="17" name="Rectangle 16"/>
            <p:cNvSpPr/>
            <p:nvPr/>
          </p:nvSpPr>
          <p:spPr>
            <a:xfrm>
              <a:off x="3429000" y="4069080"/>
              <a:ext cx="2697480" cy="82296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8" name="TextBox 17"/>
            <p:cNvSpPr txBox="1"/>
            <p:nvPr/>
          </p:nvSpPr>
          <p:spPr>
            <a:xfrm>
              <a:off x="3566160" y="4114800"/>
              <a:ext cx="2423160" cy="307777"/>
            </a:xfrm>
            <a:prstGeom prst="rect">
              <a:avLst/>
            </a:prstGeom>
            <a:noFill/>
          </p:spPr>
          <p:txBody>
            <a:bodyPr wrap="square" lIns="0" tIns="0" rIns="0" bIns="0" anchor="t">
              <a:spAutoFit/>
            </a:bodyPr>
            <a:lstStyle/>
            <a:p>
              <a:pPr algn="ctr"/>
              <a:r>
                <a:rPr lang="en-US" sz="2000" dirty="0">
                  <a:solidFill>
                    <a:schemeClr val="bg1"/>
                  </a:solidFill>
                  <a:latin typeface="+mj-lt"/>
                </a:rPr>
                <a:t>Hiệu</a:t>
              </a:r>
              <a:r>
                <a:rPr lang="en-US" sz="2000" dirty="0">
                  <a:solidFill>
                    <a:schemeClr val="bg1"/>
                  </a:solidFill>
                  <a:ea typeface="+mn-lt"/>
                  <a:cs typeface="+mn-lt"/>
                </a:rPr>
                <a:t> </a:t>
              </a:r>
              <a:r>
                <a:rPr lang="en-US" sz="2000" dirty="0" err="1">
                  <a:solidFill>
                    <a:schemeClr val="bg1"/>
                  </a:solidFill>
                  <a:ea typeface="+mn-lt"/>
                  <a:cs typeface="+mn-lt"/>
                </a:rPr>
                <a:t>ứng</a:t>
              </a:r>
              <a:r>
                <a:rPr lang="en-US" sz="2000" dirty="0">
                  <a:solidFill>
                    <a:schemeClr val="bg1"/>
                  </a:solidFill>
                  <a:ea typeface="+mn-lt"/>
                  <a:cs typeface="+mn-lt"/>
                </a:rPr>
                <a:t> </a:t>
              </a:r>
              <a:r>
                <a:rPr lang="en-US" sz="2000" dirty="0" err="1">
                  <a:solidFill>
                    <a:schemeClr val="bg1"/>
                  </a:solidFill>
                  <a:ea typeface="+mn-lt"/>
                  <a:cs typeface="+mn-lt"/>
                </a:rPr>
                <a:t>mờ</a:t>
              </a:r>
              <a:r>
                <a:rPr lang="en-US" sz="2000" dirty="0">
                  <a:solidFill>
                    <a:schemeClr val="bg1"/>
                  </a:solidFill>
                  <a:ea typeface="+mn-lt"/>
                  <a:cs typeface="+mn-lt"/>
                </a:rPr>
                <a:t> </a:t>
              </a:r>
              <a:r>
                <a:rPr lang="en-US" sz="2000" dirty="0" err="1">
                  <a:solidFill>
                    <a:schemeClr val="bg1"/>
                  </a:solidFill>
                  <a:ea typeface="+mn-lt"/>
                  <a:cs typeface="+mn-lt"/>
                </a:rPr>
                <a:t>dần</a:t>
              </a:r>
              <a:endParaRPr sz="2000" b="1" dirty="0" err="1">
                <a:solidFill>
                  <a:schemeClr val="bg1"/>
                </a:solidFill>
                <a:ea typeface="+mn-lt"/>
                <a:cs typeface="+mn-lt"/>
              </a:endParaRPr>
            </a:p>
          </p:txBody>
        </p:sp>
        <p:sp>
          <p:nvSpPr>
            <p:cNvPr id="19" name="TextBox 18"/>
            <p:cNvSpPr txBox="1"/>
            <p:nvPr/>
          </p:nvSpPr>
          <p:spPr>
            <a:xfrm>
              <a:off x="3566160" y="4480560"/>
              <a:ext cx="2423160" cy="246221"/>
            </a:xfrm>
            <a:prstGeom prst="rect">
              <a:avLst/>
            </a:prstGeom>
            <a:noFill/>
          </p:spPr>
          <p:txBody>
            <a:bodyPr wrap="square" lIns="0" tIns="0" rIns="0" bIns="0" anchor="t">
              <a:spAutoFit/>
            </a:bodyPr>
            <a:lstStyle/>
            <a:p>
              <a:pPr algn="ctr"/>
              <a:r>
                <a:rPr sz="1600" b="0" err="1">
                  <a:solidFill>
                    <a:schemeClr val="bg1"/>
                  </a:solidFill>
                  <a:latin typeface="+mj-lt"/>
                </a:rPr>
                <a:t>Hòa</a:t>
              </a:r>
              <a:r>
                <a:rPr sz="1600" b="0">
                  <a:solidFill>
                    <a:schemeClr val="bg1"/>
                  </a:solidFill>
                  <a:latin typeface="+mj-lt"/>
                </a:rPr>
                <a:t> </a:t>
              </a:r>
              <a:r>
                <a:rPr sz="1600" b="0" err="1">
                  <a:solidFill>
                    <a:schemeClr val="bg1"/>
                  </a:solidFill>
                  <a:latin typeface="+mj-lt"/>
                </a:rPr>
                <a:t>trộn</a:t>
              </a:r>
              <a:r>
                <a:rPr sz="1600" b="0">
                  <a:solidFill>
                    <a:schemeClr val="bg1"/>
                  </a:solidFill>
                  <a:latin typeface="+mj-lt"/>
                </a:rPr>
                <a:t> </a:t>
              </a:r>
              <a:r>
                <a:rPr sz="1600" b="0" err="1">
                  <a:solidFill>
                    <a:schemeClr val="bg1"/>
                  </a:solidFill>
                  <a:latin typeface="+mj-lt"/>
                </a:rPr>
                <a:t>tuyến</a:t>
              </a:r>
              <a:r>
                <a:rPr sz="1600" b="0">
                  <a:solidFill>
                    <a:schemeClr val="bg1"/>
                  </a:solidFill>
                  <a:latin typeface="+mj-lt"/>
                </a:rPr>
                <a:t> </a:t>
              </a:r>
              <a:r>
                <a:rPr sz="1600" b="0" err="1">
                  <a:solidFill>
                    <a:schemeClr val="bg1"/>
                  </a:solidFill>
                  <a:latin typeface="+mj-lt"/>
                </a:rPr>
                <a:t>tính</a:t>
              </a:r>
              <a:endParaRPr sz="1600" b="0">
                <a:solidFill>
                  <a:schemeClr val="bg1"/>
                </a:solidFill>
                <a:latin typeface="+mj-lt"/>
              </a:endParaRPr>
            </a:p>
          </p:txBody>
        </p:sp>
        <p:sp>
          <p:nvSpPr>
            <p:cNvPr id="22" name="Rectangle 21"/>
            <p:cNvSpPr/>
            <p:nvPr/>
          </p:nvSpPr>
          <p:spPr>
            <a:xfrm>
              <a:off x="6309360" y="4069080"/>
              <a:ext cx="2697480" cy="82296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3" name="TextBox 22"/>
            <p:cNvSpPr txBox="1"/>
            <p:nvPr/>
          </p:nvSpPr>
          <p:spPr>
            <a:xfrm>
              <a:off x="6446520" y="4114800"/>
              <a:ext cx="2423160" cy="307777"/>
            </a:xfrm>
            <a:prstGeom prst="rect">
              <a:avLst/>
            </a:prstGeom>
            <a:noFill/>
          </p:spPr>
          <p:txBody>
            <a:bodyPr wrap="square" lIns="0" tIns="0" rIns="0" bIns="0" anchor="t">
              <a:spAutoFit/>
            </a:bodyPr>
            <a:lstStyle/>
            <a:p>
              <a:pPr algn="ctr"/>
              <a:r>
                <a:rPr lang="en-US" sz="2000" dirty="0">
                  <a:solidFill>
                    <a:schemeClr val="bg1"/>
                  </a:solidFill>
                  <a:ea typeface="+mn-lt"/>
                  <a:cs typeface="+mn-lt"/>
                </a:rPr>
                <a:t>Hiệu </a:t>
              </a:r>
              <a:r>
                <a:rPr lang="en-US" sz="2000" dirty="0" err="1">
                  <a:solidFill>
                    <a:schemeClr val="bg1"/>
                  </a:solidFill>
                  <a:ea typeface="+mn-lt"/>
                  <a:cs typeface="+mn-lt"/>
                </a:rPr>
                <a:t>ứng</a:t>
              </a:r>
              <a:r>
                <a:rPr lang="en-US" sz="2000" dirty="0">
                  <a:solidFill>
                    <a:schemeClr val="bg1"/>
                  </a:solidFill>
                  <a:ea typeface="+mn-lt"/>
                  <a:cs typeface="+mn-lt"/>
                </a:rPr>
                <a:t> </a:t>
              </a:r>
              <a:r>
                <a:rPr lang="en-US" sz="2000" dirty="0" err="1">
                  <a:solidFill>
                    <a:schemeClr val="bg1"/>
                  </a:solidFill>
                  <a:ea typeface="+mn-lt"/>
                  <a:cs typeface="+mn-lt"/>
                </a:rPr>
                <a:t>chồng</a:t>
              </a:r>
              <a:r>
                <a:rPr lang="en-US" sz="2000" dirty="0">
                  <a:solidFill>
                    <a:schemeClr val="bg1"/>
                  </a:solidFill>
                  <a:ea typeface="+mn-lt"/>
                  <a:cs typeface="+mn-lt"/>
                </a:rPr>
                <a:t> </a:t>
              </a:r>
              <a:r>
                <a:rPr lang="en-US" sz="2000" dirty="0" err="1">
                  <a:solidFill>
                    <a:schemeClr val="bg1"/>
                  </a:solidFill>
                  <a:ea typeface="+mn-lt"/>
                  <a:cs typeface="+mn-lt"/>
                </a:rPr>
                <a:t>hình</a:t>
              </a:r>
              <a:endParaRPr lang="en-US" dirty="0" err="1"/>
            </a:p>
          </p:txBody>
        </p:sp>
        <p:sp>
          <p:nvSpPr>
            <p:cNvPr id="24" name="TextBox 23"/>
            <p:cNvSpPr txBox="1"/>
            <p:nvPr/>
          </p:nvSpPr>
          <p:spPr>
            <a:xfrm>
              <a:off x="6446520" y="4480560"/>
              <a:ext cx="2423160" cy="246221"/>
            </a:xfrm>
            <a:prstGeom prst="rect">
              <a:avLst/>
            </a:prstGeom>
            <a:noFill/>
          </p:spPr>
          <p:txBody>
            <a:bodyPr wrap="square" lIns="0" tIns="0" rIns="0" bIns="0" anchor="t">
              <a:spAutoFit/>
            </a:bodyPr>
            <a:lstStyle/>
            <a:p>
              <a:pPr algn="ctr"/>
              <a:r>
                <a:rPr sz="1600" b="0" err="1">
                  <a:solidFill>
                    <a:schemeClr val="bg1"/>
                  </a:solidFill>
                  <a:latin typeface="+mj-lt"/>
                </a:rPr>
                <a:t>Xuất</a:t>
              </a:r>
              <a:r>
                <a:rPr sz="1600" b="0">
                  <a:solidFill>
                    <a:schemeClr val="bg1"/>
                  </a:solidFill>
                  <a:latin typeface="+mj-lt"/>
                </a:rPr>
                <a:t> </a:t>
              </a:r>
              <a:r>
                <a:rPr sz="1600" b="0" err="1">
                  <a:solidFill>
                    <a:schemeClr val="bg1"/>
                  </a:solidFill>
                  <a:latin typeface="+mj-lt"/>
                </a:rPr>
                <a:t>hiện</a:t>
              </a:r>
              <a:r>
                <a:rPr sz="1600" b="0">
                  <a:solidFill>
                    <a:schemeClr val="bg1"/>
                  </a:solidFill>
                  <a:latin typeface="+mj-lt"/>
                </a:rPr>
                <a:t> / </a:t>
              </a:r>
              <a:r>
                <a:rPr sz="1600" b="0" err="1">
                  <a:solidFill>
                    <a:schemeClr val="bg1"/>
                  </a:solidFill>
                  <a:latin typeface="+mj-lt"/>
                </a:rPr>
                <a:t>biến</a:t>
              </a:r>
              <a:r>
                <a:rPr sz="1600" b="0">
                  <a:solidFill>
                    <a:schemeClr val="bg1"/>
                  </a:solidFill>
                  <a:latin typeface="+mj-lt"/>
                </a:rPr>
                <a:t> </a:t>
              </a:r>
              <a:r>
                <a:rPr sz="1600" b="0" err="1">
                  <a:solidFill>
                    <a:schemeClr val="bg1"/>
                  </a:solidFill>
                  <a:latin typeface="+mj-lt"/>
                </a:rPr>
                <a:t>mất</a:t>
              </a:r>
              <a:r>
                <a:rPr sz="1600" b="0">
                  <a:solidFill>
                    <a:schemeClr val="bg1"/>
                  </a:solidFill>
                  <a:latin typeface="+mj-lt"/>
                </a:rPr>
                <a:t> </a:t>
              </a:r>
              <a:r>
                <a:rPr sz="1600" b="0" err="1">
                  <a:solidFill>
                    <a:schemeClr val="bg1"/>
                  </a:solidFill>
                  <a:latin typeface="+mj-lt"/>
                </a:rPr>
                <a:t>dần</a:t>
              </a:r>
              <a:endParaRPr sz="1600" b="0">
                <a:solidFill>
                  <a:schemeClr val="bg1"/>
                </a:solidFill>
                <a:latin typeface="+mj-lt"/>
              </a:endParaRPr>
            </a:p>
          </p:txBody>
        </p:sp>
        <p:sp>
          <p:nvSpPr>
            <p:cNvPr id="27" name="Rectangle 26"/>
            <p:cNvSpPr/>
            <p:nvPr/>
          </p:nvSpPr>
          <p:spPr>
            <a:xfrm>
              <a:off x="9189720" y="4069080"/>
              <a:ext cx="2697480" cy="82296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8" name="TextBox 27"/>
            <p:cNvSpPr txBox="1"/>
            <p:nvPr/>
          </p:nvSpPr>
          <p:spPr>
            <a:xfrm>
              <a:off x="9326880" y="4114800"/>
              <a:ext cx="2423160" cy="307777"/>
            </a:xfrm>
            <a:prstGeom prst="rect">
              <a:avLst/>
            </a:prstGeom>
            <a:noFill/>
          </p:spPr>
          <p:txBody>
            <a:bodyPr wrap="square" lIns="0" tIns="0" rIns="0" bIns="0" anchor="t">
              <a:spAutoFit/>
            </a:bodyPr>
            <a:lstStyle/>
            <a:p>
              <a:pPr algn="ctr"/>
              <a:r>
                <a:rPr lang="en-US" sz="2000" dirty="0">
                  <a:solidFill>
                    <a:schemeClr val="bg1"/>
                  </a:solidFill>
                  <a:ea typeface="+mn-lt"/>
                  <a:cs typeface="+mn-lt"/>
                </a:rPr>
                <a:t>Hiệu </a:t>
              </a:r>
              <a:r>
                <a:rPr lang="en-US" sz="2000" dirty="0" err="1">
                  <a:solidFill>
                    <a:schemeClr val="bg1"/>
                  </a:solidFill>
                  <a:ea typeface="+mn-lt"/>
                  <a:cs typeface="+mn-lt"/>
                </a:rPr>
                <a:t>ứng</a:t>
              </a:r>
              <a:r>
                <a:rPr lang="en-US" sz="2000" dirty="0">
                  <a:solidFill>
                    <a:schemeClr val="bg1"/>
                  </a:solidFill>
                  <a:ea typeface="+mn-lt"/>
                  <a:cs typeface="+mn-lt"/>
                </a:rPr>
                <a:t> </a:t>
              </a:r>
              <a:r>
                <a:rPr lang="en-US" sz="2000" dirty="0" err="1">
                  <a:solidFill>
                    <a:schemeClr val="bg1"/>
                  </a:solidFill>
                  <a:ea typeface="+mn-lt"/>
                  <a:cs typeface="+mn-lt"/>
                </a:rPr>
                <a:t>gạt</a:t>
              </a:r>
              <a:r>
                <a:rPr lang="en-US" sz="2000" dirty="0">
                  <a:solidFill>
                    <a:schemeClr val="bg1"/>
                  </a:solidFill>
                  <a:ea typeface="+mn-lt"/>
                  <a:cs typeface="+mn-lt"/>
                </a:rPr>
                <a:t> </a:t>
              </a:r>
              <a:r>
                <a:rPr lang="en-US" sz="2000" dirty="0" err="1">
                  <a:solidFill>
                    <a:schemeClr val="bg1"/>
                  </a:solidFill>
                  <a:ea typeface="+mn-lt"/>
                  <a:cs typeface="+mn-lt"/>
                </a:rPr>
                <a:t>hình</a:t>
              </a:r>
              <a:endParaRPr sz="2000" b="1" dirty="0" err="1">
                <a:solidFill>
                  <a:schemeClr val="bg1"/>
                </a:solidFill>
                <a:latin typeface="+mj-lt"/>
              </a:endParaRPr>
            </a:p>
          </p:txBody>
        </p:sp>
        <p:sp>
          <p:nvSpPr>
            <p:cNvPr id="29" name="TextBox 28"/>
            <p:cNvSpPr txBox="1"/>
            <p:nvPr/>
          </p:nvSpPr>
          <p:spPr>
            <a:xfrm>
              <a:off x="9326880" y="4480560"/>
              <a:ext cx="2423160" cy="246221"/>
            </a:xfrm>
            <a:prstGeom prst="rect">
              <a:avLst/>
            </a:prstGeom>
            <a:noFill/>
          </p:spPr>
          <p:txBody>
            <a:bodyPr wrap="square" lIns="0" tIns="0" rIns="0" bIns="0" anchor="t">
              <a:spAutoFit/>
            </a:bodyPr>
            <a:lstStyle/>
            <a:p>
              <a:pPr algn="ctr"/>
              <a:r>
                <a:rPr sz="1600" b="0" err="1">
                  <a:solidFill>
                    <a:schemeClr val="bg1"/>
                  </a:solidFill>
                  <a:latin typeface="+mj-lt"/>
                </a:rPr>
                <a:t>Quét</a:t>
              </a:r>
              <a:r>
                <a:rPr sz="1600" b="0">
                  <a:solidFill>
                    <a:schemeClr val="bg1"/>
                  </a:solidFill>
                  <a:latin typeface="+mj-lt"/>
                </a:rPr>
                <a:t> </a:t>
              </a:r>
              <a:r>
                <a:rPr sz="1600" b="0" err="1">
                  <a:solidFill>
                    <a:schemeClr val="bg1"/>
                  </a:solidFill>
                  <a:latin typeface="+mj-lt"/>
                </a:rPr>
                <a:t>ranh</a:t>
              </a:r>
              <a:r>
                <a:rPr sz="1600" b="0">
                  <a:solidFill>
                    <a:schemeClr val="bg1"/>
                  </a:solidFill>
                  <a:latin typeface="+mj-lt"/>
                </a:rPr>
                <a:t> </a:t>
              </a:r>
              <a:r>
                <a:rPr sz="1600" b="0" err="1">
                  <a:solidFill>
                    <a:schemeClr val="bg1"/>
                  </a:solidFill>
                  <a:latin typeface="+mj-lt"/>
                </a:rPr>
                <a:t>giới</a:t>
              </a:r>
              <a:r>
                <a:rPr sz="1600" b="0">
                  <a:solidFill>
                    <a:schemeClr val="bg1"/>
                  </a:solidFill>
                  <a:latin typeface="+mj-lt"/>
                </a:rPr>
                <a:t> </a:t>
              </a:r>
              <a:r>
                <a:rPr sz="1600" b="0" err="1">
                  <a:solidFill>
                    <a:schemeClr val="bg1"/>
                  </a:solidFill>
                  <a:latin typeface="+mj-lt"/>
                </a:rPr>
                <a:t>hình</a:t>
              </a:r>
              <a:r>
                <a:rPr sz="1600" b="0">
                  <a:solidFill>
                    <a:schemeClr val="bg1"/>
                  </a:solidFill>
                  <a:latin typeface="+mj-lt"/>
                </a:rPr>
                <a:t> </a:t>
              </a:r>
              <a:r>
                <a:rPr sz="1600" b="0" err="1">
                  <a:solidFill>
                    <a:schemeClr val="bg1"/>
                  </a:solidFill>
                  <a:latin typeface="+mj-lt"/>
                </a:rPr>
                <a:t>học</a:t>
              </a:r>
              <a:endParaRPr sz="1600" b="0">
                <a:solidFill>
                  <a:schemeClr val="bg1"/>
                </a:solidFill>
                <a:latin typeface="+mj-lt"/>
              </a:endParaRPr>
            </a:p>
          </p:txBody>
        </p:sp>
      </p:grpSp>
      <p:pic>
        <p:nvPicPr>
          <p:cNvPr id="30" name="Picture 29">
            <a:extLst>
              <a:ext uri="{FF2B5EF4-FFF2-40B4-BE49-F238E27FC236}">
                <a16:creationId xmlns:a16="http://schemas.microsoft.com/office/drawing/2014/main" id="{BBE5E812-1626-4D13-9C35-2D3DA30EFAC4}"/>
              </a:ext>
            </a:extLst>
          </p:cNvPr>
          <p:cNvPicPr>
            <a:picLocks noChangeAspect="1"/>
          </p:cNvPicPr>
          <p:nvPr/>
        </p:nvPicPr>
        <p:blipFill>
          <a:blip r:embed="rId3"/>
          <a:srcRect t="16213" b="38235"/>
          <a:stretch>
            <a:fillRect/>
          </a:stretch>
        </p:blipFill>
        <p:spPr>
          <a:xfrm>
            <a:off x="659126" y="3319319"/>
            <a:ext cx="2476508" cy="697320"/>
          </a:xfrm>
          <a:prstGeom prst="rect">
            <a:avLst/>
          </a:prstGeom>
        </p:spPr>
      </p:pic>
      <p:pic>
        <p:nvPicPr>
          <p:cNvPr id="32" name="Picture 31">
            <a:extLst>
              <a:ext uri="{FF2B5EF4-FFF2-40B4-BE49-F238E27FC236}">
                <a16:creationId xmlns:a16="http://schemas.microsoft.com/office/drawing/2014/main" id="{D5D9DAFD-9BBC-7BAF-2901-784681B34DDF}"/>
              </a:ext>
            </a:extLst>
          </p:cNvPr>
          <p:cNvPicPr>
            <a:picLocks noChangeAspect="1"/>
          </p:cNvPicPr>
          <p:nvPr/>
        </p:nvPicPr>
        <p:blipFill>
          <a:blip r:embed="rId4"/>
          <a:srcRect t="3566" b="38417"/>
          <a:stretch>
            <a:fillRect/>
          </a:stretch>
        </p:blipFill>
        <p:spPr>
          <a:xfrm>
            <a:off x="632452" y="2199249"/>
            <a:ext cx="2476508" cy="888122"/>
          </a:xfrm>
          <a:prstGeom prst="rect">
            <a:avLst/>
          </a:prstGeom>
        </p:spPr>
      </p:pic>
      <p:pic>
        <p:nvPicPr>
          <p:cNvPr id="35" name="Picture 34">
            <a:extLst>
              <a:ext uri="{FF2B5EF4-FFF2-40B4-BE49-F238E27FC236}">
                <a16:creationId xmlns:a16="http://schemas.microsoft.com/office/drawing/2014/main" id="{0EA559FD-FB21-751E-3E70-26D9127BEC25}"/>
              </a:ext>
            </a:extLst>
          </p:cNvPr>
          <p:cNvPicPr>
            <a:picLocks noChangeAspect="1"/>
          </p:cNvPicPr>
          <p:nvPr/>
        </p:nvPicPr>
        <p:blipFill>
          <a:blip r:embed="rId5"/>
          <a:srcRect t="27867" b="31067"/>
          <a:stretch>
            <a:fillRect/>
          </a:stretch>
        </p:blipFill>
        <p:spPr>
          <a:xfrm>
            <a:off x="659126" y="4301217"/>
            <a:ext cx="2476508" cy="628652"/>
          </a:xfrm>
          <a:prstGeom prst="rect">
            <a:avLst/>
          </a:prstGeom>
        </p:spPr>
      </p:pic>
      <p:pic>
        <p:nvPicPr>
          <p:cNvPr id="37" name="Picture 36">
            <a:extLst>
              <a:ext uri="{FF2B5EF4-FFF2-40B4-BE49-F238E27FC236}">
                <a16:creationId xmlns:a16="http://schemas.microsoft.com/office/drawing/2014/main" id="{4BF314E1-685C-D513-A9C8-0A3755B07EBE}"/>
              </a:ext>
            </a:extLst>
          </p:cNvPr>
          <p:cNvPicPr>
            <a:picLocks noChangeAspect="1"/>
          </p:cNvPicPr>
          <p:nvPr/>
        </p:nvPicPr>
        <p:blipFill>
          <a:blip r:embed="rId6"/>
          <a:stretch>
            <a:fillRect/>
          </a:stretch>
        </p:blipFill>
        <p:spPr>
          <a:xfrm>
            <a:off x="3546756" y="2109534"/>
            <a:ext cx="2455703" cy="1375207"/>
          </a:xfrm>
          <a:prstGeom prst="rect">
            <a:avLst/>
          </a:prstGeom>
        </p:spPr>
      </p:pic>
      <p:pic>
        <p:nvPicPr>
          <p:cNvPr id="39" name="Picture 38">
            <a:extLst>
              <a:ext uri="{FF2B5EF4-FFF2-40B4-BE49-F238E27FC236}">
                <a16:creationId xmlns:a16="http://schemas.microsoft.com/office/drawing/2014/main" id="{78DDE8FD-7CED-562E-2CE5-6F08420F2CD4}"/>
              </a:ext>
            </a:extLst>
          </p:cNvPr>
          <p:cNvPicPr>
            <a:picLocks noChangeAspect="1"/>
          </p:cNvPicPr>
          <p:nvPr/>
        </p:nvPicPr>
        <p:blipFill>
          <a:blip r:embed="rId7"/>
          <a:stretch>
            <a:fillRect/>
          </a:stretch>
        </p:blipFill>
        <p:spPr>
          <a:xfrm>
            <a:off x="3513534" y="3755454"/>
            <a:ext cx="2528411" cy="1156628"/>
          </a:xfrm>
          <a:prstGeom prst="rect">
            <a:avLst/>
          </a:prstGeom>
        </p:spPr>
      </p:pic>
      <p:pic>
        <p:nvPicPr>
          <p:cNvPr id="41" name="Picture 40">
            <a:extLst>
              <a:ext uri="{FF2B5EF4-FFF2-40B4-BE49-F238E27FC236}">
                <a16:creationId xmlns:a16="http://schemas.microsoft.com/office/drawing/2014/main" id="{6CBFF283-3A49-9023-B587-25453F100B95}"/>
              </a:ext>
            </a:extLst>
          </p:cNvPr>
          <p:cNvPicPr>
            <a:picLocks noChangeAspect="1"/>
          </p:cNvPicPr>
          <p:nvPr/>
        </p:nvPicPr>
        <p:blipFill>
          <a:blip r:embed="rId8"/>
          <a:stretch>
            <a:fillRect/>
          </a:stretch>
        </p:blipFill>
        <p:spPr>
          <a:xfrm>
            <a:off x="9279744" y="3755454"/>
            <a:ext cx="2517431" cy="1231563"/>
          </a:xfrm>
          <a:prstGeom prst="rect">
            <a:avLst/>
          </a:prstGeom>
        </p:spPr>
      </p:pic>
      <p:pic>
        <p:nvPicPr>
          <p:cNvPr id="43" name="Picture 42">
            <a:extLst>
              <a:ext uri="{FF2B5EF4-FFF2-40B4-BE49-F238E27FC236}">
                <a16:creationId xmlns:a16="http://schemas.microsoft.com/office/drawing/2014/main" id="{C4F50452-0D98-7FC1-9FAE-92B09E995DA3}"/>
              </a:ext>
            </a:extLst>
          </p:cNvPr>
          <p:cNvPicPr>
            <a:picLocks noChangeAspect="1"/>
          </p:cNvPicPr>
          <p:nvPr/>
        </p:nvPicPr>
        <p:blipFill>
          <a:blip r:embed="rId9"/>
          <a:srcRect l="21360" t="18666" r="53502" b="40304"/>
          <a:stretch>
            <a:fillRect/>
          </a:stretch>
        </p:blipFill>
        <p:spPr>
          <a:xfrm>
            <a:off x="6370887" y="1983804"/>
            <a:ext cx="2574426" cy="1634490"/>
          </a:xfrm>
          <a:prstGeom prst="rect">
            <a:avLst/>
          </a:prstGeom>
        </p:spPr>
      </p:pic>
      <p:pic>
        <p:nvPicPr>
          <p:cNvPr id="45" name="Picture 44">
            <a:extLst>
              <a:ext uri="{FF2B5EF4-FFF2-40B4-BE49-F238E27FC236}">
                <a16:creationId xmlns:a16="http://schemas.microsoft.com/office/drawing/2014/main" id="{F018CB46-415D-7494-9E2B-13E1AD19BCD0}"/>
              </a:ext>
            </a:extLst>
          </p:cNvPr>
          <p:cNvPicPr>
            <a:picLocks noChangeAspect="1"/>
          </p:cNvPicPr>
          <p:nvPr/>
        </p:nvPicPr>
        <p:blipFill>
          <a:blip r:embed="rId9"/>
          <a:srcRect l="58223" t="19333" r="18233" b="40512"/>
          <a:stretch>
            <a:fillRect/>
          </a:stretch>
        </p:blipFill>
        <p:spPr>
          <a:xfrm>
            <a:off x="6370887" y="3618294"/>
            <a:ext cx="2574426" cy="1433766"/>
          </a:xfrm>
          <a:prstGeom prst="rect">
            <a:avLst/>
          </a:prstGeom>
        </p:spPr>
      </p:pic>
      <p:pic>
        <p:nvPicPr>
          <p:cNvPr id="49" name="Picture 48">
            <a:extLst>
              <a:ext uri="{FF2B5EF4-FFF2-40B4-BE49-F238E27FC236}">
                <a16:creationId xmlns:a16="http://schemas.microsoft.com/office/drawing/2014/main" id="{8898435A-8BDB-9D6E-0C6B-94223F5D9E11}"/>
              </a:ext>
            </a:extLst>
          </p:cNvPr>
          <p:cNvPicPr>
            <a:picLocks noChangeAspect="1"/>
          </p:cNvPicPr>
          <p:nvPr/>
        </p:nvPicPr>
        <p:blipFill>
          <a:blip r:embed="rId10"/>
          <a:srcRect t="13987" b="16289"/>
          <a:stretch>
            <a:fillRect/>
          </a:stretch>
        </p:blipFill>
        <p:spPr>
          <a:xfrm>
            <a:off x="9243009" y="2050659"/>
            <a:ext cx="2590899" cy="1806477"/>
          </a:xfrm>
          <a:prstGeom prst="rect">
            <a:avLst/>
          </a:prstGeom>
        </p:spPr>
      </p:pic>
      <p:sp>
        <p:nvSpPr>
          <p:cNvPr id="50" name="TextBox 49">
            <a:extLst>
              <a:ext uri="{FF2B5EF4-FFF2-40B4-BE49-F238E27FC236}">
                <a16:creationId xmlns:a16="http://schemas.microsoft.com/office/drawing/2014/main" id="{A35776B7-24C4-7DC0-D1BE-BCD8BA25F46D}"/>
              </a:ext>
            </a:extLst>
          </p:cNvPr>
          <p:cNvSpPr txBox="1"/>
          <p:nvPr/>
        </p:nvSpPr>
        <p:spPr>
          <a:xfrm>
            <a:off x="548640" y="320040"/>
            <a:ext cx="9144000" cy="215444"/>
          </a:xfrm>
          <a:prstGeom prst="rect">
            <a:avLst/>
          </a:prstGeom>
          <a:noFill/>
        </p:spPr>
        <p:txBody>
          <a:bodyPr wrap="square" lIns="0" tIns="0" rIns="0" bIns="0" anchor="t">
            <a:spAutoFit/>
          </a:bodyPr>
          <a:lstStyle/>
          <a:p>
            <a:pPr algn="l"/>
            <a:r>
              <a:rPr sz="1400" b="1">
                <a:solidFill>
                  <a:srgbClr val="0891B2"/>
                </a:solidFill>
                <a:latin typeface="+mj-lt"/>
              </a:rPr>
              <a:t>1</a:t>
            </a:r>
            <a:r>
              <a:rPr lang="en-US" sz="1400" b="1">
                <a:solidFill>
                  <a:srgbClr val="0891B2"/>
                </a:solidFill>
                <a:latin typeface="+mj-lt"/>
              </a:rPr>
              <a:t>. </a:t>
            </a:r>
            <a:r>
              <a:rPr lang="en-US" sz="1400" b="1" err="1">
                <a:solidFill>
                  <a:srgbClr val="0891B2"/>
                </a:solidFill>
                <a:latin typeface="+mj-lt"/>
              </a:rPr>
              <a:t>TỔNG</a:t>
            </a:r>
            <a:r>
              <a:rPr lang="en-US" sz="1400" b="1">
                <a:solidFill>
                  <a:srgbClr val="0891B2"/>
                </a:solidFill>
                <a:latin typeface="+mj-lt"/>
              </a:rPr>
              <a:t> QUAN</a:t>
            </a:r>
            <a:endParaRPr sz="1400" b="1">
              <a:solidFill>
                <a:srgbClr val="0891B2"/>
              </a:solidFill>
              <a:latin typeface="+mj-lt"/>
            </a:endParaRPr>
          </a:p>
        </p:txBody>
      </p:sp>
    </p:spTree>
    <p:extLst>
      <p:ext uri="{BB962C8B-B14F-4D97-AF65-F5344CB8AC3E}">
        <p14:creationId xmlns:p14="http://schemas.microsoft.com/office/powerpoint/2010/main" val="3823881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B365D"/>
                </a:solidFill>
                <a:latin typeface="+mj-lt"/>
              </a:rPr>
              <a:t>Thách thức riêng của video ngắn</a:t>
            </a: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06 / 25</a:t>
            </a:r>
          </a:p>
        </p:txBody>
      </p:sp>
      <p:pic>
        <p:nvPicPr>
          <p:cNvPr id="10" name="Picture 9" descr="tiktok.jpg"/>
          <p:cNvPicPr>
            <a:picLocks noChangeAspect="1"/>
          </p:cNvPicPr>
          <p:nvPr/>
        </p:nvPicPr>
        <p:blipFill>
          <a:blip r:embed="rId3"/>
          <a:stretch>
            <a:fillRect/>
          </a:stretch>
        </p:blipFill>
        <p:spPr>
          <a:xfrm>
            <a:off x="705576" y="1541709"/>
            <a:ext cx="1327544" cy="2455875"/>
          </a:xfrm>
          <a:prstGeom prst="rect">
            <a:avLst/>
          </a:prstGeom>
        </p:spPr>
      </p:pic>
      <p:sp>
        <p:nvSpPr>
          <p:cNvPr id="12" name="TextBox 11"/>
          <p:cNvSpPr txBox="1"/>
          <p:nvPr/>
        </p:nvSpPr>
        <p:spPr>
          <a:xfrm>
            <a:off x="4189160" y="1471421"/>
            <a:ext cx="7451152" cy="3604641"/>
          </a:xfrm>
          <a:prstGeom prst="rect">
            <a:avLst/>
          </a:prstGeom>
          <a:noFill/>
        </p:spPr>
        <p:txBody>
          <a:bodyPr wrap="square" lIns="0" tIns="0" rIns="0" bIns="0">
            <a:spAutoFit/>
          </a:bodyPr>
          <a:lstStyle/>
          <a:p>
            <a:pPr>
              <a:lnSpc>
                <a:spcPct val="140000"/>
              </a:lnSpc>
              <a:spcAft>
                <a:spcPts val="400"/>
              </a:spcAft>
            </a:pPr>
            <a:r>
              <a:rPr sz="2000" b="1">
                <a:solidFill>
                  <a:srgbClr val="0891B2"/>
                </a:solidFill>
                <a:latin typeface="+mj-lt"/>
              </a:rPr>
              <a:t>•  </a:t>
            </a:r>
            <a:r>
              <a:rPr lang="en-US" sz="2000" b="1">
                <a:solidFill>
                  <a:srgbClr val="1B365D"/>
                </a:solidFill>
                <a:latin typeface="+mj-lt"/>
              </a:rPr>
              <a:t>Video ngắn có nhịp cắt nhanh, shot ngắn</a:t>
            </a:r>
            <a:r>
              <a:rPr sz="2000" b="1">
                <a:solidFill>
                  <a:srgbClr val="1B365D"/>
                </a:solidFill>
                <a:latin typeface="+mj-lt"/>
              </a:rPr>
              <a:t>: </a:t>
            </a:r>
            <a:r>
              <a:rPr sz="2000">
                <a:solidFill>
                  <a:srgbClr val="1B365D"/>
                </a:solidFill>
                <a:latin typeface="+mj-lt"/>
              </a:rPr>
              <a:t>trung bình 2,59s</a:t>
            </a:r>
            <a:r>
              <a:rPr lang="en-US" sz="2000">
                <a:solidFill>
                  <a:srgbClr val="1B365D"/>
                </a:solidFill>
                <a:latin typeface="+mj-lt"/>
              </a:rPr>
              <a:t> </a:t>
            </a:r>
            <a:r>
              <a:rPr sz="2000">
                <a:solidFill>
                  <a:srgbClr val="1B365D"/>
                </a:solidFill>
                <a:latin typeface="+mj-lt"/>
              </a:rPr>
              <a:t>/</a:t>
            </a:r>
            <a:r>
              <a:rPr lang="en-US" sz="2000">
                <a:solidFill>
                  <a:srgbClr val="1B365D"/>
                </a:solidFill>
                <a:latin typeface="+mj-lt"/>
              </a:rPr>
              <a:t> </a:t>
            </a:r>
            <a:r>
              <a:rPr sz="2000">
                <a:solidFill>
                  <a:srgbClr val="1B365D"/>
                </a:solidFill>
                <a:latin typeface="+mj-lt"/>
              </a:rPr>
              <a:t>shot (</a:t>
            </a:r>
            <a:r>
              <a:rPr lang="en-US" sz="2000">
                <a:solidFill>
                  <a:srgbClr val="1B365D"/>
                </a:solidFill>
                <a:latin typeface="+mj-lt"/>
              </a:rPr>
              <a:t>so với</a:t>
            </a:r>
            <a:r>
              <a:rPr sz="2000">
                <a:solidFill>
                  <a:srgbClr val="1B365D"/>
                </a:solidFill>
                <a:latin typeface="+mj-lt"/>
              </a:rPr>
              <a:t> 6</a:t>
            </a:r>
            <a:r>
              <a:rPr lang="en-US" sz="2000">
                <a:solidFill>
                  <a:srgbClr val="1B365D"/>
                </a:solidFill>
                <a:latin typeface="+mj-lt"/>
              </a:rPr>
              <a:t> </a:t>
            </a:r>
            <a:r>
              <a:rPr sz="2000">
                <a:solidFill>
                  <a:srgbClr val="1B365D"/>
                </a:solidFill>
                <a:latin typeface="+mj-lt"/>
              </a:rPr>
              <a:t>–</a:t>
            </a:r>
            <a:r>
              <a:rPr lang="en-US" sz="2000">
                <a:solidFill>
                  <a:srgbClr val="1B365D"/>
                </a:solidFill>
                <a:latin typeface="+mj-lt"/>
              </a:rPr>
              <a:t> </a:t>
            </a:r>
            <a:r>
              <a:rPr sz="2000">
                <a:solidFill>
                  <a:srgbClr val="1B365D"/>
                </a:solidFill>
                <a:latin typeface="+mj-lt"/>
              </a:rPr>
              <a:t>15</a:t>
            </a:r>
            <a:r>
              <a:rPr lang="en-US" sz="2000">
                <a:solidFill>
                  <a:srgbClr val="1B365D"/>
                </a:solidFill>
                <a:latin typeface="+mj-lt"/>
              </a:rPr>
              <a:t>s của video</a:t>
            </a:r>
            <a:r>
              <a:rPr sz="2000">
                <a:solidFill>
                  <a:srgbClr val="1B365D"/>
                </a:solidFill>
                <a:latin typeface="+mj-lt"/>
              </a:rPr>
              <a:t> truyền thống).</a:t>
            </a:r>
          </a:p>
          <a:p>
            <a:pPr algn="l">
              <a:lnSpc>
                <a:spcPct val="140000"/>
              </a:lnSpc>
              <a:spcAft>
                <a:spcPts val="400"/>
              </a:spcAft>
            </a:pPr>
            <a:r>
              <a:rPr sz="2000" b="1">
                <a:solidFill>
                  <a:srgbClr val="0891B2"/>
                </a:solidFill>
                <a:latin typeface="+mj-lt"/>
              </a:rPr>
              <a:t>•  </a:t>
            </a:r>
            <a:r>
              <a:rPr sz="2000" b="1">
                <a:solidFill>
                  <a:srgbClr val="1B365D"/>
                </a:solidFill>
                <a:latin typeface="+mj-lt"/>
              </a:rPr>
              <a:t>Hiệu ứng</a:t>
            </a:r>
            <a:r>
              <a:rPr lang="en-US" sz="2000" b="1">
                <a:solidFill>
                  <a:srgbClr val="1B365D"/>
                </a:solidFill>
                <a:latin typeface="+mj-lt"/>
              </a:rPr>
              <a:t> chuyển cảnh</a:t>
            </a:r>
            <a:r>
              <a:rPr sz="2000" b="1">
                <a:solidFill>
                  <a:srgbClr val="1B365D"/>
                </a:solidFill>
                <a:latin typeface="+mj-lt"/>
              </a:rPr>
              <a:t> phức tạp: </a:t>
            </a:r>
            <a:r>
              <a:rPr sz="2000">
                <a:solidFill>
                  <a:srgbClr val="1B365D"/>
                </a:solidFill>
                <a:latin typeface="+mj-lt"/>
              </a:rPr>
              <a:t>gradual chồng lớp, hiệu ứng editor đa dạng.</a:t>
            </a:r>
          </a:p>
          <a:p>
            <a:pPr algn="l">
              <a:lnSpc>
                <a:spcPct val="140000"/>
              </a:lnSpc>
              <a:spcAft>
                <a:spcPts val="400"/>
              </a:spcAft>
            </a:pPr>
            <a:r>
              <a:rPr sz="2000" b="1">
                <a:solidFill>
                  <a:srgbClr val="0891B2"/>
                </a:solidFill>
                <a:latin typeface="+mj-lt"/>
              </a:rPr>
              <a:t>•  </a:t>
            </a:r>
            <a:r>
              <a:rPr sz="2000" b="1">
                <a:solidFill>
                  <a:srgbClr val="1B365D"/>
                </a:solidFill>
                <a:latin typeface="+mj-lt"/>
              </a:rPr>
              <a:t>Khung dọc có viền tĩnh: </a:t>
            </a:r>
            <a:r>
              <a:rPr sz="2000">
                <a:solidFill>
                  <a:srgbClr val="1B365D"/>
                </a:solidFill>
                <a:latin typeface="+mj-lt"/>
              </a:rPr>
              <a:t>cấu trúc ba phần gây nhầm lẫn cho SBD.</a:t>
            </a:r>
          </a:p>
          <a:p>
            <a:pPr>
              <a:lnSpc>
                <a:spcPct val="140000"/>
              </a:lnSpc>
              <a:spcAft>
                <a:spcPts val="400"/>
              </a:spcAft>
            </a:pPr>
            <a:r>
              <a:rPr sz="2000" b="1">
                <a:solidFill>
                  <a:srgbClr val="0891B2"/>
                </a:solidFill>
                <a:latin typeface="+mj-lt"/>
              </a:rPr>
              <a:t>•  </a:t>
            </a:r>
            <a:r>
              <a:rPr sz="2000" b="1">
                <a:solidFill>
                  <a:srgbClr val="1B365D"/>
                </a:solidFill>
                <a:latin typeface="+mj-lt"/>
              </a:rPr>
              <a:t>Flash &amp; camera motion: </a:t>
            </a:r>
            <a:r>
              <a:rPr lang="vi-VN" sz="2000">
                <a:solidFill>
                  <a:srgbClr val="1B365D"/>
                </a:solidFill>
                <a:latin typeface="+mj-lt"/>
              </a:rPr>
              <a:t>Có nhiễu thị giác như flash, camera motion, nội dung thay đổi mạnh trong cùng một shot.</a:t>
            </a:r>
            <a:endParaRPr sz="2000">
              <a:solidFill>
                <a:srgbClr val="1B365D"/>
              </a:solidFill>
              <a:latin typeface="+mj-lt"/>
            </a:endParaRPr>
          </a:p>
          <a:p>
            <a:pPr algn="l">
              <a:lnSpc>
                <a:spcPct val="140000"/>
              </a:lnSpc>
              <a:spcAft>
                <a:spcPts val="400"/>
              </a:spcAft>
            </a:pPr>
            <a:r>
              <a:rPr sz="2000" b="1">
                <a:solidFill>
                  <a:srgbClr val="0891B2"/>
                </a:solidFill>
                <a:latin typeface="+mj-lt"/>
              </a:rPr>
              <a:t>•  </a:t>
            </a:r>
            <a:r>
              <a:rPr sz="2000" b="1">
                <a:solidFill>
                  <a:srgbClr val="1B365D"/>
                </a:solidFill>
                <a:latin typeface="+mj-lt"/>
              </a:rPr>
              <a:t>Nội dung ảo / game: </a:t>
            </a:r>
            <a:r>
              <a:rPr sz="2000">
                <a:solidFill>
                  <a:srgbClr val="1B365D"/>
                </a:solidFill>
                <a:latin typeface="+mj-lt"/>
              </a:rPr>
              <a:t>biến đổi thị giác ngay trong một shot.</a:t>
            </a:r>
          </a:p>
        </p:txBody>
      </p:sp>
      <p:pic>
        <p:nvPicPr>
          <p:cNvPr id="13" name="Picture 12">
            <a:extLst>
              <a:ext uri="{FF2B5EF4-FFF2-40B4-BE49-F238E27FC236}">
                <a16:creationId xmlns:a16="http://schemas.microsoft.com/office/drawing/2014/main" id="{B60B5344-2097-7C9D-AFCE-1A4213B951B1}"/>
              </a:ext>
            </a:extLst>
          </p:cNvPr>
          <p:cNvPicPr>
            <a:picLocks noChangeAspect="1"/>
          </p:cNvPicPr>
          <p:nvPr/>
        </p:nvPicPr>
        <p:blipFill>
          <a:blip r:embed="rId4"/>
          <a:stretch>
            <a:fillRect/>
          </a:stretch>
        </p:blipFill>
        <p:spPr>
          <a:xfrm>
            <a:off x="2343824" y="4098568"/>
            <a:ext cx="1304352" cy="2412972"/>
          </a:xfrm>
          <a:prstGeom prst="rect">
            <a:avLst/>
          </a:prstGeom>
        </p:spPr>
      </p:pic>
      <p:pic>
        <p:nvPicPr>
          <p:cNvPr id="15" name="Picture 14">
            <a:extLst>
              <a:ext uri="{FF2B5EF4-FFF2-40B4-BE49-F238E27FC236}">
                <a16:creationId xmlns:a16="http://schemas.microsoft.com/office/drawing/2014/main" id="{12E32B04-AC94-28EC-8F70-9F542F55734B}"/>
              </a:ext>
            </a:extLst>
          </p:cNvPr>
          <p:cNvPicPr>
            <a:picLocks noChangeAspect="1"/>
          </p:cNvPicPr>
          <p:nvPr/>
        </p:nvPicPr>
        <p:blipFill>
          <a:blip r:embed="rId5"/>
          <a:stretch>
            <a:fillRect/>
          </a:stretch>
        </p:blipFill>
        <p:spPr>
          <a:xfrm>
            <a:off x="2343824" y="1541708"/>
            <a:ext cx="1327544" cy="2455875"/>
          </a:xfrm>
          <a:prstGeom prst="rect">
            <a:avLst/>
          </a:prstGeom>
        </p:spPr>
      </p:pic>
      <p:pic>
        <p:nvPicPr>
          <p:cNvPr id="17" name="Picture 16">
            <a:extLst>
              <a:ext uri="{FF2B5EF4-FFF2-40B4-BE49-F238E27FC236}">
                <a16:creationId xmlns:a16="http://schemas.microsoft.com/office/drawing/2014/main" id="{46A4F5A2-2B48-587F-AAAF-CC211019049E}"/>
              </a:ext>
            </a:extLst>
          </p:cNvPr>
          <p:cNvPicPr>
            <a:picLocks noChangeAspect="1"/>
          </p:cNvPicPr>
          <p:nvPr/>
        </p:nvPicPr>
        <p:blipFill>
          <a:blip r:embed="rId6"/>
          <a:stretch>
            <a:fillRect/>
          </a:stretch>
        </p:blipFill>
        <p:spPr>
          <a:xfrm>
            <a:off x="705576" y="4098568"/>
            <a:ext cx="1304352" cy="2412972"/>
          </a:xfrm>
          <a:prstGeom prst="rect">
            <a:avLst/>
          </a:prstGeom>
        </p:spPr>
      </p:pic>
      <p:sp>
        <p:nvSpPr>
          <p:cNvPr id="4" name="TextBox 3">
            <a:extLst>
              <a:ext uri="{FF2B5EF4-FFF2-40B4-BE49-F238E27FC236}">
                <a16:creationId xmlns:a16="http://schemas.microsoft.com/office/drawing/2014/main" id="{9A4BCEE7-45AB-2899-0553-CDCB58FF673C}"/>
              </a:ext>
            </a:extLst>
          </p:cNvPr>
          <p:cNvSpPr txBox="1"/>
          <p:nvPr/>
        </p:nvSpPr>
        <p:spPr>
          <a:xfrm>
            <a:off x="548640" y="320040"/>
            <a:ext cx="9144000" cy="215444"/>
          </a:xfrm>
          <a:prstGeom prst="rect">
            <a:avLst/>
          </a:prstGeom>
          <a:noFill/>
        </p:spPr>
        <p:txBody>
          <a:bodyPr wrap="square" lIns="0" tIns="0" rIns="0" bIns="0" anchor="t">
            <a:spAutoFit/>
          </a:bodyPr>
          <a:lstStyle/>
          <a:p>
            <a:pPr algn="l"/>
            <a:r>
              <a:rPr sz="1400" b="1">
                <a:solidFill>
                  <a:srgbClr val="0891B2"/>
                </a:solidFill>
                <a:latin typeface="+mj-lt"/>
              </a:rPr>
              <a:t>1</a:t>
            </a:r>
            <a:r>
              <a:rPr lang="en-US" sz="1400" b="1">
                <a:solidFill>
                  <a:srgbClr val="0891B2"/>
                </a:solidFill>
                <a:latin typeface="+mj-lt"/>
              </a:rPr>
              <a:t>. </a:t>
            </a:r>
            <a:r>
              <a:rPr lang="en-US" sz="1400" b="1" err="1">
                <a:solidFill>
                  <a:srgbClr val="0891B2"/>
                </a:solidFill>
                <a:latin typeface="+mj-lt"/>
              </a:rPr>
              <a:t>TỔNG</a:t>
            </a:r>
            <a:r>
              <a:rPr lang="en-US" sz="1400" b="1">
                <a:solidFill>
                  <a:srgbClr val="0891B2"/>
                </a:solidFill>
                <a:latin typeface="+mj-lt"/>
              </a:rPr>
              <a:t> QUAN</a:t>
            </a:r>
            <a:endParaRPr sz="1400" b="1">
              <a:solidFill>
                <a:srgbClr val="0891B2"/>
              </a:solidFill>
              <a:latin typeface="+mj-lt"/>
            </a:endParaRPr>
          </a:p>
        </p:txBody>
      </p:sp>
    </p:spTree>
    <p:extLst>
      <p:ext uri="{BB962C8B-B14F-4D97-AF65-F5344CB8AC3E}">
        <p14:creationId xmlns:p14="http://schemas.microsoft.com/office/powerpoint/2010/main" val="2924626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B365D"/>
                </a:solidFill>
                <a:latin typeface="+mj-lt"/>
              </a:rPr>
              <a:t>Câu hỏi nghiên cứu &amp; đóng góp</a:t>
            </a: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07 / 25</a:t>
            </a:r>
          </a:p>
        </p:txBody>
      </p:sp>
      <p:sp>
        <p:nvSpPr>
          <p:cNvPr id="10" name="Rectangle 9"/>
          <p:cNvSpPr/>
          <p:nvPr/>
        </p:nvSpPr>
        <p:spPr>
          <a:xfrm>
            <a:off x="548640" y="1691640"/>
            <a:ext cx="5486400" cy="365760"/>
          </a:xfrm>
          <a:prstGeom prst="rect">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1" name="TextBox 10"/>
          <p:cNvSpPr txBox="1"/>
          <p:nvPr/>
        </p:nvSpPr>
        <p:spPr>
          <a:xfrm>
            <a:off x="731520" y="1728307"/>
            <a:ext cx="5486400" cy="307777"/>
          </a:xfrm>
          <a:prstGeom prst="rect">
            <a:avLst/>
          </a:prstGeom>
          <a:noFill/>
        </p:spPr>
        <p:txBody>
          <a:bodyPr wrap="square" lIns="0" tIns="0" rIns="0" bIns="0" anchor="t">
            <a:spAutoFit/>
          </a:bodyPr>
          <a:lstStyle/>
          <a:p>
            <a:pPr algn="l"/>
            <a:r>
              <a:rPr sz="2000" b="1">
                <a:solidFill>
                  <a:srgbClr val="FFFFFF"/>
                </a:solidFill>
                <a:latin typeface="+mj-lt"/>
              </a:rPr>
              <a:t>CÂU HỎI NGHIÊN CỨU</a:t>
            </a:r>
          </a:p>
        </p:txBody>
      </p:sp>
      <p:sp>
        <p:nvSpPr>
          <p:cNvPr id="12" name="Rounded Rectangle 11"/>
          <p:cNvSpPr/>
          <p:nvPr/>
        </p:nvSpPr>
        <p:spPr>
          <a:xfrm>
            <a:off x="548640" y="2103120"/>
            <a:ext cx="5486400" cy="4206240"/>
          </a:xfrm>
          <a:prstGeom prst="roundRect">
            <a:avLst>
              <a:gd name="adj" fmla="val 12000"/>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3" name="Rounded Rectangle 12"/>
          <p:cNvSpPr/>
          <p:nvPr/>
        </p:nvSpPr>
        <p:spPr>
          <a:xfrm>
            <a:off x="777240" y="2485217"/>
            <a:ext cx="652272" cy="676216"/>
          </a:xfrm>
          <a:prstGeom prst="roundRect">
            <a:avLst>
              <a:gd name="adj" fmla="val 12000"/>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latin typeface="+mj-lt"/>
              </a:rPr>
              <a:t>Q1</a:t>
            </a:r>
            <a:endParaRPr sz="2000">
              <a:latin typeface="+mj-lt"/>
            </a:endParaRPr>
          </a:p>
        </p:txBody>
      </p:sp>
      <p:sp>
        <p:nvSpPr>
          <p:cNvPr id="15" name="TextBox 14"/>
          <p:cNvSpPr txBox="1"/>
          <p:nvPr/>
        </p:nvSpPr>
        <p:spPr>
          <a:xfrm>
            <a:off x="1574404" y="2512376"/>
            <a:ext cx="3948571" cy="615553"/>
          </a:xfrm>
          <a:prstGeom prst="rect">
            <a:avLst/>
          </a:prstGeom>
          <a:noFill/>
        </p:spPr>
        <p:txBody>
          <a:bodyPr wrap="square" lIns="0" tIns="0" rIns="0" bIns="0" anchor="t">
            <a:spAutoFit/>
          </a:bodyPr>
          <a:lstStyle/>
          <a:p>
            <a:pPr algn="l"/>
            <a:r>
              <a:rPr sz="2000" b="0">
                <a:solidFill>
                  <a:srgbClr val="1B365D"/>
                </a:solidFill>
                <a:latin typeface="+mj-lt"/>
              </a:rPr>
              <a:t>NAS có giúp kiến trúc vượt trội so với </a:t>
            </a:r>
            <a:r>
              <a:rPr lang="en-US" sz="2000">
                <a:solidFill>
                  <a:srgbClr val="1B365D"/>
                </a:solidFill>
                <a:latin typeface="+mj-lt"/>
              </a:rPr>
              <a:t>kiến trúc</a:t>
            </a:r>
            <a:r>
              <a:rPr sz="2000" b="0">
                <a:solidFill>
                  <a:srgbClr val="1B365D"/>
                </a:solidFill>
                <a:latin typeface="+mj-lt"/>
              </a:rPr>
              <a:t> cố định trên video ngắn?</a:t>
            </a:r>
          </a:p>
        </p:txBody>
      </p:sp>
      <p:sp>
        <p:nvSpPr>
          <p:cNvPr id="16" name="Rounded Rectangle 15"/>
          <p:cNvSpPr/>
          <p:nvPr/>
        </p:nvSpPr>
        <p:spPr>
          <a:xfrm>
            <a:off x="777240" y="3640480"/>
            <a:ext cx="652272" cy="676216"/>
          </a:xfrm>
          <a:prstGeom prst="roundRect">
            <a:avLst>
              <a:gd name="adj" fmla="val 12000"/>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latin typeface="+mj-lt"/>
              </a:rPr>
              <a:t>Q2</a:t>
            </a:r>
            <a:endParaRPr sz="2000">
              <a:latin typeface="+mj-lt"/>
            </a:endParaRPr>
          </a:p>
        </p:txBody>
      </p:sp>
      <p:sp>
        <p:nvSpPr>
          <p:cNvPr id="18" name="TextBox 17"/>
          <p:cNvSpPr txBox="1"/>
          <p:nvPr/>
        </p:nvSpPr>
        <p:spPr>
          <a:xfrm>
            <a:off x="1570595" y="3676556"/>
            <a:ext cx="4206240" cy="615553"/>
          </a:xfrm>
          <a:prstGeom prst="rect">
            <a:avLst/>
          </a:prstGeom>
          <a:noFill/>
        </p:spPr>
        <p:txBody>
          <a:bodyPr wrap="square" lIns="0" tIns="0" rIns="0" bIns="0" anchor="t">
            <a:spAutoFit/>
          </a:bodyPr>
          <a:lstStyle/>
          <a:p>
            <a:pPr algn="l"/>
            <a:r>
              <a:rPr sz="2000" b="0">
                <a:solidFill>
                  <a:srgbClr val="1B365D"/>
                </a:solidFill>
                <a:latin typeface="+mj-lt"/>
              </a:rPr>
              <a:t>Các kỹ thuật </a:t>
            </a:r>
            <a:r>
              <a:rPr lang="en-US" sz="2000">
                <a:solidFill>
                  <a:srgbClr val="1B365D"/>
                </a:solidFill>
                <a:latin typeface="+mj-lt"/>
              </a:rPr>
              <a:t>phân loại</a:t>
            </a:r>
            <a:r>
              <a:rPr sz="2000" b="0">
                <a:solidFill>
                  <a:srgbClr val="1B365D"/>
                </a:solidFill>
                <a:latin typeface="+mj-lt"/>
              </a:rPr>
              <a:t> + hậu xử lý có cải thiện F1 mà không đổi ?</a:t>
            </a:r>
          </a:p>
        </p:txBody>
      </p:sp>
      <p:sp>
        <p:nvSpPr>
          <p:cNvPr id="19" name="Rounded Rectangle 18"/>
          <p:cNvSpPr/>
          <p:nvPr/>
        </p:nvSpPr>
        <p:spPr>
          <a:xfrm>
            <a:off x="777240" y="4795743"/>
            <a:ext cx="652272" cy="676216"/>
          </a:xfrm>
          <a:prstGeom prst="roundRect">
            <a:avLst>
              <a:gd name="adj" fmla="val 12000"/>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latin typeface="+mj-lt"/>
              </a:rPr>
              <a:t>Q3</a:t>
            </a:r>
            <a:endParaRPr sz="2000">
              <a:latin typeface="+mj-lt"/>
            </a:endParaRPr>
          </a:p>
        </p:txBody>
      </p:sp>
      <p:sp>
        <p:nvSpPr>
          <p:cNvPr id="21" name="TextBox 20"/>
          <p:cNvSpPr txBox="1"/>
          <p:nvPr/>
        </p:nvSpPr>
        <p:spPr>
          <a:xfrm>
            <a:off x="1574405" y="4751920"/>
            <a:ext cx="4206240" cy="923330"/>
          </a:xfrm>
          <a:prstGeom prst="rect">
            <a:avLst/>
          </a:prstGeom>
          <a:noFill/>
        </p:spPr>
        <p:txBody>
          <a:bodyPr wrap="square" lIns="0" tIns="0" rIns="0" bIns="0" anchor="t">
            <a:spAutoFit/>
          </a:bodyPr>
          <a:lstStyle/>
          <a:p>
            <a:pPr algn="l"/>
            <a:r>
              <a:rPr sz="2000" b="0">
                <a:solidFill>
                  <a:srgbClr val="1B365D"/>
                </a:solidFill>
                <a:latin typeface="+mj-lt"/>
              </a:rPr>
              <a:t>Cải tiến trên SHOT</a:t>
            </a:r>
            <a:r>
              <a:rPr lang="en-US" sz="2000" b="0">
                <a:solidFill>
                  <a:srgbClr val="1B365D"/>
                </a:solidFill>
                <a:latin typeface="+mj-lt"/>
              </a:rPr>
              <a:t> + Clipshots</a:t>
            </a:r>
            <a:r>
              <a:rPr sz="2000" b="0">
                <a:solidFill>
                  <a:srgbClr val="1B365D"/>
                </a:solidFill>
                <a:latin typeface="+mj-lt"/>
              </a:rPr>
              <a:t> có tổng quát hóa sang BBC </a:t>
            </a:r>
            <a:r>
              <a:rPr lang="en-US" sz="2000" b="0">
                <a:solidFill>
                  <a:srgbClr val="1B365D"/>
                </a:solidFill>
                <a:latin typeface="+mj-lt"/>
              </a:rPr>
              <a:t>hay các </a:t>
            </a:r>
            <a:r>
              <a:rPr lang="en-US" sz="2000">
                <a:solidFill>
                  <a:srgbClr val="1B365D"/>
                </a:solidFill>
                <a:latin typeface="+mj-lt"/>
              </a:rPr>
              <a:t>dữ liệu</a:t>
            </a:r>
            <a:r>
              <a:rPr lang="en-US" sz="2000" b="0">
                <a:solidFill>
                  <a:srgbClr val="1B365D"/>
                </a:solidFill>
                <a:latin typeface="+mj-lt"/>
              </a:rPr>
              <a:t> khác không</a:t>
            </a:r>
            <a:r>
              <a:rPr sz="2000" b="0">
                <a:solidFill>
                  <a:srgbClr val="1B365D"/>
                </a:solidFill>
                <a:latin typeface="+mj-lt"/>
              </a:rPr>
              <a:t>?</a:t>
            </a:r>
          </a:p>
        </p:txBody>
      </p:sp>
      <p:sp>
        <p:nvSpPr>
          <p:cNvPr id="22" name="Rectangle 21"/>
          <p:cNvSpPr/>
          <p:nvPr/>
        </p:nvSpPr>
        <p:spPr>
          <a:xfrm>
            <a:off x="6217920" y="1691640"/>
            <a:ext cx="5486400" cy="365760"/>
          </a:xfrm>
          <a:prstGeom prst="rect">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3" name="TextBox 22"/>
          <p:cNvSpPr txBox="1"/>
          <p:nvPr/>
        </p:nvSpPr>
        <p:spPr>
          <a:xfrm>
            <a:off x="6400800" y="1728307"/>
            <a:ext cx="5486400" cy="307777"/>
          </a:xfrm>
          <a:prstGeom prst="rect">
            <a:avLst/>
          </a:prstGeom>
          <a:noFill/>
        </p:spPr>
        <p:txBody>
          <a:bodyPr wrap="square" lIns="0" tIns="0" rIns="0" bIns="0" anchor="t">
            <a:spAutoFit/>
          </a:bodyPr>
          <a:lstStyle/>
          <a:p>
            <a:pPr algn="l"/>
            <a:r>
              <a:rPr sz="2000" b="1">
                <a:solidFill>
                  <a:srgbClr val="FFFFFF"/>
                </a:solidFill>
                <a:latin typeface="+mj-lt"/>
              </a:rPr>
              <a:t>ĐÓNG GÓP CHÍNH</a:t>
            </a:r>
          </a:p>
        </p:txBody>
      </p:sp>
      <p:sp>
        <p:nvSpPr>
          <p:cNvPr id="24" name="Rounded Rectangle 23"/>
          <p:cNvSpPr/>
          <p:nvPr/>
        </p:nvSpPr>
        <p:spPr>
          <a:xfrm>
            <a:off x="6217920" y="2103120"/>
            <a:ext cx="5486400" cy="4206240"/>
          </a:xfrm>
          <a:prstGeom prst="roundRect">
            <a:avLst>
              <a:gd name="adj" fmla="val 12000"/>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25" name="TextBox 24"/>
          <p:cNvSpPr txBox="1"/>
          <p:nvPr/>
        </p:nvSpPr>
        <p:spPr>
          <a:xfrm>
            <a:off x="6446520" y="2438400"/>
            <a:ext cx="594360" cy="400110"/>
          </a:xfrm>
          <a:prstGeom prst="rect">
            <a:avLst/>
          </a:prstGeom>
          <a:solidFill>
            <a:srgbClr val="0891B2"/>
          </a:solidFill>
        </p:spPr>
        <p:txBody>
          <a:bodyPr wrap="square" lIns="0" tIns="0" rIns="0" bIns="0" anchor="t">
            <a:spAutoFit/>
          </a:bodyPr>
          <a:lstStyle/>
          <a:p>
            <a:pPr algn="ctr"/>
            <a:r>
              <a:rPr lang="en-US" sz="2600" b="1">
                <a:latin typeface="+mj-lt"/>
              </a:rPr>
              <a:t>1</a:t>
            </a:r>
            <a:endParaRPr sz="2600" b="1">
              <a:latin typeface="+mj-lt"/>
            </a:endParaRPr>
          </a:p>
        </p:txBody>
      </p:sp>
      <p:sp>
        <p:nvSpPr>
          <p:cNvPr id="26" name="TextBox 25"/>
          <p:cNvSpPr txBox="1"/>
          <p:nvPr/>
        </p:nvSpPr>
        <p:spPr>
          <a:xfrm>
            <a:off x="7223760" y="2495880"/>
            <a:ext cx="4297680" cy="307777"/>
          </a:xfrm>
          <a:prstGeom prst="rect">
            <a:avLst/>
          </a:prstGeom>
          <a:noFill/>
        </p:spPr>
        <p:txBody>
          <a:bodyPr wrap="square" lIns="0" tIns="0" rIns="0" bIns="0" anchor="t">
            <a:spAutoFit/>
          </a:bodyPr>
          <a:lstStyle/>
          <a:p>
            <a:pPr algn="l"/>
            <a:r>
              <a:rPr sz="2000" b="1">
                <a:solidFill>
                  <a:srgbClr val="1B365D"/>
                </a:solidFill>
                <a:latin typeface="+mj-lt"/>
              </a:rPr>
              <a:t>Tổng quan có hệ thống</a:t>
            </a:r>
          </a:p>
        </p:txBody>
      </p:sp>
      <p:sp>
        <p:nvSpPr>
          <p:cNvPr id="27" name="TextBox 26"/>
          <p:cNvSpPr txBox="1"/>
          <p:nvPr/>
        </p:nvSpPr>
        <p:spPr>
          <a:xfrm>
            <a:off x="6464808" y="2974777"/>
            <a:ext cx="4297680" cy="307777"/>
          </a:xfrm>
          <a:prstGeom prst="rect">
            <a:avLst/>
          </a:prstGeom>
          <a:noFill/>
        </p:spPr>
        <p:txBody>
          <a:bodyPr wrap="square" lIns="0" tIns="0" rIns="0" bIns="0" anchor="t">
            <a:spAutoFit/>
          </a:bodyPr>
          <a:lstStyle/>
          <a:p>
            <a:pPr algn="l"/>
            <a:r>
              <a:rPr sz="2000" b="0">
                <a:solidFill>
                  <a:srgbClr val="64748B"/>
                </a:solidFill>
                <a:latin typeface="+mj-lt"/>
              </a:rPr>
              <a:t>SBD cổ điển → deep learning → NAS.</a:t>
            </a:r>
          </a:p>
        </p:txBody>
      </p:sp>
      <p:sp>
        <p:nvSpPr>
          <p:cNvPr id="29" name="TextBox 28"/>
          <p:cNvSpPr txBox="1"/>
          <p:nvPr/>
        </p:nvSpPr>
        <p:spPr>
          <a:xfrm>
            <a:off x="7223760" y="3599679"/>
            <a:ext cx="4297680" cy="307777"/>
          </a:xfrm>
          <a:prstGeom prst="rect">
            <a:avLst/>
          </a:prstGeom>
          <a:noFill/>
        </p:spPr>
        <p:txBody>
          <a:bodyPr wrap="square" lIns="0" tIns="0" rIns="0" bIns="0" anchor="t">
            <a:spAutoFit/>
          </a:bodyPr>
          <a:lstStyle/>
          <a:p>
            <a:pPr algn="l"/>
            <a:r>
              <a:rPr sz="2000" b="1">
                <a:solidFill>
                  <a:srgbClr val="1B365D"/>
                </a:solidFill>
                <a:latin typeface="+mj-lt"/>
              </a:rPr>
              <a:t>Pipeline AutoShotV2</a:t>
            </a:r>
          </a:p>
        </p:txBody>
      </p:sp>
      <p:sp>
        <p:nvSpPr>
          <p:cNvPr id="30" name="TextBox 29"/>
          <p:cNvSpPr txBox="1"/>
          <p:nvPr/>
        </p:nvSpPr>
        <p:spPr>
          <a:xfrm>
            <a:off x="6464808" y="4062293"/>
            <a:ext cx="4297680" cy="615553"/>
          </a:xfrm>
          <a:prstGeom prst="rect">
            <a:avLst/>
          </a:prstGeom>
          <a:noFill/>
        </p:spPr>
        <p:txBody>
          <a:bodyPr wrap="square" lIns="0" tIns="0" rIns="0" bIns="0" anchor="t">
            <a:spAutoFit/>
          </a:bodyPr>
          <a:lstStyle/>
          <a:p>
            <a:pPr algn="l"/>
            <a:r>
              <a:rPr sz="2000" b="0">
                <a:solidFill>
                  <a:srgbClr val="64748B"/>
                </a:solidFill>
                <a:latin typeface="+mj-lt"/>
              </a:rPr>
              <a:t>Focal Loss, many-hot, temp scaling, Gaussian trên backbone NAS đóng băng.</a:t>
            </a:r>
          </a:p>
        </p:txBody>
      </p:sp>
      <p:sp>
        <p:nvSpPr>
          <p:cNvPr id="32" name="TextBox 31"/>
          <p:cNvSpPr txBox="1"/>
          <p:nvPr/>
        </p:nvSpPr>
        <p:spPr>
          <a:xfrm>
            <a:off x="7223760" y="4860744"/>
            <a:ext cx="4297680" cy="307777"/>
          </a:xfrm>
          <a:prstGeom prst="rect">
            <a:avLst/>
          </a:prstGeom>
          <a:noFill/>
        </p:spPr>
        <p:txBody>
          <a:bodyPr wrap="square" lIns="0" tIns="0" rIns="0" bIns="0" anchor="t">
            <a:spAutoFit/>
          </a:bodyPr>
          <a:lstStyle/>
          <a:p>
            <a:pPr algn="l"/>
            <a:r>
              <a:rPr sz="2000" b="1">
                <a:solidFill>
                  <a:srgbClr val="1B365D"/>
                </a:solidFill>
                <a:latin typeface="+mj-lt"/>
              </a:rPr>
              <a:t>Đánh giá đa miền</a:t>
            </a:r>
          </a:p>
        </p:txBody>
      </p:sp>
      <p:sp>
        <p:nvSpPr>
          <p:cNvPr id="33" name="TextBox 32"/>
          <p:cNvSpPr txBox="1"/>
          <p:nvPr/>
        </p:nvSpPr>
        <p:spPr>
          <a:xfrm>
            <a:off x="6446520" y="5293101"/>
            <a:ext cx="4297680" cy="615553"/>
          </a:xfrm>
          <a:prstGeom prst="rect">
            <a:avLst/>
          </a:prstGeom>
          <a:noFill/>
        </p:spPr>
        <p:txBody>
          <a:bodyPr wrap="square" lIns="0" tIns="0" rIns="0" bIns="0" anchor="t">
            <a:spAutoFit/>
          </a:bodyPr>
          <a:lstStyle/>
          <a:p>
            <a:pPr algn="l"/>
            <a:r>
              <a:rPr sz="2000" b="0">
                <a:solidFill>
                  <a:srgbClr val="64748B"/>
                </a:solidFill>
                <a:latin typeface="+mj-lt"/>
              </a:rPr>
              <a:t>SHOT, BBC, ClipShots — phân tích tổng quát hóa.</a:t>
            </a:r>
          </a:p>
        </p:txBody>
      </p:sp>
      <p:sp>
        <p:nvSpPr>
          <p:cNvPr id="34" name="TextBox 33">
            <a:extLst>
              <a:ext uri="{FF2B5EF4-FFF2-40B4-BE49-F238E27FC236}">
                <a16:creationId xmlns:a16="http://schemas.microsoft.com/office/drawing/2014/main" id="{9EC17564-1624-5C92-675D-E5FB5F28ABE7}"/>
              </a:ext>
            </a:extLst>
          </p:cNvPr>
          <p:cNvSpPr txBox="1"/>
          <p:nvPr/>
        </p:nvSpPr>
        <p:spPr>
          <a:xfrm>
            <a:off x="6446520" y="3555027"/>
            <a:ext cx="594360" cy="400110"/>
          </a:xfrm>
          <a:prstGeom prst="rect">
            <a:avLst/>
          </a:prstGeom>
          <a:solidFill>
            <a:srgbClr val="0891B2"/>
          </a:solidFill>
        </p:spPr>
        <p:txBody>
          <a:bodyPr wrap="square" lIns="0" tIns="0" rIns="0" bIns="0" anchor="t">
            <a:spAutoFit/>
          </a:bodyPr>
          <a:lstStyle/>
          <a:p>
            <a:pPr algn="ctr"/>
            <a:r>
              <a:rPr lang="en-US" sz="2600" b="1">
                <a:latin typeface="+mj-lt"/>
              </a:rPr>
              <a:t>2</a:t>
            </a:r>
            <a:endParaRPr sz="2600" b="1">
              <a:latin typeface="+mj-lt"/>
            </a:endParaRPr>
          </a:p>
        </p:txBody>
      </p:sp>
      <p:sp>
        <p:nvSpPr>
          <p:cNvPr id="35" name="TextBox 34">
            <a:extLst>
              <a:ext uri="{FF2B5EF4-FFF2-40B4-BE49-F238E27FC236}">
                <a16:creationId xmlns:a16="http://schemas.microsoft.com/office/drawing/2014/main" id="{84F9F268-630E-4D3E-96C0-C13CE31DABDA}"/>
              </a:ext>
            </a:extLst>
          </p:cNvPr>
          <p:cNvSpPr txBox="1"/>
          <p:nvPr/>
        </p:nvSpPr>
        <p:spPr>
          <a:xfrm>
            <a:off x="6464808" y="4810065"/>
            <a:ext cx="594360" cy="400110"/>
          </a:xfrm>
          <a:prstGeom prst="rect">
            <a:avLst/>
          </a:prstGeom>
          <a:solidFill>
            <a:srgbClr val="0891B2"/>
          </a:solidFill>
        </p:spPr>
        <p:txBody>
          <a:bodyPr wrap="square" lIns="0" tIns="0" rIns="0" bIns="0" anchor="t">
            <a:spAutoFit/>
          </a:bodyPr>
          <a:lstStyle/>
          <a:p>
            <a:pPr algn="ctr"/>
            <a:r>
              <a:rPr lang="en-US" sz="2600" b="1">
                <a:latin typeface="+mj-lt"/>
              </a:rPr>
              <a:t>3</a:t>
            </a:r>
            <a:endParaRPr sz="2600" b="1">
              <a:latin typeface="+mj-lt"/>
            </a:endParaRPr>
          </a:p>
        </p:txBody>
      </p:sp>
      <p:sp>
        <p:nvSpPr>
          <p:cNvPr id="4" name="TextBox 3">
            <a:extLst>
              <a:ext uri="{FF2B5EF4-FFF2-40B4-BE49-F238E27FC236}">
                <a16:creationId xmlns:a16="http://schemas.microsoft.com/office/drawing/2014/main" id="{A0C7ECC6-26E8-8BB4-C475-4FB9018F8971}"/>
              </a:ext>
            </a:extLst>
          </p:cNvPr>
          <p:cNvSpPr txBox="1"/>
          <p:nvPr/>
        </p:nvSpPr>
        <p:spPr>
          <a:xfrm>
            <a:off x="548640" y="320040"/>
            <a:ext cx="9144000" cy="215444"/>
          </a:xfrm>
          <a:prstGeom prst="rect">
            <a:avLst/>
          </a:prstGeom>
          <a:noFill/>
        </p:spPr>
        <p:txBody>
          <a:bodyPr wrap="square" lIns="0" tIns="0" rIns="0" bIns="0" anchor="t">
            <a:spAutoFit/>
          </a:bodyPr>
          <a:lstStyle/>
          <a:p>
            <a:pPr algn="l"/>
            <a:r>
              <a:rPr sz="1400" b="1">
                <a:solidFill>
                  <a:srgbClr val="0891B2"/>
                </a:solidFill>
                <a:latin typeface="+mj-lt"/>
              </a:rPr>
              <a:t>1</a:t>
            </a:r>
            <a:r>
              <a:rPr lang="en-US" sz="1400" b="1">
                <a:solidFill>
                  <a:srgbClr val="0891B2"/>
                </a:solidFill>
                <a:latin typeface="+mj-lt"/>
              </a:rPr>
              <a:t>. </a:t>
            </a:r>
            <a:r>
              <a:rPr lang="en-US" sz="1400" b="1" err="1">
                <a:solidFill>
                  <a:srgbClr val="0891B2"/>
                </a:solidFill>
                <a:latin typeface="+mj-lt"/>
              </a:rPr>
              <a:t>TỔNG</a:t>
            </a:r>
            <a:r>
              <a:rPr lang="en-US" sz="1400" b="1">
                <a:solidFill>
                  <a:srgbClr val="0891B2"/>
                </a:solidFill>
                <a:latin typeface="+mj-lt"/>
              </a:rPr>
              <a:t> QUAN</a:t>
            </a:r>
            <a:endParaRPr sz="1400" b="1">
              <a:solidFill>
                <a:srgbClr val="0891B2"/>
              </a:solidFill>
              <a:latin typeface="+mj-lt"/>
            </a:endParaRPr>
          </a:p>
        </p:txBody>
      </p:sp>
    </p:spTree>
    <p:extLst>
      <p:ext uri="{BB962C8B-B14F-4D97-AF65-F5344CB8AC3E}">
        <p14:creationId xmlns:p14="http://schemas.microsoft.com/office/powerpoint/2010/main" val="191785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B365D"/>
                </a:solidFill>
                <a:latin typeface="+mj-lt"/>
              </a:rPr>
              <a:t>Tiến </a:t>
            </a:r>
            <a:r>
              <a:rPr sz="3000" b="1" err="1">
                <a:solidFill>
                  <a:srgbClr val="1B365D"/>
                </a:solidFill>
                <a:latin typeface="+mj-lt"/>
              </a:rPr>
              <a:t>hóa</a:t>
            </a:r>
            <a:r>
              <a:rPr sz="3000" b="1">
                <a:solidFill>
                  <a:srgbClr val="1B365D"/>
                </a:solidFill>
                <a:latin typeface="+mj-lt"/>
              </a:rPr>
              <a:t> </a:t>
            </a:r>
            <a:r>
              <a:rPr sz="3000" b="1" err="1">
                <a:solidFill>
                  <a:srgbClr val="1B365D"/>
                </a:solidFill>
                <a:latin typeface="+mj-lt"/>
              </a:rPr>
              <a:t>các</a:t>
            </a:r>
            <a:r>
              <a:rPr sz="3000" b="1">
                <a:solidFill>
                  <a:srgbClr val="1B365D"/>
                </a:solidFill>
                <a:latin typeface="+mj-lt"/>
              </a:rPr>
              <a:t> </a:t>
            </a:r>
            <a:r>
              <a:rPr sz="3000" b="1" err="1">
                <a:solidFill>
                  <a:srgbClr val="1B365D"/>
                </a:solidFill>
                <a:latin typeface="+mj-lt"/>
              </a:rPr>
              <a:t>phương</a:t>
            </a:r>
            <a:r>
              <a:rPr sz="3000" b="1">
                <a:solidFill>
                  <a:srgbClr val="1B365D"/>
                </a:solidFill>
                <a:latin typeface="+mj-lt"/>
              </a:rPr>
              <a:t> </a:t>
            </a:r>
            <a:r>
              <a:rPr sz="3000" b="1" err="1">
                <a:solidFill>
                  <a:srgbClr val="1B365D"/>
                </a:solidFill>
                <a:latin typeface="+mj-lt"/>
              </a:rPr>
              <a:t>pháp</a:t>
            </a:r>
            <a:r>
              <a:rPr sz="3000" b="1">
                <a:solidFill>
                  <a:srgbClr val="1B365D"/>
                </a:solidFill>
                <a:latin typeface="+mj-lt"/>
              </a:rPr>
              <a:t> SBD</a:t>
            </a: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08 / 25</a:t>
            </a:r>
          </a:p>
        </p:txBody>
      </p:sp>
      <p:sp>
        <p:nvSpPr>
          <p:cNvPr id="10" name="Rounded Rectangle 9"/>
          <p:cNvSpPr/>
          <p:nvPr/>
        </p:nvSpPr>
        <p:spPr>
          <a:xfrm>
            <a:off x="548640" y="1828800"/>
            <a:ext cx="3657600" cy="4023360"/>
          </a:xfrm>
          <a:prstGeom prst="roundRect">
            <a:avLst>
              <a:gd name="adj" fmla="val 12000"/>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1" name="Rectangle 10"/>
          <p:cNvSpPr/>
          <p:nvPr/>
        </p:nvSpPr>
        <p:spPr>
          <a:xfrm>
            <a:off x="548640" y="1828800"/>
            <a:ext cx="3657600" cy="457200"/>
          </a:xfrm>
          <a:prstGeom prst="rect">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2" name="TextBox 11"/>
          <p:cNvSpPr txBox="1"/>
          <p:nvPr/>
        </p:nvSpPr>
        <p:spPr>
          <a:xfrm>
            <a:off x="777240" y="1920240"/>
            <a:ext cx="3200400" cy="307777"/>
          </a:xfrm>
          <a:prstGeom prst="rect">
            <a:avLst/>
          </a:prstGeom>
          <a:noFill/>
        </p:spPr>
        <p:txBody>
          <a:bodyPr wrap="square" lIns="0" tIns="0" rIns="0" bIns="0" anchor="t">
            <a:spAutoFit/>
          </a:bodyPr>
          <a:lstStyle/>
          <a:p>
            <a:pPr algn="l"/>
            <a:r>
              <a:rPr sz="2000" b="1">
                <a:solidFill>
                  <a:srgbClr val="FFFFFF"/>
                </a:solidFill>
                <a:latin typeface="+mj-lt"/>
              </a:rPr>
              <a:t>Pre-2016</a:t>
            </a:r>
          </a:p>
        </p:txBody>
      </p:sp>
      <p:sp>
        <p:nvSpPr>
          <p:cNvPr id="13" name="TextBox 12"/>
          <p:cNvSpPr txBox="1"/>
          <p:nvPr/>
        </p:nvSpPr>
        <p:spPr>
          <a:xfrm>
            <a:off x="777240" y="2468880"/>
            <a:ext cx="3200400" cy="338554"/>
          </a:xfrm>
          <a:prstGeom prst="rect">
            <a:avLst/>
          </a:prstGeom>
          <a:noFill/>
        </p:spPr>
        <p:txBody>
          <a:bodyPr wrap="square" lIns="0" tIns="0" rIns="0" bIns="0" anchor="t">
            <a:spAutoFit/>
          </a:bodyPr>
          <a:lstStyle/>
          <a:p>
            <a:pPr algn="l"/>
            <a:r>
              <a:rPr sz="2200" b="1">
                <a:solidFill>
                  <a:srgbClr val="1B365D"/>
                </a:solidFill>
                <a:latin typeface="+mj-lt"/>
              </a:rPr>
              <a:t>Cổ điển</a:t>
            </a:r>
          </a:p>
        </p:txBody>
      </p:sp>
      <p:cxnSp>
        <p:nvCxnSpPr>
          <p:cNvPr id="14" name="Connector 13"/>
          <p:cNvCxnSpPr/>
          <p:nvPr/>
        </p:nvCxnSpPr>
        <p:spPr>
          <a:xfrm>
            <a:off x="777240" y="3017520"/>
            <a:ext cx="1143000" cy="0"/>
          </a:xfrm>
          <a:prstGeom prst="line">
            <a:avLst/>
          </a:prstGeom>
          <a:ln w="31750">
            <a:solidFill>
              <a:srgbClr val="64748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3246120"/>
            <a:ext cx="3200400" cy="923330"/>
          </a:xfrm>
          <a:prstGeom prst="rect">
            <a:avLst/>
          </a:prstGeom>
          <a:noFill/>
        </p:spPr>
        <p:txBody>
          <a:bodyPr wrap="square" lIns="0" tIns="0" rIns="0" bIns="0" anchor="t">
            <a:spAutoFit/>
          </a:bodyPr>
          <a:lstStyle/>
          <a:p>
            <a:r>
              <a:rPr lang="en-US" sz="2000" b="1">
                <a:solidFill>
                  <a:srgbClr val="1B365D"/>
                </a:solidFill>
              </a:rPr>
              <a:t>• </a:t>
            </a:r>
            <a:r>
              <a:rPr sz="2000" b="1">
                <a:solidFill>
                  <a:srgbClr val="1B365D"/>
                </a:solidFill>
                <a:latin typeface="+mj-lt"/>
              </a:rPr>
              <a:t>Histogram</a:t>
            </a:r>
            <a:endParaRPr lang="en-US" sz="2000" b="1">
              <a:solidFill>
                <a:srgbClr val="1B365D"/>
              </a:solidFill>
              <a:latin typeface="+mj-lt"/>
            </a:endParaRPr>
          </a:p>
          <a:p>
            <a:r>
              <a:rPr sz="2000" b="1">
                <a:solidFill>
                  <a:srgbClr val="1B365D"/>
                </a:solidFill>
                <a:latin typeface="+mj-lt"/>
              </a:rPr>
              <a:t>• </a:t>
            </a:r>
            <a:r>
              <a:rPr lang="en-US" sz="2000" b="1">
                <a:solidFill>
                  <a:srgbClr val="1B365D"/>
                </a:solidFill>
                <a:latin typeface="+mj-lt"/>
              </a:rPr>
              <a:t>pixel difference</a:t>
            </a:r>
          </a:p>
          <a:p>
            <a:r>
              <a:rPr sz="2000" b="1">
                <a:solidFill>
                  <a:srgbClr val="1B365D"/>
                </a:solidFill>
                <a:latin typeface="+mj-lt"/>
              </a:rPr>
              <a:t>• </a:t>
            </a:r>
            <a:r>
              <a:rPr lang="en-US" sz="2000" b="1">
                <a:solidFill>
                  <a:srgbClr val="1B365D"/>
                </a:solidFill>
                <a:latin typeface="+mj-lt"/>
              </a:rPr>
              <a:t>edge-based</a:t>
            </a:r>
            <a:endParaRPr sz="2000" b="1">
              <a:solidFill>
                <a:srgbClr val="1B365D"/>
              </a:solidFill>
              <a:latin typeface="+mj-lt"/>
            </a:endParaRPr>
          </a:p>
        </p:txBody>
      </p:sp>
      <p:sp>
        <p:nvSpPr>
          <p:cNvPr id="16" name="TextBox 15"/>
          <p:cNvSpPr txBox="1"/>
          <p:nvPr/>
        </p:nvSpPr>
        <p:spPr>
          <a:xfrm>
            <a:off x="777240" y="4377802"/>
            <a:ext cx="3200400" cy="615553"/>
          </a:xfrm>
          <a:prstGeom prst="rect">
            <a:avLst/>
          </a:prstGeom>
          <a:noFill/>
        </p:spPr>
        <p:txBody>
          <a:bodyPr wrap="square" lIns="0" tIns="0" rIns="0" bIns="0" anchor="t">
            <a:spAutoFit/>
          </a:bodyPr>
          <a:lstStyle/>
          <a:p>
            <a:pPr algn="l"/>
            <a:r>
              <a:rPr sz="2000" b="0">
                <a:solidFill>
                  <a:srgbClr val="64748B"/>
                </a:solidFill>
                <a:latin typeface="+mj-lt"/>
              </a:rPr>
              <a:t>Nhẹ, trực quan nhưng kém tổng quát hóa.</a:t>
            </a:r>
          </a:p>
        </p:txBody>
      </p:sp>
      <p:sp>
        <p:nvSpPr>
          <p:cNvPr id="17" name="Rounded Rectangle 16"/>
          <p:cNvSpPr/>
          <p:nvPr/>
        </p:nvSpPr>
        <p:spPr>
          <a:xfrm>
            <a:off x="4343400" y="1828800"/>
            <a:ext cx="3657600" cy="4023360"/>
          </a:xfrm>
          <a:prstGeom prst="roundRect">
            <a:avLst>
              <a:gd name="adj" fmla="val 12000"/>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8" name="Rectangle 17"/>
          <p:cNvSpPr/>
          <p:nvPr/>
        </p:nvSpPr>
        <p:spPr>
          <a:xfrm>
            <a:off x="4343400" y="1828800"/>
            <a:ext cx="3657600" cy="457200"/>
          </a:xfrm>
          <a:prstGeom prst="rect">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9" name="TextBox 18"/>
          <p:cNvSpPr txBox="1"/>
          <p:nvPr/>
        </p:nvSpPr>
        <p:spPr>
          <a:xfrm>
            <a:off x="4572000" y="1920240"/>
            <a:ext cx="3200400" cy="307777"/>
          </a:xfrm>
          <a:prstGeom prst="rect">
            <a:avLst/>
          </a:prstGeom>
          <a:noFill/>
        </p:spPr>
        <p:txBody>
          <a:bodyPr wrap="square" lIns="0" tIns="0" rIns="0" bIns="0" anchor="t">
            <a:spAutoFit/>
          </a:bodyPr>
          <a:lstStyle/>
          <a:p>
            <a:pPr algn="l"/>
            <a:r>
              <a:rPr sz="2000" b="1">
                <a:solidFill>
                  <a:srgbClr val="FFFFFF"/>
                </a:solidFill>
                <a:latin typeface="+mj-lt"/>
              </a:rPr>
              <a:t>2017 – 2020</a:t>
            </a:r>
          </a:p>
        </p:txBody>
      </p:sp>
      <p:sp>
        <p:nvSpPr>
          <p:cNvPr id="20" name="TextBox 19"/>
          <p:cNvSpPr txBox="1"/>
          <p:nvPr/>
        </p:nvSpPr>
        <p:spPr>
          <a:xfrm>
            <a:off x="4572000" y="2468880"/>
            <a:ext cx="3200400" cy="338554"/>
          </a:xfrm>
          <a:prstGeom prst="rect">
            <a:avLst/>
          </a:prstGeom>
          <a:noFill/>
        </p:spPr>
        <p:txBody>
          <a:bodyPr wrap="square" lIns="0" tIns="0" rIns="0" bIns="0" anchor="t">
            <a:spAutoFit/>
          </a:bodyPr>
          <a:lstStyle/>
          <a:p>
            <a:pPr algn="l"/>
            <a:r>
              <a:rPr sz="2200" b="1">
                <a:solidFill>
                  <a:srgbClr val="1B365D"/>
                </a:solidFill>
                <a:latin typeface="+mj-lt"/>
              </a:rPr>
              <a:t>Deep Learning</a:t>
            </a:r>
          </a:p>
        </p:txBody>
      </p:sp>
      <p:cxnSp>
        <p:nvCxnSpPr>
          <p:cNvPr id="21" name="Connector 20"/>
          <p:cNvCxnSpPr/>
          <p:nvPr/>
        </p:nvCxnSpPr>
        <p:spPr>
          <a:xfrm>
            <a:off x="4572000" y="3017520"/>
            <a:ext cx="11430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0" y="3246120"/>
            <a:ext cx="3200400" cy="615553"/>
          </a:xfrm>
          <a:prstGeom prst="rect">
            <a:avLst/>
          </a:prstGeom>
          <a:noFill/>
        </p:spPr>
        <p:txBody>
          <a:bodyPr wrap="square" lIns="0" tIns="0" rIns="0" bIns="0" anchor="t">
            <a:spAutoFit/>
          </a:bodyPr>
          <a:lstStyle/>
          <a:p>
            <a:r>
              <a:rPr lang="en-US" sz="2000" b="1">
                <a:solidFill>
                  <a:srgbClr val="1B365D"/>
                </a:solidFill>
              </a:rPr>
              <a:t>• </a:t>
            </a:r>
            <a:r>
              <a:rPr sz="2000" b="1">
                <a:solidFill>
                  <a:srgbClr val="1B365D"/>
                </a:solidFill>
                <a:latin typeface="+mj-lt"/>
              </a:rPr>
              <a:t>C3D (DeepSBD) </a:t>
            </a:r>
            <a:endParaRPr lang="en-US" sz="2000" b="1">
              <a:solidFill>
                <a:srgbClr val="1B365D"/>
              </a:solidFill>
              <a:latin typeface="+mj-lt"/>
            </a:endParaRPr>
          </a:p>
          <a:p>
            <a:pPr algn="l"/>
            <a:r>
              <a:rPr sz="2000" b="1">
                <a:solidFill>
                  <a:srgbClr val="1B365D"/>
                </a:solidFill>
                <a:latin typeface="+mj-lt"/>
              </a:rPr>
              <a:t>• TransNetV2</a:t>
            </a:r>
          </a:p>
        </p:txBody>
      </p:sp>
      <p:sp>
        <p:nvSpPr>
          <p:cNvPr id="23" name="TextBox 22"/>
          <p:cNvSpPr txBox="1"/>
          <p:nvPr/>
        </p:nvSpPr>
        <p:spPr>
          <a:xfrm>
            <a:off x="4572000" y="4377802"/>
            <a:ext cx="3200400" cy="615553"/>
          </a:xfrm>
          <a:prstGeom prst="rect">
            <a:avLst/>
          </a:prstGeom>
          <a:noFill/>
        </p:spPr>
        <p:txBody>
          <a:bodyPr wrap="square" lIns="0" tIns="0" rIns="0" bIns="0" anchor="t">
            <a:spAutoFit/>
          </a:bodyPr>
          <a:lstStyle/>
          <a:p>
            <a:pPr algn="l"/>
            <a:r>
              <a:rPr sz="2000" b="0">
                <a:solidFill>
                  <a:srgbClr val="64748B"/>
                </a:solidFill>
                <a:latin typeface="+mj-lt"/>
              </a:rPr>
              <a:t>Học đặc trưng không – thời gian; mạnh trên phim dài.</a:t>
            </a:r>
          </a:p>
        </p:txBody>
      </p:sp>
      <p:sp>
        <p:nvSpPr>
          <p:cNvPr id="24" name="Rounded Rectangle 23"/>
          <p:cNvSpPr/>
          <p:nvPr/>
        </p:nvSpPr>
        <p:spPr>
          <a:xfrm>
            <a:off x="8138160" y="1828800"/>
            <a:ext cx="3657600" cy="4023360"/>
          </a:xfrm>
          <a:prstGeom prst="roundRect">
            <a:avLst>
              <a:gd name="adj" fmla="val 12000"/>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25" name="Rectangle 24"/>
          <p:cNvSpPr/>
          <p:nvPr/>
        </p:nvSpPr>
        <p:spPr>
          <a:xfrm>
            <a:off x="8138160" y="1828800"/>
            <a:ext cx="3657600" cy="457200"/>
          </a:xfrm>
          <a:prstGeom prst="rect">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6" name="TextBox 25"/>
          <p:cNvSpPr txBox="1"/>
          <p:nvPr/>
        </p:nvSpPr>
        <p:spPr>
          <a:xfrm>
            <a:off x="8366760" y="1920240"/>
            <a:ext cx="3200400" cy="307777"/>
          </a:xfrm>
          <a:prstGeom prst="rect">
            <a:avLst/>
          </a:prstGeom>
          <a:noFill/>
        </p:spPr>
        <p:txBody>
          <a:bodyPr wrap="square" lIns="0" tIns="0" rIns="0" bIns="0" anchor="t">
            <a:spAutoFit/>
          </a:bodyPr>
          <a:lstStyle/>
          <a:p>
            <a:pPr algn="l"/>
            <a:r>
              <a:rPr sz="2000" b="1">
                <a:solidFill>
                  <a:srgbClr val="FFFFFF"/>
                </a:solidFill>
                <a:latin typeface="+mj-lt"/>
              </a:rPr>
              <a:t>2023 →</a:t>
            </a:r>
          </a:p>
        </p:txBody>
      </p:sp>
      <p:sp>
        <p:nvSpPr>
          <p:cNvPr id="27" name="TextBox 26"/>
          <p:cNvSpPr txBox="1"/>
          <p:nvPr/>
        </p:nvSpPr>
        <p:spPr>
          <a:xfrm>
            <a:off x="8366760" y="2468880"/>
            <a:ext cx="3200400" cy="338554"/>
          </a:xfrm>
          <a:prstGeom prst="rect">
            <a:avLst/>
          </a:prstGeom>
          <a:noFill/>
        </p:spPr>
        <p:txBody>
          <a:bodyPr wrap="square" lIns="0" tIns="0" rIns="0" bIns="0" anchor="t">
            <a:spAutoFit/>
          </a:bodyPr>
          <a:lstStyle/>
          <a:p>
            <a:pPr algn="l"/>
            <a:r>
              <a:rPr sz="2200" b="1">
                <a:solidFill>
                  <a:srgbClr val="1B365D"/>
                </a:solidFill>
                <a:latin typeface="+mj-lt"/>
              </a:rPr>
              <a:t>NAS</a:t>
            </a:r>
          </a:p>
        </p:txBody>
      </p:sp>
      <p:cxnSp>
        <p:nvCxnSpPr>
          <p:cNvPr id="28" name="Connector 27"/>
          <p:cNvCxnSpPr/>
          <p:nvPr/>
        </p:nvCxnSpPr>
        <p:spPr>
          <a:xfrm>
            <a:off x="8366760" y="3017520"/>
            <a:ext cx="11430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366760" y="3246120"/>
            <a:ext cx="3200400" cy="307777"/>
          </a:xfrm>
          <a:prstGeom prst="rect">
            <a:avLst/>
          </a:prstGeom>
          <a:noFill/>
        </p:spPr>
        <p:txBody>
          <a:bodyPr wrap="square" lIns="0" tIns="0" rIns="0" bIns="0" anchor="t">
            <a:spAutoFit/>
          </a:bodyPr>
          <a:lstStyle/>
          <a:p>
            <a:r>
              <a:rPr lang="en-US" sz="2000" b="1">
                <a:solidFill>
                  <a:srgbClr val="1B365D"/>
                </a:solidFill>
              </a:rPr>
              <a:t>• </a:t>
            </a:r>
            <a:r>
              <a:rPr sz="2000" b="1">
                <a:solidFill>
                  <a:srgbClr val="1B365D"/>
                </a:solidFill>
                <a:latin typeface="+mj-lt"/>
              </a:rPr>
              <a:t>AutoShot</a:t>
            </a:r>
          </a:p>
        </p:txBody>
      </p:sp>
      <p:sp>
        <p:nvSpPr>
          <p:cNvPr id="30" name="TextBox 29"/>
          <p:cNvSpPr txBox="1"/>
          <p:nvPr/>
        </p:nvSpPr>
        <p:spPr>
          <a:xfrm>
            <a:off x="8366760" y="4377802"/>
            <a:ext cx="3200400" cy="615553"/>
          </a:xfrm>
          <a:prstGeom prst="rect">
            <a:avLst/>
          </a:prstGeom>
          <a:noFill/>
        </p:spPr>
        <p:txBody>
          <a:bodyPr wrap="square" lIns="0" tIns="0" rIns="0" bIns="0" anchor="t">
            <a:spAutoFit/>
          </a:bodyPr>
          <a:lstStyle/>
          <a:p>
            <a:pPr algn="l"/>
            <a:r>
              <a:rPr sz="2000" b="0">
                <a:solidFill>
                  <a:srgbClr val="64748B"/>
                </a:solidFill>
                <a:latin typeface="+mj-lt"/>
              </a:rPr>
              <a:t>Tự tìm kiến trúc tối ưu cho short-form video.</a:t>
            </a:r>
          </a:p>
        </p:txBody>
      </p:sp>
      <p:sp>
        <p:nvSpPr>
          <p:cNvPr id="8" name="Text 2">
            <a:extLst>
              <a:ext uri="{FF2B5EF4-FFF2-40B4-BE49-F238E27FC236}">
                <a16:creationId xmlns:a16="http://schemas.microsoft.com/office/drawing/2014/main" id="{5D565579-D99D-DEAD-C2CF-E7F8BD202B96}"/>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Times New Roman" pitchFamily="34" charset="0"/>
                <a:ea typeface="Times New Roman" pitchFamily="34" charset="-122"/>
                <a:cs typeface="Times New Roman" pitchFamily="34" charset="-120"/>
              </a:rPr>
              <a:t>2. CÔNG </a:t>
            </a:r>
            <a:r>
              <a:rPr lang="en-US" sz="1350" b="1" err="1">
                <a:solidFill>
                  <a:srgbClr val="008FB3"/>
                </a:solidFill>
                <a:latin typeface="Times New Roman" pitchFamily="34" charset="0"/>
                <a:ea typeface="Times New Roman" pitchFamily="34" charset="-122"/>
                <a:cs typeface="Times New Roman" pitchFamily="34" charset="-120"/>
              </a:rPr>
              <a:t>TRÌNH</a:t>
            </a:r>
            <a:r>
              <a:rPr lang="en-US" sz="1350" b="1">
                <a:solidFill>
                  <a:srgbClr val="008FB3"/>
                </a:solidFill>
                <a:latin typeface="Times New Roman" pitchFamily="34" charset="0"/>
                <a:ea typeface="Times New Roman" pitchFamily="34" charset="-122"/>
                <a:cs typeface="Times New Roman" pitchFamily="34" charset="-120"/>
              </a:rPr>
              <a:t> LIÊN QUAN</a:t>
            </a:r>
            <a:endParaRPr lang="en-US" sz="1350"/>
          </a:p>
        </p:txBody>
      </p:sp>
    </p:spTree>
    <p:extLst>
      <p:ext uri="{BB962C8B-B14F-4D97-AF65-F5344CB8AC3E}">
        <p14:creationId xmlns:p14="http://schemas.microsoft.com/office/powerpoint/2010/main" val="2177305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latin typeface="+mj-lt"/>
            </a:endParaRPr>
          </a:p>
        </p:txBody>
      </p:sp>
      <p:sp>
        <p:nvSpPr>
          <p:cNvPr id="3" name="Shape 1"/>
          <p:cNvSpPr/>
          <p:nvPr/>
        </p:nvSpPr>
        <p:spPr>
          <a:xfrm>
            <a:off x="0" y="0"/>
            <a:ext cx="171446" cy="6858000"/>
          </a:xfrm>
          <a:prstGeom prst="rect">
            <a:avLst/>
          </a:prstGeom>
          <a:solidFill>
            <a:srgbClr val="1C3F67"/>
          </a:solidFill>
          <a:ln w="12700">
            <a:solidFill>
              <a:srgbClr val="FFFFFF">
                <a:alpha val="0"/>
              </a:srgbClr>
            </a:solidFill>
            <a:prstDash val="solid"/>
          </a:ln>
        </p:spPr>
        <p:txBody>
          <a:bodyPr/>
          <a:lstStyle/>
          <a:p>
            <a:endParaRPr lang="en-US">
              <a:latin typeface="+mj-lt"/>
            </a:endParaRPr>
          </a:p>
        </p:txBody>
      </p:sp>
      <p:sp>
        <p:nvSpPr>
          <p:cNvPr id="6" name="Shape 4"/>
          <p:cNvSpPr/>
          <p:nvPr/>
        </p:nvSpPr>
        <p:spPr>
          <a:xfrm>
            <a:off x="552436" y="1314450"/>
            <a:ext cx="11096348" cy="28575"/>
          </a:xfrm>
          <a:prstGeom prst="rect">
            <a:avLst/>
          </a:prstGeom>
          <a:solidFill>
            <a:srgbClr val="0095C8"/>
          </a:solidFill>
          <a:ln w="12700">
            <a:solidFill>
              <a:srgbClr val="FFFFFF">
                <a:alpha val="0"/>
              </a:srgbClr>
            </a:solidFill>
            <a:prstDash val="solid"/>
          </a:ln>
          <a:effectLst>
            <a:outerShdw blurRad="298" dist="198" dir="5400000" algn="bl" rotWithShape="0">
              <a:srgbClr val="000000">
                <a:alpha val="22000"/>
              </a:srgbClr>
            </a:outerShdw>
          </a:effectLst>
        </p:spPr>
        <p:txBody>
          <a:bodyPr/>
          <a:lstStyle/>
          <a:p>
            <a:endParaRPr lang="en-US">
              <a:latin typeface="+mj-lt"/>
            </a:endParaRPr>
          </a:p>
        </p:txBody>
      </p:sp>
      <p:graphicFrame>
        <p:nvGraphicFramePr>
          <p:cNvPr id="7" name="Table 0"/>
          <p:cNvGraphicFramePr>
            <a:graphicFrameLocks noGrp="1"/>
          </p:cNvGraphicFramePr>
          <p:nvPr>
            <p:extLst>
              <p:ext uri="{D42A27DB-BD31-4B8C-83A1-F6EECF244321}">
                <p14:modId xmlns:p14="http://schemas.microsoft.com/office/powerpoint/2010/main" val="3436125497"/>
              </p:ext>
            </p:extLst>
          </p:nvPr>
        </p:nvGraphicFramePr>
        <p:xfrm>
          <a:off x="552435" y="1584359"/>
          <a:ext cx="10945466" cy="2733674"/>
        </p:xfrm>
        <a:graphic>
          <a:graphicData uri="http://schemas.openxmlformats.org/drawingml/2006/table">
            <a:tbl>
              <a:tblPr/>
              <a:tblGrid>
                <a:gridCol w="1738092">
                  <a:extLst>
                    <a:ext uri="{9D8B030D-6E8A-4147-A177-3AD203B41FA5}">
                      <a16:colId xmlns:a16="http://schemas.microsoft.com/office/drawing/2014/main" val="20000"/>
                    </a:ext>
                  </a:extLst>
                </a:gridCol>
                <a:gridCol w="1506219">
                  <a:extLst>
                    <a:ext uri="{9D8B030D-6E8A-4147-A177-3AD203B41FA5}">
                      <a16:colId xmlns:a16="http://schemas.microsoft.com/office/drawing/2014/main" val="20001"/>
                    </a:ext>
                  </a:extLst>
                </a:gridCol>
                <a:gridCol w="1408997">
                  <a:extLst>
                    <a:ext uri="{9D8B030D-6E8A-4147-A177-3AD203B41FA5}">
                      <a16:colId xmlns:a16="http://schemas.microsoft.com/office/drawing/2014/main" val="20002"/>
                    </a:ext>
                  </a:extLst>
                </a:gridCol>
                <a:gridCol w="1720158">
                  <a:extLst>
                    <a:ext uri="{9D8B030D-6E8A-4147-A177-3AD203B41FA5}">
                      <a16:colId xmlns:a16="http://schemas.microsoft.com/office/drawing/2014/main" val="20003"/>
                    </a:ext>
                  </a:extLst>
                </a:gridCol>
                <a:gridCol w="4572000">
                  <a:extLst>
                    <a:ext uri="{9D8B030D-6E8A-4147-A177-3AD203B41FA5}">
                      <a16:colId xmlns:a16="http://schemas.microsoft.com/office/drawing/2014/main" val="20004"/>
                    </a:ext>
                  </a:extLst>
                </a:gridCol>
              </a:tblGrid>
              <a:tr h="487474">
                <a:tc>
                  <a:txBody>
                    <a:bodyPr/>
                    <a:lstStyle/>
                    <a:p>
                      <a:pPr marL="0" indent="0" algn="l">
                        <a:buNone/>
                      </a:pPr>
                      <a:r>
                        <a:rPr lang="en-US" sz="2000" b="1">
                          <a:solidFill>
                            <a:srgbClr val="FFFFFF"/>
                          </a:solidFill>
                          <a:latin typeface="+mj-lt"/>
                          <a:ea typeface="Georgia" pitchFamily="34" charset="-122"/>
                          <a:cs typeface="Georgia" pitchFamily="34" charset="-120"/>
                        </a:rPr>
                        <a:t>Mô hình</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1C3F67"/>
                    </a:solidFill>
                  </a:tcPr>
                </a:tc>
                <a:tc>
                  <a:txBody>
                    <a:bodyPr/>
                    <a:lstStyle/>
                    <a:p>
                      <a:pPr marL="0" indent="0" algn="ctr">
                        <a:buNone/>
                      </a:pPr>
                      <a:r>
                        <a:rPr lang="en-US" sz="2000" b="1">
                          <a:solidFill>
                            <a:srgbClr val="FFFFFF"/>
                          </a:solidFill>
                          <a:latin typeface="+mj-lt"/>
                          <a:ea typeface="Georgia" pitchFamily="34" charset="-122"/>
                          <a:cs typeface="Georgia" pitchFamily="34" charset="-120"/>
                        </a:rPr>
                        <a:t>F1 SHOT</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1C3F67"/>
                    </a:solidFill>
                  </a:tcPr>
                </a:tc>
                <a:tc>
                  <a:txBody>
                    <a:bodyPr/>
                    <a:lstStyle/>
                    <a:p>
                      <a:pPr marL="0" indent="0" algn="ctr">
                        <a:buNone/>
                      </a:pPr>
                      <a:r>
                        <a:rPr lang="en-US" sz="2000" b="1">
                          <a:solidFill>
                            <a:srgbClr val="FFFFFF"/>
                          </a:solidFill>
                          <a:latin typeface="+mj-lt"/>
                          <a:ea typeface="Georgia" pitchFamily="34" charset="-122"/>
                          <a:cs typeface="Georgia" pitchFamily="34" charset="-120"/>
                        </a:rPr>
                        <a:t>F1 BBC</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1C3F67"/>
                    </a:solidFill>
                  </a:tcPr>
                </a:tc>
                <a:tc>
                  <a:txBody>
                    <a:bodyPr/>
                    <a:lstStyle/>
                    <a:p>
                      <a:pPr marL="0" indent="0" algn="ctr">
                        <a:buNone/>
                      </a:pPr>
                      <a:r>
                        <a:rPr lang="en-US" sz="2000" b="1">
                          <a:solidFill>
                            <a:srgbClr val="FFFFFF"/>
                          </a:solidFill>
                          <a:latin typeface="+mj-lt"/>
                          <a:ea typeface="Georgia" pitchFamily="34" charset="-122"/>
                          <a:cs typeface="Georgia" pitchFamily="34" charset="-120"/>
                        </a:rPr>
                        <a:t>F1 ClipShots</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1C3F67"/>
                    </a:solidFill>
                  </a:tcPr>
                </a:tc>
                <a:tc>
                  <a:txBody>
                    <a:bodyPr/>
                    <a:lstStyle/>
                    <a:p>
                      <a:pPr marL="0" indent="0" algn="l">
                        <a:buNone/>
                      </a:pPr>
                      <a:r>
                        <a:rPr lang="en-US" sz="2000" b="1">
                          <a:solidFill>
                            <a:srgbClr val="FFFFFF"/>
                          </a:solidFill>
                          <a:latin typeface="+mj-lt"/>
                          <a:ea typeface="Georgia" pitchFamily="34" charset="-122"/>
                          <a:cs typeface="Georgia" pitchFamily="34" charset="-120"/>
                        </a:rPr>
                        <a:t>Ghi chú</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1C3F67"/>
                    </a:solidFill>
                  </a:tcPr>
                </a:tc>
                <a:extLst>
                  <a:ext uri="{0D108BD9-81ED-4DB2-BD59-A6C34878D82A}">
                    <a16:rowId xmlns:a16="http://schemas.microsoft.com/office/drawing/2014/main" val="10000"/>
                  </a:ext>
                </a:extLst>
              </a:tr>
              <a:tr h="449240">
                <a:tc>
                  <a:txBody>
                    <a:bodyPr/>
                    <a:lstStyle/>
                    <a:p>
                      <a:pPr marL="0" indent="0" algn="l">
                        <a:buNone/>
                      </a:pPr>
                      <a:r>
                        <a:rPr lang="en-US" sz="2000" b="1">
                          <a:solidFill>
                            <a:srgbClr val="001B44"/>
                          </a:solidFill>
                          <a:latin typeface="+mj-lt"/>
                          <a:ea typeface="Georgia" pitchFamily="34" charset="-122"/>
                          <a:cs typeface="Georgia" pitchFamily="34" charset="-120"/>
                        </a:rPr>
                        <a:t>ResNet</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ctr">
                        <a:buNone/>
                      </a:pPr>
                      <a:r>
                        <a:rPr lang="en-US" sz="2000">
                          <a:solidFill>
                            <a:srgbClr val="001B44"/>
                          </a:solidFill>
                          <a:latin typeface="+mj-lt"/>
                          <a:ea typeface="Georgia" pitchFamily="34" charset="-122"/>
                          <a:cs typeface="Georgia" pitchFamily="34" charset="-120"/>
                        </a:rPr>
                        <a:t>N/A</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ctr">
                        <a:buNone/>
                      </a:pPr>
                      <a:r>
                        <a:rPr lang="en-US" sz="2000">
                          <a:solidFill>
                            <a:srgbClr val="001B44"/>
                          </a:solidFill>
                          <a:latin typeface="+mj-lt"/>
                          <a:ea typeface="Georgia" pitchFamily="34" charset="-122"/>
                          <a:cs typeface="Georgia" pitchFamily="34" charset="-120"/>
                        </a:rPr>
                        <a:t>0.893</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ctr">
                        <a:buNone/>
                      </a:pPr>
                      <a:r>
                        <a:rPr lang="en-US" sz="2000">
                          <a:solidFill>
                            <a:srgbClr val="001B44"/>
                          </a:solidFill>
                          <a:latin typeface="+mj-lt"/>
                          <a:ea typeface="Georgia" pitchFamily="34" charset="-122"/>
                          <a:cs typeface="Georgia" pitchFamily="34" charset="-120"/>
                        </a:rPr>
                        <a:t>0.761</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l">
                        <a:buNone/>
                      </a:pPr>
                      <a:r>
                        <a:rPr lang="en-US" sz="2000">
                          <a:solidFill>
                            <a:srgbClr val="001B44"/>
                          </a:solidFill>
                          <a:latin typeface="+mj-lt"/>
                          <a:ea typeface="Georgia" pitchFamily="34" charset="-122"/>
                          <a:cs typeface="Georgia" pitchFamily="34" charset="-120"/>
                        </a:rPr>
                        <a:t>Baseline từ ClipShots</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449240">
                <a:tc>
                  <a:txBody>
                    <a:bodyPr/>
                    <a:lstStyle/>
                    <a:p>
                      <a:pPr marL="0" indent="0" algn="l">
                        <a:buNone/>
                      </a:pPr>
                      <a:r>
                        <a:rPr lang="en-US" sz="2000" b="1">
                          <a:solidFill>
                            <a:srgbClr val="001B44"/>
                          </a:solidFill>
                          <a:latin typeface="+mj-lt"/>
                          <a:ea typeface="Georgia" pitchFamily="34" charset="-122"/>
                          <a:cs typeface="Georgia" pitchFamily="34" charset="-120"/>
                        </a:rPr>
                        <a:t>DeepSBD</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tc>
                  <a:txBody>
                    <a:bodyPr/>
                    <a:lstStyle/>
                    <a:p>
                      <a:pPr marL="0" indent="0" algn="ctr">
                        <a:buNone/>
                      </a:pPr>
                      <a:r>
                        <a:rPr lang="en-US" sz="2000">
                          <a:solidFill>
                            <a:srgbClr val="001B44"/>
                          </a:solidFill>
                          <a:latin typeface="+mj-lt"/>
                          <a:ea typeface="Georgia" pitchFamily="34" charset="-122"/>
                          <a:cs typeface="Georgia" pitchFamily="34" charset="-120"/>
                        </a:rPr>
                        <a:t>N/A</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tc>
                  <a:txBody>
                    <a:bodyPr/>
                    <a:lstStyle/>
                    <a:p>
                      <a:pPr marL="0" indent="0" algn="ctr">
                        <a:buNone/>
                      </a:pPr>
                      <a:r>
                        <a:rPr lang="en-US" sz="2000">
                          <a:solidFill>
                            <a:srgbClr val="001B44"/>
                          </a:solidFill>
                          <a:latin typeface="+mj-lt"/>
                          <a:ea typeface="Georgia" pitchFamily="34" charset="-122"/>
                          <a:cs typeface="Georgia" pitchFamily="34" charset="-120"/>
                        </a:rPr>
                        <a:t>0.926</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tc>
                  <a:txBody>
                    <a:bodyPr/>
                    <a:lstStyle/>
                    <a:p>
                      <a:pPr marL="0" indent="0" algn="ctr">
                        <a:buNone/>
                      </a:pPr>
                      <a:r>
                        <a:rPr lang="en-US" sz="2000">
                          <a:solidFill>
                            <a:srgbClr val="001B44"/>
                          </a:solidFill>
                          <a:latin typeface="+mj-lt"/>
                          <a:ea typeface="Georgia" pitchFamily="34" charset="-122"/>
                          <a:cs typeface="Georgia" pitchFamily="34" charset="-120"/>
                        </a:rPr>
                        <a:t>0.759</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tc>
                  <a:txBody>
                    <a:bodyPr/>
                    <a:lstStyle/>
                    <a:p>
                      <a:pPr marL="0" indent="0" algn="l">
                        <a:buNone/>
                      </a:pPr>
                      <a:r>
                        <a:rPr lang="en-US" sz="2000">
                          <a:solidFill>
                            <a:srgbClr val="001B44"/>
                          </a:solidFill>
                          <a:latin typeface="+mj-lt"/>
                          <a:ea typeface="Georgia" pitchFamily="34" charset="-122"/>
                          <a:cs typeface="Georgia" pitchFamily="34" charset="-120"/>
                        </a:rPr>
                        <a:t>Deep spatio-temporal CNN</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9240">
                <a:tc>
                  <a:txBody>
                    <a:bodyPr/>
                    <a:lstStyle/>
                    <a:p>
                      <a:pPr marL="0" indent="0" algn="l">
                        <a:buNone/>
                      </a:pPr>
                      <a:r>
                        <a:rPr lang="en-US" sz="2000" b="1">
                          <a:solidFill>
                            <a:srgbClr val="001B44"/>
                          </a:solidFill>
                          <a:latin typeface="+mj-lt"/>
                          <a:ea typeface="Georgia" pitchFamily="34" charset="-122"/>
                          <a:cs typeface="Georgia" pitchFamily="34" charset="-120"/>
                        </a:rPr>
                        <a:t>TransNet</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ctr">
                        <a:buNone/>
                      </a:pPr>
                      <a:r>
                        <a:rPr lang="en-US" sz="2000">
                          <a:solidFill>
                            <a:srgbClr val="001B44"/>
                          </a:solidFill>
                          <a:latin typeface="+mj-lt"/>
                          <a:ea typeface="Georgia" pitchFamily="34" charset="-122"/>
                          <a:cs typeface="Georgia" pitchFamily="34" charset="-120"/>
                        </a:rPr>
                        <a:t>N/A</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ctr">
                        <a:buNone/>
                      </a:pPr>
                      <a:r>
                        <a:rPr lang="en-US" sz="2000">
                          <a:solidFill>
                            <a:srgbClr val="001B44"/>
                          </a:solidFill>
                          <a:latin typeface="+mj-lt"/>
                          <a:ea typeface="Georgia" pitchFamily="34" charset="-122"/>
                          <a:cs typeface="Georgia" pitchFamily="34" charset="-120"/>
                        </a:rPr>
                        <a:t>0.929</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ctr">
                        <a:buNone/>
                      </a:pPr>
                      <a:r>
                        <a:rPr lang="en-US" sz="2000">
                          <a:solidFill>
                            <a:srgbClr val="001B44"/>
                          </a:solidFill>
                          <a:latin typeface="+mj-lt"/>
                          <a:ea typeface="Georgia" pitchFamily="34" charset="-122"/>
                          <a:cs typeface="Georgia" pitchFamily="34" charset="-120"/>
                        </a:rPr>
                        <a:t>0.735</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l">
                        <a:buNone/>
                      </a:pPr>
                      <a:r>
                        <a:rPr lang="en-US" sz="2000">
                          <a:solidFill>
                            <a:srgbClr val="001B44"/>
                          </a:solidFill>
                          <a:latin typeface="+mj-lt"/>
                          <a:ea typeface="Georgia" pitchFamily="34" charset="-122"/>
                          <a:cs typeface="Georgia" pitchFamily="34" charset="-120"/>
                        </a:rPr>
                        <a:t>Baseline đầu tiên của TransNetV2</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r h="449240">
                <a:tc>
                  <a:txBody>
                    <a:bodyPr/>
                    <a:lstStyle/>
                    <a:p>
                      <a:pPr marL="0" indent="0" algn="l">
                        <a:buNone/>
                      </a:pPr>
                      <a:r>
                        <a:rPr lang="en-US" sz="2000" b="1">
                          <a:solidFill>
                            <a:srgbClr val="001B44"/>
                          </a:solidFill>
                          <a:latin typeface="+mj-lt"/>
                          <a:ea typeface="Georgia" pitchFamily="34" charset="-122"/>
                          <a:cs typeface="Georgia" pitchFamily="34" charset="-120"/>
                        </a:rPr>
                        <a:t>TransNetV2</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tc>
                  <a:txBody>
                    <a:bodyPr/>
                    <a:lstStyle/>
                    <a:p>
                      <a:pPr marL="0" indent="0" algn="ctr">
                        <a:buNone/>
                      </a:pPr>
                      <a:r>
                        <a:rPr lang="en-US" sz="2000">
                          <a:solidFill>
                            <a:srgbClr val="001B44"/>
                          </a:solidFill>
                          <a:latin typeface="+mj-lt"/>
                          <a:ea typeface="Georgia" pitchFamily="34" charset="-122"/>
                          <a:cs typeface="Georgia" pitchFamily="34" charset="-120"/>
                        </a:rPr>
                        <a:t>0.799</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tc>
                  <a:txBody>
                    <a:bodyPr/>
                    <a:lstStyle/>
                    <a:p>
                      <a:pPr marL="0" indent="0" algn="ctr">
                        <a:buNone/>
                      </a:pPr>
                      <a:r>
                        <a:rPr lang="en-US" sz="2000">
                          <a:solidFill>
                            <a:srgbClr val="001B44"/>
                          </a:solidFill>
                          <a:latin typeface="+mj-lt"/>
                          <a:ea typeface="Georgia" pitchFamily="34" charset="-122"/>
                          <a:cs typeface="Georgia" pitchFamily="34" charset="-120"/>
                        </a:rPr>
                        <a:t>0.962</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tc>
                  <a:txBody>
                    <a:bodyPr/>
                    <a:lstStyle/>
                    <a:p>
                      <a:pPr marL="0" indent="0" algn="ctr">
                        <a:buNone/>
                      </a:pPr>
                      <a:r>
                        <a:rPr lang="en-US" sz="2000">
                          <a:solidFill>
                            <a:srgbClr val="001B44"/>
                          </a:solidFill>
                          <a:latin typeface="+mj-lt"/>
                          <a:ea typeface="Georgia" pitchFamily="34" charset="-122"/>
                          <a:cs typeface="Georgia" pitchFamily="34" charset="-120"/>
                        </a:rPr>
                        <a:t>0.776</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tc>
                  <a:txBody>
                    <a:bodyPr/>
                    <a:lstStyle/>
                    <a:p>
                      <a:pPr marL="0" indent="0" algn="l">
                        <a:buNone/>
                      </a:pPr>
                      <a:r>
                        <a:rPr lang="en-US" sz="2000">
                          <a:solidFill>
                            <a:srgbClr val="001B44"/>
                          </a:solidFill>
                          <a:latin typeface="+mj-lt"/>
                          <a:ea typeface="Georgia" pitchFamily="34" charset="-122"/>
                          <a:cs typeface="Georgia" pitchFamily="34" charset="-120"/>
                        </a:rPr>
                        <a:t>Tối ưu cho phim dài; phiên bản cải tiến</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9240">
                <a:tc>
                  <a:txBody>
                    <a:bodyPr/>
                    <a:lstStyle/>
                    <a:p>
                      <a:pPr marL="0" indent="0" algn="l">
                        <a:buNone/>
                      </a:pPr>
                      <a:r>
                        <a:rPr lang="en-US" sz="2000" b="1">
                          <a:solidFill>
                            <a:srgbClr val="001B44"/>
                          </a:solidFill>
                          <a:latin typeface="+mj-lt"/>
                          <a:ea typeface="Georgia" pitchFamily="34" charset="-122"/>
                          <a:cs typeface="Georgia" pitchFamily="34" charset="-120"/>
                        </a:rPr>
                        <a:t>AutoShot</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ctr">
                        <a:buNone/>
                      </a:pPr>
                      <a:r>
                        <a:rPr lang="en-US" sz="2000">
                          <a:solidFill>
                            <a:srgbClr val="001B44"/>
                          </a:solidFill>
                          <a:latin typeface="+mj-lt"/>
                          <a:ea typeface="Georgia" pitchFamily="34" charset="-122"/>
                          <a:cs typeface="Georgia" pitchFamily="34" charset="-120"/>
                        </a:rPr>
                        <a:t>0.841</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ctr">
                        <a:buNone/>
                      </a:pPr>
                      <a:r>
                        <a:rPr lang="en-US" sz="2000">
                          <a:solidFill>
                            <a:srgbClr val="001B44"/>
                          </a:solidFill>
                          <a:latin typeface="+mj-lt"/>
                          <a:ea typeface="Georgia" pitchFamily="34" charset="-122"/>
                          <a:cs typeface="Georgia" pitchFamily="34" charset="-120"/>
                        </a:rPr>
                        <a:t>0.971</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ctr">
                        <a:buNone/>
                      </a:pPr>
                      <a:r>
                        <a:rPr lang="en-US" sz="2000">
                          <a:solidFill>
                            <a:srgbClr val="001B44"/>
                          </a:solidFill>
                          <a:latin typeface="+mj-lt"/>
                          <a:ea typeface="Georgia" pitchFamily="34" charset="-122"/>
                          <a:cs typeface="Georgia" pitchFamily="34" charset="-120"/>
                        </a:rPr>
                        <a:t>0.787</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tc>
                  <a:txBody>
                    <a:bodyPr/>
                    <a:lstStyle/>
                    <a:p>
                      <a:pPr marL="0" indent="0" algn="l">
                        <a:buNone/>
                      </a:pPr>
                      <a:r>
                        <a:rPr lang="en-US" sz="2000">
                          <a:solidFill>
                            <a:srgbClr val="001B44"/>
                          </a:solidFill>
                          <a:latin typeface="+mj-lt"/>
                          <a:ea typeface="Georgia" pitchFamily="34" charset="-122"/>
                          <a:cs typeface="Georgia" pitchFamily="34" charset="-120"/>
                        </a:rPr>
                        <a:t>NAS cho short-form; vượt baseline SHOT</a:t>
                      </a:r>
                      <a:endParaRPr lang="en-US" sz="2000">
                        <a:latin typeface="+mj-lt"/>
                        <a:ea typeface="Georgia" charset="0"/>
                        <a:cs typeface="Georgia" charset="0"/>
                      </a:endParaRPr>
                    </a:p>
                  </a:txBody>
                  <a:tcPr marL="36576" marR="36576" marT="36576" marB="36576" anchor="ctr">
                    <a:lnL w="9525" cap="flat" cmpd="sng" algn="ctr">
                      <a:solidFill>
                        <a:srgbClr val="1C3F67"/>
                      </a:solidFill>
                      <a:prstDash val="solid"/>
                      <a:round/>
                      <a:headEnd type="none" w="med" len="med"/>
                      <a:tailEnd type="none" w="med" len="med"/>
                    </a:lnL>
                    <a:lnR w="9525" cap="flat" cmpd="sng" algn="ctr">
                      <a:solidFill>
                        <a:srgbClr val="1C3F67"/>
                      </a:solidFill>
                      <a:prstDash val="solid"/>
                      <a:round/>
                      <a:headEnd type="none" w="med" len="med"/>
                      <a:tailEnd type="none" w="med" len="med"/>
                    </a:lnR>
                    <a:lnT w="9525" cap="flat" cmpd="sng" algn="ctr">
                      <a:solidFill>
                        <a:srgbClr val="1C3F67"/>
                      </a:solidFill>
                      <a:prstDash val="solid"/>
                      <a:round/>
                      <a:headEnd type="none" w="med" len="med"/>
                      <a:tailEnd type="none" w="med" len="med"/>
                    </a:lnT>
                    <a:lnB w="9525" cap="flat" cmpd="sng" algn="ctr">
                      <a:solidFill>
                        <a:srgbClr val="1C3F67"/>
                      </a:solidFill>
                      <a:prstDash val="solid"/>
                      <a:round/>
                      <a:headEnd type="none" w="med" len="med"/>
                      <a:tailEnd type="none" w="med" len="med"/>
                    </a:lnB>
                    <a:solidFill>
                      <a:srgbClr val="EDF2F7"/>
                    </a:solidFill>
                  </a:tcPr>
                </a:tc>
                <a:extLst>
                  <a:ext uri="{0D108BD9-81ED-4DB2-BD59-A6C34878D82A}">
                    <a16:rowId xmlns:a16="http://schemas.microsoft.com/office/drawing/2014/main" val="10005"/>
                  </a:ext>
                </a:extLst>
              </a:tr>
            </a:tbl>
          </a:graphicData>
        </a:graphic>
      </p:graphicFrame>
      <p:sp>
        <p:nvSpPr>
          <p:cNvPr id="8" name="Text 5"/>
          <p:cNvSpPr/>
          <p:nvPr/>
        </p:nvSpPr>
        <p:spPr>
          <a:xfrm>
            <a:off x="552436" y="4647633"/>
            <a:ext cx="1403113" cy="367986"/>
          </a:xfrm>
          <a:prstGeom prst="rect">
            <a:avLst/>
          </a:prstGeom>
          <a:noFill/>
          <a:ln/>
        </p:spPr>
        <p:txBody>
          <a:bodyPr wrap="square" lIns="0" tIns="0" rIns="0" bIns="0" rtlCol="0" anchor="t">
            <a:noAutofit/>
          </a:bodyPr>
          <a:lstStyle/>
          <a:p>
            <a:pPr marL="0" indent="0" algn="l">
              <a:buNone/>
            </a:pPr>
            <a:r>
              <a:rPr lang="en-US" sz="2000" b="1">
                <a:solidFill>
                  <a:srgbClr val="0095C8"/>
                </a:solidFill>
                <a:latin typeface="+mj-lt"/>
                <a:ea typeface="Georgia" pitchFamily="34" charset="-122"/>
                <a:cs typeface="Georgia" pitchFamily="34" charset="-120"/>
              </a:rPr>
              <a:t>Nhận xét</a:t>
            </a:r>
            <a:endParaRPr lang="en-US" sz="2000">
              <a:latin typeface="+mj-lt"/>
            </a:endParaRPr>
          </a:p>
        </p:txBody>
      </p:sp>
      <p:sp>
        <p:nvSpPr>
          <p:cNvPr id="9" name="Text 6"/>
          <p:cNvSpPr/>
          <p:nvPr/>
        </p:nvSpPr>
        <p:spPr>
          <a:xfrm>
            <a:off x="552436" y="5082012"/>
            <a:ext cx="10945465" cy="1323551"/>
          </a:xfrm>
          <a:prstGeom prst="rect">
            <a:avLst/>
          </a:prstGeom>
          <a:noFill/>
          <a:ln/>
        </p:spPr>
        <p:txBody>
          <a:bodyPr wrap="square" lIns="0" tIns="0" rIns="0" bIns="0" rtlCol="0" anchor="t">
            <a:noAutofit/>
          </a:bodyPr>
          <a:lstStyle/>
          <a:p>
            <a:pPr marL="0" indent="0" algn="l">
              <a:buNone/>
            </a:pPr>
            <a:r>
              <a:rPr lang="en-US" sz="2000">
                <a:solidFill>
                  <a:srgbClr val="001B44"/>
                </a:solidFill>
                <a:latin typeface="+mj-lt"/>
                <a:ea typeface="Georgia" pitchFamily="34" charset="-122"/>
                <a:cs typeface="Georgia" pitchFamily="34" charset="-120"/>
              </a:rPr>
              <a:t>• TransNetV2 là baseline học sâu mạnh cho SBD, đạt F1 BBC 0.962 và F1 ClipShots 0.776.</a:t>
            </a:r>
          </a:p>
          <a:p>
            <a:pPr marL="0" indent="0" algn="l">
              <a:buNone/>
            </a:pPr>
            <a:r>
              <a:rPr lang="en-US" sz="2000">
                <a:solidFill>
                  <a:srgbClr val="001B44"/>
                </a:solidFill>
                <a:latin typeface="+mj-lt"/>
                <a:ea typeface="Georgia" pitchFamily="34" charset="-122"/>
                <a:cs typeface="Georgia" pitchFamily="34" charset="-120"/>
              </a:rPr>
              <a:t>• AutoShot cải thiện từ 0.799 lên 0.841 trên SHOT nhờ Neural Architecture Search (NAS).</a:t>
            </a:r>
          </a:p>
          <a:p>
            <a:pPr marL="0" indent="0" algn="l">
              <a:buNone/>
            </a:pPr>
            <a:r>
              <a:rPr lang="en-US" sz="2000">
                <a:solidFill>
                  <a:srgbClr val="001B44"/>
                </a:solidFill>
                <a:latin typeface="+mj-lt"/>
                <a:ea typeface="Georgia" pitchFamily="34" charset="-122"/>
                <a:cs typeface="Georgia" pitchFamily="34" charset="-120"/>
              </a:rPr>
              <a:t>• Ứng dụng: AutoShot phù hợp short-form video; TransNetV2 vẫn là nền tảng tốt cho dữ liệu dài.</a:t>
            </a:r>
          </a:p>
          <a:p>
            <a:pPr marL="0" indent="0" algn="l">
              <a:buNone/>
            </a:pPr>
            <a:r>
              <a:rPr lang="en-US" sz="2000" i="1">
                <a:solidFill>
                  <a:srgbClr val="64748B"/>
                </a:solidFill>
                <a:latin typeface="+mj-lt"/>
              </a:rPr>
              <a:t>N/A: nghiên cứu gốc không đánh giá trên tập SHOT.</a:t>
            </a:r>
          </a:p>
        </p:txBody>
      </p:sp>
      <p:sp>
        <p:nvSpPr>
          <p:cNvPr id="10" name="Shape 7"/>
          <p:cNvSpPr/>
          <p:nvPr/>
        </p:nvSpPr>
        <p:spPr>
          <a:xfrm>
            <a:off x="552436" y="6543675"/>
            <a:ext cx="11096348" cy="14288"/>
          </a:xfrm>
          <a:prstGeom prst="rect">
            <a:avLst/>
          </a:prstGeom>
          <a:solidFill>
            <a:srgbClr val="D5DDE7"/>
          </a:solidFill>
          <a:ln w="12700">
            <a:solidFill>
              <a:srgbClr val="FFFFFF">
                <a:alpha val="0"/>
              </a:srgbClr>
            </a:solidFill>
            <a:prstDash val="solid"/>
          </a:ln>
          <a:effectLst>
            <a:outerShdw blurRad="298" dist="99" dir="5400000" algn="bl" rotWithShape="0">
              <a:srgbClr val="000000">
                <a:alpha val="18000"/>
              </a:srgbClr>
            </a:outerShdw>
          </a:effectLst>
        </p:spPr>
        <p:txBody>
          <a:bodyPr/>
          <a:lstStyle/>
          <a:p>
            <a:endParaRPr lang="en-US">
              <a:latin typeface="+mj-lt"/>
            </a:endParaRPr>
          </a:p>
        </p:txBody>
      </p:sp>
      <p:sp>
        <p:nvSpPr>
          <p:cNvPr id="11" name="Text 8"/>
          <p:cNvSpPr/>
          <p:nvPr/>
        </p:nvSpPr>
        <p:spPr>
          <a:xfrm>
            <a:off x="11344587" y="6600825"/>
            <a:ext cx="294672" cy="133350"/>
          </a:xfrm>
          <a:prstGeom prst="rect">
            <a:avLst/>
          </a:prstGeom>
          <a:noFill/>
          <a:ln/>
        </p:spPr>
        <p:txBody>
          <a:bodyPr wrap="square" lIns="0" tIns="0" rIns="0" bIns="0" rtlCol="0" anchor="t">
            <a:normAutofit fontScale="92500"/>
          </a:bodyPr>
          <a:lstStyle/>
          <a:p>
            <a:pPr marL="0" indent="0" algn="l">
              <a:buNone/>
            </a:pPr>
            <a:r>
              <a:rPr lang="en-US" sz="900">
                <a:solidFill>
                  <a:srgbClr val="1C3F67"/>
                </a:solidFill>
                <a:latin typeface="+mj-lt"/>
                <a:ea typeface="Georgia" pitchFamily="34" charset="-122"/>
                <a:cs typeface="Georgia" pitchFamily="34" charset="-120"/>
              </a:rPr>
              <a:t>09 / 25</a:t>
            </a:r>
            <a:endParaRPr lang="en-US" sz="900">
              <a:latin typeface="+mj-lt"/>
            </a:endParaRPr>
          </a:p>
        </p:txBody>
      </p:sp>
      <p:sp>
        <p:nvSpPr>
          <p:cNvPr id="12" name="Text 2">
            <a:extLst>
              <a:ext uri="{FF2B5EF4-FFF2-40B4-BE49-F238E27FC236}">
                <a16:creationId xmlns:a16="http://schemas.microsoft.com/office/drawing/2014/main" id="{1BFA14DE-D427-ECF9-E9C9-643F5973AE9D}"/>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Times New Roman" pitchFamily="34" charset="0"/>
                <a:ea typeface="Times New Roman" pitchFamily="34" charset="-122"/>
                <a:cs typeface="Times New Roman" pitchFamily="34" charset="-120"/>
              </a:rPr>
              <a:t>2. CÔNG </a:t>
            </a:r>
            <a:r>
              <a:rPr lang="en-US" sz="1350" b="1" err="1">
                <a:solidFill>
                  <a:srgbClr val="008FB3"/>
                </a:solidFill>
                <a:latin typeface="Times New Roman" pitchFamily="34" charset="0"/>
                <a:ea typeface="Times New Roman" pitchFamily="34" charset="-122"/>
                <a:cs typeface="Times New Roman" pitchFamily="34" charset="-120"/>
              </a:rPr>
              <a:t>TRÌNH</a:t>
            </a:r>
            <a:r>
              <a:rPr lang="en-US" sz="1350" b="1">
                <a:solidFill>
                  <a:srgbClr val="008FB3"/>
                </a:solidFill>
                <a:latin typeface="Times New Roman" pitchFamily="34" charset="0"/>
                <a:ea typeface="Times New Roman" pitchFamily="34" charset="-122"/>
                <a:cs typeface="Times New Roman" pitchFamily="34" charset="-120"/>
              </a:rPr>
              <a:t> LIÊN QUAN</a:t>
            </a:r>
            <a:endParaRPr lang="en-US" sz="1350"/>
          </a:p>
        </p:txBody>
      </p:sp>
      <p:sp>
        <p:nvSpPr>
          <p:cNvPr id="13" name="TextBox 4">
            <a:extLst>
              <a:ext uri="{FF2B5EF4-FFF2-40B4-BE49-F238E27FC236}">
                <a16:creationId xmlns:a16="http://schemas.microsoft.com/office/drawing/2014/main" id="{032019C8-EA7C-A93A-FD89-2A7BBB50E376}"/>
              </a:ext>
            </a:extLst>
          </p:cNvPr>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B365D"/>
                </a:solidFill>
                <a:latin typeface="+mj-lt"/>
              </a:rPr>
              <a:t>Tiến </a:t>
            </a:r>
            <a:r>
              <a:rPr sz="3000" b="1" err="1">
                <a:solidFill>
                  <a:srgbClr val="1B365D"/>
                </a:solidFill>
                <a:latin typeface="+mj-lt"/>
              </a:rPr>
              <a:t>hóa</a:t>
            </a:r>
            <a:r>
              <a:rPr sz="3000" b="1">
                <a:solidFill>
                  <a:srgbClr val="1B365D"/>
                </a:solidFill>
                <a:latin typeface="+mj-lt"/>
              </a:rPr>
              <a:t> </a:t>
            </a:r>
            <a:r>
              <a:rPr sz="3000" b="1" err="1">
                <a:solidFill>
                  <a:srgbClr val="1B365D"/>
                </a:solidFill>
                <a:latin typeface="+mj-lt"/>
              </a:rPr>
              <a:t>các</a:t>
            </a:r>
            <a:r>
              <a:rPr sz="3000" b="1">
                <a:solidFill>
                  <a:srgbClr val="1B365D"/>
                </a:solidFill>
                <a:latin typeface="+mj-lt"/>
              </a:rPr>
              <a:t> </a:t>
            </a:r>
            <a:r>
              <a:rPr sz="3000" b="1" err="1">
                <a:solidFill>
                  <a:srgbClr val="1B365D"/>
                </a:solidFill>
                <a:latin typeface="+mj-lt"/>
              </a:rPr>
              <a:t>phương</a:t>
            </a:r>
            <a:r>
              <a:rPr sz="3000" b="1">
                <a:solidFill>
                  <a:srgbClr val="1B365D"/>
                </a:solidFill>
                <a:latin typeface="+mj-lt"/>
              </a:rPr>
              <a:t> </a:t>
            </a:r>
            <a:r>
              <a:rPr sz="3000" b="1" err="1">
                <a:solidFill>
                  <a:srgbClr val="1B365D"/>
                </a:solidFill>
                <a:latin typeface="+mj-lt"/>
              </a:rPr>
              <a:t>pháp</a:t>
            </a:r>
            <a:r>
              <a:rPr sz="3000" b="1">
                <a:solidFill>
                  <a:srgbClr val="1B365D"/>
                </a:solidFill>
                <a:latin typeface="+mj-lt"/>
              </a:rPr>
              <a:t> SBD</a:t>
            </a:r>
          </a:p>
        </p:txBody>
      </p:sp>
    </p:spTree>
    <p:extLst>
      <p:ext uri="{BB962C8B-B14F-4D97-AF65-F5344CB8AC3E}">
        <p14:creationId xmlns:p14="http://schemas.microsoft.com/office/powerpoint/2010/main" val="3065911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B365D"/>
                </a:solidFill>
                <a:latin typeface="+mj-lt"/>
              </a:rPr>
              <a:t>Khoảng trống nghiên cứu</a:t>
            </a: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10 / 25</a:t>
            </a:r>
          </a:p>
        </p:txBody>
      </p:sp>
      <p:sp>
        <p:nvSpPr>
          <p:cNvPr id="10" name="Rounded Rectangle 9"/>
          <p:cNvSpPr/>
          <p:nvPr/>
        </p:nvSpPr>
        <p:spPr>
          <a:xfrm>
            <a:off x="548640" y="2011680"/>
            <a:ext cx="1188720" cy="1188720"/>
          </a:xfrm>
          <a:prstGeom prst="roundRect">
            <a:avLst>
              <a:gd name="adj" fmla="val 12000"/>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1" name="TextBox 10"/>
          <p:cNvSpPr txBox="1"/>
          <p:nvPr/>
        </p:nvSpPr>
        <p:spPr>
          <a:xfrm>
            <a:off x="548640" y="2331720"/>
            <a:ext cx="1188720" cy="492443"/>
          </a:xfrm>
          <a:prstGeom prst="rect">
            <a:avLst/>
          </a:prstGeom>
          <a:noFill/>
        </p:spPr>
        <p:txBody>
          <a:bodyPr wrap="square" lIns="0" tIns="0" rIns="0" bIns="0" anchor="t">
            <a:spAutoFit/>
          </a:bodyPr>
          <a:lstStyle/>
          <a:p>
            <a:pPr algn="ctr"/>
            <a:r>
              <a:rPr sz="3200" b="1">
                <a:solidFill>
                  <a:srgbClr val="FFFFFF"/>
                </a:solidFill>
                <a:latin typeface="+mj-lt"/>
              </a:rPr>
              <a:t>01</a:t>
            </a:r>
          </a:p>
        </p:txBody>
      </p:sp>
      <p:sp>
        <p:nvSpPr>
          <p:cNvPr id="12" name="TextBox 11"/>
          <p:cNvSpPr txBox="1"/>
          <p:nvPr/>
        </p:nvSpPr>
        <p:spPr>
          <a:xfrm>
            <a:off x="1920240" y="2103120"/>
            <a:ext cx="9692640" cy="369332"/>
          </a:xfrm>
          <a:prstGeom prst="rect">
            <a:avLst/>
          </a:prstGeom>
          <a:noFill/>
        </p:spPr>
        <p:txBody>
          <a:bodyPr wrap="square" lIns="0" tIns="0" rIns="0" bIns="0" anchor="t">
            <a:spAutoFit/>
          </a:bodyPr>
          <a:lstStyle/>
          <a:p>
            <a:pPr algn="l"/>
            <a:r>
              <a:rPr lang="en-US" sz="2400" b="1">
                <a:solidFill>
                  <a:srgbClr val="1B365D"/>
                </a:solidFill>
                <a:latin typeface="+mj-lt"/>
              </a:rPr>
              <a:t>Đặc trưng của các bộ dữ liệu</a:t>
            </a:r>
            <a:endParaRPr sz="2400" b="1">
              <a:solidFill>
                <a:srgbClr val="1B365D"/>
              </a:solidFill>
              <a:latin typeface="+mj-lt"/>
            </a:endParaRPr>
          </a:p>
        </p:txBody>
      </p:sp>
      <p:sp>
        <p:nvSpPr>
          <p:cNvPr id="13" name="TextBox 12"/>
          <p:cNvSpPr txBox="1"/>
          <p:nvPr/>
        </p:nvSpPr>
        <p:spPr>
          <a:xfrm>
            <a:off x="1920240" y="2514600"/>
            <a:ext cx="9692640" cy="615553"/>
          </a:xfrm>
          <a:prstGeom prst="rect">
            <a:avLst/>
          </a:prstGeom>
          <a:noFill/>
        </p:spPr>
        <p:txBody>
          <a:bodyPr wrap="square" lIns="0" tIns="0" rIns="0" bIns="0" anchor="t">
            <a:spAutoFit/>
          </a:bodyPr>
          <a:lstStyle/>
          <a:p>
            <a:pPr algn="l">
              <a:buNone/>
            </a:pPr>
            <a:r>
              <a:rPr lang="vi-VN" sz="2000">
                <a:solidFill>
                  <a:srgbClr val="64748B"/>
                </a:solidFill>
                <a:latin typeface="+mj-lt"/>
              </a:rPr>
              <a:t>Chưa có đánh giá có hệ thống về tổng quát hóa xuyên miền: mỗi mô hình chỉ báo cáo trên tập huấn luyện của mình, không kiểm chứng khả năng chuyển sang dữ liệu khác phong cách.</a:t>
            </a:r>
          </a:p>
        </p:txBody>
      </p:sp>
      <p:sp>
        <p:nvSpPr>
          <p:cNvPr id="14" name="Rounded Rectangle 13"/>
          <p:cNvSpPr/>
          <p:nvPr/>
        </p:nvSpPr>
        <p:spPr>
          <a:xfrm>
            <a:off x="548640" y="3337560"/>
            <a:ext cx="1188720" cy="1188720"/>
          </a:xfrm>
          <a:prstGeom prst="roundRect">
            <a:avLst>
              <a:gd name="adj" fmla="val 12000"/>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5" name="TextBox 14"/>
          <p:cNvSpPr txBox="1"/>
          <p:nvPr/>
        </p:nvSpPr>
        <p:spPr>
          <a:xfrm>
            <a:off x="548640" y="3657600"/>
            <a:ext cx="1188720" cy="492443"/>
          </a:xfrm>
          <a:prstGeom prst="rect">
            <a:avLst/>
          </a:prstGeom>
          <a:noFill/>
        </p:spPr>
        <p:txBody>
          <a:bodyPr wrap="square" lIns="0" tIns="0" rIns="0" bIns="0" anchor="t">
            <a:spAutoFit/>
          </a:bodyPr>
          <a:lstStyle/>
          <a:p>
            <a:pPr algn="ctr"/>
            <a:r>
              <a:rPr sz="3200" b="1">
                <a:solidFill>
                  <a:srgbClr val="FFFFFF"/>
                </a:solidFill>
                <a:latin typeface="+mj-lt"/>
              </a:rPr>
              <a:t>02</a:t>
            </a:r>
          </a:p>
        </p:txBody>
      </p:sp>
      <p:sp>
        <p:nvSpPr>
          <p:cNvPr id="16" name="TextBox 15"/>
          <p:cNvSpPr txBox="1"/>
          <p:nvPr/>
        </p:nvSpPr>
        <p:spPr>
          <a:xfrm>
            <a:off x="1920240" y="3429000"/>
            <a:ext cx="9692640" cy="369332"/>
          </a:xfrm>
          <a:prstGeom prst="rect">
            <a:avLst/>
          </a:prstGeom>
          <a:noFill/>
        </p:spPr>
        <p:txBody>
          <a:bodyPr wrap="square" lIns="0" tIns="0" rIns="0" bIns="0" anchor="t">
            <a:spAutoFit/>
          </a:bodyPr>
          <a:lstStyle/>
          <a:p>
            <a:pPr algn="l"/>
            <a:r>
              <a:rPr sz="2400" b="1" err="1">
                <a:solidFill>
                  <a:srgbClr val="1B365D"/>
                </a:solidFill>
                <a:latin typeface="+mj-lt"/>
              </a:rPr>
              <a:t>Tổng</a:t>
            </a:r>
            <a:r>
              <a:rPr sz="2400" b="1">
                <a:solidFill>
                  <a:srgbClr val="1B365D"/>
                </a:solidFill>
                <a:latin typeface="+mj-lt"/>
              </a:rPr>
              <a:t> </a:t>
            </a:r>
            <a:r>
              <a:rPr sz="2400" b="1" err="1">
                <a:solidFill>
                  <a:srgbClr val="1B365D"/>
                </a:solidFill>
                <a:latin typeface="+mj-lt"/>
              </a:rPr>
              <a:t>quát</a:t>
            </a:r>
            <a:r>
              <a:rPr sz="2400" b="1">
                <a:solidFill>
                  <a:srgbClr val="1B365D"/>
                </a:solidFill>
                <a:latin typeface="+mj-lt"/>
              </a:rPr>
              <a:t> </a:t>
            </a:r>
            <a:r>
              <a:rPr sz="2400" b="1" err="1">
                <a:solidFill>
                  <a:srgbClr val="1B365D"/>
                </a:solidFill>
                <a:latin typeface="+mj-lt"/>
              </a:rPr>
              <a:t>hóa</a:t>
            </a:r>
            <a:r>
              <a:rPr sz="2400" b="1">
                <a:solidFill>
                  <a:srgbClr val="1B365D"/>
                </a:solidFill>
                <a:latin typeface="+mj-lt"/>
              </a:rPr>
              <a:t> </a:t>
            </a:r>
            <a:r>
              <a:rPr sz="2400" b="1" err="1">
                <a:solidFill>
                  <a:srgbClr val="1B365D"/>
                </a:solidFill>
                <a:latin typeface="+mj-lt"/>
              </a:rPr>
              <a:t>đa</a:t>
            </a:r>
            <a:r>
              <a:rPr sz="2400" b="1">
                <a:solidFill>
                  <a:srgbClr val="1B365D"/>
                </a:solidFill>
                <a:latin typeface="+mj-lt"/>
              </a:rPr>
              <a:t> </a:t>
            </a:r>
            <a:r>
              <a:rPr sz="2400" b="1" err="1">
                <a:solidFill>
                  <a:srgbClr val="1B365D"/>
                </a:solidFill>
                <a:latin typeface="+mj-lt"/>
              </a:rPr>
              <a:t>miền</a:t>
            </a:r>
            <a:endParaRPr sz="2400" b="1">
              <a:solidFill>
                <a:srgbClr val="1B365D"/>
              </a:solidFill>
              <a:latin typeface="+mj-lt"/>
            </a:endParaRPr>
          </a:p>
        </p:txBody>
      </p:sp>
      <p:sp>
        <p:nvSpPr>
          <p:cNvPr id="17" name="TextBox 16"/>
          <p:cNvSpPr txBox="1"/>
          <p:nvPr/>
        </p:nvSpPr>
        <p:spPr>
          <a:xfrm>
            <a:off x="1920240" y="3840480"/>
            <a:ext cx="9692640" cy="307777"/>
          </a:xfrm>
          <a:prstGeom prst="rect">
            <a:avLst/>
          </a:prstGeom>
          <a:noFill/>
        </p:spPr>
        <p:txBody>
          <a:bodyPr wrap="square" lIns="0" tIns="0" rIns="0" bIns="0" anchor="t">
            <a:spAutoFit/>
          </a:bodyPr>
          <a:lstStyle/>
          <a:p>
            <a:pPr algn="l"/>
            <a:r>
              <a:rPr sz="2000" b="0">
                <a:solidFill>
                  <a:srgbClr val="64748B"/>
                </a:solidFill>
                <a:latin typeface="+mj-lt"/>
              </a:rPr>
              <a:t>F1 cao trên SHOT không đảm bảo F1 cao trên BBC hay ClipShots.</a:t>
            </a:r>
          </a:p>
        </p:txBody>
      </p:sp>
      <p:sp>
        <p:nvSpPr>
          <p:cNvPr id="18" name="Rounded Rectangle 17"/>
          <p:cNvSpPr/>
          <p:nvPr/>
        </p:nvSpPr>
        <p:spPr>
          <a:xfrm>
            <a:off x="548640" y="4663440"/>
            <a:ext cx="1188720" cy="1188720"/>
          </a:xfrm>
          <a:prstGeom prst="roundRect">
            <a:avLst>
              <a:gd name="adj" fmla="val 12000"/>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9" name="TextBox 18"/>
          <p:cNvSpPr txBox="1"/>
          <p:nvPr/>
        </p:nvSpPr>
        <p:spPr>
          <a:xfrm>
            <a:off x="548640" y="4983480"/>
            <a:ext cx="1188720" cy="492443"/>
          </a:xfrm>
          <a:prstGeom prst="rect">
            <a:avLst/>
          </a:prstGeom>
          <a:noFill/>
        </p:spPr>
        <p:txBody>
          <a:bodyPr wrap="square" lIns="0" tIns="0" rIns="0" bIns="0" anchor="t">
            <a:spAutoFit/>
          </a:bodyPr>
          <a:lstStyle/>
          <a:p>
            <a:pPr algn="ctr"/>
            <a:r>
              <a:rPr sz="3200" b="1">
                <a:solidFill>
                  <a:srgbClr val="FFFFFF"/>
                </a:solidFill>
                <a:latin typeface="+mj-lt"/>
              </a:rPr>
              <a:t>03</a:t>
            </a:r>
          </a:p>
        </p:txBody>
      </p:sp>
      <p:sp>
        <p:nvSpPr>
          <p:cNvPr id="20" name="TextBox 19"/>
          <p:cNvSpPr txBox="1"/>
          <p:nvPr/>
        </p:nvSpPr>
        <p:spPr>
          <a:xfrm>
            <a:off x="1920240" y="4754880"/>
            <a:ext cx="9692640" cy="369332"/>
          </a:xfrm>
          <a:prstGeom prst="rect">
            <a:avLst/>
          </a:prstGeom>
          <a:noFill/>
        </p:spPr>
        <p:txBody>
          <a:bodyPr wrap="square" lIns="0" tIns="0" rIns="0" bIns="0" anchor="t">
            <a:spAutoFit/>
          </a:bodyPr>
          <a:lstStyle/>
          <a:p>
            <a:pPr algn="l"/>
            <a:r>
              <a:rPr lang="en-US" sz="2400" b="1">
                <a:solidFill>
                  <a:srgbClr val="1B365D"/>
                </a:solidFill>
                <a:latin typeface="+mj-lt"/>
              </a:rPr>
              <a:t>Xử lí đầu ra và hậu kỳ</a:t>
            </a:r>
            <a:endParaRPr sz="2400" b="1">
              <a:solidFill>
                <a:srgbClr val="1B365D"/>
              </a:solidFill>
              <a:latin typeface="+mj-lt"/>
            </a:endParaRPr>
          </a:p>
        </p:txBody>
      </p:sp>
      <p:sp>
        <p:nvSpPr>
          <p:cNvPr id="21" name="TextBox 20"/>
          <p:cNvSpPr txBox="1"/>
          <p:nvPr/>
        </p:nvSpPr>
        <p:spPr>
          <a:xfrm>
            <a:off x="1920240" y="5166360"/>
            <a:ext cx="9692640" cy="307777"/>
          </a:xfrm>
          <a:prstGeom prst="rect">
            <a:avLst/>
          </a:prstGeom>
          <a:noFill/>
        </p:spPr>
        <p:txBody>
          <a:bodyPr wrap="square" lIns="0" tIns="0" rIns="0" bIns="0" anchor="t">
            <a:spAutoFit/>
          </a:bodyPr>
          <a:lstStyle/>
          <a:p>
            <a:pPr algn="l"/>
            <a:r>
              <a:rPr sz="2000" b="0">
                <a:solidFill>
                  <a:srgbClr val="64748B"/>
                </a:solidFill>
                <a:latin typeface="+mj-lt"/>
              </a:rPr>
              <a:t>Ít nghiên cứu hệ thống về classification head + hiệu chỉnh xác suất + làm mượt thời gian.</a:t>
            </a:r>
          </a:p>
        </p:txBody>
      </p:sp>
      <p:sp>
        <p:nvSpPr>
          <p:cNvPr id="22" name="TextBox 21"/>
          <p:cNvSpPr txBox="1"/>
          <p:nvPr/>
        </p:nvSpPr>
        <p:spPr>
          <a:xfrm>
            <a:off x="548640" y="6035040"/>
            <a:ext cx="11064240" cy="307777"/>
          </a:xfrm>
          <a:prstGeom prst="rect">
            <a:avLst/>
          </a:prstGeom>
          <a:noFill/>
        </p:spPr>
        <p:txBody>
          <a:bodyPr wrap="square" lIns="0" tIns="0" rIns="0" bIns="0" anchor="t">
            <a:spAutoFit/>
          </a:bodyPr>
          <a:lstStyle/>
          <a:p>
            <a:pPr algn="l"/>
            <a:r>
              <a:rPr sz="2000" b="1">
                <a:solidFill>
                  <a:srgbClr val="0891B2"/>
                </a:solidFill>
                <a:latin typeface="+mj-lt"/>
              </a:rPr>
              <a:t>→ AutoShotV2 tập trung lấp khoảng trống thứ ba, đồng thời đo kiểm tổng quát hóa.</a:t>
            </a:r>
          </a:p>
        </p:txBody>
      </p:sp>
      <p:sp>
        <p:nvSpPr>
          <p:cNvPr id="8" name="Text 2">
            <a:extLst>
              <a:ext uri="{FF2B5EF4-FFF2-40B4-BE49-F238E27FC236}">
                <a16:creationId xmlns:a16="http://schemas.microsoft.com/office/drawing/2014/main" id="{A032D15B-BFD2-0244-59E2-7236C711EF20}"/>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Times New Roman" pitchFamily="34" charset="0"/>
                <a:ea typeface="Times New Roman" pitchFamily="34" charset="-122"/>
                <a:cs typeface="Times New Roman" pitchFamily="34" charset="-120"/>
              </a:rPr>
              <a:t>2. CÔNG </a:t>
            </a:r>
            <a:r>
              <a:rPr lang="en-US" sz="1350" b="1" err="1">
                <a:solidFill>
                  <a:srgbClr val="008FB3"/>
                </a:solidFill>
                <a:latin typeface="Times New Roman" pitchFamily="34" charset="0"/>
                <a:ea typeface="Times New Roman" pitchFamily="34" charset="-122"/>
                <a:cs typeface="Times New Roman" pitchFamily="34" charset="-120"/>
              </a:rPr>
              <a:t>TRÌNH</a:t>
            </a:r>
            <a:r>
              <a:rPr lang="en-US" sz="1350" b="1">
                <a:solidFill>
                  <a:srgbClr val="008FB3"/>
                </a:solidFill>
                <a:latin typeface="Times New Roman" pitchFamily="34" charset="0"/>
                <a:ea typeface="Times New Roman" pitchFamily="34" charset="-122"/>
                <a:cs typeface="Times New Roman" pitchFamily="34" charset="-120"/>
              </a:rPr>
              <a:t> LIÊN QUAN</a:t>
            </a:r>
            <a:endParaRPr lang="en-US" sz="1350"/>
          </a:p>
        </p:txBody>
      </p:sp>
    </p:spTree>
    <p:extLst>
      <p:ext uri="{BB962C8B-B14F-4D97-AF65-F5344CB8AC3E}">
        <p14:creationId xmlns:p14="http://schemas.microsoft.com/office/powerpoint/2010/main" val="1018289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lang="en-US" sz="3000" b="1" err="1">
                <a:solidFill>
                  <a:srgbClr val="1B365D"/>
                </a:solidFill>
                <a:latin typeface="+mj-lt"/>
              </a:rPr>
              <a:t>Mô</a:t>
            </a:r>
            <a:r>
              <a:rPr lang="en-US" sz="3000" b="1">
                <a:solidFill>
                  <a:srgbClr val="1B365D"/>
                </a:solidFill>
                <a:latin typeface="+mj-lt"/>
              </a:rPr>
              <a:t> </a:t>
            </a:r>
            <a:r>
              <a:rPr lang="en-US" sz="3000" b="1" err="1">
                <a:solidFill>
                  <a:srgbClr val="1B365D"/>
                </a:solidFill>
                <a:latin typeface="+mj-lt"/>
              </a:rPr>
              <a:t>hình</a:t>
            </a:r>
            <a:r>
              <a:rPr lang="en-US" sz="3000" b="1">
                <a:solidFill>
                  <a:srgbClr val="1B365D"/>
                </a:solidFill>
                <a:latin typeface="+mj-lt"/>
              </a:rPr>
              <a:t> </a:t>
            </a:r>
            <a:r>
              <a:rPr lang="en-US" sz="3000" b="1" err="1">
                <a:solidFill>
                  <a:srgbClr val="1B365D"/>
                </a:solidFill>
                <a:latin typeface="+mj-lt"/>
              </a:rPr>
              <a:t>nền</a:t>
            </a:r>
            <a:r>
              <a:rPr lang="en-US" sz="3000" b="1">
                <a:solidFill>
                  <a:srgbClr val="1B365D"/>
                </a:solidFill>
                <a:latin typeface="+mj-lt"/>
              </a:rPr>
              <a:t> </a:t>
            </a:r>
            <a:r>
              <a:rPr lang="en-US" sz="3000" b="1" err="1">
                <a:solidFill>
                  <a:srgbClr val="1B365D"/>
                </a:solidFill>
                <a:latin typeface="+mj-lt"/>
              </a:rPr>
              <a:t>tảng</a:t>
            </a:r>
            <a:r>
              <a:rPr lang="en-US" sz="3000" b="1">
                <a:solidFill>
                  <a:srgbClr val="1B365D"/>
                </a:solidFill>
                <a:latin typeface="+mj-lt"/>
              </a:rPr>
              <a:t> </a:t>
            </a:r>
            <a:r>
              <a:rPr lang="en-US" sz="3000" b="1" err="1">
                <a:solidFill>
                  <a:srgbClr val="1B365D"/>
                </a:solidFill>
                <a:latin typeface="+mj-lt"/>
              </a:rPr>
              <a:t>TransNetV2</a:t>
            </a:r>
            <a:endParaRPr sz="3000" b="1">
              <a:solidFill>
                <a:srgbClr val="1B365D"/>
              </a:solidFill>
              <a:latin typeface="+mj-lt"/>
            </a:endParaRP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11 / 25</a:t>
            </a:r>
          </a:p>
        </p:txBody>
      </p:sp>
      <p:sp>
        <p:nvSpPr>
          <p:cNvPr id="8" name="Text 2">
            <a:extLst>
              <a:ext uri="{FF2B5EF4-FFF2-40B4-BE49-F238E27FC236}">
                <a16:creationId xmlns:a16="http://schemas.microsoft.com/office/drawing/2014/main" id="{D682C228-C312-9283-B60D-75C2F18ECB05}"/>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Times New Roman" pitchFamily="34" charset="0"/>
                <a:ea typeface="Times New Roman" pitchFamily="34" charset="-122"/>
                <a:cs typeface="Times New Roman" pitchFamily="34" charset="-120"/>
              </a:rPr>
              <a:t>2. CÔNG </a:t>
            </a:r>
            <a:r>
              <a:rPr lang="en-US" sz="1350" b="1" err="1">
                <a:solidFill>
                  <a:srgbClr val="008FB3"/>
                </a:solidFill>
                <a:latin typeface="Times New Roman" pitchFamily="34" charset="0"/>
                <a:ea typeface="Times New Roman" pitchFamily="34" charset="-122"/>
                <a:cs typeface="Times New Roman" pitchFamily="34" charset="-120"/>
              </a:rPr>
              <a:t>TRÌNH</a:t>
            </a:r>
            <a:r>
              <a:rPr lang="en-US" sz="1350" b="1">
                <a:solidFill>
                  <a:srgbClr val="008FB3"/>
                </a:solidFill>
                <a:latin typeface="Times New Roman" pitchFamily="34" charset="0"/>
                <a:ea typeface="Times New Roman" pitchFamily="34" charset="-122"/>
                <a:cs typeface="Times New Roman" pitchFamily="34" charset="-120"/>
              </a:rPr>
              <a:t> LIÊN QUAN</a:t>
            </a:r>
            <a:endParaRPr lang="en-US" sz="1350"/>
          </a:p>
        </p:txBody>
      </p:sp>
      <p:sp>
        <p:nvSpPr>
          <p:cNvPr id="40" name="Text 6">
            <a:extLst>
              <a:ext uri="{FF2B5EF4-FFF2-40B4-BE49-F238E27FC236}">
                <a16:creationId xmlns:a16="http://schemas.microsoft.com/office/drawing/2014/main" id="{BD83EC95-42CD-645F-C200-ADA0249EC931}"/>
              </a:ext>
            </a:extLst>
          </p:cNvPr>
          <p:cNvSpPr/>
          <p:nvPr/>
        </p:nvSpPr>
        <p:spPr>
          <a:xfrm>
            <a:off x="698500" y="1696099"/>
            <a:ext cx="5245405" cy="1389735"/>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Kiến trúc tích chập giãn nở </a:t>
            </a:r>
            <a:r>
              <a:rPr lang="en-US" sz="2000" i="1">
                <a:latin typeface="+mj-lt"/>
                <a:ea typeface="Georgia" pitchFamily="34" charset="-122"/>
                <a:cs typeface="Georgia" pitchFamily="34" charset="-120"/>
              </a:rPr>
              <a:t>DDCNN </a:t>
            </a:r>
            <a:r>
              <a:rPr lang="en-US" sz="2000">
                <a:latin typeface="+mj-lt"/>
                <a:ea typeface="Georgia" pitchFamily="34" charset="-122"/>
                <a:cs typeface="Georgia" pitchFamily="34" charset="-120"/>
              </a:rPr>
              <a:t>kết hợp nhánh đặc trưng tương đồng và là nền tảng kế thừa của AutoShot.</a:t>
            </a:r>
            <a:endParaRPr lang="en-US" sz="2000">
              <a:latin typeface="+mj-lt"/>
            </a:endParaRPr>
          </a:p>
        </p:txBody>
      </p:sp>
      <p:sp>
        <p:nvSpPr>
          <p:cNvPr id="41" name="Text 7">
            <a:extLst>
              <a:ext uri="{FF2B5EF4-FFF2-40B4-BE49-F238E27FC236}">
                <a16:creationId xmlns:a16="http://schemas.microsoft.com/office/drawing/2014/main" id="{17B1AB31-984D-4096-7042-CA9013ACC3D8}"/>
              </a:ext>
            </a:extLst>
          </p:cNvPr>
          <p:cNvSpPr/>
          <p:nvPr/>
        </p:nvSpPr>
        <p:spPr>
          <a:xfrm>
            <a:off x="788422" y="3355690"/>
            <a:ext cx="5359477" cy="861807"/>
          </a:xfrm>
          <a:prstGeom prst="rect">
            <a:avLst/>
          </a:prstGeom>
          <a:noFill/>
          <a:ln/>
        </p:spPr>
        <p:txBody>
          <a:bodyPr wrap="square" lIns="16933" tIns="16933" rIns="16933" bIns="16933" rtlCol="0" anchor="t">
            <a:noAutofit/>
          </a:bodyPr>
          <a:lstStyle/>
          <a:p>
            <a:pPr marL="285750" indent="-285750">
              <a:buFont typeface="Calibri"/>
              <a:buChar char="-"/>
            </a:pPr>
            <a:r>
              <a:rPr lang="en-US" sz="2000" b="1">
                <a:latin typeface="+mj-lt"/>
                <a:ea typeface="Georgia" pitchFamily="34" charset="-122"/>
                <a:cs typeface="Georgia" pitchFamily="34" charset="-120"/>
              </a:rPr>
              <a:t>6 </a:t>
            </a:r>
            <a:r>
              <a:rPr lang="en-US" sz="2000" b="1" err="1">
                <a:latin typeface="+mj-lt"/>
                <a:ea typeface="Georgia" pitchFamily="34" charset="-122"/>
                <a:cs typeface="Georgia" pitchFamily="34" charset="-120"/>
              </a:rPr>
              <a:t>khối</a:t>
            </a:r>
            <a:r>
              <a:rPr lang="en-US" sz="2000" b="1">
                <a:latin typeface="+mj-lt"/>
                <a:ea typeface="Georgia" pitchFamily="34" charset="-122"/>
                <a:cs typeface="Georgia" pitchFamily="34" charset="-120"/>
              </a:rPr>
              <a:t> DDCNN </a:t>
            </a:r>
            <a:r>
              <a:rPr lang="en-US" sz="2000" err="1">
                <a:latin typeface="+mj-lt"/>
                <a:ea typeface="Georgia" pitchFamily="34" charset="-122"/>
                <a:cs typeface="Georgia" pitchFamily="34" charset="-120"/>
              </a:rPr>
              <a:t>xếp</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chồng</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tích</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chập</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thời</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gian</a:t>
            </a:r>
            <a:r>
              <a:rPr lang="en-US" sz="2000">
                <a:latin typeface="+mj-lt"/>
                <a:ea typeface="Georgia" pitchFamily="34" charset="-122"/>
                <a:cs typeface="Georgia" pitchFamily="34" charset="-120"/>
              </a:rPr>
              <a:t> 1D </a:t>
            </a:r>
            <a:r>
              <a:rPr lang="en-US" sz="2000" err="1">
                <a:latin typeface="+mj-lt"/>
                <a:ea typeface="Georgia" pitchFamily="34" charset="-122"/>
                <a:cs typeface="Georgia" pitchFamily="34" charset="-120"/>
              </a:rPr>
              <a:t>giãn</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nở</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đa</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nhánh</a:t>
            </a:r>
            <a:r>
              <a:rPr lang="en-US" sz="2000">
                <a:latin typeface="+mj-lt"/>
                <a:ea typeface="Georgia" pitchFamily="34" charset="-122"/>
                <a:cs typeface="Georgia" pitchFamily="34" charset="-120"/>
              </a:rPr>
              <a:t> (d ∈ {1, 2, 4, 8}).</a:t>
            </a:r>
            <a:endParaRPr lang="en-US" sz="2000">
              <a:latin typeface="+mj-lt"/>
              <a:cs typeface="Times New Roman"/>
            </a:endParaRPr>
          </a:p>
        </p:txBody>
      </p:sp>
      <p:sp>
        <p:nvSpPr>
          <p:cNvPr id="42" name="Text 8">
            <a:extLst>
              <a:ext uri="{FF2B5EF4-FFF2-40B4-BE49-F238E27FC236}">
                <a16:creationId xmlns:a16="http://schemas.microsoft.com/office/drawing/2014/main" id="{0B9F735C-4480-8F3D-6EAF-B48BDD2AF380}"/>
              </a:ext>
            </a:extLst>
          </p:cNvPr>
          <p:cNvSpPr/>
          <p:nvPr/>
        </p:nvSpPr>
        <p:spPr>
          <a:xfrm>
            <a:off x="788422" y="4001914"/>
            <a:ext cx="5359477" cy="583731"/>
          </a:xfrm>
          <a:prstGeom prst="rect">
            <a:avLst/>
          </a:prstGeom>
          <a:noFill/>
          <a:ln/>
        </p:spPr>
        <p:txBody>
          <a:bodyPr wrap="square" lIns="16933" tIns="16933" rIns="16933" bIns="16933" rtlCol="0" anchor="t">
            <a:noAutofit/>
          </a:bodyPr>
          <a:lstStyle/>
          <a:p>
            <a:pPr marL="285750" indent="-285750">
              <a:buFont typeface="Calibri"/>
              <a:buChar char="-"/>
            </a:pPr>
            <a:r>
              <a:rPr lang="en-US" sz="2000" b="1" err="1">
                <a:latin typeface="+mj-lt"/>
                <a:ea typeface="Georgia" pitchFamily="34" charset="-122"/>
                <a:cs typeface="Georgia" pitchFamily="34" charset="-120"/>
              </a:rPr>
              <a:t>Nhánh</a:t>
            </a:r>
            <a:r>
              <a:rPr lang="en-US" sz="2000" b="1">
                <a:latin typeface="+mj-lt"/>
                <a:ea typeface="Georgia" pitchFamily="34" charset="-122"/>
                <a:cs typeface="Georgia" pitchFamily="34" charset="-120"/>
              </a:rPr>
              <a:t> similarity </a:t>
            </a:r>
            <a:r>
              <a:rPr lang="en-US" sz="2000">
                <a:latin typeface="+mj-lt"/>
                <a:ea typeface="Georgia" pitchFamily="34" charset="-122"/>
                <a:cs typeface="Georgia" pitchFamily="34" charset="-120"/>
              </a:rPr>
              <a:t>: histogram RGB + learned similarity </a:t>
            </a:r>
            <a:r>
              <a:rPr lang="en-US" sz="2000" err="1">
                <a:latin typeface="+mj-lt"/>
                <a:ea typeface="Georgia" pitchFamily="34" charset="-122"/>
                <a:cs typeface="Georgia" pitchFamily="34" charset="-120"/>
              </a:rPr>
              <a:t>bổ</a:t>
            </a:r>
            <a:r>
              <a:rPr lang="en-US" sz="2000">
                <a:latin typeface="+mj-lt"/>
                <a:ea typeface="Georgia" pitchFamily="34" charset="-122"/>
                <a:cs typeface="Georgia" pitchFamily="34" charset="-120"/>
              </a:rPr>
              <a:t> sung </a:t>
            </a:r>
            <a:r>
              <a:rPr lang="en-US" sz="2000" err="1">
                <a:latin typeface="+mj-lt"/>
                <a:ea typeface="Georgia" pitchFamily="34" charset="-122"/>
                <a:cs typeface="Georgia" pitchFamily="34" charset="-120"/>
              </a:rPr>
              <a:t>tín</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hiệu</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chuyển</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cảnh</a:t>
            </a:r>
            <a:r>
              <a:rPr lang="en-US" sz="2000">
                <a:latin typeface="+mj-lt"/>
                <a:ea typeface="Georgia" pitchFamily="34" charset="-122"/>
                <a:cs typeface="Georgia" pitchFamily="34" charset="-120"/>
              </a:rPr>
              <a:t>.</a:t>
            </a:r>
            <a:endParaRPr lang="en-US" sz="2000">
              <a:latin typeface="+mj-lt"/>
              <a:cs typeface="Times New Roman"/>
            </a:endParaRPr>
          </a:p>
        </p:txBody>
      </p:sp>
      <p:sp>
        <p:nvSpPr>
          <p:cNvPr id="43" name="Text 9">
            <a:extLst>
              <a:ext uri="{FF2B5EF4-FFF2-40B4-BE49-F238E27FC236}">
                <a16:creationId xmlns:a16="http://schemas.microsoft.com/office/drawing/2014/main" id="{86C7D31C-F679-31A4-72F2-1C46A3AC0B81}"/>
              </a:ext>
            </a:extLst>
          </p:cNvPr>
          <p:cNvSpPr/>
          <p:nvPr/>
        </p:nvSpPr>
        <p:spPr>
          <a:xfrm>
            <a:off x="788423" y="4688586"/>
            <a:ext cx="5359477" cy="583731"/>
          </a:xfrm>
          <a:prstGeom prst="rect">
            <a:avLst/>
          </a:prstGeom>
          <a:noFill/>
          <a:ln/>
        </p:spPr>
        <p:txBody>
          <a:bodyPr wrap="square" lIns="16933" tIns="16933" rIns="16933" bIns="16933" rtlCol="0" anchor="t">
            <a:noAutofit/>
          </a:bodyPr>
          <a:lstStyle/>
          <a:p>
            <a:pPr marL="285750" indent="-285750">
              <a:buFont typeface="Calibri"/>
              <a:buChar char="-"/>
            </a:pPr>
            <a:r>
              <a:rPr lang="en-US" sz="2000" b="1">
                <a:latin typeface="+mj-lt"/>
                <a:ea typeface="Georgia" pitchFamily="34" charset="-122"/>
                <a:cs typeface="Georgia" pitchFamily="34" charset="-120"/>
              </a:rPr>
              <a:t>Hai </a:t>
            </a:r>
            <a:r>
              <a:rPr lang="en-US" sz="2000" b="1" err="1">
                <a:latin typeface="+mj-lt"/>
                <a:ea typeface="Georgia" pitchFamily="34" charset="-122"/>
                <a:cs typeface="Georgia" pitchFamily="34" charset="-120"/>
              </a:rPr>
              <a:t>đầu</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phân</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loại</a:t>
            </a:r>
            <a:r>
              <a:rPr lang="en-US" sz="2000" b="1">
                <a:latin typeface="+mj-lt"/>
                <a:ea typeface="Georgia" pitchFamily="34" charset="-122"/>
                <a:cs typeface="Georgia" pitchFamily="34" charset="-120"/>
              </a:rPr>
              <a:t> </a:t>
            </a:r>
            <a:r>
              <a:rPr lang="en-US" sz="2000">
                <a:latin typeface="+mj-lt"/>
                <a:ea typeface="Georgia" pitchFamily="34" charset="-122"/>
                <a:cs typeface="Georgia" pitchFamily="34" charset="-120"/>
              </a:rPr>
              <a:t>song </a:t>
            </a:r>
            <a:r>
              <a:rPr lang="en-US" sz="2000" err="1">
                <a:latin typeface="+mj-lt"/>
                <a:ea typeface="Georgia" pitchFamily="34" charset="-122"/>
                <a:cs typeface="Georgia" pitchFamily="34" charset="-120"/>
              </a:rPr>
              <a:t>song</a:t>
            </a:r>
            <a:r>
              <a:rPr lang="en-US" sz="2000">
                <a:latin typeface="+mj-lt"/>
                <a:ea typeface="Georgia" pitchFamily="34" charset="-122"/>
                <a:cs typeface="Georgia" pitchFamily="34" charset="-120"/>
              </a:rPr>
              <a:t>: single-frame head </a:t>
            </a:r>
            <a:r>
              <a:rPr lang="en-US" sz="2000" err="1">
                <a:latin typeface="+mj-lt"/>
                <a:ea typeface="Georgia" pitchFamily="34" charset="-122"/>
                <a:cs typeface="Georgia" pitchFamily="34" charset="-120"/>
              </a:rPr>
              <a:t>và</a:t>
            </a:r>
            <a:r>
              <a:rPr lang="en-US" sz="2000">
                <a:latin typeface="+mj-lt"/>
                <a:ea typeface="Georgia" pitchFamily="34" charset="-122"/>
                <a:cs typeface="Georgia" pitchFamily="34" charset="-120"/>
              </a:rPr>
              <a:t> all-frame head.</a:t>
            </a:r>
            <a:endParaRPr lang="en-US" sz="2000">
              <a:latin typeface="+mj-lt"/>
              <a:cs typeface="Times New Roman"/>
            </a:endParaRPr>
          </a:p>
        </p:txBody>
      </p:sp>
      <p:sp>
        <p:nvSpPr>
          <p:cNvPr id="44" name="Text 10">
            <a:extLst>
              <a:ext uri="{FF2B5EF4-FFF2-40B4-BE49-F238E27FC236}">
                <a16:creationId xmlns:a16="http://schemas.microsoft.com/office/drawing/2014/main" id="{CAA972B2-12A6-D2CB-BFA7-D32F0C30F105}"/>
              </a:ext>
            </a:extLst>
          </p:cNvPr>
          <p:cNvSpPr/>
          <p:nvPr/>
        </p:nvSpPr>
        <p:spPr>
          <a:xfrm>
            <a:off x="788423" y="5375258"/>
            <a:ext cx="5359477" cy="313225"/>
          </a:xfrm>
          <a:prstGeom prst="rect">
            <a:avLst/>
          </a:prstGeom>
          <a:noFill/>
          <a:ln/>
        </p:spPr>
        <p:txBody>
          <a:bodyPr wrap="square" lIns="16933" tIns="16933" rIns="16933" bIns="16933" rtlCol="0" anchor="t">
            <a:noAutofit/>
          </a:bodyPr>
          <a:lstStyle/>
          <a:p>
            <a:pPr marL="285750" indent="-285750">
              <a:buFont typeface="Calibri"/>
              <a:buChar char="-"/>
            </a:pPr>
            <a:r>
              <a:rPr lang="en-US" sz="2000">
                <a:latin typeface="+mj-lt"/>
                <a:ea typeface="Georgia" pitchFamily="34" charset="-122"/>
                <a:cs typeface="Georgia" pitchFamily="34" charset="-120"/>
              </a:rPr>
              <a:t>Suy </a:t>
            </a:r>
            <a:r>
              <a:rPr lang="en-US" sz="2000" err="1">
                <a:latin typeface="+mj-lt"/>
                <a:ea typeface="Georgia" pitchFamily="34" charset="-122"/>
                <a:cs typeface="Georgia" pitchFamily="34" charset="-120"/>
              </a:rPr>
              <a:t>diễn</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bằng</a:t>
            </a:r>
            <a:r>
              <a:rPr lang="en-US" sz="2000">
                <a:latin typeface="+mj-lt"/>
                <a:ea typeface="Georgia" pitchFamily="34" charset="-122"/>
                <a:cs typeface="Georgia" pitchFamily="34" charset="-120"/>
              </a:rPr>
              <a:t> </a:t>
            </a:r>
            <a:r>
              <a:rPr lang="en-US" sz="2000" b="1" err="1">
                <a:latin typeface="+mj-lt"/>
                <a:ea typeface="Georgia" pitchFamily="34" charset="-122"/>
                <a:cs typeface="Georgia" pitchFamily="34" charset="-120"/>
              </a:rPr>
              <a:t>cửa</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sổ</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trượt</a:t>
            </a:r>
            <a:r>
              <a:rPr lang="en-US" sz="2000" b="1">
                <a:latin typeface="+mj-lt"/>
                <a:ea typeface="Georgia" pitchFamily="34" charset="-122"/>
                <a:cs typeface="Georgia" pitchFamily="34" charset="-120"/>
              </a:rPr>
              <a:t> </a:t>
            </a:r>
            <a:r>
              <a:rPr lang="en-US" sz="2000">
                <a:latin typeface="+mj-lt"/>
                <a:ea typeface="Georgia" pitchFamily="34" charset="-122"/>
                <a:cs typeface="Georgia" pitchFamily="34" charset="-120"/>
              </a:rPr>
              <a:t>100 khung.</a:t>
            </a:r>
            <a:endParaRPr lang="en-US" sz="2000">
              <a:latin typeface="+mj-lt"/>
              <a:cs typeface="Times New Roman"/>
            </a:endParaRPr>
          </a:p>
        </p:txBody>
      </p:sp>
      <p:pic>
        <p:nvPicPr>
          <p:cNvPr id="4" name="Hình ảnh 3" descr="Ảnh có chứa văn bản, biểu đồ, hàng, Phông chữ&#10;&#10;Nội dung do AI tạo ra có thể không chính xác.">
            <a:extLst>
              <a:ext uri="{FF2B5EF4-FFF2-40B4-BE49-F238E27FC236}">
                <a16:creationId xmlns:a16="http://schemas.microsoft.com/office/drawing/2014/main" id="{BD82E138-494A-A0D4-AB11-07718DEBC97E}"/>
              </a:ext>
            </a:extLst>
          </p:cNvPr>
          <p:cNvPicPr>
            <a:picLocks noChangeAspect="1"/>
          </p:cNvPicPr>
          <p:nvPr/>
        </p:nvPicPr>
        <p:blipFill>
          <a:blip r:embed="rId3"/>
          <a:stretch>
            <a:fillRect/>
          </a:stretch>
        </p:blipFill>
        <p:spPr>
          <a:xfrm>
            <a:off x="6273800" y="1701800"/>
            <a:ext cx="5588000" cy="4127500"/>
          </a:xfrm>
          <a:prstGeom prst="rect">
            <a:avLst/>
          </a:prstGeom>
        </p:spPr>
      </p:pic>
    </p:spTree>
    <p:extLst>
      <p:ext uri="{BB962C8B-B14F-4D97-AF65-F5344CB8AC3E}">
        <p14:creationId xmlns:p14="http://schemas.microsoft.com/office/powerpoint/2010/main" val="1907455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4707B-CEDF-5681-F5BE-1D4B7DFB23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32E29B5-0C6A-0821-55BE-966D0FF4F65E}"/>
              </a:ext>
            </a:extLst>
          </p:cNvPr>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a:extLst>
              <a:ext uri="{FF2B5EF4-FFF2-40B4-BE49-F238E27FC236}">
                <a16:creationId xmlns:a16="http://schemas.microsoft.com/office/drawing/2014/main" id="{EA408187-6513-5CDE-599E-A66445BE5145}"/>
              </a:ext>
            </a:extLst>
          </p:cNvPr>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a:extLst>
              <a:ext uri="{FF2B5EF4-FFF2-40B4-BE49-F238E27FC236}">
                <a16:creationId xmlns:a16="http://schemas.microsoft.com/office/drawing/2014/main" id="{E79E4556-3474-4D48-9A9B-33AB21CDDE7B}"/>
              </a:ext>
            </a:extLst>
          </p:cNvPr>
          <p:cNvSpPr txBox="1"/>
          <p:nvPr/>
        </p:nvSpPr>
        <p:spPr>
          <a:xfrm>
            <a:off x="548640" y="594360"/>
            <a:ext cx="10972800" cy="461665"/>
          </a:xfrm>
          <a:prstGeom prst="rect">
            <a:avLst/>
          </a:prstGeom>
          <a:noFill/>
        </p:spPr>
        <p:txBody>
          <a:bodyPr wrap="square" lIns="0" tIns="0" rIns="0" bIns="0" anchor="t">
            <a:spAutoFit/>
          </a:bodyPr>
          <a:lstStyle/>
          <a:p>
            <a:pPr algn="l"/>
            <a:r>
              <a:rPr lang="en-US" sz="3000" b="1" err="1">
                <a:solidFill>
                  <a:srgbClr val="1B365D"/>
                </a:solidFill>
                <a:latin typeface="+mj-lt"/>
              </a:rPr>
              <a:t>Mô</a:t>
            </a:r>
            <a:r>
              <a:rPr lang="en-US" sz="3000" b="1">
                <a:solidFill>
                  <a:srgbClr val="1B365D"/>
                </a:solidFill>
                <a:latin typeface="+mj-lt"/>
              </a:rPr>
              <a:t> </a:t>
            </a:r>
            <a:r>
              <a:rPr lang="en-US" sz="3000" b="1" err="1">
                <a:solidFill>
                  <a:srgbClr val="1B365D"/>
                </a:solidFill>
                <a:latin typeface="+mj-lt"/>
              </a:rPr>
              <a:t>hình</a:t>
            </a:r>
            <a:r>
              <a:rPr lang="en-US" sz="3000" b="1">
                <a:solidFill>
                  <a:srgbClr val="1B365D"/>
                </a:solidFill>
                <a:latin typeface="+mj-lt"/>
              </a:rPr>
              <a:t> </a:t>
            </a:r>
            <a:r>
              <a:rPr lang="en-US" sz="3000" b="1" err="1">
                <a:solidFill>
                  <a:srgbClr val="1B365D"/>
                </a:solidFill>
                <a:latin typeface="+mj-lt"/>
              </a:rPr>
              <a:t>AutoShot</a:t>
            </a:r>
            <a:r>
              <a:rPr lang="en-US" sz="3000" b="1">
                <a:solidFill>
                  <a:srgbClr val="1B365D"/>
                </a:solidFill>
                <a:latin typeface="+mj-lt"/>
              </a:rPr>
              <a:t> – NAS </a:t>
            </a:r>
            <a:r>
              <a:rPr lang="en-US" sz="3000" b="1" err="1">
                <a:solidFill>
                  <a:srgbClr val="1B365D"/>
                </a:solidFill>
                <a:latin typeface="+mj-lt"/>
              </a:rPr>
              <a:t>cho</a:t>
            </a:r>
            <a:r>
              <a:rPr lang="en-US" sz="3000" b="1">
                <a:solidFill>
                  <a:srgbClr val="1B365D"/>
                </a:solidFill>
                <a:latin typeface="+mj-lt"/>
              </a:rPr>
              <a:t> SBD</a:t>
            </a:r>
            <a:endParaRPr sz="3000" b="1">
              <a:solidFill>
                <a:srgbClr val="1B365D"/>
              </a:solidFill>
              <a:latin typeface="+mj-lt"/>
            </a:endParaRPr>
          </a:p>
        </p:txBody>
      </p:sp>
      <p:cxnSp>
        <p:nvCxnSpPr>
          <p:cNvPr id="6" name="Connector 5">
            <a:extLst>
              <a:ext uri="{FF2B5EF4-FFF2-40B4-BE49-F238E27FC236}">
                <a16:creationId xmlns:a16="http://schemas.microsoft.com/office/drawing/2014/main" id="{E159D1A8-BA3E-9047-232D-0C6C33E68B1F}"/>
              </a:ext>
            </a:extLst>
          </p:cNvPr>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C22FDA30-3E43-F5F3-7ADD-BD61B136DF35}"/>
              </a:ext>
            </a:extLst>
          </p:cNvPr>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02DA5FD-F9A7-7D6A-3D59-54CB0B2E2459}"/>
              </a:ext>
            </a:extLst>
          </p:cNvPr>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12 / 25</a:t>
            </a:r>
          </a:p>
        </p:txBody>
      </p:sp>
      <p:sp>
        <p:nvSpPr>
          <p:cNvPr id="8" name="Text 2">
            <a:extLst>
              <a:ext uri="{FF2B5EF4-FFF2-40B4-BE49-F238E27FC236}">
                <a16:creationId xmlns:a16="http://schemas.microsoft.com/office/drawing/2014/main" id="{B51488F8-1EEA-7A0F-03C8-0035904BA04B}"/>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mj-lt"/>
                <a:ea typeface="Times New Roman" pitchFamily="34" charset="-122"/>
                <a:cs typeface="Times New Roman" pitchFamily="34" charset="-120"/>
              </a:rPr>
              <a:t>2. CÔNG </a:t>
            </a:r>
            <a:r>
              <a:rPr lang="en-US" sz="1350" b="1" err="1">
                <a:solidFill>
                  <a:srgbClr val="008FB3"/>
                </a:solidFill>
                <a:latin typeface="+mj-lt"/>
                <a:ea typeface="Times New Roman" pitchFamily="34" charset="-122"/>
                <a:cs typeface="Times New Roman" pitchFamily="34" charset="-120"/>
              </a:rPr>
              <a:t>TRÌNH</a:t>
            </a:r>
            <a:r>
              <a:rPr lang="en-US" sz="1350" b="1">
                <a:solidFill>
                  <a:srgbClr val="008FB3"/>
                </a:solidFill>
                <a:latin typeface="+mj-lt"/>
                <a:ea typeface="Times New Roman" pitchFamily="34" charset="-122"/>
                <a:cs typeface="Times New Roman" pitchFamily="34" charset="-120"/>
              </a:rPr>
              <a:t> LIÊN QUAN</a:t>
            </a:r>
            <a:endParaRPr lang="en-US" sz="1350">
              <a:latin typeface="+mj-lt"/>
            </a:endParaRPr>
          </a:p>
        </p:txBody>
      </p:sp>
      <p:sp>
        <p:nvSpPr>
          <p:cNvPr id="10" name="Text 6">
            <a:extLst>
              <a:ext uri="{FF2B5EF4-FFF2-40B4-BE49-F238E27FC236}">
                <a16:creationId xmlns:a16="http://schemas.microsoft.com/office/drawing/2014/main" id="{FEF56D78-5915-415C-E292-D0C298405090}"/>
              </a:ext>
            </a:extLst>
          </p:cNvPr>
          <p:cNvSpPr/>
          <p:nvPr/>
        </p:nvSpPr>
        <p:spPr>
          <a:xfrm>
            <a:off x="808564" y="1479249"/>
            <a:ext cx="11118850" cy="349304"/>
          </a:xfrm>
          <a:prstGeom prst="rect">
            <a:avLst/>
          </a:prstGeom>
          <a:noFill/>
          <a:ln/>
        </p:spPr>
        <p:txBody>
          <a:bodyPr wrap="square" lIns="16933" tIns="16933" rIns="16933" bIns="16933" rtlCol="0" anchor="t">
            <a:noAutofit/>
          </a:bodyPr>
          <a:lstStyle/>
          <a:p>
            <a:pPr>
              <a:lnSpc>
                <a:spcPct val="142000"/>
              </a:lnSpc>
            </a:pPr>
            <a:r>
              <a:rPr lang="en-US" sz="2000" err="1">
                <a:latin typeface="+mj-lt"/>
                <a:ea typeface="Georgia" pitchFamily="34" charset="-122"/>
                <a:cs typeface="Georgia" pitchFamily="34" charset="-120"/>
              </a:rPr>
              <a:t>Kế</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thừa</a:t>
            </a:r>
            <a:r>
              <a:rPr lang="en-US" sz="2000">
                <a:latin typeface="+mj-lt"/>
                <a:ea typeface="Georgia" pitchFamily="34" charset="-122"/>
                <a:cs typeface="Georgia" pitchFamily="34" charset="-120"/>
              </a:rPr>
              <a:t> backbone TransNetV2, </a:t>
            </a:r>
            <a:r>
              <a:rPr lang="en-US" sz="2000" err="1">
                <a:latin typeface="+mj-lt"/>
                <a:ea typeface="Georgia" pitchFamily="34" charset="-122"/>
                <a:cs typeface="Georgia" pitchFamily="34" charset="-120"/>
              </a:rPr>
              <a:t>tự</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động</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tìm</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kiếm</a:t>
            </a:r>
            <a:r>
              <a:rPr lang="en-US" sz="2000">
                <a:latin typeface="+mj-lt"/>
                <a:ea typeface="Georgia" pitchFamily="34" charset="-122"/>
                <a:cs typeface="Georgia" pitchFamily="34" charset="-120"/>
              </a:rPr>
              <a:t> </a:t>
            </a:r>
            <a:r>
              <a:rPr lang="en-US" sz="2000" i="1">
                <a:latin typeface="+mj-lt"/>
                <a:ea typeface="Georgia" pitchFamily="34" charset="-122"/>
                <a:cs typeface="Georgia" pitchFamily="34" charset="-120"/>
              </a:rPr>
              <a:t>7 </a:t>
            </a:r>
            <a:r>
              <a:rPr lang="en-US" sz="2000" i="1" err="1">
                <a:latin typeface="+mj-lt"/>
                <a:ea typeface="Georgia" pitchFamily="34" charset="-122"/>
                <a:cs typeface="Georgia" pitchFamily="34" charset="-120"/>
              </a:rPr>
              <a:t>vị</a:t>
            </a:r>
            <a:r>
              <a:rPr lang="en-US" sz="2000" i="1">
                <a:latin typeface="+mj-lt"/>
                <a:ea typeface="Georgia" pitchFamily="34" charset="-122"/>
                <a:cs typeface="Georgia" pitchFamily="34" charset="-120"/>
              </a:rPr>
              <a:t> </a:t>
            </a:r>
            <a:r>
              <a:rPr lang="en-US" sz="2000" i="1" err="1">
                <a:latin typeface="+mj-lt"/>
                <a:ea typeface="Georgia" pitchFamily="34" charset="-122"/>
                <a:cs typeface="Georgia" pitchFamily="34" charset="-120"/>
              </a:rPr>
              <a:t>trí</a:t>
            </a:r>
            <a:r>
              <a:rPr lang="en-US" sz="2000" i="1">
                <a:latin typeface="+mj-lt"/>
                <a:ea typeface="Georgia" pitchFamily="34" charset="-122"/>
                <a:cs typeface="Georgia" pitchFamily="34" charset="-120"/>
              </a:rPr>
              <a:t> </a:t>
            </a:r>
            <a:r>
              <a:rPr lang="en-US" sz="2000" i="1" err="1">
                <a:latin typeface="+mj-lt"/>
                <a:ea typeface="Georgia" pitchFamily="34" charset="-122"/>
                <a:cs typeface="Georgia" pitchFamily="34" charset="-120"/>
              </a:rPr>
              <a:t>kiến</a:t>
            </a:r>
            <a:r>
              <a:rPr lang="en-US" sz="2000" i="1">
                <a:latin typeface="+mj-lt"/>
                <a:ea typeface="Georgia" pitchFamily="34" charset="-122"/>
                <a:cs typeface="Georgia" pitchFamily="34" charset="-120"/>
              </a:rPr>
              <a:t> </a:t>
            </a:r>
            <a:r>
              <a:rPr lang="en-US" sz="2000" i="1" err="1">
                <a:latin typeface="+mj-lt"/>
                <a:ea typeface="Georgia" pitchFamily="34" charset="-122"/>
                <a:cs typeface="Georgia" pitchFamily="34" charset="-120"/>
              </a:rPr>
              <a:t>trúc</a:t>
            </a:r>
            <a:r>
              <a:rPr lang="en-US" sz="2000" i="1">
                <a:latin typeface="+mj-lt"/>
                <a:ea typeface="Georgia" pitchFamily="34" charset="-122"/>
                <a:cs typeface="Georgia" pitchFamily="34" charset="-120"/>
              </a:rPr>
              <a:t> </a:t>
            </a:r>
            <a:r>
              <a:rPr lang="en-US" sz="2000" err="1">
                <a:latin typeface="+mj-lt"/>
                <a:ea typeface="Georgia" pitchFamily="34" charset="-122"/>
                <a:cs typeface="Georgia" pitchFamily="34" charset="-120"/>
              </a:rPr>
              <a:t>trong</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không</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gian</a:t>
            </a:r>
            <a:r>
              <a:rPr lang="en-US" sz="2000">
                <a:latin typeface="+mj-lt"/>
                <a:ea typeface="Georgia" pitchFamily="34" charset="-122"/>
                <a:cs typeface="Georgia" pitchFamily="34" charset="-120"/>
              </a:rPr>
              <a:t> </a:t>
            </a:r>
            <a:r>
              <a:rPr lang="en-US" sz="2000" b="1">
                <a:latin typeface="+mj-lt"/>
                <a:ea typeface="Georgia" pitchFamily="34" charset="-122"/>
                <a:cs typeface="Georgia" pitchFamily="34" charset="-120"/>
              </a:rPr>
              <a:t>83.9 </a:t>
            </a:r>
            <a:r>
              <a:rPr lang="en-US" sz="2000" b="1" err="1">
                <a:latin typeface="+mj-lt"/>
                <a:ea typeface="Georgia" pitchFamily="34" charset="-122"/>
                <a:cs typeface="Georgia" pitchFamily="34" charset="-120"/>
              </a:rPr>
              <a:t>triệu</a:t>
            </a:r>
            <a:r>
              <a:rPr lang="en-US" sz="2000" b="1">
                <a:latin typeface="+mj-lt"/>
                <a:ea typeface="Georgia" pitchFamily="34" charset="-122"/>
                <a:cs typeface="Georgia" pitchFamily="34" charset="-120"/>
              </a:rPr>
              <a:t> </a:t>
            </a:r>
            <a:r>
              <a:rPr lang="en-US" sz="2000" err="1">
                <a:latin typeface="+mj-lt"/>
                <a:ea typeface="Georgia" pitchFamily="34" charset="-122"/>
                <a:cs typeface="Georgia" pitchFamily="34" charset="-120"/>
              </a:rPr>
              <a:t>biến</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thể</a:t>
            </a:r>
            <a:r>
              <a:rPr lang="en-US" sz="2000">
                <a:latin typeface="+mj-lt"/>
                <a:ea typeface="Georgia" pitchFamily="34" charset="-122"/>
                <a:cs typeface="Georgia" pitchFamily="34" charset="-120"/>
              </a:rPr>
              <a:t>.</a:t>
            </a:r>
            <a:endParaRPr lang="en-US" sz="2000">
              <a:latin typeface="+mj-lt"/>
              <a:cs typeface="Times New Roman"/>
            </a:endParaRPr>
          </a:p>
        </p:txBody>
      </p:sp>
      <p:sp>
        <p:nvSpPr>
          <p:cNvPr id="11" name="Shape 7">
            <a:extLst>
              <a:ext uri="{FF2B5EF4-FFF2-40B4-BE49-F238E27FC236}">
                <a16:creationId xmlns:a16="http://schemas.microsoft.com/office/drawing/2014/main" id="{4334A4B8-1547-7F5F-99E5-D1367B46334E}"/>
              </a:ext>
            </a:extLst>
          </p:cNvPr>
          <p:cNvSpPr/>
          <p:nvPr/>
        </p:nvSpPr>
        <p:spPr>
          <a:xfrm>
            <a:off x="673100" y="2640392"/>
            <a:ext cx="3462915" cy="701837"/>
          </a:xfrm>
          <a:prstGeom prst="roundRect">
            <a:avLst>
              <a:gd name="adj" fmla="val 3619"/>
            </a:avLst>
          </a:prstGeom>
          <a:solidFill>
            <a:srgbClr val="FFFFFF"/>
          </a:solidFill>
          <a:ln w="8659">
            <a:solidFill>
              <a:srgbClr val="D8D0BF"/>
            </a:solidFill>
            <a:prstDash val="solid"/>
          </a:ln>
        </p:spPr>
        <p:txBody>
          <a:bodyPr/>
          <a:lstStyle/>
          <a:p>
            <a:endParaRPr lang="en-US">
              <a:latin typeface="+mj-lt"/>
            </a:endParaRPr>
          </a:p>
        </p:txBody>
      </p:sp>
      <p:sp>
        <p:nvSpPr>
          <p:cNvPr id="12" name="Text 8">
            <a:extLst>
              <a:ext uri="{FF2B5EF4-FFF2-40B4-BE49-F238E27FC236}">
                <a16:creationId xmlns:a16="http://schemas.microsoft.com/office/drawing/2014/main" id="{0DDD3BA5-F193-669D-056D-D432FF4FA7D8}"/>
              </a:ext>
            </a:extLst>
          </p:cNvPr>
          <p:cNvSpPr/>
          <p:nvPr/>
        </p:nvSpPr>
        <p:spPr>
          <a:xfrm>
            <a:off x="888722" y="2831681"/>
            <a:ext cx="3031670" cy="341599"/>
          </a:xfrm>
          <a:prstGeom prst="rect">
            <a:avLst/>
          </a:prstGeom>
          <a:noFill/>
          <a:ln/>
        </p:spPr>
        <p:txBody>
          <a:bodyPr wrap="square" lIns="16933" tIns="16933" rIns="16933" bIns="16933" rtlCol="0" anchor="t">
            <a:noAutofit/>
          </a:bodyPr>
          <a:lstStyle/>
          <a:p>
            <a:r>
              <a:rPr lang="en-US" sz="2000" b="1" kern="0" spc="162">
                <a:latin typeface="+mj-lt"/>
                <a:ea typeface="Georgia" pitchFamily="34" charset="-122"/>
                <a:cs typeface="Georgia" pitchFamily="34" charset="-120"/>
              </a:rPr>
              <a:t>7 VỊ TRÍ KIẾN TRÚC</a:t>
            </a:r>
            <a:endParaRPr lang="en-US" sz="2000" b="1">
              <a:latin typeface="+mj-lt"/>
            </a:endParaRPr>
          </a:p>
        </p:txBody>
      </p:sp>
      <p:sp>
        <p:nvSpPr>
          <p:cNvPr id="13" name="Shape 10">
            <a:extLst>
              <a:ext uri="{FF2B5EF4-FFF2-40B4-BE49-F238E27FC236}">
                <a16:creationId xmlns:a16="http://schemas.microsoft.com/office/drawing/2014/main" id="{DDC1C73E-5FAE-94DD-FA72-C90E61010F4E}"/>
              </a:ext>
            </a:extLst>
          </p:cNvPr>
          <p:cNvSpPr/>
          <p:nvPr/>
        </p:nvSpPr>
        <p:spPr>
          <a:xfrm>
            <a:off x="4213584" y="2640392"/>
            <a:ext cx="3708197" cy="701837"/>
          </a:xfrm>
          <a:prstGeom prst="roundRect">
            <a:avLst>
              <a:gd name="adj" fmla="val 3619"/>
            </a:avLst>
          </a:prstGeom>
          <a:solidFill>
            <a:srgbClr val="FFFFFF"/>
          </a:solidFill>
          <a:ln w="8659">
            <a:solidFill>
              <a:srgbClr val="D8D0BF"/>
            </a:solidFill>
            <a:prstDash val="solid"/>
          </a:ln>
        </p:spPr>
        <p:txBody>
          <a:bodyPr/>
          <a:lstStyle/>
          <a:p>
            <a:endParaRPr lang="en-US">
              <a:latin typeface="+mj-lt"/>
            </a:endParaRPr>
          </a:p>
        </p:txBody>
      </p:sp>
      <p:sp>
        <p:nvSpPr>
          <p:cNvPr id="14" name="Text 11">
            <a:extLst>
              <a:ext uri="{FF2B5EF4-FFF2-40B4-BE49-F238E27FC236}">
                <a16:creationId xmlns:a16="http://schemas.microsoft.com/office/drawing/2014/main" id="{204FDFE4-E29C-0038-69E3-6F4497A2EBAF}"/>
              </a:ext>
            </a:extLst>
          </p:cNvPr>
          <p:cNvSpPr/>
          <p:nvPr/>
        </p:nvSpPr>
        <p:spPr>
          <a:xfrm>
            <a:off x="4330443" y="2830237"/>
            <a:ext cx="3494571" cy="352773"/>
          </a:xfrm>
          <a:prstGeom prst="rect">
            <a:avLst/>
          </a:prstGeom>
          <a:noFill/>
          <a:ln/>
        </p:spPr>
        <p:txBody>
          <a:bodyPr wrap="square" lIns="16933" tIns="16933" rIns="16933" bIns="16933" rtlCol="0" anchor="t">
            <a:noAutofit/>
          </a:bodyPr>
          <a:lstStyle/>
          <a:p>
            <a:r>
              <a:rPr lang="en-US" sz="2000" b="1" kern="0" spc="162">
                <a:latin typeface="+mj-lt"/>
                <a:ea typeface="Georgia" pitchFamily="34" charset="-122"/>
                <a:cs typeface="Georgia" pitchFamily="34" charset="-120"/>
              </a:rPr>
              <a:t>KHÔNG GIAN TÌM KIẾM</a:t>
            </a:r>
            <a:endParaRPr lang="en-US" sz="2000" b="1">
              <a:latin typeface="+mj-lt"/>
            </a:endParaRPr>
          </a:p>
        </p:txBody>
      </p:sp>
      <p:sp>
        <p:nvSpPr>
          <p:cNvPr id="15" name="Shape 13">
            <a:extLst>
              <a:ext uri="{FF2B5EF4-FFF2-40B4-BE49-F238E27FC236}">
                <a16:creationId xmlns:a16="http://schemas.microsoft.com/office/drawing/2014/main" id="{5DD57665-8FD5-DCE9-34E5-F849A4D0A032}"/>
              </a:ext>
            </a:extLst>
          </p:cNvPr>
          <p:cNvSpPr/>
          <p:nvPr/>
        </p:nvSpPr>
        <p:spPr>
          <a:xfrm>
            <a:off x="8005185" y="2640392"/>
            <a:ext cx="3462915" cy="701837"/>
          </a:xfrm>
          <a:prstGeom prst="roundRect">
            <a:avLst>
              <a:gd name="adj" fmla="val 3619"/>
            </a:avLst>
          </a:prstGeom>
          <a:solidFill>
            <a:srgbClr val="FFFFFF"/>
          </a:solidFill>
          <a:ln w="8659">
            <a:solidFill>
              <a:srgbClr val="D8D0BF"/>
            </a:solidFill>
            <a:prstDash val="solid"/>
          </a:ln>
        </p:spPr>
        <p:txBody>
          <a:bodyPr/>
          <a:lstStyle/>
          <a:p>
            <a:endParaRPr lang="en-US">
              <a:latin typeface="+mj-lt"/>
            </a:endParaRPr>
          </a:p>
        </p:txBody>
      </p:sp>
      <p:sp>
        <p:nvSpPr>
          <p:cNvPr id="16" name="Text 14">
            <a:extLst>
              <a:ext uri="{FF2B5EF4-FFF2-40B4-BE49-F238E27FC236}">
                <a16:creationId xmlns:a16="http://schemas.microsoft.com/office/drawing/2014/main" id="{CCB33B51-AD75-7D7D-E807-052FDCABD8D1}"/>
              </a:ext>
            </a:extLst>
          </p:cNvPr>
          <p:cNvSpPr/>
          <p:nvPr/>
        </p:nvSpPr>
        <p:spPr>
          <a:xfrm>
            <a:off x="8658851" y="2838176"/>
            <a:ext cx="2155581" cy="328610"/>
          </a:xfrm>
          <a:prstGeom prst="rect">
            <a:avLst/>
          </a:prstGeom>
          <a:noFill/>
          <a:ln/>
        </p:spPr>
        <p:txBody>
          <a:bodyPr wrap="square" lIns="16933" tIns="16933" rIns="16933" bIns="16933" rtlCol="0" anchor="t">
            <a:noAutofit/>
          </a:bodyPr>
          <a:lstStyle/>
          <a:p>
            <a:r>
              <a:rPr lang="en-US" sz="2000" b="1" kern="0" spc="162">
                <a:latin typeface="+mj-lt"/>
                <a:ea typeface="Georgia" pitchFamily="34" charset="-122"/>
                <a:cs typeface="Georgia" pitchFamily="34" charset="-120"/>
              </a:rPr>
              <a:t>KẾT QUẢ NAS</a:t>
            </a:r>
            <a:endParaRPr lang="en-US" sz="2000" b="1">
              <a:latin typeface="+mj-lt"/>
            </a:endParaRPr>
          </a:p>
        </p:txBody>
      </p:sp>
      <p:sp>
        <p:nvSpPr>
          <p:cNvPr id="17" name="Text 9">
            <a:extLst>
              <a:ext uri="{FF2B5EF4-FFF2-40B4-BE49-F238E27FC236}">
                <a16:creationId xmlns:a16="http://schemas.microsoft.com/office/drawing/2014/main" id="{A6376C53-3A15-1609-84CB-C9ADA294B837}"/>
              </a:ext>
            </a:extLst>
          </p:cNvPr>
          <p:cNvSpPr/>
          <p:nvPr/>
        </p:nvSpPr>
        <p:spPr>
          <a:xfrm>
            <a:off x="720397" y="3572399"/>
            <a:ext cx="3428318" cy="1785196"/>
          </a:xfrm>
          <a:prstGeom prst="rect">
            <a:avLst/>
          </a:prstGeom>
          <a:noFill/>
          <a:ln/>
        </p:spPr>
        <p:txBody>
          <a:bodyPr wrap="square" lIns="16933" tIns="16933" rIns="16933" bIns="16933" rtlCol="0" anchor="t">
            <a:noAutofit/>
          </a:bodyPr>
          <a:lstStyle/>
          <a:p>
            <a:pPr>
              <a:lnSpc>
                <a:spcPct val="145000"/>
              </a:lnSpc>
            </a:pPr>
            <a:r>
              <a:rPr lang="en-US" sz="2000">
                <a:solidFill>
                  <a:srgbClr val="2C2620"/>
                </a:solidFill>
                <a:latin typeface="+mj-lt"/>
                <a:ea typeface="Georgia" pitchFamily="34" charset="-122"/>
                <a:cs typeface="Georgia" pitchFamily="34" charset="-120"/>
              </a:rPr>
              <a:t>6 khối tích chập 3D phân tách (V = {DDCNNV2, V2A, V2B, V2C}) + 1 khối Transformer 1D với α₇ ∈ {0…4}.</a:t>
            </a:r>
            <a:endParaRPr lang="en-US" sz="2000">
              <a:latin typeface="+mj-lt"/>
            </a:endParaRPr>
          </a:p>
        </p:txBody>
      </p:sp>
      <p:sp>
        <p:nvSpPr>
          <p:cNvPr id="18" name="Text 12">
            <a:extLst>
              <a:ext uri="{FF2B5EF4-FFF2-40B4-BE49-F238E27FC236}">
                <a16:creationId xmlns:a16="http://schemas.microsoft.com/office/drawing/2014/main" id="{4BA0AA22-98F9-C8C3-725C-8EEF423A28DE}"/>
              </a:ext>
            </a:extLst>
          </p:cNvPr>
          <p:cNvSpPr/>
          <p:nvPr/>
        </p:nvSpPr>
        <p:spPr>
          <a:xfrm>
            <a:off x="4362099" y="3549577"/>
            <a:ext cx="3462915" cy="1808016"/>
          </a:xfrm>
          <a:prstGeom prst="rect">
            <a:avLst/>
          </a:prstGeom>
          <a:noFill/>
          <a:ln/>
        </p:spPr>
        <p:txBody>
          <a:bodyPr wrap="square" lIns="16933" tIns="16933" rIns="16933" bIns="16933" rtlCol="0" anchor="t">
            <a:noAutofit/>
          </a:bodyPr>
          <a:lstStyle/>
          <a:p>
            <a:pPr>
              <a:lnSpc>
                <a:spcPct val="145000"/>
              </a:lnSpc>
            </a:pPr>
            <a:r>
              <a:rPr lang="en-US" sz="2000">
                <a:solidFill>
                  <a:srgbClr val="2C2620"/>
                </a:solidFill>
                <a:latin typeface="+mj-lt"/>
                <a:ea typeface="Georgia" pitchFamily="34" charset="-122"/>
                <a:cs typeface="Georgia" pitchFamily="34" charset="-120"/>
              </a:rPr>
              <a:t>~83.9 triệu kiến trúc — đủ phong phú để bao quát đặc thù shot ngắn nhưng vẫn khả thi với SPOS.</a:t>
            </a:r>
            <a:endParaRPr lang="en-US" sz="2000">
              <a:latin typeface="+mj-lt"/>
            </a:endParaRPr>
          </a:p>
        </p:txBody>
      </p:sp>
      <p:sp>
        <p:nvSpPr>
          <p:cNvPr id="19" name="Text 15">
            <a:extLst>
              <a:ext uri="{FF2B5EF4-FFF2-40B4-BE49-F238E27FC236}">
                <a16:creationId xmlns:a16="http://schemas.microsoft.com/office/drawing/2014/main" id="{86068083-0128-E758-E84E-1167D0366D87}"/>
              </a:ext>
            </a:extLst>
          </p:cNvPr>
          <p:cNvSpPr/>
          <p:nvPr/>
        </p:nvSpPr>
        <p:spPr>
          <a:xfrm>
            <a:off x="8025697" y="3550346"/>
            <a:ext cx="3407805" cy="1718771"/>
          </a:xfrm>
          <a:prstGeom prst="rect">
            <a:avLst/>
          </a:prstGeom>
          <a:noFill/>
          <a:ln/>
        </p:spPr>
        <p:txBody>
          <a:bodyPr wrap="square" lIns="0" tIns="0" rIns="0" bIns="0" rtlCol="0" anchor="t">
            <a:noAutofit/>
          </a:bodyPr>
          <a:lstStyle/>
          <a:p>
            <a:pPr>
              <a:lnSpc>
                <a:spcPct val="145000"/>
              </a:lnSpc>
            </a:pPr>
            <a:r>
              <a:rPr lang="en-US" sz="2000" err="1">
                <a:latin typeface="+mj-lt"/>
                <a:ea typeface="Georgia" pitchFamily="34" charset="-122"/>
                <a:cs typeface="Georgia" pitchFamily="34" charset="-120"/>
              </a:rPr>
              <a:t>Kiến</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trúc</a:t>
            </a:r>
            <a:r>
              <a:rPr lang="en-US" sz="2000">
                <a:latin typeface="+mj-lt"/>
                <a:ea typeface="Georgia" pitchFamily="34" charset="-122"/>
                <a:cs typeface="Georgia" pitchFamily="34" charset="-120"/>
              </a:rPr>
              <a:t> α* </a:t>
            </a:r>
            <a:r>
              <a:rPr lang="en-US" sz="2000" err="1">
                <a:latin typeface="+mj-lt"/>
                <a:ea typeface="Georgia" pitchFamily="34" charset="-122"/>
                <a:cs typeface="Georgia" pitchFamily="34" charset="-120"/>
              </a:rPr>
              <a:t>tối</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ưu</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đạt</a:t>
            </a:r>
            <a:r>
              <a:rPr lang="en-US" sz="2000">
                <a:latin typeface="+mj-lt"/>
                <a:ea typeface="Georgia" pitchFamily="34" charset="-122"/>
                <a:cs typeface="Georgia" pitchFamily="34" charset="-120"/>
              </a:rPr>
              <a:t> F1 ≈</a:t>
            </a:r>
            <a:r>
              <a:rPr lang="en-US" sz="2000" i="1">
                <a:latin typeface="+mj-lt"/>
                <a:ea typeface="Georgia" pitchFamily="34" charset="-122"/>
                <a:cs typeface="Georgia" pitchFamily="34" charset="-120"/>
              </a:rPr>
              <a:t> 0.84 </a:t>
            </a:r>
            <a:r>
              <a:rPr lang="en-US" sz="2000" err="1">
                <a:latin typeface="+mj-lt"/>
                <a:ea typeface="Georgia" pitchFamily="34" charset="-122"/>
                <a:cs typeface="Georgia" pitchFamily="34" charset="-120"/>
              </a:rPr>
              <a:t>trên</a:t>
            </a:r>
            <a:r>
              <a:rPr lang="en-US" sz="2000">
                <a:latin typeface="+mj-lt"/>
                <a:ea typeface="Georgia" pitchFamily="34" charset="-122"/>
                <a:cs typeface="Georgia" pitchFamily="34" charset="-120"/>
              </a:rPr>
              <a:t> SHOT — </a:t>
            </a:r>
            <a:r>
              <a:rPr lang="en-US" sz="2000" err="1">
                <a:latin typeface="+mj-lt"/>
                <a:ea typeface="Georgia" pitchFamily="34" charset="-122"/>
                <a:cs typeface="Georgia" pitchFamily="34" charset="-120"/>
              </a:rPr>
              <a:t>vượt</a:t>
            </a:r>
            <a:r>
              <a:rPr lang="en-US" sz="2000">
                <a:latin typeface="+mj-lt"/>
                <a:ea typeface="Georgia" pitchFamily="34" charset="-122"/>
                <a:cs typeface="Georgia" pitchFamily="34" charset="-120"/>
              </a:rPr>
              <a:t> TransNetV2 </a:t>
            </a:r>
            <a:r>
              <a:rPr lang="en-US" sz="2000" err="1">
                <a:latin typeface="+mj-lt"/>
                <a:ea typeface="Georgia" pitchFamily="34" charset="-122"/>
                <a:cs typeface="Georgia" pitchFamily="34" charset="-120"/>
              </a:rPr>
              <a:t>nhờ</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phù</a:t>
            </a:r>
            <a:r>
              <a:rPr lang="en-US" sz="2000">
                <a:latin typeface="+mj-lt"/>
                <a:ea typeface="Georgia" pitchFamily="34" charset="-122"/>
                <a:cs typeface="Georgia" pitchFamily="34" charset="-120"/>
              </a:rPr>
              <a:t> </a:t>
            </a:r>
            <a:r>
              <a:rPr lang="en-US" sz="2000" err="1">
                <a:latin typeface="+mj-lt"/>
                <a:ea typeface="Georgia" pitchFamily="34" charset="-122"/>
                <a:cs typeface="Georgia" pitchFamily="34" charset="-120"/>
              </a:rPr>
              <a:t>hợp</a:t>
            </a:r>
            <a:r>
              <a:rPr lang="en-US" sz="2000">
                <a:latin typeface="+mj-lt"/>
                <a:ea typeface="Georgia" pitchFamily="34" charset="-122"/>
                <a:cs typeface="Georgia" pitchFamily="34" charset="-120"/>
              </a:rPr>
              <a:t> domain.</a:t>
            </a:r>
            <a:endParaRPr lang="en-US" sz="2000">
              <a:latin typeface="+mj-lt"/>
            </a:endParaRPr>
          </a:p>
          <a:p>
            <a:pPr>
              <a:lnSpc>
                <a:spcPct val="145000"/>
              </a:lnSpc>
            </a:pPr>
            <a:endParaRPr lang="en-US" sz="2000">
              <a:latin typeface="+mj-lt"/>
            </a:endParaRPr>
          </a:p>
        </p:txBody>
      </p:sp>
    </p:spTree>
    <p:extLst>
      <p:ext uri="{BB962C8B-B14F-4D97-AF65-F5344CB8AC3E}">
        <p14:creationId xmlns:p14="http://schemas.microsoft.com/office/powerpoint/2010/main" val="4034443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solidFill>
                <a:schemeClr val="tx1"/>
              </a:solidFill>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solidFill>
                <a:schemeClr val="tx1"/>
              </a:solidFill>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err="1">
                <a:latin typeface="+mj-lt"/>
              </a:rPr>
              <a:t>AutoShotV2</a:t>
            </a:r>
            <a:r>
              <a:rPr sz="3000" b="1">
                <a:latin typeface="+mj-lt"/>
              </a:rPr>
              <a:t> </a:t>
            </a:r>
            <a:r>
              <a:rPr lang="en-US" sz="3000" b="1">
                <a:latin typeface="+mj-lt"/>
              </a:rPr>
              <a:t>– </a:t>
            </a:r>
            <a:r>
              <a:rPr lang="en-US" sz="3000" b="1" err="1">
                <a:latin typeface="+mj-lt"/>
              </a:rPr>
              <a:t>chiến</a:t>
            </a:r>
            <a:r>
              <a:rPr lang="en-US" sz="3000" b="1">
                <a:latin typeface="+mj-lt"/>
              </a:rPr>
              <a:t> </a:t>
            </a:r>
            <a:r>
              <a:rPr lang="en-US" sz="3000" b="1" err="1">
                <a:latin typeface="+mj-lt"/>
              </a:rPr>
              <a:t>lược</a:t>
            </a:r>
            <a:r>
              <a:rPr lang="en-US" sz="3000" b="1">
                <a:latin typeface="+mj-lt"/>
              </a:rPr>
              <a:t> </a:t>
            </a:r>
            <a:r>
              <a:rPr lang="en-US" sz="3000" b="1" err="1">
                <a:latin typeface="+mj-lt"/>
              </a:rPr>
              <a:t>tổng</a:t>
            </a:r>
            <a:r>
              <a:rPr lang="en-US" sz="3000" b="1">
                <a:latin typeface="+mj-lt"/>
              </a:rPr>
              <a:t> </a:t>
            </a:r>
            <a:r>
              <a:rPr lang="en-US" sz="3000" b="1" err="1">
                <a:latin typeface="+mj-lt"/>
              </a:rPr>
              <a:t>thể</a:t>
            </a:r>
            <a:endParaRPr sz="3000" b="1">
              <a:latin typeface="+mj-lt"/>
            </a:endParaRP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latin typeface="+mj-lt"/>
              </a:rPr>
              <a:t>13 / 25</a:t>
            </a:r>
          </a:p>
        </p:txBody>
      </p:sp>
      <p:sp>
        <p:nvSpPr>
          <p:cNvPr id="26" name="Text 6">
            <a:extLst>
              <a:ext uri="{FF2B5EF4-FFF2-40B4-BE49-F238E27FC236}">
                <a16:creationId xmlns:a16="http://schemas.microsoft.com/office/drawing/2014/main" id="{A2133A83-A1D6-0716-BBFC-C86F465C4416}"/>
              </a:ext>
            </a:extLst>
          </p:cNvPr>
          <p:cNvSpPr/>
          <p:nvPr/>
        </p:nvSpPr>
        <p:spPr>
          <a:xfrm>
            <a:off x="698500" y="1431020"/>
            <a:ext cx="10515600" cy="644345"/>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Tận dụng tối đa biểu diễn đã được NAS tối ưu — </a:t>
            </a:r>
            <a:r>
              <a:rPr lang="en-US" sz="2000" i="1">
                <a:latin typeface="+mj-lt"/>
                <a:ea typeface="Georgia" pitchFamily="34" charset="-122"/>
                <a:cs typeface="Georgia" pitchFamily="34" charset="-120"/>
              </a:rPr>
              <a:t>chỉ cải tiến tầng đầu ra </a:t>
            </a:r>
            <a:r>
              <a:rPr lang="en-US" sz="2000">
                <a:latin typeface="+mj-lt"/>
                <a:ea typeface="Georgia" pitchFamily="34" charset="-122"/>
                <a:cs typeface="Georgia" pitchFamily="34" charset="-120"/>
              </a:rPr>
              <a:t>, nơi mô hình dễ tổn thương nhất với mất cân bằng và nhiễu.</a:t>
            </a:r>
            <a:endParaRPr lang="en-US" sz="2000">
              <a:latin typeface="+mj-lt"/>
            </a:endParaRPr>
          </a:p>
        </p:txBody>
      </p:sp>
      <p:sp>
        <p:nvSpPr>
          <p:cNvPr id="4" name="Text 2">
            <a:extLst>
              <a:ext uri="{FF2B5EF4-FFF2-40B4-BE49-F238E27FC236}">
                <a16:creationId xmlns:a16="http://schemas.microsoft.com/office/drawing/2014/main" id="{8E6F6716-F21E-EB6F-9D29-B5E46F09AAA3}"/>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mj-lt"/>
                <a:ea typeface="Times New Roman" pitchFamily="34" charset="-122"/>
                <a:cs typeface="Times New Roman" pitchFamily="34" charset="-120"/>
              </a:rPr>
              <a:t>3. PHƯƠNG </a:t>
            </a:r>
            <a:r>
              <a:rPr lang="en-US" sz="1350" b="1" err="1">
                <a:solidFill>
                  <a:srgbClr val="008FB3"/>
                </a:solidFill>
                <a:latin typeface="+mj-lt"/>
                <a:ea typeface="Times New Roman" pitchFamily="34" charset="-122"/>
                <a:cs typeface="Times New Roman" pitchFamily="34" charset="-120"/>
              </a:rPr>
              <a:t>PHÁ</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ĐỀ</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XUẤT</a:t>
            </a:r>
            <a:r>
              <a:rPr lang="en-US" sz="1350" b="1">
                <a:solidFill>
                  <a:srgbClr val="008FB3"/>
                </a:solidFill>
                <a:latin typeface="+mj-lt"/>
                <a:ea typeface="Times New Roman" pitchFamily="34" charset="-122"/>
                <a:cs typeface="Times New Roman" pitchFamily="34" charset="-120"/>
              </a:rPr>
              <a:t> – </a:t>
            </a:r>
            <a:r>
              <a:rPr lang="en-US" sz="1350" b="1" err="1">
                <a:solidFill>
                  <a:srgbClr val="008FB3"/>
                </a:solidFill>
                <a:latin typeface="+mj-lt"/>
                <a:ea typeface="Times New Roman" pitchFamily="34" charset="-122"/>
                <a:cs typeface="Times New Roman" pitchFamily="34" charset="-120"/>
              </a:rPr>
              <a:t>AUTOSHOTV2</a:t>
            </a:r>
            <a:endParaRPr lang="en-US" sz="1350">
              <a:latin typeface="+mj-lt"/>
            </a:endParaRPr>
          </a:p>
        </p:txBody>
      </p:sp>
      <p:sp>
        <p:nvSpPr>
          <p:cNvPr id="8" name="Rectangle 7">
            <a:extLst>
              <a:ext uri="{FF2B5EF4-FFF2-40B4-BE49-F238E27FC236}">
                <a16:creationId xmlns:a16="http://schemas.microsoft.com/office/drawing/2014/main" id="{6CD24A6B-0CA8-9972-8B8D-2D8FAD20392C}"/>
              </a:ext>
            </a:extLst>
          </p:cNvPr>
          <p:cNvSpPr/>
          <p:nvPr/>
        </p:nvSpPr>
        <p:spPr>
          <a:xfrm>
            <a:off x="698500" y="2280286"/>
            <a:ext cx="5207000" cy="3745931"/>
          </a:xfrm>
          <a:prstGeom prst="rect">
            <a:avLst/>
          </a:prstGeom>
          <a:ln w="12700">
            <a:solidFill>
              <a:srgbClr val="27F179"/>
            </a:solidFill>
            <a:prstDash val="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47553140-896B-165C-409D-530EF39F764F}"/>
              </a:ext>
            </a:extLst>
          </p:cNvPr>
          <p:cNvSpPr/>
          <p:nvPr/>
        </p:nvSpPr>
        <p:spPr>
          <a:xfrm>
            <a:off x="6286500" y="2278383"/>
            <a:ext cx="5207000" cy="3745930"/>
          </a:xfrm>
          <a:prstGeom prst="rect">
            <a:avLst/>
          </a:prstGeom>
          <a:ln w="28575">
            <a:solidFill>
              <a:srgbClr val="27F179"/>
            </a:solidFill>
            <a:prstDash val="dash"/>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5" name="Text 6">
            <a:extLst>
              <a:ext uri="{FF2B5EF4-FFF2-40B4-BE49-F238E27FC236}">
                <a16:creationId xmlns:a16="http://schemas.microsoft.com/office/drawing/2014/main" id="{9F50CE61-43E1-49DA-EA59-45A40BD8DD51}"/>
              </a:ext>
            </a:extLst>
          </p:cNvPr>
          <p:cNvSpPr/>
          <p:nvPr/>
        </p:nvSpPr>
        <p:spPr>
          <a:xfrm>
            <a:off x="2251417" y="6076022"/>
            <a:ext cx="2002125" cy="408871"/>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AutoShot (Gốc)</a:t>
            </a:r>
            <a:endParaRPr lang="en-US" sz="2000">
              <a:latin typeface="+mj-lt"/>
            </a:endParaRPr>
          </a:p>
        </p:txBody>
      </p:sp>
      <p:sp>
        <p:nvSpPr>
          <p:cNvPr id="16" name="Text 6">
            <a:extLst>
              <a:ext uri="{FF2B5EF4-FFF2-40B4-BE49-F238E27FC236}">
                <a16:creationId xmlns:a16="http://schemas.microsoft.com/office/drawing/2014/main" id="{FF50AE30-96D6-CB91-256F-0CE121560956}"/>
              </a:ext>
            </a:extLst>
          </p:cNvPr>
          <p:cNvSpPr/>
          <p:nvPr/>
        </p:nvSpPr>
        <p:spPr>
          <a:xfrm>
            <a:off x="7703058" y="6005145"/>
            <a:ext cx="2536031" cy="408871"/>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AutoShotV2 (Đề xuất)</a:t>
            </a:r>
            <a:endParaRPr lang="en-US" sz="2000">
              <a:latin typeface="+mj-lt"/>
            </a:endParaRPr>
          </a:p>
        </p:txBody>
      </p:sp>
      <p:sp>
        <p:nvSpPr>
          <p:cNvPr id="17" name="Rectangle 16">
            <a:extLst>
              <a:ext uri="{FF2B5EF4-FFF2-40B4-BE49-F238E27FC236}">
                <a16:creationId xmlns:a16="http://schemas.microsoft.com/office/drawing/2014/main" id="{AAC7EA86-EB38-0CD4-0DF6-DC049F901413}"/>
              </a:ext>
            </a:extLst>
          </p:cNvPr>
          <p:cNvSpPr/>
          <p:nvPr/>
        </p:nvSpPr>
        <p:spPr>
          <a:xfrm>
            <a:off x="1028700" y="2552700"/>
            <a:ext cx="1066800" cy="485775"/>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9" name="Rectangle 18">
            <a:extLst>
              <a:ext uri="{FF2B5EF4-FFF2-40B4-BE49-F238E27FC236}">
                <a16:creationId xmlns:a16="http://schemas.microsoft.com/office/drawing/2014/main" id="{181D6B2C-532B-890D-CDF4-10A10608D9D9}"/>
              </a:ext>
            </a:extLst>
          </p:cNvPr>
          <p:cNvSpPr/>
          <p:nvPr/>
        </p:nvSpPr>
        <p:spPr>
          <a:xfrm>
            <a:off x="962025" y="2520067"/>
            <a:ext cx="1400175" cy="566033"/>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a:solidFill>
                  <a:srgbClr val="080808"/>
                </a:solidFill>
              </a:rPr>
              <a:t>Input frames</a:t>
            </a:r>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B52E7EF2-23FC-3A7D-F947-52E3BAF7A74D}"/>
                  </a:ext>
                </a:extLst>
              </p:cNvPr>
              <p:cNvSpPr/>
              <p:nvPr/>
            </p:nvSpPr>
            <p:spPr>
              <a:xfrm>
                <a:off x="2810898" y="2524125"/>
                <a:ext cx="2835275" cy="561975"/>
              </a:xfrm>
              <a:prstGeom prst="rect">
                <a:avLst/>
              </a:prstGeom>
              <a:solidFill>
                <a:srgbClr val="92D050"/>
              </a:solidFill>
              <a:ln w="19050" cap="flat" cmpd="sng" algn="ctr">
                <a:solidFill>
                  <a:schemeClr val="bg2">
                    <a:lumMod val="2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a:solidFill>
                      <a:schemeClr val="bg1">
                        <a:lumMod val="10000"/>
                      </a:schemeClr>
                    </a:solidFill>
                  </a:rPr>
                  <a:t>Backnone (NAS)</a:t>
                </a:r>
              </a:p>
              <a:p>
                <a:pPr algn="ctr"/>
                <a:r>
                  <a:rPr lang="en-US">
                    <a:solidFill>
                      <a:schemeClr val="bg1">
                        <a:lumMod val="10000"/>
                      </a:schemeClr>
                    </a:solidFill>
                  </a:rPr>
                  <a:t>DDCNN </a:t>
                </a:r>
                <a14:m>
                  <m:oMath xmlns:m="http://schemas.openxmlformats.org/officeDocument/2006/math">
                    <m:r>
                      <a:rPr lang="en-US" i="1" smtClean="0">
                        <a:solidFill>
                          <a:schemeClr val="bg1">
                            <a:lumMod val="10000"/>
                          </a:schemeClr>
                        </a:solidFill>
                        <a:latin typeface="Cambria Math" panose="02040503050406030204" pitchFamily="18" charset="0"/>
                        <a:ea typeface="Cambria Math" panose="02040503050406030204" pitchFamily="18" charset="0"/>
                      </a:rPr>
                      <m:t>×</m:t>
                    </m:r>
                    <m:r>
                      <a:rPr lang="en-US" b="0" i="1" smtClean="0">
                        <a:solidFill>
                          <a:schemeClr val="bg1">
                            <a:lumMod val="10000"/>
                          </a:schemeClr>
                        </a:solidFill>
                        <a:latin typeface="Cambria Math" panose="02040503050406030204" pitchFamily="18" charset="0"/>
                        <a:ea typeface="Cambria Math" panose="02040503050406030204" pitchFamily="18" charset="0"/>
                      </a:rPr>
                      <m:t>6</m:t>
                    </m:r>
                  </m:oMath>
                </a14:m>
                <a:r>
                  <a:rPr lang="en-US">
                    <a:solidFill>
                      <a:schemeClr val="bg1">
                        <a:lumMod val="10000"/>
                      </a:schemeClr>
                    </a:solidFill>
                  </a:rPr>
                  <a:t> + Transformer</a:t>
                </a:r>
              </a:p>
            </p:txBody>
          </p:sp>
        </mc:Choice>
        <mc:Fallback xmlns="">
          <p:sp>
            <p:nvSpPr>
              <p:cNvPr id="22" name="Rectangle 21">
                <a:extLst>
                  <a:ext uri="{FF2B5EF4-FFF2-40B4-BE49-F238E27FC236}">
                    <a16:creationId xmlns:a16="http://schemas.microsoft.com/office/drawing/2014/main" id="{B52E7EF2-23FC-3A7D-F947-52E3BAF7A74D}"/>
                  </a:ext>
                </a:extLst>
              </p:cNvPr>
              <p:cNvSpPr>
                <a:spLocks noRot="1" noChangeAspect="1" noMove="1" noResize="1" noEditPoints="1" noAdjustHandles="1" noChangeArrowheads="1" noChangeShapeType="1" noTextEdit="1"/>
              </p:cNvSpPr>
              <p:nvPr/>
            </p:nvSpPr>
            <p:spPr>
              <a:xfrm>
                <a:off x="2810898" y="2524125"/>
                <a:ext cx="2835275" cy="561975"/>
              </a:xfrm>
              <a:prstGeom prst="rect">
                <a:avLst/>
              </a:prstGeom>
              <a:blipFill>
                <a:blip r:embed="rId3"/>
                <a:stretch>
                  <a:fillRect l="-641" t="-11579" r="-427" b="-22105"/>
                </a:stretch>
              </a:blipFill>
              <a:ln w="19050" cap="flat" cmpd="sng" algn="ctr">
                <a:solidFill>
                  <a:schemeClr val="bg2">
                    <a:lumMod val="25000"/>
                  </a:schemeClr>
                </a:solidFill>
                <a:prstDash val="solid"/>
                <a:round/>
                <a:headEnd type="none" w="med" len="med"/>
                <a:tailEnd type="none" w="med" len="med"/>
              </a:ln>
            </p:spPr>
            <p:txBody>
              <a:bodyPr/>
              <a:lstStyle/>
              <a:p>
                <a:r>
                  <a:rPr lang="en-US">
                    <a:noFill/>
                  </a:rPr>
                  <a:t> </a:t>
                </a:r>
              </a:p>
            </p:txBody>
          </p:sp>
        </mc:Fallback>
      </mc:AlternateContent>
      <p:sp>
        <p:nvSpPr>
          <p:cNvPr id="10" name="Arrow: Right 9">
            <a:extLst>
              <a:ext uri="{FF2B5EF4-FFF2-40B4-BE49-F238E27FC236}">
                <a16:creationId xmlns:a16="http://schemas.microsoft.com/office/drawing/2014/main" id="{964E41D1-7314-EBF3-FDF6-4008F1CF4A98}"/>
              </a:ext>
            </a:extLst>
          </p:cNvPr>
          <p:cNvSpPr/>
          <p:nvPr/>
        </p:nvSpPr>
        <p:spPr>
          <a:xfrm>
            <a:off x="2403475" y="2689861"/>
            <a:ext cx="381000" cy="22594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BD62CBF-F29B-347C-EB53-8F47A068F71F}"/>
              </a:ext>
            </a:extLst>
          </p:cNvPr>
          <p:cNvSpPr/>
          <p:nvPr/>
        </p:nvSpPr>
        <p:spPr>
          <a:xfrm>
            <a:off x="3786646" y="3364436"/>
            <a:ext cx="1859527" cy="407465"/>
          </a:xfrm>
          <a:prstGeom prst="roundRect">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80808"/>
                </a:solidFill>
              </a:rPr>
              <a:t>Classifier (BCE)</a:t>
            </a:r>
          </a:p>
        </p:txBody>
      </p:sp>
      <p:sp>
        <p:nvSpPr>
          <p:cNvPr id="12" name="Arrow: Down 11">
            <a:extLst>
              <a:ext uri="{FF2B5EF4-FFF2-40B4-BE49-F238E27FC236}">
                <a16:creationId xmlns:a16="http://schemas.microsoft.com/office/drawing/2014/main" id="{8DA7EDDA-CBB7-F8E4-652A-3ACC83BFE202}"/>
              </a:ext>
            </a:extLst>
          </p:cNvPr>
          <p:cNvSpPr/>
          <p:nvPr/>
        </p:nvSpPr>
        <p:spPr>
          <a:xfrm>
            <a:off x="4631531" y="3149712"/>
            <a:ext cx="266700" cy="156415"/>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D285E26A-1A25-CD14-5CD6-0A888A9ADC4B}"/>
              </a:ext>
            </a:extLst>
          </p:cNvPr>
          <p:cNvSpPr/>
          <p:nvPr/>
        </p:nvSpPr>
        <p:spPr>
          <a:xfrm>
            <a:off x="2242222" y="3353006"/>
            <a:ext cx="1010258" cy="41889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solidFill>
                  <a:srgbClr val="080808"/>
                </a:solidFill>
              </a:rPr>
              <a:t>Sigmoid</a:t>
            </a:r>
          </a:p>
        </p:txBody>
      </p:sp>
      <p:sp>
        <p:nvSpPr>
          <p:cNvPr id="18" name="Arrow: Left 17">
            <a:extLst>
              <a:ext uri="{FF2B5EF4-FFF2-40B4-BE49-F238E27FC236}">
                <a16:creationId xmlns:a16="http://schemas.microsoft.com/office/drawing/2014/main" id="{66C17EE3-BA3C-AA47-4E13-24BD7C192AAF}"/>
              </a:ext>
            </a:extLst>
          </p:cNvPr>
          <p:cNvSpPr/>
          <p:nvPr/>
        </p:nvSpPr>
        <p:spPr>
          <a:xfrm>
            <a:off x="3300872" y="3419475"/>
            <a:ext cx="428366" cy="257175"/>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87C2427-5BCF-E1B1-1CF9-BB73C440FB77}"/>
              </a:ext>
            </a:extLst>
          </p:cNvPr>
          <p:cNvSpPr/>
          <p:nvPr/>
        </p:nvSpPr>
        <p:spPr>
          <a:xfrm>
            <a:off x="772360" y="4265214"/>
            <a:ext cx="1727037" cy="868761"/>
          </a:xfrm>
          <a:prstGeom prst="ellipse">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080808"/>
                </a:solidFill>
              </a:rPr>
              <a:t>Scene boundaries</a:t>
            </a:r>
          </a:p>
          <a:p>
            <a:pPr algn="ctr"/>
            <a:r>
              <a:rPr lang="en-US" sz="1600">
                <a:solidFill>
                  <a:srgbClr val="080808"/>
                </a:solidFill>
              </a:rPr>
              <a:t>F1 = 0.841 </a:t>
            </a:r>
          </a:p>
        </p:txBody>
      </p:sp>
      <p:cxnSp>
        <p:nvCxnSpPr>
          <p:cNvPr id="25" name="Straight Arrow Connector 24">
            <a:extLst>
              <a:ext uri="{FF2B5EF4-FFF2-40B4-BE49-F238E27FC236}">
                <a16:creationId xmlns:a16="http://schemas.microsoft.com/office/drawing/2014/main" id="{CD492F8F-01FD-F833-39BD-D3DD5FAEDCF3}"/>
              </a:ext>
            </a:extLst>
          </p:cNvPr>
          <p:cNvCxnSpPr>
            <a:cxnSpLocks/>
          </p:cNvCxnSpPr>
          <p:nvPr/>
        </p:nvCxnSpPr>
        <p:spPr>
          <a:xfrm flipH="1">
            <a:off x="1990725" y="3771901"/>
            <a:ext cx="251497" cy="5117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4B07D3BB-7A84-C146-BF36-4F41D326F154}"/>
              </a:ext>
            </a:extLst>
          </p:cNvPr>
          <p:cNvSpPr/>
          <p:nvPr/>
        </p:nvSpPr>
        <p:spPr>
          <a:xfrm>
            <a:off x="6545827" y="2520067"/>
            <a:ext cx="1400175" cy="566033"/>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a:solidFill>
                  <a:srgbClr val="080808"/>
                </a:solidFill>
              </a:rPr>
              <a:t>Input frames</a:t>
            </a:r>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BD31F4B6-25C6-1512-23D9-834BFBD0A58A}"/>
                  </a:ext>
                </a:extLst>
              </p:cNvPr>
              <p:cNvSpPr/>
              <p:nvPr/>
            </p:nvSpPr>
            <p:spPr>
              <a:xfrm>
                <a:off x="8394700" y="2524125"/>
                <a:ext cx="2835275" cy="561975"/>
              </a:xfrm>
              <a:prstGeom prst="rect">
                <a:avLst/>
              </a:prstGeom>
              <a:solidFill>
                <a:srgbClr val="92D050"/>
              </a:solidFill>
              <a:ln w="19050" cap="flat" cmpd="sng" algn="ctr">
                <a:solidFill>
                  <a:schemeClr val="bg2">
                    <a:lumMod val="2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a:solidFill>
                      <a:schemeClr val="bg1">
                        <a:lumMod val="10000"/>
                      </a:schemeClr>
                    </a:solidFill>
                  </a:rPr>
                  <a:t>Backnone (NAS)</a:t>
                </a:r>
              </a:p>
              <a:p>
                <a:pPr algn="ctr"/>
                <a:r>
                  <a:rPr lang="en-US">
                    <a:solidFill>
                      <a:schemeClr val="bg1">
                        <a:lumMod val="10000"/>
                      </a:schemeClr>
                    </a:solidFill>
                  </a:rPr>
                  <a:t>DDCNN </a:t>
                </a:r>
                <a14:m>
                  <m:oMath xmlns:m="http://schemas.openxmlformats.org/officeDocument/2006/math">
                    <m:r>
                      <a:rPr lang="en-US" i="1" smtClean="0">
                        <a:solidFill>
                          <a:schemeClr val="bg1">
                            <a:lumMod val="10000"/>
                          </a:schemeClr>
                        </a:solidFill>
                        <a:latin typeface="Cambria Math" panose="02040503050406030204" pitchFamily="18" charset="0"/>
                        <a:ea typeface="Cambria Math" panose="02040503050406030204" pitchFamily="18" charset="0"/>
                      </a:rPr>
                      <m:t>×</m:t>
                    </m:r>
                    <m:r>
                      <a:rPr lang="en-US" b="0" i="1" smtClean="0">
                        <a:solidFill>
                          <a:schemeClr val="bg1">
                            <a:lumMod val="10000"/>
                          </a:schemeClr>
                        </a:solidFill>
                        <a:latin typeface="Cambria Math" panose="02040503050406030204" pitchFamily="18" charset="0"/>
                        <a:ea typeface="Cambria Math" panose="02040503050406030204" pitchFamily="18" charset="0"/>
                      </a:rPr>
                      <m:t>6</m:t>
                    </m:r>
                  </m:oMath>
                </a14:m>
                <a:r>
                  <a:rPr lang="en-US">
                    <a:solidFill>
                      <a:schemeClr val="bg1">
                        <a:lumMod val="10000"/>
                      </a:schemeClr>
                    </a:solidFill>
                  </a:rPr>
                  <a:t> + Transformer</a:t>
                </a:r>
              </a:p>
            </p:txBody>
          </p:sp>
        </mc:Choice>
        <mc:Fallback xmlns="">
          <p:sp>
            <p:nvSpPr>
              <p:cNvPr id="43" name="Rectangle 42">
                <a:extLst>
                  <a:ext uri="{FF2B5EF4-FFF2-40B4-BE49-F238E27FC236}">
                    <a16:creationId xmlns:a16="http://schemas.microsoft.com/office/drawing/2014/main" id="{BD31F4B6-25C6-1512-23D9-834BFBD0A58A}"/>
                  </a:ext>
                </a:extLst>
              </p:cNvPr>
              <p:cNvSpPr>
                <a:spLocks noRot="1" noChangeAspect="1" noMove="1" noResize="1" noEditPoints="1" noAdjustHandles="1" noChangeArrowheads="1" noChangeShapeType="1" noTextEdit="1"/>
              </p:cNvSpPr>
              <p:nvPr/>
            </p:nvSpPr>
            <p:spPr>
              <a:xfrm>
                <a:off x="8394700" y="2524125"/>
                <a:ext cx="2835275" cy="561975"/>
              </a:xfrm>
              <a:prstGeom prst="rect">
                <a:avLst/>
              </a:prstGeom>
              <a:blipFill>
                <a:blip r:embed="rId3"/>
                <a:stretch>
                  <a:fillRect l="-641" t="-11579" r="-427" b="-22105"/>
                </a:stretch>
              </a:blipFill>
              <a:ln w="19050" cap="flat" cmpd="sng" algn="ctr">
                <a:solidFill>
                  <a:schemeClr val="bg2">
                    <a:lumMod val="25000"/>
                  </a:schemeClr>
                </a:solidFill>
                <a:prstDash val="solid"/>
                <a:round/>
                <a:headEnd type="none" w="med" len="med"/>
                <a:tailEnd type="none" w="med" len="med"/>
              </a:ln>
            </p:spPr>
            <p:txBody>
              <a:bodyPr/>
              <a:lstStyle/>
              <a:p>
                <a:r>
                  <a:rPr lang="en-US">
                    <a:noFill/>
                  </a:rPr>
                  <a:t> </a:t>
                </a:r>
              </a:p>
            </p:txBody>
          </p:sp>
        </mc:Fallback>
      </mc:AlternateContent>
      <p:sp>
        <p:nvSpPr>
          <p:cNvPr id="44" name="Arrow: Right 43">
            <a:extLst>
              <a:ext uri="{FF2B5EF4-FFF2-40B4-BE49-F238E27FC236}">
                <a16:creationId xmlns:a16="http://schemas.microsoft.com/office/drawing/2014/main" id="{9FC45F81-FA61-3507-8B9B-9DF45B2038E6}"/>
              </a:ext>
            </a:extLst>
          </p:cNvPr>
          <p:cNvSpPr/>
          <p:nvPr/>
        </p:nvSpPr>
        <p:spPr>
          <a:xfrm>
            <a:off x="7987277" y="2689861"/>
            <a:ext cx="381000" cy="22594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827B4DF9-7536-B1DE-210D-E7591C25DFF4}"/>
              </a:ext>
            </a:extLst>
          </p:cNvPr>
          <p:cNvSpPr/>
          <p:nvPr/>
        </p:nvSpPr>
        <p:spPr>
          <a:xfrm>
            <a:off x="9601200" y="3364436"/>
            <a:ext cx="1628775" cy="626540"/>
          </a:xfrm>
          <a:prstGeom prst="roundRect">
            <a:avLst/>
          </a:prstGeom>
          <a:solidFill>
            <a:srgbClr val="FFFF99"/>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080808"/>
                </a:solidFill>
              </a:rPr>
              <a:t>Classifier (New)</a:t>
            </a:r>
          </a:p>
          <a:p>
            <a:pPr algn="ctr"/>
            <a:r>
              <a:rPr lang="en-US" sz="1600" i="1">
                <a:solidFill>
                  <a:srgbClr val="080808"/>
                </a:solidFill>
              </a:rPr>
              <a:t>Focal Loss</a:t>
            </a:r>
          </a:p>
        </p:txBody>
      </p:sp>
      <p:sp>
        <p:nvSpPr>
          <p:cNvPr id="46" name="Arrow: Down 45">
            <a:extLst>
              <a:ext uri="{FF2B5EF4-FFF2-40B4-BE49-F238E27FC236}">
                <a16:creationId xmlns:a16="http://schemas.microsoft.com/office/drawing/2014/main" id="{1B2E5464-EFDD-6FBA-0F80-7EA17A62F914}"/>
              </a:ext>
            </a:extLst>
          </p:cNvPr>
          <p:cNvSpPr/>
          <p:nvPr/>
        </p:nvSpPr>
        <p:spPr>
          <a:xfrm>
            <a:off x="10215333" y="3149712"/>
            <a:ext cx="266700" cy="156415"/>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3D268AA6-78F9-9BCA-D3FE-8E25E4B8B3E3}"/>
              </a:ext>
            </a:extLst>
          </p:cNvPr>
          <p:cNvSpPr/>
          <p:nvPr/>
        </p:nvSpPr>
        <p:spPr>
          <a:xfrm>
            <a:off x="6494053" y="3373878"/>
            <a:ext cx="1010258" cy="41889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solidFill>
                  <a:srgbClr val="080808"/>
                </a:solidFill>
              </a:rPr>
              <a:t>Sigmoid</a:t>
            </a:r>
          </a:p>
        </p:txBody>
      </p:sp>
      <p:sp>
        <p:nvSpPr>
          <p:cNvPr id="48" name="Arrow: Left 47">
            <a:extLst>
              <a:ext uri="{FF2B5EF4-FFF2-40B4-BE49-F238E27FC236}">
                <a16:creationId xmlns:a16="http://schemas.microsoft.com/office/drawing/2014/main" id="{95B78689-E086-42DA-BCEA-6F1661530331}"/>
              </a:ext>
            </a:extLst>
          </p:cNvPr>
          <p:cNvSpPr/>
          <p:nvPr/>
        </p:nvSpPr>
        <p:spPr>
          <a:xfrm>
            <a:off x="9374388" y="3543300"/>
            <a:ext cx="167251" cy="257175"/>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2ADF145D-B8ED-028C-B1B3-16BD6ADADDF2}"/>
              </a:ext>
            </a:extLst>
          </p:cNvPr>
          <p:cNvSpPr/>
          <p:nvPr/>
        </p:nvSpPr>
        <p:spPr>
          <a:xfrm>
            <a:off x="6381056" y="5010990"/>
            <a:ext cx="1564946" cy="868761"/>
          </a:xfrm>
          <a:prstGeom prst="ellipse">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080808"/>
                </a:solidFill>
              </a:rPr>
              <a:t>Scene boundaries</a:t>
            </a:r>
          </a:p>
          <a:p>
            <a:pPr algn="ctr"/>
            <a:r>
              <a:rPr lang="en-US" sz="1600">
                <a:solidFill>
                  <a:srgbClr val="080808"/>
                </a:solidFill>
              </a:rPr>
              <a:t>F1 = 0.861</a:t>
            </a:r>
          </a:p>
        </p:txBody>
      </p:sp>
      <p:sp>
        <p:nvSpPr>
          <p:cNvPr id="52" name="Rectangle: Single Corner Snipped 51">
            <a:extLst>
              <a:ext uri="{FF2B5EF4-FFF2-40B4-BE49-F238E27FC236}">
                <a16:creationId xmlns:a16="http://schemas.microsoft.com/office/drawing/2014/main" id="{0F6053C2-EBF1-F18C-B8F9-C0F2B7BE2542}"/>
              </a:ext>
            </a:extLst>
          </p:cNvPr>
          <p:cNvSpPr/>
          <p:nvPr/>
        </p:nvSpPr>
        <p:spPr>
          <a:xfrm>
            <a:off x="7815827" y="3360626"/>
            <a:ext cx="1509148" cy="626540"/>
          </a:xfrm>
          <a:prstGeom prst="snip1Rect">
            <a:avLst/>
          </a:prstGeom>
          <a:solidFill>
            <a:srgbClr val="FF9900"/>
          </a:solidFill>
          <a:ln w="12700">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080808"/>
                </a:solidFill>
              </a:rPr>
              <a:t>Temperature Scaling</a:t>
            </a:r>
          </a:p>
        </p:txBody>
      </p:sp>
      <p:sp>
        <p:nvSpPr>
          <p:cNvPr id="53" name="Arrow: Left 52">
            <a:extLst>
              <a:ext uri="{FF2B5EF4-FFF2-40B4-BE49-F238E27FC236}">
                <a16:creationId xmlns:a16="http://schemas.microsoft.com/office/drawing/2014/main" id="{B4897737-7B5E-2F12-1B35-B6578B47237B}"/>
              </a:ext>
            </a:extLst>
          </p:cNvPr>
          <p:cNvSpPr/>
          <p:nvPr/>
        </p:nvSpPr>
        <p:spPr>
          <a:xfrm>
            <a:off x="7563872" y="3457575"/>
            <a:ext cx="206117" cy="257175"/>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ctangle: Single Corner Snipped 53">
            <a:extLst>
              <a:ext uri="{FF2B5EF4-FFF2-40B4-BE49-F238E27FC236}">
                <a16:creationId xmlns:a16="http://schemas.microsoft.com/office/drawing/2014/main" id="{62438D8B-13D9-C3D0-83B1-71192C0BD133}"/>
              </a:ext>
            </a:extLst>
          </p:cNvPr>
          <p:cNvSpPr/>
          <p:nvPr/>
        </p:nvSpPr>
        <p:spPr>
          <a:xfrm>
            <a:off x="6439465" y="4068960"/>
            <a:ext cx="1337698" cy="626540"/>
          </a:xfrm>
          <a:prstGeom prst="snip1Rect">
            <a:avLst/>
          </a:prstGeom>
          <a:solidFill>
            <a:srgbClr val="FF9900"/>
          </a:solidFill>
          <a:ln w="12700">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080808"/>
                </a:solidFill>
              </a:rPr>
              <a:t>Gaussian Smoothing</a:t>
            </a:r>
          </a:p>
        </p:txBody>
      </p:sp>
      <p:sp>
        <p:nvSpPr>
          <p:cNvPr id="55" name="Arrow: Down 54">
            <a:extLst>
              <a:ext uri="{FF2B5EF4-FFF2-40B4-BE49-F238E27FC236}">
                <a16:creationId xmlns:a16="http://schemas.microsoft.com/office/drawing/2014/main" id="{577493F4-7CF5-9BF8-2FEF-4E4DC935F295}"/>
              </a:ext>
            </a:extLst>
          </p:cNvPr>
          <p:cNvSpPr/>
          <p:nvPr/>
        </p:nvSpPr>
        <p:spPr>
          <a:xfrm>
            <a:off x="6936864" y="3854727"/>
            <a:ext cx="266700" cy="156415"/>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CB396E1D-00A2-9F8C-4B48-838EED8E2582}"/>
              </a:ext>
            </a:extLst>
          </p:cNvPr>
          <p:cNvCxnSpPr>
            <a:cxnSpLocks/>
          </p:cNvCxnSpPr>
          <p:nvPr/>
        </p:nvCxnSpPr>
        <p:spPr>
          <a:xfrm>
            <a:off x="7102008" y="4695500"/>
            <a:ext cx="0" cy="3154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00CF817E-581A-1E08-90A8-4E8C5BBADDE5}"/>
              </a:ext>
            </a:extLst>
          </p:cNvPr>
          <p:cNvSpPr/>
          <p:nvPr/>
        </p:nvSpPr>
        <p:spPr>
          <a:xfrm>
            <a:off x="2658380" y="4174433"/>
            <a:ext cx="2987793" cy="1544502"/>
          </a:xfrm>
          <a:custGeom>
            <a:avLst/>
            <a:gdLst>
              <a:gd name="csX0" fmla="*/ 0 w 2987793"/>
              <a:gd name="csY0" fmla="*/ 0 h 1544502"/>
              <a:gd name="csX1" fmla="*/ 657314 w 2987793"/>
              <a:gd name="csY1" fmla="*/ 0 h 1544502"/>
              <a:gd name="csX2" fmla="*/ 1314629 w 2987793"/>
              <a:gd name="csY2" fmla="*/ 0 h 1544502"/>
              <a:gd name="csX3" fmla="*/ 1852432 w 2987793"/>
              <a:gd name="csY3" fmla="*/ 0 h 1544502"/>
              <a:gd name="csX4" fmla="*/ 2449990 w 2987793"/>
              <a:gd name="csY4" fmla="*/ 0 h 1544502"/>
              <a:gd name="csX5" fmla="*/ 2987793 w 2987793"/>
              <a:gd name="csY5" fmla="*/ 0 h 1544502"/>
              <a:gd name="csX6" fmla="*/ 2987793 w 2987793"/>
              <a:gd name="csY6" fmla="*/ 530279 h 1544502"/>
              <a:gd name="csX7" fmla="*/ 2987793 w 2987793"/>
              <a:gd name="csY7" fmla="*/ 1029668 h 1544502"/>
              <a:gd name="csX8" fmla="*/ 2987793 w 2987793"/>
              <a:gd name="csY8" fmla="*/ 1544502 h 1544502"/>
              <a:gd name="csX9" fmla="*/ 2479868 w 2987793"/>
              <a:gd name="csY9" fmla="*/ 1544502 h 1544502"/>
              <a:gd name="csX10" fmla="*/ 1971943 w 2987793"/>
              <a:gd name="csY10" fmla="*/ 1544502 h 1544502"/>
              <a:gd name="csX11" fmla="*/ 1464019 w 2987793"/>
              <a:gd name="csY11" fmla="*/ 1544502 h 1544502"/>
              <a:gd name="csX12" fmla="*/ 836582 w 2987793"/>
              <a:gd name="csY12" fmla="*/ 1544502 h 1544502"/>
              <a:gd name="csX13" fmla="*/ 0 w 2987793"/>
              <a:gd name="csY13" fmla="*/ 1544502 h 1544502"/>
              <a:gd name="csX14" fmla="*/ 0 w 2987793"/>
              <a:gd name="csY14" fmla="*/ 1045113 h 1544502"/>
              <a:gd name="csX15" fmla="*/ 0 w 2987793"/>
              <a:gd name="csY15" fmla="*/ 576614 h 1544502"/>
              <a:gd name="csX16" fmla="*/ 0 w 2987793"/>
              <a:gd name="csY16" fmla="*/ 0 h 15445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987793" h="1544502" extrusionOk="0">
                <a:moveTo>
                  <a:pt x="0" y="0"/>
                </a:moveTo>
                <a:cubicBezTo>
                  <a:pt x="229841" y="-23553"/>
                  <a:pt x="470941" y="7478"/>
                  <a:pt x="657314" y="0"/>
                </a:cubicBezTo>
                <a:cubicBezTo>
                  <a:pt x="843687" y="-7478"/>
                  <a:pt x="1070264" y="15220"/>
                  <a:pt x="1314629" y="0"/>
                </a:cubicBezTo>
                <a:cubicBezTo>
                  <a:pt x="1558994" y="-15220"/>
                  <a:pt x="1685125" y="1929"/>
                  <a:pt x="1852432" y="0"/>
                </a:cubicBezTo>
                <a:cubicBezTo>
                  <a:pt x="2019739" y="-1929"/>
                  <a:pt x="2217394" y="-5182"/>
                  <a:pt x="2449990" y="0"/>
                </a:cubicBezTo>
                <a:cubicBezTo>
                  <a:pt x="2682586" y="5182"/>
                  <a:pt x="2857612" y="-26218"/>
                  <a:pt x="2987793" y="0"/>
                </a:cubicBezTo>
                <a:cubicBezTo>
                  <a:pt x="2974985" y="147189"/>
                  <a:pt x="2992603" y="394166"/>
                  <a:pt x="2987793" y="530279"/>
                </a:cubicBezTo>
                <a:cubicBezTo>
                  <a:pt x="2982983" y="666392"/>
                  <a:pt x="2964251" y="882462"/>
                  <a:pt x="2987793" y="1029668"/>
                </a:cubicBezTo>
                <a:cubicBezTo>
                  <a:pt x="3011335" y="1176874"/>
                  <a:pt x="3010654" y="1362032"/>
                  <a:pt x="2987793" y="1544502"/>
                </a:cubicBezTo>
                <a:cubicBezTo>
                  <a:pt x="2746830" y="1563779"/>
                  <a:pt x="2666358" y="1534599"/>
                  <a:pt x="2479868" y="1544502"/>
                </a:cubicBezTo>
                <a:cubicBezTo>
                  <a:pt x="2293378" y="1554405"/>
                  <a:pt x="2166366" y="1553143"/>
                  <a:pt x="1971943" y="1544502"/>
                </a:cubicBezTo>
                <a:cubicBezTo>
                  <a:pt x="1777520" y="1535861"/>
                  <a:pt x="1637865" y="1539380"/>
                  <a:pt x="1464019" y="1544502"/>
                </a:cubicBezTo>
                <a:cubicBezTo>
                  <a:pt x="1290173" y="1549624"/>
                  <a:pt x="1031614" y="1516713"/>
                  <a:pt x="836582" y="1544502"/>
                </a:cubicBezTo>
                <a:cubicBezTo>
                  <a:pt x="641550" y="1572291"/>
                  <a:pt x="198372" y="1572062"/>
                  <a:pt x="0" y="1544502"/>
                </a:cubicBezTo>
                <a:cubicBezTo>
                  <a:pt x="16098" y="1298132"/>
                  <a:pt x="10064" y="1145326"/>
                  <a:pt x="0" y="1045113"/>
                </a:cubicBezTo>
                <a:cubicBezTo>
                  <a:pt x="-10064" y="944900"/>
                  <a:pt x="4366" y="782131"/>
                  <a:pt x="0" y="576614"/>
                </a:cubicBezTo>
                <a:cubicBezTo>
                  <a:pt x="-4366" y="371097"/>
                  <a:pt x="10180" y="208056"/>
                  <a:pt x="0" y="0"/>
                </a:cubicBezTo>
                <a:close/>
              </a:path>
            </a:pathLst>
          </a:custGeom>
          <a:noFill/>
          <a:ln>
            <a:extLst>
              <a:ext uri="{C807C97D-BFC1-408E-A445-0C87EB9F89A2}">
                <ask:lineSketchStyleProps xmlns:ask="http://schemas.microsoft.com/office/drawing/2018/sketchyshapes" sd="3697686130">
                  <a:prstGeom prst="rect">
                    <a:avLst/>
                  </a:prstGeom>
                  <ask:type>
                    <ask:lineSketchFreehand/>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80808"/>
                </a:solidFill>
              </a:rPr>
              <a:t>Huấn luyện end-to-end không hậu sử lý</a:t>
            </a:r>
          </a:p>
          <a:p>
            <a:pPr algn="ctr"/>
            <a:endParaRPr lang="en-US">
              <a:solidFill>
                <a:srgbClr val="080808"/>
              </a:solidFill>
            </a:endParaRPr>
          </a:p>
          <a:p>
            <a:pPr algn="ctr"/>
            <a:r>
              <a:rPr lang="en-US">
                <a:solidFill>
                  <a:srgbClr val="080808"/>
                </a:solidFill>
              </a:rPr>
              <a:t>F1= 0.841 trên SHOT</a:t>
            </a:r>
          </a:p>
        </p:txBody>
      </p:sp>
      <p:sp>
        <p:nvSpPr>
          <p:cNvPr id="69" name="Rectangle 68">
            <a:extLst>
              <a:ext uri="{FF2B5EF4-FFF2-40B4-BE49-F238E27FC236}">
                <a16:creationId xmlns:a16="http://schemas.microsoft.com/office/drawing/2014/main" id="{FF3C312B-2B51-39F8-8C39-4679264D6257}"/>
              </a:ext>
            </a:extLst>
          </p:cNvPr>
          <p:cNvSpPr/>
          <p:nvPr/>
        </p:nvSpPr>
        <p:spPr>
          <a:xfrm>
            <a:off x="8107399" y="4190178"/>
            <a:ext cx="3124957" cy="1544502"/>
          </a:xfrm>
          <a:custGeom>
            <a:avLst/>
            <a:gdLst>
              <a:gd name="csX0" fmla="*/ 0 w 3124957"/>
              <a:gd name="csY0" fmla="*/ 0 h 1544502"/>
              <a:gd name="csX1" fmla="*/ 687491 w 3124957"/>
              <a:gd name="csY1" fmla="*/ 0 h 1544502"/>
              <a:gd name="csX2" fmla="*/ 1374981 w 3124957"/>
              <a:gd name="csY2" fmla="*/ 0 h 1544502"/>
              <a:gd name="csX3" fmla="*/ 1937473 w 3124957"/>
              <a:gd name="csY3" fmla="*/ 0 h 1544502"/>
              <a:gd name="csX4" fmla="*/ 2562465 w 3124957"/>
              <a:gd name="csY4" fmla="*/ 0 h 1544502"/>
              <a:gd name="csX5" fmla="*/ 3124957 w 3124957"/>
              <a:gd name="csY5" fmla="*/ 0 h 1544502"/>
              <a:gd name="csX6" fmla="*/ 3124957 w 3124957"/>
              <a:gd name="csY6" fmla="*/ 530279 h 1544502"/>
              <a:gd name="csX7" fmla="*/ 3124957 w 3124957"/>
              <a:gd name="csY7" fmla="*/ 1029668 h 1544502"/>
              <a:gd name="csX8" fmla="*/ 3124957 w 3124957"/>
              <a:gd name="csY8" fmla="*/ 1544502 h 1544502"/>
              <a:gd name="csX9" fmla="*/ 2593714 w 3124957"/>
              <a:gd name="csY9" fmla="*/ 1544502 h 1544502"/>
              <a:gd name="csX10" fmla="*/ 2062472 w 3124957"/>
              <a:gd name="csY10" fmla="*/ 1544502 h 1544502"/>
              <a:gd name="csX11" fmla="*/ 1531229 w 3124957"/>
              <a:gd name="csY11" fmla="*/ 1544502 h 1544502"/>
              <a:gd name="csX12" fmla="*/ 874988 w 3124957"/>
              <a:gd name="csY12" fmla="*/ 1544502 h 1544502"/>
              <a:gd name="csX13" fmla="*/ 0 w 3124957"/>
              <a:gd name="csY13" fmla="*/ 1544502 h 1544502"/>
              <a:gd name="csX14" fmla="*/ 0 w 3124957"/>
              <a:gd name="csY14" fmla="*/ 1045113 h 1544502"/>
              <a:gd name="csX15" fmla="*/ 0 w 3124957"/>
              <a:gd name="csY15" fmla="*/ 576614 h 1544502"/>
              <a:gd name="csX16" fmla="*/ 0 w 3124957"/>
              <a:gd name="csY16" fmla="*/ 0 h 15445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24957" h="1544502" extrusionOk="0">
                <a:moveTo>
                  <a:pt x="0" y="0"/>
                </a:moveTo>
                <a:cubicBezTo>
                  <a:pt x="289444" y="-8324"/>
                  <a:pt x="547035" y="-33289"/>
                  <a:pt x="687491" y="0"/>
                </a:cubicBezTo>
                <a:cubicBezTo>
                  <a:pt x="827947" y="33289"/>
                  <a:pt x="1108734" y="12396"/>
                  <a:pt x="1374981" y="0"/>
                </a:cubicBezTo>
                <a:cubicBezTo>
                  <a:pt x="1641228" y="-12396"/>
                  <a:pt x="1690454" y="-25986"/>
                  <a:pt x="1937473" y="0"/>
                </a:cubicBezTo>
                <a:cubicBezTo>
                  <a:pt x="2184492" y="25986"/>
                  <a:pt x="2362218" y="-4627"/>
                  <a:pt x="2562465" y="0"/>
                </a:cubicBezTo>
                <a:cubicBezTo>
                  <a:pt x="2762712" y="4627"/>
                  <a:pt x="2952589" y="5260"/>
                  <a:pt x="3124957" y="0"/>
                </a:cubicBezTo>
                <a:cubicBezTo>
                  <a:pt x="3112149" y="147189"/>
                  <a:pt x="3129767" y="394166"/>
                  <a:pt x="3124957" y="530279"/>
                </a:cubicBezTo>
                <a:cubicBezTo>
                  <a:pt x="3120147" y="666392"/>
                  <a:pt x="3101415" y="882462"/>
                  <a:pt x="3124957" y="1029668"/>
                </a:cubicBezTo>
                <a:cubicBezTo>
                  <a:pt x="3148499" y="1176874"/>
                  <a:pt x="3147818" y="1362032"/>
                  <a:pt x="3124957" y="1544502"/>
                </a:cubicBezTo>
                <a:cubicBezTo>
                  <a:pt x="2941203" y="1548504"/>
                  <a:pt x="2772291" y="1544316"/>
                  <a:pt x="2593714" y="1544502"/>
                </a:cubicBezTo>
                <a:cubicBezTo>
                  <a:pt x="2415137" y="1544688"/>
                  <a:pt x="2219612" y="1564296"/>
                  <a:pt x="2062472" y="1544502"/>
                </a:cubicBezTo>
                <a:cubicBezTo>
                  <a:pt x="1905332" y="1524708"/>
                  <a:pt x="1752085" y="1565474"/>
                  <a:pt x="1531229" y="1544502"/>
                </a:cubicBezTo>
                <a:cubicBezTo>
                  <a:pt x="1310373" y="1523530"/>
                  <a:pt x="1017120" y="1563123"/>
                  <a:pt x="874988" y="1544502"/>
                </a:cubicBezTo>
                <a:cubicBezTo>
                  <a:pt x="732856" y="1525881"/>
                  <a:pt x="247096" y="1551143"/>
                  <a:pt x="0" y="1544502"/>
                </a:cubicBezTo>
                <a:cubicBezTo>
                  <a:pt x="16098" y="1298132"/>
                  <a:pt x="10064" y="1145326"/>
                  <a:pt x="0" y="1045113"/>
                </a:cubicBezTo>
                <a:cubicBezTo>
                  <a:pt x="-10064" y="944900"/>
                  <a:pt x="4366" y="782131"/>
                  <a:pt x="0" y="576614"/>
                </a:cubicBezTo>
                <a:cubicBezTo>
                  <a:pt x="-4366" y="371097"/>
                  <a:pt x="10180" y="208056"/>
                  <a:pt x="0" y="0"/>
                </a:cubicBezTo>
                <a:close/>
              </a:path>
            </a:pathLst>
          </a:custGeom>
          <a:noFill/>
          <a:ln>
            <a:extLst>
              <a:ext uri="{C807C97D-BFC1-408E-A445-0C87EB9F89A2}">
                <ask:lineSketchStyleProps xmlns:ask="http://schemas.microsoft.com/office/drawing/2018/sketchyshapes" sd="3697686130">
                  <a:prstGeom prst="rect">
                    <a:avLst/>
                  </a:prstGeom>
                  <ask:type>
                    <ask:lineSketchFreehand/>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80808"/>
                </a:solidFill>
              </a:rPr>
              <a:t>Hậu xử lý xác suất:</a:t>
            </a:r>
          </a:p>
          <a:p>
            <a:pPr marL="285750" indent="-285750" algn="ctr">
              <a:buFontTx/>
              <a:buChar char="-"/>
            </a:pPr>
            <a:r>
              <a:rPr lang="en-US">
                <a:solidFill>
                  <a:srgbClr val="080808"/>
                </a:solidFill>
              </a:rPr>
              <a:t>Temperature Scaling</a:t>
            </a:r>
          </a:p>
          <a:p>
            <a:pPr marL="285750" indent="-285750" algn="ctr">
              <a:buFontTx/>
              <a:buChar char="-"/>
            </a:pPr>
            <a:r>
              <a:rPr lang="en-US">
                <a:solidFill>
                  <a:srgbClr val="080808"/>
                </a:solidFill>
              </a:rPr>
              <a:t> Gaussian Smoothing</a:t>
            </a:r>
          </a:p>
          <a:p>
            <a:pPr algn="ctr"/>
            <a:endParaRPr lang="en-US">
              <a:solidFill>
                <a:srgbClr val="080808"/>
              </a:solidFill>
            </a:endParaRPr>
          </a:p>
          <a:p>
            <a:pPr algn="ctr"/>
            <a:r>
              <a:rPr lang="en-US">
                <a:solidFill>
                  <a:srgbClr val="080808"/>
                </a:solidFill>
              </a:rPr>
              <a:t>F1= 0.861 trên SHOT (+2.02%)</a:t>
            </a:r>
          </a:p>
        </p:txBody>
      </p:sp>
    </p:spTree>
    <p:extLst>
      <p:ext uri="{BB962C8B-B14F-4D97-AF65-F5344CB8AC3E}">
        <p14:creationId xmlns:p14="http://schemas.microsoft.com/office/powerpoint/2010/main" val="3826041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37801-77A5-2A0A-CE4E-EB78032E8AC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1B10E67-8DC1-B65C-D5F3-7F6DDBB28921}"/>
              </a:ext>
            </a:extLst>
          </p:cNvPr>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a:extLst>
              <a:ext uri="{FF2B5EF4-FFF2-40B4-BE49-F238E27FC236}">
                <a16:creationId xmlns:a16="http://schemas.microsoft.com/office/drawing/2014/main" id="{2E5D7D69-90EA-849B-1B99-9966FBB5FE2E}"/>
              </a:ext>
            </a:extLst>
          </p:cNvPr>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a:extLst>
              <a:ext uri="{FF2B5EF4-FFF2-40B4-BE49-F238E27FC236}">
                <a16:creationId xmlns:a16="http://schemas.microsoft.com/office/drawing/2014/main" id="{52FB0FDA-CC1E-56C2-4DE5-F09DD5200EA3}"/>
              </a:ext>
            </a:extLst>
          </p:cNvPr>
          <p:cNvSpPr txBox="1"/>
          <p:nvPr/>
        </p:nvSpPr>
        <p:spPr>
          <a:xfrm>
            <a:off x="469900" y="607694"/>
            <a:ext cx="10972800" cy="461665"/>
          </a:xfrm>
          <a:prstGeom prst="rect">
            <a:avLst/>
          </a:prstGeom>
          <a:noFill/>
        </p:spPr>
        <p:txBody>
          <a:bodyPr wrap="square" lIns="0" tIns="0" rIns="0" bIns="0" anchor="t">
            <a:spAutoFit/>
          </a:bodyPr>
          <a:lstStyle/>
          <a:p>
            <a:pPr algn="l"/>
            <a:r>
              <a:rPr lang="en-US" sz="3000" b="1" err="1">
                <a:solidFill>
                  <a:srgbClr val="1B365D"/>
                </a:solidFill>
                <a:latin typeface="+mj-lt"/>
              </a:rPr>
              <a:t>Kiến</a:t>
            </a:r>
            <a:r>
              <a:rPr lang="en-US" sz="3000" b="1">
                <a:solidFill>
                  <a:srgbClr val="1B365D"/>
                </a:solidFill>
                <a:latin typeface="+mj-lt"/>
              </a:rPr>
              <a:t> </a:t>
            </a:r>
            <a:r>
              <a:rPr lang="en-US" sz="3000" b="1" err="1">
                <a:solidFill>
                  <a:srgbClr val="1B365D"/>
                </a:solidFill>
                <a:latin typeface="+mj-lt"/>
              </a:rPr>
              <a:t>trúc</a:t>
            </a:r>
            <a:r>
              <a:rPr lang="en-US" sz="3000" b="1">
                <a:solidFill>
                  <a:srgbClr val="1B365D"/>
                </a:solidFill>
                <a:latin typeface="+mj-lt"/>
              </a:rPr>
              <a:t> “Phân loại” </a:t>
            </a:r>
            <a:r>
              <a:rPr lang="en-US" sz="3000" b="1" err="1">
                <a:solidFill>
                  <a:srgbClr val="1B365D"/>
                </a:solidFill>
                <a:latin typeface="+mj-lt"/>
              </a:rPr>
              <a:t>mới</a:t>
            </a:r>
            <a:endParaRPr sz="3000" b="1">
              <a:solidFill>
                <a:srgbClr val="1B365D"/>
              </a:solidFill>
              <a:latin typeface="+mj-lt"/>
            </a:endParaRPr>
          </a:p>
        </p:txBody>
      </p:sp>
      <p:cxnSp>
        <p:nvCxnSpPr>
          <p:cNvPr id="6" name="Connector 5">
            <a:extLst>
              <a:ext uri="{FF2B5EF4-FFF2-40B4-BE49-F238E27FC236}">
                <a16:creationId xmlns:a16="http://schemas.microsoft.com/office/drawing/2014/main" id="{C576D997-A5EA-5DB2-C871-AC8A6E83D114}"/>
              </a:ext>
            </a:extLst>
          </p:cNvPr>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7EDE0656-E711-8703-4AFE-2BC65DEDF64F}"/>
              </a:ext>
            </a:extLst>
          </p:cNvPr>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637D0E8-EA2F-DD2A-EBAC-335B2F60CA08}"/>
              </a:ext>
            </a:extLst>
          </p:cNvPr>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14 / 25</a:t>
            </a:r>
          </a:p>
        </p:txBody>
      </p:sp>
      <p:sp>
        <p:nvSpPr>
          <p:cNvPr id="33" name="TextBox 32">
            <a:extLst>
              <a:ext uri="{FF2B5EF4-FFF2-40B4-BE49-F238E27FC236}">
                <a16:creationId xmlns:a16="http://schemas.microsoft.com/office/drawing/2014/main" id="{4C1DEB7C-568F-BA31-3094-DEE4B45BD4F7}"/>
              </a:ext>
            </a:extLst>
          </p:cNvPr>
          <p:cNvSpPr txBox="1"/>
          <p:nvPr/>
        </p:nvSpPr>
        <p:spPr>
          <a:xfrm>
            <a:off x="6583680" y="4146938"/>
            <a:ext cx="5486400" cy="215444"/>
          </a:xfrm>
          <a:prstGeom prst="rect">
            <a:avLst/>
          </a:prstGeom>
          <a:noFill/>
        </p:spPr>
        <p:txBody>
          <a:bodyPr wrap="square" lIns="0" tIns="0" rIns="0" bIns="0" anchor="t">
            <a:spAutoFit/>
          </a:bodyPr>
          <a:lstStyle/>
          <a:p>
            <a:pPr algn="l"/>
            <a:r>
              <a:rPr sz="1400" b="1">
                <a:solidFill>
                  <a:srgbClr val="FFFFFF"/>
                </a:solidFill>
                <a:latin typeface="+mj-lt"/>
              </a:rPr>
              <a:t>GAUSSIAN SMOOTHING</a:t>
            </a:r>
          </a:p>
        </p:txBody>
      </p:sp>
      <p:sp>
        <p:nvSpPr>
          <p:cNvPr id="14" name="Text 2">
            <a:extLst>
              <a:ext uri="{FF2B5EF4-FFF2-40B4-BE49-F238E27FC236}">
                <a16:creationId xmlns:a16="http://schemas.microsoft.com/office/drawing/2014/main" id="{E6B65022-2616-DBCE-2A43-5EFBBA9F06DE}"/>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mj-lt"/>
                <a:ea typeface="Times New Roman" pitchFamily="34" charset="-122"/>
                <a:cs typeface="Times New Roman" pitchFamily="34" charset="-120"/>
              </a:rPr>
              <a:t>3. PHƯƠNG </a:t>
            </a:r>
            <a:r>
              <a:rPr lang="en-US" sz="1350" b="1" err="1">
                <a:solidFill>
                  <a:srgbClr val="008FB3"/>
                </a:solidFill>
                <a:latin typeface="+mj-lt"/>
                <a:ea typeface="Times New Roman" pitchFamily="34" charset="-122"/>
                <a:cs typeface="Times New Roman" pitchFamily="34" charset="-120"/>
              </a:rPr>
              <a:t>PHÁ</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ĐỀ</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XUẤT</a:t>
            </a:r>
            <a:r>
              <a:rPr lang="en-US" sz="1350" b="1">
                <a:solidFill>
                  <a:srgbClr val="008FB3"/>
                </a:solidFill>
                <a:latin typeface="+mj-lt"/>
                <a:ea typeface="Times New Roman" pitchFamily="34" charset="-122"/>
                <a:cs typeface="Times New Roman" pitchFamily="34" charset="-120"/>
              </a:rPr>
              <a:t> – </a:t>
            </a:r>
            <a:r>
              <a:rPr lang="en-US" sz="1350" b="1" err="1">
                <a:solidFill>
                  <a:srgbClr val="008FB3"/>
                </a:solidFill>
                <a:latin typeface="+mj-lt"/>
                <a:ea typeface="Times New Roman" pitchFamily="34" charset="-122"/>
                <a:cs typeface="Times New Roman" pitchFamily="34" charset="-120"/>
              </a:rPr>
              <a:t>AUTOSHOTV2</a:t>
            </a:r>
            <a:endParaRPr lang="en-US" sz="1350">
              <a:latin typeface="+mj-lt"/>
            </a:endParaRPr>
          </a:p>
        </p:txBody>
      </p:sp>
      <p:sp>
        <p:nvSpPr>
          <p:cNvPr id="4" name="Text 6">
            <a:extLst>
              <a:ext uri="{FF2B5EF4-FFF2-40B4-BE49-F238E27FC236}">
                <a16:creationId xmlns:a16="http://schemas.microsoft.com/office/drawing/2014/main" id="{34756FF7-9320-723E-A068-3C2DDA32ABB7}"/>
              </a:ext>
            </a:extLst>
          </p:cNvPr>
          <p:cNvSpPr/>
          <p:nvPr/>
        </p:nvSpPr>
        <p:spPr>
          <a:xfrm>
            <a:off x="548640" y="1508595"/>
            <a:ext cx="5712537" cy="930224"/>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Tách bạch hai mục tiêu </a:t>
            </a:r>
            <a:r>
              <a:rPr lang="en-US" sz="2000" i="1">
                <a:latin typeface="+mj-lt"/>
                <a:ea typeface="Georgia" pitchFamily="34" charset="-122"/>
                <a:cs typeface="Georgia" pitchFamily="34" charset="-120"/>
              </a:rPr>
              <a:t>định vị chính xác </a:t>
            </a:r>
            <a:r>
              <a:rPr lang="en-US" sz="2000">
                <a:latin typeface="+mj-lt"/>
                <a:ea typeface="Georgia" pitchFamily="34" charset="-122"/>
                <a:cs typeface="Georgia" pitchFamily="34" charset="-120"/>
              </a:rPr>
              <a:t>và </a:t>
            </a:r>
            <a:r>
              <a:rPr lang="en-US" sz="2000" i="1">
                <a:latin typeface="+mj-lt"/>
                <a:ea typeface="Georgia" pitchFamily="34" charset="-122"/>
                <a:cs typeface="Georgia" pitchFamily="34" charset="-120"/>
              </a:rPr>
              <a:t>học bối cảnh vùng biên </a:t>
            </a:r>
            <a:r>
              <a:rPr lang="en-US" sz="2000">
                <a:latin typeface="+mj-lt"/>
                <a:ea typeface="Georgia" pitchFamily="34" charset="-122"/>
                <a:cs typeface="Georgia" pitchFamily="34" charset="-120"/>
              </a:rPr>
              <a:t>bằng hai nhánh song song.</a:t>
            </a:r>
            <a:endParaRPr lang="en-US" sz="2000">
              <a:latin typeface="+mj-lt"/>
            </a:endParaRPr>
          </a:p>
        </p:txBody>
      </p:sp>
      <p:sp>
        <p:nvSpPr>
          <p:cNvPr id="8" name="Text 7">
            <a:extLst>
              <a:ext uri="{FF2B5EF4-FFF2-40B4-BE49-F238E27FC236}">
                <a16:creationId xmlns:a16="http://schemas.microsoft.com/office/drawing/2014/main" id="{6C7ADF64-7968-3784-529A-CF86294FD3ED}"/>
              </a:ext>
            </a:extLst>
          </p:cNvPr>
          <p:cNvSpPr/>
          <p:nvPr/>
        </p:nvSpPr>
        <p:spPr>
          <a:xfrm>
            <a:off x="548639" y="2772412"/>
            <a:ext cx="6369269" cy="982264"/>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Đầu vào: </a:t>
            </a:r>
            <a:r>
              <a:rPr lang="en-US" sz="2000" b="1">
                <a:latin typeface="+mj-lt"/>
                <a:ea typeface="Georgia" pitchFamily="34" charset="-122"/>
                <a:cs typeface="Georgia" pitchFamily="34" charset="-120"/>
              </a:rPr>
              <a:t>Đặc trưng 4864 chiều </a:t>
            </a:r>
            <a:r>
              <a:rPr lang="en-US" sz="2000">
                <a:latin typeface="+mj-lt"/>
                <a:ea typeface="Georgia" pitchFamily="34" charset="-122"/>
                <a:cs typeface="Georgia" pitchFamily="34" charset="-120"/>
              </a:rPr>
              <a:t>từ kiến trúc nề (đóng băng) thông  qua </a:t>
            </a:r>
            <a:r>
              <a:rPr lang="fr-FR" sz="2000"/>
              <a:t>là một “cụm xử lý” rồi tách thành 2 nhánh:</a:t>
            </a:r>
            <a:endParaRPr lang="en-US" sz="2000">
              <a:latin typeface="+mj-lt"/>
            </a:endParaRPr>
          </a:p>
        </p:txBody>
      </p:sp>
      <p:sp>
        <p:nvSpPr>
          <p:cNvPr id="10" name="Text 8">
            <a:extLst>
              <a:ext uri="{FF2B5EF4-FFF2-40B4-BE49-F238E27FC236}">
                <a16:creationId xmlns:a16="http://schemas.microsoft.com/office/drawing/2014/main" id="{4799F52C-C794-01C7-798F-03EEF85FF06F}"/>
              </a:ext>
            </a:extLst>
          </p:cNvPr>
          <p:cNvSpPr/>
          <p:nvPr/>
        </p:nvSpPr>
        <p:spPr>
          <a:xfrm>
            <a:off x="548640" y="3687677"/>
            <a:ext cx="6369268" cy="352574"/>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 Nhánh </a:t>
            </a:r>
            <a:r>
              <a:rPr lang="en-US" sz="2000" b="1">
                <a:latin typeface="+mj-lt"/>
                <a:ea typeface="Georgia" pitchFamily="34" charset="-122"/>
                <a:cs typeface="Georgia" pitchFamily="34" charset="-120"/>
              </a:rPr>
              <a:t>one-hot </a:t>
            </a:r>
            <a:r>
              <a:rPr lang="en-US" sz="2000">
                <a:latin typeface="+mj-lt"/>
                <a:ea typeface="Georgia" pitchFamily="34" charset="-122"/>
                <a:cs typeface="Georgia" pitchFamily="34" charset="-120"/>
              </a:rPr>
              <a:t>· giữ tính sắc nét, định vị đúng khung ranh giới t.</a:t>
            </a:r>
            <a:endParaRPr lang="en-US" sz="2000">
              <a:latin typeface="+mj-lt"/>
            </a:endParaRPr>
          </a:p>
        </p:txBody>
      </p:sp>
      <p:sp>
        <p:nvSpPr>
          <p:cNvPr id="11" name="Text 9">
            <a:extLst>
              <a:ext uri="{FF2B5EF4-FFF2-40B4-BE49-F238E27FC236}">
                <a16:creationId xmlns:a16="http://schemas.microsoft.com/office/drawing/2014/main" id="{64D82AD5-82E6-2BC3-15B1-5C46C7CC6D80}"/>
              </a:ext>
            </a:extLst>
          </p:cNvPr>
          <p:cNvSpPr/>
          <p:nvPr/>
        </p:nvSpPr>
        <p:spPr>
          <a:xfrm>
            <a:off x="596823" y="4505586"/>
            <a:ext cx="6287381" cy="888433"/>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 Nhánh </a:t>
            </a:r>
            <a:r>
              <a:rPr lang="en-US" sz="2000" b="1">
                <a:latin typeface="+mj-lt"/>
                <a:ea typeface="Georgia" pitchFamily="34" charset="-122"/>
                <a:cs typeface="Georgia" pitchFamily="34" charset="-120"/>
              </a:rPr>
              <a:t>many-hot </a:t>
            </a:r>
            <a:r>
              <a:rPr lang="en-US" sz="2000">
                <a:latin typeface="+mj-lt"/>
                <a:ea typeface="Georgia" pitchFamily="34" charset="-122"/>
                <a:cs typeface="Georgia" pitchFamily="34" charset="-120"/>
              </a:rPr>
              <a:t>· học ngữ cảnh khung lân cận t ± 1, tín hiệu gradient dày đặc hơn.</a:t>
            </a:r>
            <a:endParaRPr lang="en-US" sz="2000">
              <a:latin typeface="+mj-lt"/>
            </a:endParaRPr>
          </a:p>
        </p:txBody>
      </p:sp>
      <p:sp>
        <p:nvSpPr>
          <p:cNvPr id="12" name="Text 10">
            <a:extLst>
              <a:ext uri="{FF2B5EF4-FFF2-40B4-BE49-F238E27FC236}">
                <a16:creationId xmlns:a16="http://schemas.microsoft.com/office/drawing/2014/main" id="{0FBA8BDC-1F44-9C83-0B6B-0AFCA95E7579}"/>
              </a:ext>
            </a:extLst>
          </p:cNvPr>
          <p:cNvSpPr/>
          <p:nvPr/>
        </p:nvSpPr>
        <p:spPr>
          <a:xfrm>
            <a:off x="548639" y="5649416"/>
            <a:ext cx="6287381" cy="566413"/>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Hai nhánh huấn luyện đồng thời, kết hợp đầu ra khi suy diễn.</a:t>
            </a:r>
            <a:endParaRPr lang="en-US" sz="2000">
              <a:latin typeface="+mj-lt"/>
            </a:endParaRPr>
          </a:p>
        </p:txBody>
      </p:sp>
      <p:pic>
        <p:nvPicPr>
          <p:cNvPr id="17" name="Hình ảnh 16">
            <a:extLst>
              <a:ext uri="{FF2B5EF4-FFF2-40B4-BE49-F238E27FC236}">
                <a16:creationId xmlns:a16="http://schemas.microsoft.com/office/drawing/2014/main" id="{359B35F5-5F60-0950-8C13-40E1F19EEF70}"/>
              </a:ext>
            </a:extLst>
          </p:cNvPr>
          <p:cNvPicPr>
            <a:picLocks noChangeAspect="1"/>
          </p:cNvPicPr>
          <p:nvPr/>
        </p:nvPicPr>
        <p:blipFill>
          <a:blip r:embed="rId3"/>
          <a:stretch>
            <a:fillRect/>
          </a:stretch>
        </p:blipFill>
        <p:spPr>
          <a:xfrm>
            <a:off x="6897114" y="1677053"/>
            <a:ext cx="5160056" cy="4202291"/>
          </a:xfrm>
          <a:prstGeom prst="rect">
            <a:avLst/>
          </a:prstGeom>
        </p:spPr>
      </p:pic>
    </p:spTree>
    <p:extLst>
      <p:ext uri="{BB962C8B-B14F-4D97-AF65-F5344CB8AC3E}">
        <p14:creationId xmlns:p14="http://schemas.microsoft.com/office/powerpoint/2010/main" val="2117616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6754D-28D4-C92F-D363-0F9E2F89A16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4374560-45B1-0972-C695-7246B55BD4A9}"/>
              </a:ext>
            </a:extLst>
          </p:cNvPr>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a:extLst>
              <a:ext uri="{FF2B5EF4-FFF2-40B4-BE49-F238E27FC236}">
                <a16:creationId xmlns:a16="http://schemas.microsoft.com/office/drawing/2014/main" id="{4D11EBC2-09FD-7300-85AB-7CDE70683B80}"/>
              </a:ext>
            </a:extLst>
          </p:cNvPr>
          <p:cNvSpPr txBox="1"/>
          <p:nvPr/>
        </p:nvSpPr>
        <p:spPr>
          <a:xfrm>
            <a:off x="469900" y="607694"/>
            <a:ext cx="10972800" cy="461665"/>
          </a:xfrm>
          <a:prstGeom prst="rect">
            <a:avLst/>
          </a:prstGeom>
          <a:noFill/>
        </p:spPr>
        <p:txBody>
          <a:bodyPr wrap="square" lIns="0" tIns="0" rIns="0" bIns="0" anchor="t">
            <a:spAutoFit/>
          </a:bodyPr>
          <a:lstStyle/>
          <a:p>
            <a:r>
              <a:rPr lang="en-US" sz="3000" b="1">
                <a:solidFill>
                  <a:srgbClr val="1B365D"/>
                </a:solidFill>
                <a:latin typeface="+mj-lt"/>
              </a:rPr>
              <a:t>Binary Cross Entropy và Focal Loss</a:t>
            </a:r>
            <a:endParaRPr sz="3000" b="1">
              <a:solidFill>
                <a:srgbClr val="1B365D"/>
              </a:solidFill>
              <a:latin typeface="+mj-lt"/>
            </a:endParaRPr>
          </a:p>
        </p:txBody>
      </p:sp>
      <p:cxnSp>
        <p:nvCxnSpPr>
          <p:cNvPr id="6" name="Connector 5">
            <a:extLst>
              <a:ext uri="{FF2B5EF4-FFF2-40B4-BE49-F238E27FC236}">
                <a16:creationId xmlns:a16="http://schemas.microsoft.com/office/drawing/2014/main" id="{0411C407-968B-E763-F92F-3D71157C742D}"/>
              </a:ext>
            </a:extLst>
          </p:cNvPr>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7819EB81-A4F8-F86D-9616-FA827311C448}"/>
              </a:ext>
            </a:extLst>
          </p:cNvPr>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8ABC792-FEAF-8ABE-EE66-86D2E54DF278}"/>
              </a:ext>
            </a:extLst>
          </p:cNvPr>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15 / 25</a:t>
            </a:r>
          </a:p>
        </p:txBody>
      </p:sp>
      <p:sp>
        <p:nvSpPr>
          <p:cNvPr id="14" name="Text 2">
            <a:extLst>
              <a:ext uri="{FF2B5EF4-FFF2-40B4-BE49-F238E27FC236}">
                <a16:creationId xmlns:a16="http://schemas.microsoft.com/office/drawing/2014/main" id="{F69E0DCF-1C73-A0BB-F88C-CC454A47AD2D}"/>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mj-lt"/>
                <a:ea typeface="Times New Roman" pitchFamily="34" charset="-122"/>
                <a:cs typeface="Times New Roman" pitchFamily="34" charset="-120"/>
              </a:rPr>
              <a:t>3. PHƯƠNG </a:t>
            </a:r>
            <a:r>
              <a:rPr lang="en-US" sz="1350" b="1" err="1">
                <a:solidFill>
                  <a:srgbClr val="008FB3"/>
                </a:solidFill>
                <a:latin typeface="+mj-lt"/>
                <a:ea typeface="Times New Roman" pitchFamily="34" charset="-122"/>
                <a:cs typeface="Times New Roman" pitchFamily="34" charset="-120"/>
              </a:rPr>
              <a:t>PHÁ</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ĐỀ</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XUẤT</a:t>
            </a:r>
            <a:r>
              <a:rPr lang="en-US" sz="1350" b="1">
                <a:solidFill>
                  <a:srgbClr val="008FB3"/>
                </a:solidFill>
                <a:latin typeface="+mj-lt"/>
                <a:ea typeface="Times New Roman" pitchFamily="34" charset="-122"/>
                <a:cs typeface="Times New Roman" pitchFamily="34" charset="-120"/>
              </a:rPr>
              <a:t> – </a:t>
            </a:r>
            <a:r>
              <a:rPr lang="en-US" sz="1350" b="1" err="1">
                <a:solidFill>
                  <a:srgbClr val="008FB3"/>
                </a:solidFill>
                <a:latin typeface="+mj-lt"/>
                <a:ea typeface="Times New Roman" pitchFamily="34" charset="-122"/>
                <a:cs typeface="Times New Roman" pitchFamily="34" charset="-120"/>
              </a:rPr>
              <a:t>AUTOSHOTV2</a:t>
            </a:r>
            <a:endParaRPr lang="en-US" sz="1350">
              <a:latin typeface="+mj-lt"/>
            </a:endParaRPr>
          </a:p>
        </p:txBody>
      </p:sp>
      <p:sp>
        <p:nvSpPr>
          <p:cNvPr id="13" name="Text 6">
            <a:extLst>
              <a:ext uri="{FF2B5EF4-FFF2-40B4-BE49-F238E27FC236}">
                <a16:creationId xmlns:a16="http://schemas.microsoft.com/office/drawing/2014/main" id="{152CDEF2-71F2-C8E8-CC63-A8FBC843BB7F}"/>
              </a:ext>
            </a:extLst>
          </p:cNvPr>
          <p:cNvSpPr/>
          <p:nvPr/>
        </p:nvSpPr>
        <p:spPr>
          <a:xfrm>
            <a:off x="6387688" y="1494399"/>
            <a:ext cx="5376309" cy="330488"/>
          </a:xfrm>
          <a:prstGeom prst="rect">
            <a:avLst/>
          </a:prstGeom>
          <a:noFill/>
          <a:ln/>
        </p:spPr>
        <p:txBody>
          <a:bodyPr wrap="square" lIns="16933" tIns="16933" rIns="16933" bIns="16933" rtlCol="0" anchor="t">
            <a:noAutofit/>
          </a:bodyPr>
          <a:lstStyle/>
          <a:p>
            <a:r>
              <a:rPr lang="en-US" sz="2000" kern="0" spc="264">
                <a:latin typeface="+mj-lt"/>
                <a:ea typeface="Georgia" pitchFamily="34" charset="-122"/>
                <a:cs typeface="Georgia" pitchFamily="34" charset="-120"/>
              </a:rPr>
              <a:t>B · FOCAL LOSS</a:t>
            </a:r>
            <a:endParaRPr lang="en-US" sz="2000">
              <a:latin typeface="+mj-lt"/>
            </a:endParaRPr>
          </a:p>
        </p:txBody>
      </p:sp>
      <p:sp>
        <p:nvSpPr>
          <p:cNvPr id="15" name="Text 7">
            <a:extLst>
              <a:ext uri="{FF2B5EF4-FFF2-40B4-BE49-F238E27FC236}">
                <a16:creationId xmlns:a16="http://schemas.microsoft.com/office/drawing/2014/main" id="{74E101C3-A6F0-C5A4-1B7E-5A1CFA726326}"/>
              </a:ext>
            </a:extLst>
          </p:cNvPr>
          <p:cNvSpPr/>
          <p:nvPr/>
        </p:nvSpPr>
        <p:spPr>
          <a:xfrm>
            <a:off x="6382101" y="6092201"/>
            <a:ext cx="5376309" cy="380938"/>
          </a:xfrm>
          <a:prstGeom prst="rect">
            <a:avLst/>
          </a:prstGeom>
          <a:noFill/>
          <a:ln/>
        </p:spPr>
        <p:txBody>
          <a:bodyPr wrap="square" lIns="16933" tIns="16933" rIns="16933" bIns="16933" rtlCol="0" anchor="t">
            <a:noAutofit/>
          </a:bodyPr>
          <a:lstStyle/>
          <a:p>
            <a:pPr>
              <a:lnSpc>
                <a:spcPct val="115000"/>
              </a:lnSpc>
            </a:pPr>
            <a:r>
              <a:rPr lang="en-US" sz="2000">
                <a:latin typeface="+mj-lt"/>
                <a:ea typeface="Georgia" pitchFamily="34" charset="-122"/>
                <a:cs typeface="Georgia" pitchFamily="34" charset="-120"/>
              </a:rPr>
              <a:t>=&gt; Giải quyết mất cân bằng lớp</a:t>
            </a:r>
            <a:endParaRPr lang="en-US" sz="2000">
              <a:latin typeface="+mj-lt"/>
            </a:endParaRPr>
          </a:p>
        </p:txBody>
      </p:sp>
      <p:grpSp>
        <p:nvGrpSpPr>
          <p:cNvPr id="2" name="Group 1">
            <a:extLst>
              <a:ext uri="{FF2B5EF4-FFF2-40B4-BE49-F238E27FC236}">
                <a16:creationId xmlns:a16="http://schemas.microsoft.com/office/drawing/2014/main" id="{6C476151-80EB-5684-43AF-E27FDB262A0F}"/>
              </a:ext>
            </a:extLst>
          </p:cNvPr>
          <p:cNvGrpSpPr/>
          <p:nvPr/>
        </p:nvGrpSpPr>
        <p:grpSpPr>
          <a:xfrm>
            <a:off x="6387688" y="1984477"/>
            <a:ext cx="5219718" cy="543737"/>
            <a:chOff x="6322995" y="2361923"/>
            <a:chExt cx="5219718" cy="543737"/>
          </a:xfrm>
        </p:grpSpPr>
        <p:sp>
          <p:nvSpPr>
            <p:cNvPr id="16" name="Shape 8">
              <a:extLst>
                <a:ext uri="{FF2B5EF4-FFF2-40B4-BE49-F238E27FC236}">
                  <a16:creationId xmlns:a16="http://schemas.microsoft.com/office/drawing/2014/main" id="{244BE71A-BE4B-B954-2582-83BBDAB276D9}"/>
                </a:ext>
              </a:extLst>
            </p:cNvPr>
            <p:cNvSpPr/>
            <p:nvPr/>
          </p:nvSpPr>
          <p:spPr>
            <a:xfrm>
              <a:off x="6322995" y="2361923"/>
              <a:ext cx="5219718" cy="543737"/>
            </a:xfrm>
            <a:prstGeom prst="rect">
              <a:avLst/>
            </a:prstGeom>
            <a:solidFill>
              <a:srgbClr val="FFFFFF"/>
            </a:solidFill>
            <a:ln w="8659">
              <a:solidFill>
                <a:srgbClr val="D8D0BF"/>
              </a:solidFill>
              <a:prstDash val="solid"/>
            </a:ln>
          </p:spPr>
          <p:txBody>
            <a:bodyPr/>
            <a:lstStyle/>
            <a:p>
              <a:endParaRPr lang="en-US" sz="1400">
                <a:latin typeface="+mj-lt"/>
              </a:endParaRPr>
            </a:p>
          </p:txBody>
        </p:sp>
        <mc:AlternateContent xmlns:mc="http://schemas.openxmlformats.org/markup-compatibility/2006" xmlns:a14="http://schemas.microsoft.com/office/drawing/2010/main">
          <mc:Choice Requires="a14">
            <p:sp>
              <p:nvSpPr>
                <p:cNvPr id="18" name="Text 9">
                  <a:extLst>
                    <a:ext uri="{FF2B5EF4-FFF2-40B4-BE49-F238E27FC236}">
                      <a16:creationId xmlns:a16="http://schemas.microsoft.com/office/drawing/2014/main" id="{71114B16-9BEF-718D-26F8-32CD591F8F8E}"/>
                    </a:ext>
                  </a:extLst>
                </p:cNvPr>
                <p:cNvSpPr/>
                <p:nvPr/>
              </p:nvSpPr>
              <p:spPr>
                <a:xfrm>
                  <a:off x="6459867" y="2361923"/>
                  <a:ext cx="4945974" cy="502164"/>
                </a:xfrm>
                <a:prstGeom prst="rect">
                  <a:avLst/>
                </a:prstGeom>
                <a:noFill/>
                <a:ln/>
              </p:spPr>
              <p:txBody>
                <a:bodyPr wrap="square" lIns="16933" tIns="16933" rIns="16933" bIns="16933" rtlCol="0" anchor="t">
                  <a:noAutofit/>
                </a:bodyPr>
                <a:lstStyle/>
                <a:p>
                  <a:pPr algn="ctr">
                    <a:lnSpc>
                      <a:spcPct val="160000"/>
                    </a:lnSpc>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𝐹𝐿</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𝑡</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sSup>
                          <m:sSupPr>
                            <m:ctrlPr>
                              <a:rPr lang="en-US" sz="2000" b="0" i="1" smtClean="0">
                                <a:latin typeface="Cambria Math" panose="02040503050406030204" pitchFamily="18" charset="0"/>
                                <a:ea typeface="Cambria Math" panose="02040503050406030204" pitchFamily="18" charset="0"/>
                              </a:rPr>
                            </m:ctrlPr>
                          </m:sSupPr>
                          <m:e>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𝑡</m:t>
                                    </m:r>
                                  </m:sub>
                                </m:sSub>
                              </m:e>
                            </m:d>
                          </m:e>
                          <m:sup>
                            <m:r>
                              <a:rPr lang="en-US" sz="2000" b="0" i="1" smtClean="0">
                                <a:latin typeface="Cambria Math" panose="02040503050406030204" pitchFamily="18" charset="0"/>
                                <a:ea typeface="Cambria Math" panose="02040503050406030204" pitchFamily="18" charset="0"/>
                              </a:rPr>
                              <m:t>𝛾</m:t>
                            </m:r>
                          </m:sup>
                        </m:sSup>
                        <m:r>
                          <m:rPr>
                            <m:sty m:val="p"/>
                          </m:rPr>
                          <a:rPr lang="en-US" sz="2000" b="0" i="0" smtClean="0">
                            <a:latin typeface="Cambria Math" panose="02040503050406030204" pitchFamily="18" charset="0"/>
                            <a:ea typeface="Cambria Math" panose="02040503050406030204" pitchFamily="18" charset="0"/>
                          </a:rPr>
                          <m:t>log</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m:t>
                        </m:r>
                      </m:oMath>
                    </m:oMathPara>
                  </a14:m>
                  <a:endParaRPr lang="en-US" sz="2000" i="1">
                    <a:latin typeface="+mj-lt"/>
                  </a:endParaRPr>
                </a:p>
              </p:txBody>
            </p:sp>
          </mc:Choice>
          <mc:Fallback xmlns="">
            <p:sp>
              <p:nvSpPr>
                <p:cNvPr id="18" name="Text 9">
                  <a:extLst>
                    <a:ext uri="{FF2B5EF4-FFF2-40B4-BE49-F238E27FC236}">
                      <a16:creationId xmlns:a16="http://schemas.microsoft.com/office/drawing/2014/main" id="{71114B16-9BEF-718D-26F8-32CD591F8F8E}"/>
                    </a:ext>
                  </a:extLst>
                </p:cNvPr>
                <p:cNvSpPr>
                  <a:spLocks noRot="1" noChangeAspect="1" noMove="1" noResize="1" noEditPoints="1" noAdjustHandles="1" noChangeArrowheads="1" noChangeShapeType="1" noTextEdit="1"/>
                </p:cNvSpPr>
                <p:nvPr/>
              </p:nvSpPr>
              <p:spPr>
                <a:xfrm>
                  <a:off x="6459867" y="2361923"/>
                  <a:ext cx="4945974" cy="502164"/>
                </a:xfrm>
                <a:prstGeom prst="rect">
                  <a:avLst/>
                </a:prstGeom>
                <a:blipFill>
                  <a:blip r:embed="rId3"/>
                  <a:stretch>
                    <a:fillRect/>
                  </a:stretch>
                </a:blipFill>
                <a:ln/>
              </p:spPr>
              <p:txBody>
                <a:bodyPr/>
                <a:lstStyle/>
                <a:p>
                  <a:r>
                    <a:rPr lang="en-US">
                      <a:noFill/>
                    </a:rPr>
                    <a:t> </a:t>
                  </a:r>
                </a:p>
              </p:txBody>
            </p:sp>
          </mc:Fallback>
        </mc:AlternateContent>
      </p:grpSp>
      <p:sp>
        <p:nvSpPr>
          <p:cNvPr id="20" name="Text 11">
            <a:extLst>
              <a:ext uri="{FF2B5EF4-FFF2-40B4-BE49-F238E27FC236}">
                <a16:creationId xmlns:a16="http://schemas.microsoft.com/office/drawing/2014/main" id="{C5E57B20-2ADC-08E7-3BA6-90BD3FA70A8D}"/>
              </a:ext>
            </a:extLst>
          </p:cNvPr>
          <p:cNvSpPr/>
          <p:nvPr/>
        </p:nvSpPr>
        <p:spPr>
          <a:xfrm>
            <a:off x="6387688" y="4854344"/>
            <a:ext cx="5173109" cy="313225"/>
          </a:xfrm>
          <a:prstGeom prst="rect">
            <a:avLst/>
          </a:prstGeom>
          <a:noFill/>
          <a:ln/>
        </p:spPr>
        <p:txBody>
          <a:bodyPr wrap="square" lIns="16933" tIns="16933" rIns="16933" bIns="16933" rtlCol="0" anchor="t">
            <a:noAutofit/>
          </a:bodyPr>
          <a:lstStyle/>
          <a:p>
            <a:pPr marL="285750" indent="-285750">
              <a:lnSpc>
                <a:spcPct val="142000"/>
              </a:lnSpc>
              <a:buFont typeface="Arial" panose="020B0604020202020204" pitchFamily="34" charset="0"/>
              <a:buChar char="•"/>
            </a:pPr>
            <a:r>
              <a:rPr lang="en-US" sz="2000">
                <a:latin typeface="+mj-lt"/>
                <a:ea typeface="Georgia" pitchFamily="34" charset="-122"/>
                <a:cs typeface="Georgia" pitchFamily="34" charset="-120"/>
              </a:rPr>
              <a:t>Giảm trọng số mẫu </a:t>
            </a:r>
            <a:r>
              <a:rPr lang="en-US" sz="2000" b="1">
                <a:latin typeface="+mj-lt"/>
                <a:ea typeface="Georgia" pitchFamily="34" charset="-122"/>
                <a:cs typeface="Georgia" pitchFamily="34" charset="-120"/>
              </a:rPr>
              <a:t>dễ phân loại</a:t>
            </a:r>
            <a:r>
              <a:rPr lang="en-US" sz="2000">
                <a:latin typeface="+mj-lt"/>
                <a:ea typeface="Georgia" pitchFamily="34" charset="-122"/>
                <a:cs typeface="Georgia" pitchFamily="34" charset="-120"/>
              </a:rPr>
              <a:t>.</a:t>
            </a:r>
            <a:endParaRPr lang="en-US" sz="2000">
              <a:latin typeface="+mj-lt"/>
            </a:endParaRPr>
          </a:p>
        </p:txBody>
      </p:sp>
      <p:sp>
        <p:nvSpPr>
          <p:cNvPr id="21" name="Text 12">
            <a:extLst>
              <a:ext uri="{FF2B5EF4-FFF2-40B4-BE49-F238E27FC236}">
                <a16:creationId xmlns:a16="http://schemas.microsoft.com/office/drawing/2014/main" id="{6A52E569-7DD3-60B7-0623-380F0132D159}"/>
              </a:ext>
            </a:extLst>
          </p:cNvPr>
          <p:cNvSpPr/>
          <p:nvPr/>
        </p:nvSpPr>
        <p:spPr>
          <a:xfrm>
            <a:off x="6387688" y="5254581"/>
            <a:ext cx="5370722" cy="857226"/>
          </a:xfrm>
          <a:prstGeom prst="rect">
            <a:avLst/>
          </a:prstGeom>
          <a:noFill/>
          <a:ln/>
        </p:spPr>
        <p:txBody>
          <a:bodyPr wrap="square" lIns="16933" tIns="16933" rIns="16933" bIns="16933" rtlCol="0" anchor="t">
            <a:noAutofit/>
          </a:bodyPr>
          <a:lstStyle/>
          <a:p>
            <a:pPr marL="285750" indent="-285750">
              <a:lnSpc>
                <a:spcPct val="142000"/>
              </a:lnSpc>
              <a:buFont typeface="Arial" panose="020B0604020202020204" pitchFamily="34" charset="0"/>
              <a:buChar char="•"/>
            </a:pPr>
            <a:r>
              <a:rPr lang="en-US" sz="2000">
                <a:latin typeface="+mj-lt"/>
                <a:ea typeface="Georgia" pitchFamily="34" charset="-122"/>
                <a:cs typeface="Georgia" pitchFamily="34" charset="-120"/>
              </a:rPr>
              <a:t>Tập trung học các </a:t>
            </a:r>
            <a:r>
              <a:rPr lang="en-US" sz="2000" b="1">
                <a:latin typeface="+mj-lt"/>
                <a:ea typeface="Georgia" pitchFamily="34" charset="-122"/>
                <a:cs typeface="Georgia" pitchFamily="34" charset="-120"/>
              </a:rPr>
              <a:t>chuyển cảnh dần </a:t>
            </a:r>
            <a:r>
              <a:rPr lang="en-US" sz="2000">
                <a:latin typeface="+mj-lt"/>
                <a:ea typeface="Georgia" pitchFamily="34" charset="-122"/>
                <a:cs typeface="Georgia" pitchFamily="34" charset="-120"/>
              </a:rPr>
              <a:t>vốn là mẫu khó nhất.</a:t>
            </a:r>
            <a:endParaRPr lang="en-US" sz="2000">
              <a:latin typeface="+mj-lt"/>
            </a:endParaRPr>
          </a:p>
        </p:txBody>
      </p:sp>
      <p:sp>
        <p:nvSpPr>
          <p:cNvPr id="23" name="Text 14">
            <a:extLst>
              <a:ext uri="{FF2B5EF4-FFF2-40B4-BE49-F238E27FC236}">
                <a16:creationId xmlns:a16="http://schemas.microsoft.com/office/drawing/2014/main" id="{B46BAC20-29EB-06BB-DF44-6B56690A7C22}"/>
              </a:ext>
            </a:extLst>
          </p:cNvPr>
          <p:cNvSpPr/>
          <p:nvPr/>
        </p:nvSpPr>
        <p:spPr>
          <a:xfrm>
            <a:off x="675240" y="1479961"/>
            <a:ext cx="5376309" cy="354442"/>
          </a:xfrm>
          <a:prstGeom prst="rect">
            <a:avLst/>
          </a:prstGeom>
          <a:noFill/>
          <a:ln/>
        </p:spPr>
        <p:txBody>
          <a:bodyPr wrap="square" lIns="16933" tIns="16933" rIns="16933" bIns="16933" rtlCol="0" anchor="t">
            <a:noAutofit/>
          </a:bodyPr>
          <a:lstStyle/>
          <a:p>
            <a:r>
              <a:rPr lang="en-US" sz="2000" kern="0" spc="264">
                <a:latin typeface="+mj-lt"/>
                <a:ea typeface="Georgia" pitchFamily="34" charset="-122"/>
                <a:cs typeface="Georgia" pitchFamily="34" charset="-120"/>
              </a:rPr>
              <a:t>A · </a:t>
            </a:r>
            <a:r>
              <a:rPr lang="en-US" sz="2000" kern="0" spc="264">
                <a:latin typeface="+mj-lt"/>
              </a:rPr>
              <a:t>Binary Cross Entropy.</a:t>
            </a:r>
          </a:p>
        </p:txBody>
      </p:sp>
      <p:graphicFrame>
        <p:nvGraphicFramePr>
          <p:cNvPr id="10" name="Table 9">
            <a:extLst>
              <a:ext uri="{FF2B5EF4-FFF2-40B4-BE49-F238E27FC236}">
                <a16:creationId xmlns:a16="http://schemas.microsoft.com/office/drawing/2014/main" id="{84484FA6-40DB-B95C-4157-F3B6E469ECC5}"/>
              </a:ext>
            </a:extLst>
          </p:cNvPr>
          <p:cNvGraphicFramePr>
            <a:graphicFrameLocks noGrp="1"/>
          </p:cNvGraphicFramePr>
          <p:nvPr>
            <p:extLst>
              <p:ext uri="{D42A27DB-BD31-4B8C-83A1-F6EECF244321}">
                <p14:modId xmlns:p14="http://schemas.microsoft.com/office/powerpoint/2010/main" val="1163343394"/>
              </p:ext>
            </p:extLst>
          </p:nvPr>
        </p:nvGraphicFramePr>
        <p:xfrm>
          <a:off x="1057115" y="2658362"/>
          <a:ext cx="4503273" cy="1524000"/>
        </p:xfrm>
        <a:graphic>
          <a:graphicData uri="http://schemas.openxmlformats.org/drawingml/2006/table">
            <a:tbl>
              <a:tblPr>
                <a:tableStyleId>{775DCB02-9BB8-47FD-8907-85C794F793BA}</a:tableStyleId>
              </a:tblPr>
              <a:tblGrid>
                <a:gridCol w="1501091">
                  <a:extLst>
                    <a:ext uri="{9D8B030D-6E8A-4147-A177-3AD203B41FA5}">
                      <a16:colId xmlns:a16="http://schemas.microsoft.com/office/drawing/2014/main" val="2773796936"/>
                    </a:ext>
                  </a:extLst>
                </a:gridCol>
                <a:gridCol w="1501091">
                  <a:extLst>
                    <a:ext uri="{9D8B030D-6E8A-4147-A177-3AD203B41FA5}">
                      <a16:colId xmlns:a16="http://schemas.microsoft.com/office/drawing/2014/main" val="3541882175"/>
                    </a:ext>
                  </a:extLst>
                </a:gridCol>
                <a:gridCol w="1501091">
                  <a:extLst>
                    <a:ext uri="{9D8B030D-6E8A-4147-A177-3AD203B41FA5}">
                      <a16:colId xmlns:a16="http://schemas.microsoft.com/office/drawing/2014/main" val="462183149"/>
                    </a:ext>
                  </a:extLst>
                </a:gridCol>
              </a:tblGrid>
              <a:tr h="0">
                <a:tc>
                  <a:txBody>
                    <a:bodyPr/>
                    <a:lstStyle/>
                    <a:p>
                      <a:pPr algn="ctr">
                        <a:buNone/>
                      </a:pPr>
                      <a:r>
                        <a:rPr lang="en-US" sz="1400"/>
                        <a:t>Nhãn thật</a:t>
                      </a:r>
                    </a:p>
                  </a:txBody>
                  <a:tcPr anchor="ctr"/>
                </a:tc>
                <a:tc>
                  <a:txBody>
                    <a:bodyPr/>
                    <a:lstStyle/>
                    <a:p>
                      <a:pPr algn="ctr">
                        <a:buNone/>
                      </a:pPr>
                      <a:r>
                        <a:rPr lang="en-US" sz="1400"/>
                        <a:t>Dự đoán</a:t>
                      </a:r>
                    </a:p>
                  </a:txBody>
                  <a:tcPr anchor="ctr"/>
                </a:tc>
                <a:tc>
                  <a:txBody>
                    <a:bodyPr/>
                    <a:lstStyle/>
                    <a:p>
                      <a:pPr algn="ctr">
                        <a:buNone/>
                      </a:pPr>
                      <a:r>
                        <a:rPr lang="en-US" sz="1400"/>
                        <a:t>Loss</a:t>
                      </a:r>
                    </a:p>
                  </a:txBody>
                  <a:tcPr anchor="ctr"/>
                </a:tc>
                <a:extLst>
                  <a:ext uri="{0D108BD9-81ED-4DB2-BD59-A6C34878D82A}">
                    <a16:rowId xmlns:a16="http://schemas.microsoft.com/office/drawing/2014/main" val="3098227557"/>
                  </a:ext>
                </a:extLst>
              </a:tr>
              <a:tr h="0">
                <a:tc>
                  <a:txBody>
                    <a:bodyPr/>
                    <a:lstStyle/>
                    <a:p>
                      <a:pPr algn="ctr">
                        <a:buNone/>
                      </a:pPr>
                      <a:r>
                        <a:rPr lang="en-US" sz="1400"/>
                        <a:t>1</a:t>
                      </a:r>
                    </a:p>
                  </a:txBody>
                  <a:tcPr anchor="ctr"/>
                </a:tc>
                <a:tc>
                  <a:txBody>
                    <a:bodyPr/>
                    <a:lstStyle/>
                    <a:p>
                      <a:pPr algn="ctr">
                        <a:buNone/>
                      </a:pPr>
                      <a:r>
                        <a:rPr lang="en-US" sz="1400"/>
                        <a:t>0.95</a:t>
                      </a:r>
                    </a:p>
                  </a:txBody>
                  <a:tcPr anchor="ctr"/>
                </a:tc>
                <a:tc>
                  <a:txBody>
                    <a:bodyPr/>
                    <a:lstStyle/>
                    <a:p>
                      <a:pPr algn="ctr">
                        <a:buNone/>
                      </a:pPr>
                      <a:r>
                        <a:rPr lang="en-US" sz="1400"/>
                        <a:t>Thấp</a:t>
                      </a:r>
                    </a:p>
                  </a:txBody>
                  <a:tcPr anchor="ctr"/>
                </a:tc>
                <a:extLst>
                  <a:ext uri="{0D108BD9-81ED-4DB2-BD59-A6C34878D82A}">
                    <a16:rowId xmlns:a16="http://schemas.microsoft.com/office/drawing/2014/main" val="1207195536"/>
                  </a:ext>
                </a:extLst>
              </a:tr>
              <a:tr h="0">
                <a:tc>
                  <a:txBody>
                    <a:bodyPr/>
                    <a:lstStyle/>
                    <a:p>
                      <a:pPr algn="ctr">
                        <a:buNone/>
                      </a:pPr>
                      <a:r>
                        <a:rPr lang="en-US" sz="1400"/>
                        <a:t>1</a:t>
                      </a:r>
                    </a:p>
                  </a:txBody>
                  <a:tcPr anchor="ctr"/>
                </a:tc>
                <a:tc>
                  <a:txBody>
                    <a:bodyPr/>
                    <a:lstStyle/>
                    <a:p>
                      <a:pPr algn="ctr">
                        <a:buNone/>
                      </a:pPr>
                      <a:r>
                        <a:rPr lang="en-US" sz="1400"/>
                        <a:t>0.20</a:t>
                      </a:r>
                    </a:p>
                  </a:txBody>
                  <a:tcPr anchor="ctr"/>
                </a:tc>
                <a:tc>
                  <a:txBody>
                    <a:bodyPr/>
                    <a:lstStyle/>
                    <a:p>
                      <a:pPr algn="ctr">
                        <a:buNone/>
                      </a:pPr>
                      <a:r>
                        <a:rPr lang="en-US" sz="1400"/>
                        <a:t>Cao</a:t>
                      </a:r>
                    </a:p>
                  </a:txBody>
                  <a:tcPr anchor="ctr"/>
                </a:tc>
                <a:extLst>
                  <a:ext uri="{0D108BD9-81ED-4DB2-BD59-A6C34878D82A}">
                    <a16:rowId xmlns:a16="http://schemas.microsoft.com/office/drawing/2014/main" val="1510549852"/>
                  </a:ext>
                </a:extLst>
              </a:tr>
              <a:tr h="0">
                <a:tc>
                  <a:txBody>
                    <a:bodyPr/>
                    <a:lstStyle/>
                    <a:p>
                      <a:pPr algn="ctr">
                        <a:buNone/>
                      </a:pPr>
                      <a:r>
                        <a:rPr lang="en-US" sz="1400"/>
                        <a:t>0</a:t>
                      </a:r>
                    </a:p>
                  </a:txBody>
                  <a:tcPr anchor="ctr"/>
                </a:tc>
                <a:tc>
                  <a:txBody>
                    <a:bodyPr/>
                    <a:lstStyle/>
                    <a:p>
                      <a:pPr algn="ctr">
                        <a:buNone/>
                      </a:pPr>
                      <a:r>
                        <a:rPr lang="en-US" sz="1400"/>
                        <a:t>0.05</a:t>
                      </a:r>
                    </a:p>
                  </a:txBody>
                  <a:tcPr anchor="ctr"/>
                </a:tc>
                <a:tc>
                  <a:txBody>
                    <a:bodyPr/>
                    <a:lstStyle/>
                    <a:p>
                      <a:pPr algn="ctr">
                        <a:buNone/>
                      </a:pPr>
                      <a:r>
                        <a:rPr lang="en-US" sz="1400"/>
                        <a:t>Thấp</a:t>
                      </a:r>
                    </a:p>
                  </a:txBody>
                  <a:tcPr anchor="ctr"/>
                </a:tc>
                <a:extLst>
                  <a:ext uri="{0D108BD9-81ED-4DB2-BD59-A6C34878D82A}">
                    <a16:rowId xmlns:a16="http://schemas.microsoft.com/office/drawing/2014/main" val="909038897"/>
                  </a:ext>
                </a:extLst>
              </a:tr>
              <a:tr h="0">
                <a:tc>
                  <a:txBody>
                    <a:bodyPr/>
                    <a:lstStyle/>
                    <a:p>
                      <a:pPr algn="ctr">
                        <a:buNone/>
                      </a:pPr>
                      <a:r>
                        <a:rPr lang="en-US" sz="1400"/>
                        <a:t>0</a:t>
                      </a:r>
                    </a:p>
                  </a:txBody>
                  <a:tcPr anchor="ctr"/>
                </a:tc>
                <a:tc>
                  <a:txBody>
                    <a:bodyPr/>
                    <a:lstStyle/>
                    <a:p>
                      <a:pPr algn="ctr">
                        <a:buNone/>
                      </a:pPr>
                      <a:r>
                        <a:rPr lang="en-US" sz="1400"/>
                        <a:t>0.80</a:t>
                      </a:r>
                    </a:p>
                  </a:txBody>
                  <a:tcPr anchor="ctr"/>
                </a:tc>
                <a:tc>
                  <a:txBody>
                    <a:bodyPr/>
                    <a:lstStyle/>
                    <a:p>
                      <a:pPr algn="ctr">
                        <a:buNone/>
                      </a:pPr>
                      <a:r>
                        <a:rPr lang="en-US" sz="1400"/>
                        <a:t>Cao</a:t>
                      </a:r>
                    </a:p>
                  </a:txBody>
                  <a:tcPr anchor="ctr"/>
                </a:tc>
                <a:extLst>
                  <a:ext uri="{0D108BD9-81ED-4DB2-BD59-A6C34878D82A}">
                    <a16:rowId xmlns:a16="http://schemas.microsoft.com/office/drawing/2014/main" val="647993865"/>
                  </a:ext>
                </a:extLst>
              </a:tr>
            </a:tbl>
          </a:graphicData>
        </a:graphic>
      </p:graphicFrame>
      <p:grpSp>
        <p:nvGrpSpPr>
          <p:cNvPr id="19" name="Group 18">
            <a:extLst>
              <a:ext uri="{FF2B5EF4-FFF2-40B4-BE49-F238E27FC236}">
                <a16:creationId xmlns:a16="http://schemas.microsoft.com/office/drawing/2014/main" id="{29BC7EEC-2772-C674-9E06-AD1A148DC2B2}"/>
              </a:ext>
            </a:extLst>
          </p:cNvPr>
          <p:cNvGrpSpPr/>
          <p:nvPr/>
        </p:nvGrpSpPr>
        <p:grpSpPr>
          <a:xfrm>
            <a:off x="698893" y="2019460"/>
            <a:ext cx="5219718" cy="510420"/>
            <a:chOff x="698893" y="2395240"/>
            <a:chExt cx="5219718" cy="510420"/>
          </a:xfrm>
        </p:grpSpPr>
        <p:sp>
          <p:nvSpPr>
            <p:cNvPr id="11" name="Shape 8">
              <a:extLst>
                <a:ext uri="{FF2B5EF4-FFF2-40B4-BE49-F238E27FC236}">
                  <a16:creationId xmlns:a16="http://schemas.microsoft.com/office/drawing/2014/main" id="{22740D31-6FDA-BD0A-917E-130268978D84}"/>
                </a:ext>
              </a:extLst>
            </p:cNvPr>
            <p:cNvSpPr/>
            <p:nvPr/>
          </p:nvSpPr>
          <p:spPr>
            <a:xfrm>
              <a:off x="698893" y="2395240"/>
              <a:ext cx="5219718" cy="510420"/>
            </a:xfrm>
            <a:prstGeom prst="rect">
              <a:avLst/>
            </a:prstGeom>
            <a:solidFill>
              <a:srgbClr val="FFFFFF"/>
            </a:solidFill>
            <a:ln w="8659">
              <a:solidFill>
                <a:srgbClr val="D8D0BF"/>
              </a:solidFill>
              <a:prstDash val="solid"/>
            </a:ln>
          </p:spPr>
          <p:txBody>
            <a:bodyPr/>
            <a:lstStyle/>
            <a:p>
              <a:endParaRPr lang="en-US" sz="1400">
                <a:latin typeface="+mj-lt"/>
              </a:endParaRPr>
            </a:p>
          </p:txBody>
        </p:sp>
        <mc:AlternateContent xmlns:mc="http://schemas.openxmlformats.org/markup-compatibility/2006" xmlns:a14="http://schemas.microsoft.com/office/drawing/2010/main">
          <mc:Choice Requires="a14">
            <p:sp>
              <p:nvSpPr>
                <p:cNvPr id="12" name="Text 9">
                  <a:extLst>
                    <a:ext uri="{FF2B5EF4-FFF2-40B4-BE49-F238E27FC236}">
                      <a16:creationId xmlns:a16="http://schemas.microsoft.com/office/drawing/2014/main" id="{F719CDCC-B65A-5B19-22AD-32BAA3D1088A}"/>
                    </a:ext>
                  </a:extLst>
                </p:cNvPr>
                <p:cNvSpPr/>
                <p:nvPr/>
              </p:nvSpPr>
              <p:spPr>
                <a:xfrm>
                  <a:off x="835765" y="2468216"/>
                  <a:ext cx="4945974" cy="392509"/>
                </a:xfrm>
                <a:prstGeom prst="rect">
                  <a:avLst/>
                </a:prstGeom>
                <a:noFill/>
                <a:ln/>
              </p:spPr>
              <p:txBody>
                <a:bodyPr wrap="square" lIns="16933" tIns="16933" rIns="16933" bIns="16933" rtlCol="0" anchor="t">
                  <a:norm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𝐵𝐶𝐸</m:t>
                        </m:r>
                        <m:r>
                          <a:rPr lang="en-US" sz="2000" b="0" i="1" smtClean="0">
                            <a:latin typeface="Cambria Math" panose="02040503050406030204" pitchFamily="18" charset="0"/>
                          </a:rPr>
                          <m:t>=−[ </m:t>
                        </m:r>
                        <m:r>
                          <a:rPr lang="en-US" sz="2000" b="0" i="1" smtClean="0">
                            <a:latin typeface="Cambria Math" panose="02040503050406030204" pitchFamily="18" charset="0"/>
                          </a:rPr>
                          <m:t>𝑦𝑙𝑜𝑔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𝑝</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𝑦</m:t>
                            </m:r>
                          </m:e>
                        </m:d>
                        <m:r>
                          <a:rPr lang="en-US" sz="2000" b="0" i="1" smtClean="0">
                            <a:latin typeface="Cambria Math" panose="02040503050406030204" pitchFamily="18" charset="0"/>
                          </a:rPr>
                          <m:t>𝑙𝑜𝑔</m:t>
                        </m:r>
                        <m:r>
                          <a:rPr lang="en-US" sz="2000" b="0" i="1" smtClean="0">
                            <a:latin typeface="Cambria Math" panose="02040503050406030204" pitchFamily="18" charset="0"/>
                          </a:rPr>
                          <m:t>(1−</m:t>
                        </m:r>
                        <m:r>
                          <a:rPr lang="en-US" sz="2000" b="0" i="1" smtClean="0">
                            <a:latin typeface="Cambria Math" panose="02040503050406030204" pitchFamily="18" charset="0"/>
                          </a:rPr>
                          <m:t>𝑝</m:t>
                        </m:r>
                        <m:r>
                          <a:rPr lang="en-US" sz="2000" b="0" i="1" smtClean="0">
                            <a:latin typeface="Cambria Math" panose="02040503050406030204" pitchFamily="18" charset="0"/>
                          </a:rPr>
                          <m:t>)]</m:t>
                        </m:r>
                      </m:oMath>
                    </m:oMathPara>
                  </a14:m>
                  <a:endParaRPr lang="en-US" sz="2000" i="1"/>
                </a:p>
              </p:txBody>
            </p:sp>
          </mc:Choice>
          <mc:Fallback xmlns="">
            <p:sp>
              <p:nvSpPr>
                <p:cNvPr id="12" name="Text 9">
                  <a:extLst>
                    <a:ext uri="{FF2B5EF4-FFF2-40B4-BE49-F238E27FC236}">
                      <a16:creationId xmlns:a16="http://schemas.microsoft.com/office/drawing/2014/main" id="{F719CDCC-B65A-5B19-22AD-32BAA3D1088A}"/>
                    </a:ext>
                  </a:extLst>
                </p:cNvPr>
                <p:cNvSpPr>
                  <a:spLocks noRot="1" noChangeAspect="1" noMove="1" noResize="1" noEditPoints="1" noAdjustHandles="1" noChangeArrowheads="1" noChangeShapeType="1" noTextEdit="1"/>
                </p:cNvSpPr>
                <p:nvPr/>
              </p:nvSpPr>
              <p:spPr>
                <a:xfrm>
                  <a:off x="835765" y="2468216"/>
                  <a:ext cx="4945974" cy="392509"/>
                </a:xfrm>
                <a:prstGeom prst="rect">
                  <a:avLst/>
                </a:prstGeom>
                <a:blipFill>
                  <a:blip r:embed="rId4"/>
                  <a:stretch>
                    <a:fillRect b="-10769"/>
                  </a:stretch>
                </a:blipFill>
                <a:ln/>
              </p:spPr>
              <p:txBody>
                <a:bodyPr/>
                <a:lstStyle/>
                <a:p>
                  <a:r>
                    <a:rPr lang="en-US">
                      <a:noFill/>
                    </a:rPr>
                    <a:t> </a:t>
                  </a:r>
                </a:p>
              </p:txBody>
            </p:sp>
          </mc:Fallback>
        </mc:AlternateContent>
      </p:grpSp>
      <p:sp>
        <p:nvSpPr>
          <p:cNvPr id="17" name="Text 13">
            <a:extLst>
              <a:ext uri="{FF2B5EF4-FFF2-40B4-BE49-F238E27FC236}">
                <a16:creationId xmlns:a16="http://schemas.microsoft.com/office/drawing/2014/main" id="{BEB04F23-9FA8-1DC9-FDA8-41FCF89A9271}"/>
              </a:ext>
            </a:extLst>
          </p:cNvPr>
          <p:cNvSpPr/>
          <p:nvPr/>
        </p:nvSpPr>
        <p:spPr>
          <a:xfrm>
            <a:off x="548640" y="4296356"/>
            <a:ext cx="5417735" cy="510420"/>
          </a:xfrm>
          <a:prstGeom prst="rect">
            <a:avLst/>
          </a:prstGeom>
          <a:noFill/>
          <a:ln/>
        </p:spPr>
        <p:txBody>
          <a:bodyPr wrap="square" lIns="16933" tIns="16933" rIns="16933" bIns="16933" rtlCol="0" anchor="t">
            <a:noAutofit/>
          </a:bodyPr>
          <a:lstStyle/>
          <a:p>
            <a:pPr marL="285750" indent="-285750">
              <a:lnSpc>
                <a:spcPct val="142000"/>
              </a:lnSpc>
              <a:buFont typeface="Arial" panose="020B0604020202020204" pitchFamily="34" charset="0"/>
              <a:buChar char="•"/>
            </a:pPr>
            <a:r>
              <a:rPr lang="en-US" sz="2000">
                <a:latin typeface="+mj-lt"/>
              </a:rPr>
              <a:t>Phạt nặng khi xác suất dự đoán khác xa nhãn thật.</a:t>
            </a:r>
          </a:p>
        </p:txBody>
      </p:sp>
      <p:sp>
        <p:nvSpPr>
          <p:cNvPr id="29" name="Text 13">
            <a:extLst>
              <a:ext uri="{FF2B5EF4-FFF2-40B4-BE49-F238E27FC236}">
                <a16:creationId xmlns:a16="http://schemas.microsoft.com/office/drawing/2014/main" id="{D467532E-4024-FFB8-EB02-9F8835089B7F}"/>
              </a:ext>
            </a:extLst>
          </p:cNvPr>
          <p:cNvSpPr/>
          <p:nvPr/>
        </p:nvSpPr>
        <p:spPr>
          <a:xfrm>
            <a:off x="548640" y="4702359"/>
            <a:ext cx="5369970" cy="955685"/>
          </a:xfrm>
          <a:prstGeom prst="rect">
            <a:avLst/>
          </a:prstGeom>
          <a:noFill/>
          <a:ln/>
        </p:spPr>
        <p:txBody>
          <a:bodyPr wrap="square" lIns="16933" tIns="16933" rIns="16933" bIns="16933" rtlCol="0" anchor="t">
            <a:noAutofit/>
          </a:bodyPr>
          <a:lstStyle/>
          <a:p>
            <a:pPr marL="285750" indent="-285750">
              <a:buFont typeface="Arial" panose="020B0604020202020204" pitchFamily="34" charset="0"/>
              <a:buChar char="•"/>
            </a:pPr>
            <a:r>
              <a:rPr lang="vi-VN" sz="2000">
                <a:latin typeface="+mj-lt"/>
              </a:rPr>
              <a:t>Trong bài toán S</a:t>
            </a:r>
            <a:r>
              <a:rPr lang="en-US" sz="2000">
                <a:latin typeface="+mj-lt"/>
              </a:rPr>
              <a:t>BD</a:t>
            </a:r>
            <a:r>
              <a:rPr lang="vi-VN" sz="2000">
                <a:latin typeface="+mj-lt"/>
              </a:rPr>
              <a:t>, số lượng </a:t>
            </a:r>
            <a:r>
              <a:rPr lang="en-US" sz="2000">
                <a:latin typeface="+mj-lt"/>
              </a:rPr>
              <a:t>khung hình không phải chuyển cảnh</a:t>
            </a:r>
            <a:r>
              <a:rPr lang="vi-VN" sz="2000">
                <a:latin typeface="+mj-lt"/>
              </a:rPr>
              <a:t> </a:t>
            </a:r>
            <a:r>
              <a:rPr lang="en-US" sz="2000">
                <a:latin typeface="+mj-lt"/>
              </a:rPr>
              <a:t>nhiều hơn rất nhiều so với số lượng khung hình chuyển cảnh</a:t>
            </a:r>
            <a:r>
              <a:rPr lang="vi-VN" sz="2000">
                <a:latin typeface="+mj-lt"/>
              </a:rPr>
              <a:t>.</a:t>
            </a:r>
            <a:endParaRPr lang="en-US" sz="2000">
              <a:latin typeface="+mj-lt"/>
            </a:endParaRPr>
          </a:p>
        </p:txBody>
      </p:sp>
      <p:sp>
        <p:nvSpPr>
          <p:cNvPr id="30" name="Text 13">
            <a:extLst>
              <a:ext uri="{FF2B5EF4-FFF2-40B4-BE49-F238E27FC236}">
                <a16:creationId xmlns:a16="http://schemas.microsoft.com/office/drawing/2014/main" id="{6BF3FDE8-CDED-4170-9849-B7A3C0012D11}"/>
              </a:ext>
            </a:extLst>
          </p:cNvPr>
          <p:cNvSpPr/>
          <p:nvPr/>
        </p:nvSpPr>
        <p:spPr>
          <a:xfrm>
            <a:off x="468108" y="5686692"/>
            <a:ext cx="5450502" cy="628744"/>
          </a:xfrm>
          <a:prstGeom prst="rect">
            <a:avLst/>
          </a:prstGeom>
          <a:noFill/>
          <a:ln/>
        </p:spPr>
        <p:txBody>
          <a:bodyPr wrap="square" lIns="16933" tIns="16933" rIns="16933" bIns="16933" rtlCol="0" anchor="t">
            <a:noAutofit/>
          </a:bodyPr>
          <a:lstStyle/>
          <a:p>
            <a:r>
              <a:rPr lang="en-US" sz="2000">
                <a:latin typeface="+mj-lt"/>
                <a:ea typeface="Georgia" pitchFamily="34" charset="-122"/>
                <a:cs typeface="Georgia" pitchFamily="34" charset="-120"/>
              </a:rPr>
              <a:t>=&gt; M</a:t>
            </a:r>
            <a:r>
              <a:rPr lang="vi-VN" sz="2000">
                <a:latin typeface="+mj-lt"/>
              </a:rPr>
              <a:t>ô hình có thể có xu hướng dự đoán </a:t>
            </a:r>
            <a:r>
              <a:rPr lang="en-US" sz="2000">
                <a:latin typeface="+mj-lt"/>
              </a:rPr>
              <a:t>khung hình</a:t>
            </a:r>
            <a:r>
              <a:rPr lang="vi-VN" sz="2000">
                <a:latin typeface="+mj-lt"/>
              </a:rPr>
              <a:t> là </a:t>
            </a:r>
            <a:r>
              <a:rPr lang="vi-VN" sz="2000" b="1">
                <a:latin typeface="+mj-lt"/>
              </a:rPr>
              <a:t>non-boundary</a:t>
            </a:r>
            <a:r>
              <a:rPr lang="vi-VN" sz="2000">
                <a:latin typeface="+mj-lt"/>
              </a:rPr>
              <a:t> để giảm loss.</a:t>
            </a:r>
            <a:endParaRPr lang="en-US" sz="2000">
              <a:latin typeface="+mj-lt"/>
            </a:endParaRPr>
          </a:p>
        </p:txBody>
      </p:sp>
      <p:cxnSp>
        <p:nvCxnSpPr>
          <p:cNvPr id="35" name="Straight Connector 34">
            <a:extLst>
              <a:ext uri="{FF2B5EF4-FFF2-40B4-BE49-F238E27FC236}">
                <a16:creationId xmlns:a16="http://schemas.microsoft.com/office/drawing/2014/main" id="{FE146EC3-E1B0-133E-E5F8-6FC1EED18278}"/>
              </a:ext>
            </a:extLst>
          </p:cNvPr>
          <p:cNvCxnSpPr/>
          <p:nvPr/>
        </p:nvCxnSpPr>
        <p:spPr>
          <a:xfrm>
            <a:off x="6184488" y="1515990"/>
            <a:ext cx="0" cy="4934958"/>
          </a:xfrm>
          <a:prstGeom prst="line">
            <a:avLst/>
          </a:prstGeom>
          <a:ln w="3175"/>
        </p:spPr>
        <p:style>
          <a:lnRef idx="2">
            <a:schemeClr val="accent1"/>
          </a:lnRef>
          <a:fillRef idx="0">
            <a:schemeClr val="accent1"/>
          </a:fillRef>
          <a:effectRef idx="1">
            <a:schemeClr val="accent1"/>
          </a:effectRef>
          <a:fontRef idx="minor">
            <a:schemeClr val="tx1"/>
          </a:fontRef>
        </p:style>
      </p:cxnSp>
      <p:graphicFrame>
        <p:nvGraphicFramePr>
          <p:cNvPr id="22" name="Table 21">
            <a:extLst>
              <a:ext uri="{FF2B5EF4-FFF2-40B4-BE49-F238E27FC236}">
                <a16:creationId xmlns:a16="http://schemas.microsoft.com/office/drawing/2014/main" id="{0B34BA4D-5D7B-470E-32AF-AF92E8DC49AF}"/>
              </a:ext>
            </a:extLst>
          </p:cNvPr>
          <p:cNvGraphicFramePr>
            <a:graphicFrameLocks noGrp="1"/>
          </p:cNvGraphicFramePr>
          <p:nvPr>
            <p:extLst>
              <p:ext uri="{D42A27DB-BD31-4B8C-83A1-F6EECF244321}">
                <p14:modId xmlns:p14="http://schemas.microsoft.com/office/powerpoint/2010/main" val="4281009135"/>
              </p:ext>
            </p:extLst>
          </p:nvPr>
        </p:nvGraphicFramePr>
        <p:xfrm>
          <a:off x="6402602" y="2658362"/>
          <a:ext cx="5196499" cy="2163047"/>
        </p:xfrm>
        <a:graphic>
          <a:graphicData uri="http://schemas.openxmlformats.org/drawingml/2006/table">
            <a:tbl>
              <a:tblPr>
                <a:tableStyleId>{775DCB02-9BB8-47FD-8907-85C794F793BA}</a:tableStyleId>
              </a:tblPr>
              <a:tblGrid>
                <a:gridCol w="1090210">
                  <a:extLst>
                    <a:ext uri="{9D8B030D-6E8A-4147-A177-3AD203B41FA5}">
                      <a16:colId xmlns:a16="http://schemas.microsoft.com/office/drawing/2014/main" val="4014706474"/>
                    </a:ext>
                  </a:extLst>
                </a:gridCol>
                <a:gridCol w="1240077">
                  <a:extLst>
                    <a:ext uri="{9D8B030D-6E8A-4147-A177-3AD203B41FA5}">
                      <a16:colId xmlns:a16="http://schemas.microsoft.com/office/drawing/2014/main" val="354587211"/>
                    </a:ext>
                  </a:extLst>
                </a:gridCol>
                <a:gridCol w="1590805">
                  <a:extLst>
                    <a:ext uri="{9D8B030D-6E8A-4147-A177-3AD203B41FA5}">
                      <a16:colId xmlns:a16="http://schemas.microsoft.com/office/drawing/2014/main" val="118389109"/>
                    </a:ext>
                  </a:extLst>
                </a:gridCol>
                <a:gridCol w="1275407">
                  <a:extLst>
                    <a:ext uri="{9D8B030D-6E8A-4147-A177-3AD203B41FA5}">
                      <a16:colId xmlns:a16="http://schemas.microsoft.com/office/drawing/2014/main" val="3258153363"/>
                    </a:ext>
                  </a:extLst>
                </a:gridCol>
              </a:tblGrid>
              <a:tr h="540511">
                <a:tc>
                  <a:txBody>
                    <a:bodyPr/>
                    <a:lstStyle/>
                    <a:p>
                      <a:pPr algn="ctr">
                        <a:buNone/>
                      </a:pPr>
                      <a:r>
                        <a:rPr lang="en-US">
                          <a:latin typeface="+mn-lt"/>
                        </a:rPr>
                        <a:t>Nhãn thật</a:t>
                      </a:r>
                    </a:p>
                  </a:txBody>
                  <a:tcPr anchor="ctr"/>
                </a:tc>
                <a:tc>
                  <a:txBody>
                    <a:bodyPr/>
                    <a:lstStyle/>
                    <a:p>
                      <a:pPr algn="ctr">
                        <a:buNone/>
                      </a:pPr>
                      <a:r>
                        <a:rPr lang="en-US">
                          <a:latin typeface="+mn-lt"/>
                        </a:rPr>
                        <a:t>Dự đoán</a:t>
                      </a:r>
                    </a:p>
                  </a:txBody>
                  <a:tcPr anchor="ctr"/>
                </a:tc>
                <a:tc>
                  <a:txBody>
                    <a:bodyPr/>
                    <a:lstStyle/>
                    <a:p>
                      <a:pPr algn="ctr">
                        <a:buNone/>
                      </a:pPr>
                      <a:r>
                        <a:rPr lang="en-US">
                          <a:latin typeface="+mn-lt"/>
                        </a:rPr>
                        <a:t>Loại mẫu</a:t>
                      </a:r>
                    </a:p>
                  </a:txBody>
                  <a:tcPr anchor="ctr"/>
                </a:tc>
                <a:tc>
                  <a:txBody>
                    <a:bodyPr/>
                    <a:lstStyle/>
                    <a:p>
                      <a:pPr algn="ctr">
                        <a:buNone/>
                      </a:pPr>
                      <a:r>
                        <a:rPr lang="en-US">
                          <a:latin typeface="+mn-lt"/>
                        </a:rPr>
                        <a:t>Loss</a:t>
                      </a:r>
                    </a:p>
                  </a:txBody>
                  <a:tcPr anchor="ctr"/>
                </a:tc>
                <a:extLst>
                  <a:ext uri="{0D108BD9-81ED-4DB2-BD59-A6C34878D82A}">
                    <a16:rowId xmlns:a16="http://schemas.microsoft.com/office/drawing/2014/main" val="2763656922"/>
                  </a:ext>
                </a:extLst>
              </a:tr>
              <a:tr h="440090">
                <a:tc>
                  <a:txBody>
                    <a:bodyPr/>
                    <a:lstStyle/>
                    <a:p>
                      <a:pPr algn="ctr">
                        <a:buNone/>
                      </a:pPr>
                      <a:r>
                        <a:rPr lang="en-US" sz="1400">
                          <a:latin typeface="+mn-lt"/>
                        </a:rPr>
                        <a:t>1</a:t>
                      </a:r>
                    </a:p>
                  </a:txBody>
                  <a:tcPr anchor="ctr"/>
                </a:tc>
                <a:tc>
                  <a:txBody>
                    <a:bodyPr/>
                    <a:lstStyle/>
                    <a:p>
                      <a:pPr algn="ctr">
                        <a:buNone/>
                      </a:pPr>
                      <a:r>
                        <a:rPr lang="en-US" sz="1400">
                          <a:latin typeface="+mn-lt"/>
                        </a:rPr>
                        <a:t>0.20</a:t>
                      </a:r>
                    </a:p>
                  </a:txBody>
                  <a:tcPr anchor="ctr"/>
                </a:tc>
                <a:tc>
                  <a:txBody>
                    <a:bodyPr/>
                    <a:lstStyle/>
                    <a:p>
                      <a:pPr algn="ctr">
                        <a:buNone/>
                      </a:pPr>
                      <a:r>
                        <a:rPr lang="en-US" sz="1400">
                          <a:latin typeface="+mn-lt"/>
                        </a:rPr>
                        <a:t>Mẫu khó</a:t>
                      </a:r>
                    </a:p>
                  </a:txBody>
                  <a:tcPr anchor="ctr"/>
                </a:tc>
                <a:tc>
                  <a:txBody>
                    <a:bodyPr/>
                    <a:lstStyle/>
                    <a:p>
                      <a:pPr algn="ctr">
                        <a:buNone/>
                      </a:pPr>
                      <a:r>
                        <a:rPr lang="vi-VN" sz="1400">
                          <a:latin typeface="+mn-lt"/>
                        </a:rPr>
                        <a:t>Cao</a:t>
                      </a:r>
                    </a:p>
                  </a:txBody>
                  <a:tcPr anchor="ctr"/>
                </a:tc>
                <a:extLst>
                  <a:ext uri="{0D108BD9-81ED-4DB2-BD59-A6C34878D82A}">
                    <a16:rowId xmlns:a16="http://schemas.microsoft.com/office/drawing/2014/main" val="538425644"/>
                  </a:ext>
                </a:extLst>
              </a:tr>
              <a:tr h="440090">
                <a:tc>
                  <a:txBody>
                    <a:bodyPr/>
                    <a:lstStyle/>
                    <a:p>
                      <a:pPr algn="ctr">
                        <a:buNone/>
                      </a:pPr>
                      <a:r>
                        <a:rPr lang="en-US" sz="1400">
                          <a:latin typeface="+mn-lt"/>
                        </a:rPr>
                        <a:t>1</a:t>
                      </a:r>
                    </a:p>
                  </a:txBody>
                  <a:tcPr anchor="ctr"/>
                </a:tc>
                <a:tc>
                  <a:txBody>
                    <a:bodyPr/>
                    <a:lstStyle/>
                    <a:p>
                      <a:pPr algn="ctr">
                        <a:buNone/>
                      </a:pPr>
                      <a:r>
                        <a:rPr lang="en-US" sz="1400">
                          <a:latin typeface="+mn-lt"/>
                        </a:rPr>
                        <a:t>0.55</a:t>
                      </a:r>
                    </a:p>
                  </a:txBody>
                  <a:tcPr anchor="ctr"/>
                </a:tc>
                <a:tc>
                  <a:txBody>
                    <a:bodyPr/>
                    <a:lstStyle/>
                    <a:p>
                      <a:pPr algn="ctr">
                        <a:buNone/>
                      </a:pPr>
                      <a:r>
                        <a:rPr lang="en-US" sz="1400">
                          <a:latin typeface="+mn-lt"/>
                        </a:rPr>
                        <a:t>Mẫu khó</a:t>
                      </a:r>
                    </a:p>
                  </a:txBody>
                  <a:tcPr anchor="ctr"/>
                </a:tc>
                <a:tc>
                  <a:txBody>
                    <a:bodyPr/>
                    <a:lstStyle/>
                    <a:p>
                      <a:pPr algn="ctr">
                        <a:buNone/>
                      </a:pPr>
                      <a:r>
                        <a:rPr lang="en-US" sz="1400">
                          <a:latin typeface="+mn-lt"/>
                        </a:rPr>
                        <a:t>Trung bình</a:t>
                      </a:r>
                      <a:endParaRPr lang="vi-VN" sz="1400">
                        <a:latin typeface="+mn-lt"/>
                      </a:endParaRPr>
                    </a:p>
                  </a:txBody>
                  <a:tcPr anchor="ctr"/>
                </a:tc>
                <a:extLst>
                  <a:ext uri="{0D108BD9-81ED-4DB2-BD59-A6C34878D82A}">
                    <a16:rowId xmlns:a16="http://schemas.microsoft.com/office/drawing/2014/main" val="2267351420"/>
                  </a:ext>
                </a:extLst>
              </a:tr>
              <a:tr h="281658">
                <a:tc>
                  <a:txBody>
                    <a:bodyPr/>
                    <a:lstStyle/>
                    <a:p>
                      <a:pPr algn="ctr">
                        <a:buNone/>
                      </a:pPr>
                      <a:r>
                        <a:rPr lang="en-US" sz="1400">
                          <a:latin typeface="+mn-lt"/>
                        </a:rPr>
                        <a:t>0</a:t>
                      </a:r>
                    </a:p>
                  </a:txBody>
                  <a:tcPr anchor="ctr"/>
                </a:tc>
                <a:tc>
                  <a:txBody>
                    <a:bodyPr/>
                    <a:lstStyle/>
                    <a:p>
                      <a:pPr algn="ctr">
                        <a:buNone/>
                      </a:pPr>
                      <a:r>
                        <a:rPr lang="en-US" sz="1400">
                          <a:latin typeface="+mn-lt"/>
                        </a:rPr>
                        <a:t>0.05</a:t>
                      </a:r>
                    </a:p>
                  </a:txBody>
                  <a:tcPr anchor="ctr"/>
                </a:tc>
                <a:tc>
                  <a:txBody>
                    <a:bodyPr/>
                    <a:lstStyle/>
                    <a:p>
                      <a:pPr algn="ctr">
                        <a:buNone/>
                      </a:pPr>
                      <a:r>
                        <a:rPr lang="en-US" sz="1400">
                          <a:latin typeface="+mn-lt"/>
                        </a:rPr>
                        <a:t>Mẫu dễ</a:t>
                      </a:r>
                    </a:p>
                  </a:txBody>
                  <a:tcPr anchor="ctr"/>
                </a:tc>
                <a:tc>
                  <a:txBody>
                    <a:bodyPr/>
                    <a:lstStyle/>
                    <a:p>
                      <a:pPr algn="ctr">
                        <a:buNone/>
                      </a:pPr>
                      <a:r>
                        <a:rPr lang="en-US" sz="1400">
                          <a:latin typeface="+mn-lt"/>
                        </a:rPr>
                        <a:t>Rất thấp</a:t>
                      </a:r>
                    </a:p>
                  </a:txBody>
                  <a:tcPr anchor="ctr"/>
                </a:tc>
                <a:extLst>
                  <a:ext uri="{0D108BD9-81ED-4DB2-BD59-A6C34878D82A}">
                    <a16:rowId xmlns:a16="http://schemas.microsoft.com/office/drawing/2014/main" val="4168733610"/>
                  </a:ext>
                </a:extLst>
              </a:tr>
              <a:tr h="437556">
                <a:tc>
                  <a:txBody>
                    <a:bodyPr/>
                    <a:lstStyle/>
                    <a:p>
                      <a:pPr algn="ctr">
                        <a:buNone/>
                      </a:pPr>
                      <a:r>
                        <a:rPr lang="en-US" sz="1400">
                          <a:latin typeface="+mn-lt"/>
                        </a:rPr>
                        <a:t>0</a:t>
                      </a:r>
                    </a:p>
                  </a:txBody>
                  <a:tcPr anchor="ctr"/>
                </a:tc>
                <a:tc>
                  <a:txBody>
                    <a:bodyPr/>
                    <a:lstStyle/>
                    <a:p>
                      <a:pPr algn="ctr">
                        <a:buNone/>
                      </a:pPr>
                      <a:r>
                        <a:rPr lang="en-US" sz="1400">
                          <a:latin typeface="+mn-lt"/>
                        </a:rPr>
                        <a:t>0.10</a:t>
                      </a:r>
                    </a:p>
                  </a:txBody>
                  <a:tcPr anchor="ctr"/>
                </a:tc>
                <a:tc>
                  <a:txBody>
                    <a:bodyPr/>
                    <a:lstStyle/>
                    <a:p>
                      <a:pPr algn="ctr">
                        <a:buNone/>
                      </a:pPr>
                      <a:r>
                        <a:rPr lang="en-US" sz="1400">
                          <a:latin typeface="+mn-lt"/>
                        </a:rPr>
                        <a:t>Mẫu dễ</a:t>
                      </a:r>
                    </a:p>
                  </a:txBody>
                  <a:tcPr anchor="ctr"/>
                </a:tc>
                <a:tc>
                  <a:txBody>
                    <a:bodyPr/>
                    <a:lstStyle/>
                    <a:p>
                      <a:pPr algn="ctr">
                        <a:buNone/>
                      </a:pPr>
                      <a:r>
                        <a:rPr lang="en-US" sz="1400">
                          <a:latin typeface="+mn-lt"/>
                        </a:rPr>
                        <a:t>Thấp</a:t>
                      </a:r>
                      <a:endParaRPr lang="vi-VN" sz="1400">
                        <a:latin typeface="+mn-lt"/>
                      </a:endParaRPr>
                    </a:p>
                  </a:txBody>
                  <a:tcPr anchor="ctr"/>
                </a:tc>
                <a:extLst>
                  <a:ext uri="{0D108BD9-81ED-4DB2-BD59-A6C34878D82A}">
                    <a16:rowId xmlns:a16="http://schemas.microsoft.com/office/drawing/2014/main" val="2515916822"/>
                  </a:ext>
                </a:extLst>
              </a:tr>
            </a:tbl>
          </a:graphicData>
        </a:graphic>
      </p:graphicFrame>
    </p:spTree>
    <p:extLst>
      <p:ext uri="{BB962C8B-B14F-4D97-AF65-F5344CB8AC3E}">
        <p14:creationId xmlns:p14="http://schemas.microsoft.com/office/powerpoint/2010/main" val="1991088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94256-ED10-57E2-A129-B8B327E37BC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4DFCCD-EB57-183B-C6F7-DA2E988F433D}"/>
              </a:ext>
            </a:extLst>
          </p:cNvPr>
          <p:cNvSpPr/>
          <p:nvPr/>
        </p:nvSpPr>
        <p:spPr>
          <a:xfrm>
            <a:off x="305"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a:extLst>
              <a:ext uri="{FF2B5EF4-FFF2-40B4-BE49-F238E27FC236}">
                <a16:creationId xmlns:a16="http://schemas.microsoft.com/office/drawing/2014/main" id="{53E01DC7-106F-F5CC-291B-9C8C9742ABE3}"/>
              </a:ext>
            </a:extLst>
          </p:cNvPr>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a:extLst>
              <a:ext uri="{FF2B5EF4-FFF2-40B4-BE49-F238E27FC236}">
                <a16:creationId xmlns:a16="http://schemas.microsoft.com/office/drawing/2014/main" id="{CD9C4A19-724C-D05E-8F4D-61287FBA03C2}"/>
              </a:ext>
            </a:extLst>
          </p:cNvPr>
          <p:cNvSpPr txBox="1"/>
          <p:nvPr/>
        </p:nvSpPr>
        <p:spPr>
          <a:xfrm>
            <a:off x="469900" y="607694"/>
            <a:ext cx="10972800" cy="461665"/>
          </a:xfrm>
          <a:prstGeom prst="rect">
            <a:avLst/>
          </a:prstGeom>
          <a:noFill/>
        </p:spPr>
        <p:txBody>
          <a:bodyPr wrap="square" lIns="0" tIns="0" rIns="0" bIns="0" anchor="t">
            <a:spAutoFit/>
          </a:bodyPr>
          <a:lstStyle/>
          <a:p>
            <a:pPr algn="l"/>
            <a:r>
              <a:rPr lang="en-US" sz="3000" b="1">
                <a:solidFill>
                  <a:srgbClr val="1B365D"/>
                </a:solidFill>
                <a:latin typeface="+mj-lt"/>
              </a:rPr>
              <a:t>Hậu </a:t>
            </a:r>
            <a:r>
              <a:rPr lang="en-US" sz="3000" b="1" err="1">
                <a:solidFill>
                  <a:srgbClr val="1B365D"/>
                </a:solidFill>
                <a:latin typeface="+mj-lt"/>
              </a:rPr>
              <a:t>xử</a:t>
            </a:r>
            <a:r>
              <a:rPr lang="en-US" sz="3000" b="1">
                <a:solidFill>
                  <a:srgbClr val="1B365D"/>
                </a:solidFill>
                <a:latin typeface="+mj-lt"/>
              </a:rPr>
              <a:t> </a:t>
            </a:r>
            <a:r>
              <a:rPr lang="en-US" sz="3000" b="1" err="1">
                <a:solidFill>
                  <a:srgbClr val="1B365D"/>
                </a:solidFill>
                <a:latin typeface="+mj-lt"/>
              </a:rPr>
              <a:t>lý</a:t>
            </a:r>
            <a:r>
              <a:rPr lang="en-US" sz="3000" b="1">
                <a:solidFill>
                  <a:srgbClr val="1B365D"/>
                </a:solidFill>
                <a:latin typeface="+mj-lt"/>
              </a:rPr>
              <a:t> </a:t>
            </a:r>
            <a:r>
              <a:rPr lang="en-US" sz="3000" b="1" err="1">
                <a:solidFill>
                  <a:srgbClr val="1B365D"/>
                </a:solidFill>
                <a:latin typeface="+mj-lt"/>
              </a:rPr>
              <a:t>xác</a:t>
            </a:r>
            <a:r>
              <a:rPr lang="en-US" sz="3000" b="1">
                <a:solidFill>
                  <a:srgbClr val="1B365D"/>
                </a:solidFill>
                <a:latin typeface="+mj-lt"/>
              </a:rPr>
              <a:t> </a:t>
            </a:r>
            <a:r>
              <a:rPr lang="en-US" sz="3000" b="1" err="1">
                <a:solidFill>
                  <a:srgbClr val="1B365D"/>
                </a:solidFill>
                <a:latin typeface="+mj-lt"/>
              </a:rPr>
              <a:t>suất</a:t>
            </a:r>
            <a:endParaRPr sz="3000" b="1">
              <a:solidFill>
                <a:srgbClr val="1B365D"/>
              </a:solidFill>
              <a:latin typeface="+mj-lt"/>
            </a:endParaRPr>
          </a:p>
        </p:txBody>
      </p:sp>
      <p:cxnSp>
        <p:nvCxnSpPr>
          <p:cNvPr id="6" name="Connector 5">
            <a:extLst>
              <a:ext uri="{FF2B5EF4-FFF2-40B4-BE49-F238E27FC236}">
                <a16:creationId xmlns:a16="http://schemas.microsoft.com/office/drawing/2014/main" id="{FE4A95FB-CE3C-B63C-08BB-93B271D62E83}"/>
              </a:ext>
            </a:extLst>
          </p:cNvPr>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CEF27330-5531-43E7-4683-A1C7170F956E}"/>
              </a:ext>
            </a:extLst>
          </p:cNvPr>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215B2F2-7E09-19A9-5AA9-34DD596EF3A1}"/>
              </a:ext>
            </a:extLst>
          </p:cNvPr>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16 / 25</a:t>
            </a:r>
          </a:p>
        </p:txBody>
      </p:sp>
      <p:sp>
        <p:nvSpPr>
          <p:cNvPr id="14" name="Text 2">
            <a:extLst>
              <a:ext uri="{FF2B5EF4-FFF2-40B4-BE49-F238E27FC236}">
                <a16:creationId xmlns:a16="http://schemas.microsoft.com/office/drawing/2014/main" id="{0E89166E-E397-3ADE-8246-E7D89F8AAA0D}"/>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mj-lt"/>
                <a:ea typeface="Times New Roman" pitchFamily="34" charset="-122"/>
                <a:cs typeface="Times New Roman" pitchFamily="34" charset="-120"/>
              </a:rPr>
              <a:t>3. PHƯƠNG </a:t>
            </a:r>
            <a:r>
              <a:rPr lang="en-US" sz="1350" b="1" err="1">
                <a:solidFill>
                  <a:srgbClr val="008FB3"/>
                </a:solidFill>
                <a:latin typeface="+mj-lt"/>
                <a:ea typeface="Times New Roman" pitchFamily="34" charset="-122"/>
                <a:cs typeface="Times New Roman" pitchFamily="34" charset="-120"/>
              </a:rPr>
              <a:t>PHÁ</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ĐỀ</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XUẤT</a:t>
            </a:r>
            <a:r>
              <a:rPr lang="en-US" sz="1350" b="1">
                <a:solidFill>
                  <a:srgbClr val="008FB3"/>
                </a:solidFill>
                <a:latin typeface="+mj-lt"/>
                <a:ea typeface="Times New Roman" pitchFamily="34" charset="-122"/>
                <a:cs typeface="Times New Roman" pitchFamily="34" charset="-120"/>
              </a:rPr>
              <a:t> – </a:t>
            </a:r>
            <a:r>
              <a:rPr lang="en-US" sz="1350" b="1" err="1">
                <a:solidFill>
                  <a:srgbClr val="008FB3"/>
                </a:solidFill>
                <a:latin typeface="+mj-lt"/>
                <a:ea typeface="Times New Roman" pitchFamily="34" charset="-122"/>
                <a:cs typeface="Times New Roman" pitchFamily="34" charset="-120"/>
              </a:rPr>
              <a:t>AUTOSHOTV2</a:t>
            </a:r>
            <a:endParaRPr lang="en-US" sz="1350">
              <a:latin typeface="+mj-lt"/>
            </a:endParaRPr>
          </a:p>
        </p:txBody>
      </p:sp>
      <p:sp>
        <p:nvSpPr>
          <p:cNvPr id="4" name="Text 6">
            <a:extLst>
              <a:ext uri="{FF2B5EF4-FFF2-40B4-BE49-F238E27FC236}">
                <a16:creationId xmlns:a16="http://schemas.microsoft.com/office/drawing/2014/main" id="{0AC52724-4622-6ACC-346B-8D415A4789BA}"/>
              </a:ext>
            </a:extLst>
          </p:cNvPr>
          <p:cNvSpPr/>
          <p:nvPr/>
        </p:nvSpPr>
        <p:spPr>
          <a:xfrm>
            <a:off x="698500" y="1333695"/>
            <a:ext cx="10941812" cy="644345"/>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Hai kỹ thuật </a:t>
            </a:r>
            <a:r>
              <a:rPr lang="en-US" sz="2000" b="1">
                <a:latin typeface="+mj-lt"/>
                <a:ea typeface="Georgia" pitchFamily="34" charset="-122"/>
                <a:cs typeface="Georgia" pitchFamily="34" charset="-120"/>
              </a:rPr>
              <a:t>không yêu cầu huấn luyện lại </a:t>
            </a:r>
            <a:r>
              <a:rPr lang="en-US" sz="2000">
                <a:latin typeface="+mj-lt"/>
                <a:ea typeface="Georgia" pitchFamily="34" charset="-122"/>
                <a:cs typeface="Georgia" pitchFamily="34" charset="-120"/>
              </a:rPr>
              <a:t>và </a:t>
            </a:r>
            <a:r>
              <a:rPr lang="en-US" sz="2000" b="1">
                <a:latin typeface="+mj-lt"/>
                <a:ea typeface="Georgia" pitchFamily="34" charset="-122"/>
                <a:cs typeface="Georgia" pitchFamily="34" charset="-120"/>
              </a:rPr>
              <a:t>chi phí gần như bằng không</a:t>
            </a:r>
            <a:r>
              <a:rPr lang="en-US" sz="2000">
                <a:latin typeface="+mj-lt"/>
                <a:ea typeface="Georgia" pitchFamily="34" charset="-122"/>
                <a:cs typeface="Georgia" pitchFamily="34" charset="-120"/>
              </a:rPr>
              <a:t>.</a:t>
            </a:r>
            <a:endParaRPr lang="en-US" sz="2000">
              <a:latin typeface="+mj-lt"/>
            </a:endParaRPr>
          </a:p>
        </p:txBody>
      </p:sp>
      <p:grpSp>
        <p:nvGrpSpPr>
          <p:cNvPr id="13" name="Group 12">
            <a:extLst>
              <a:ext uri="{FF2B5EF4-FFF2-40B4-BE49-F238E27FC236}">
                <a16:creationId xmlns:a16="http://schemas.microsoft.com/office/drawing/2014/main" id="{28329E03-26A9-8449-E522-B260DD4E43B0}"/>
              </a:ext>
            </a:extLst>
          </p:cNvPr>
          <p:cNvGrpSpPr/>
          <p:nvPr/>
        </p:nvGrpSpPr>
        <p:grpSpPr>
          <a:xfrm>
            <a:off x="698501" y="1906374"/>
            <a:ext cx="10830414" cy="4466713"/>
            <a:chOff x="698501" y="2340481"/>
            <a:chExt cx="10830414" cy="4466713"/>
          </a:xfrm>
        </p:grpSpPr>
        <p:sp>
          <p:nvSpPr>
            <p:cNvPr id="8" name="Shape 7">
              <a:extLst>
                <a:ext uri="{FF2B5EF4-FFF2-40B4-BE49-F238E27FC236}">
                  <a16:creationId xmlns:a16="http://schemas.microsoft.com/office/drawing/2014/main" id="{FB5BB3B3-2EB9-750A-C8C4-6D25A21B4B25}"/>
                </a:ext>
              </a:extLst>
            </p:cNvPr>
            <p:cNvSpPr/>
            <p:nvPr/>
          </p:nvSpPr>
          <p:spPr>
            <a:xfrm>
              <a:off x="698501" y="2340481"/>
              <a:ext cx="5245063" cy="4466713"/>
            </a:xfrm>
            <a:prstGeom prst="roundRect">
              <a:avLst>
                <a:gd name="adj" fmla="val 676"/>
              </a:avLst>
            </a:prstGeom>
            <a:solidFill>
              <a:srgbClr val="FFFFFF"/>
            </a:solidFill>
            <a:ln w="8659">
              <a:solidFill>
                <a:srgbClr val="D8D0BF"/>
              </a:solidFill>
              <a:prstDash val="solid"/>
            </a:ln>
          </p:spPr>
          <p:txBody>
            <a:bodyPr/>
            <a:lstStyle/>
            <a:p>
              <a:endParaRPr lang="en-US" sz="1400">
                <a:latin typeface="+mj-lt"/>
              </a:endParaRPr>
            </a:p>
          </p:txBody>
        </p:sp>
        <p:sp>
          <p:nvSpPr>
            <p:cNvPr id="10" name="Text 8">
              <a:extLst>
                <a:ext uri="{FF2B5EF4-FFF2-40B4-BE49-F238E27FC236}">
                  <a16:creationId xmlns:a16="http://schemas.microsoft.com/office/drawing/2014/main" id="{C8129FA4-7621-0B03-1ECF-CE8D87AA06B0}"/>
                </a:ext>
              </a:extLst>
            </p:cNvPr>
            <p:cNvSpPr/>
            <p:nvPr/>
          </p:nvSpPr>
          <p:spPr>
            <a:xfrm>
              <a:off x="958273" y="2417805"/>
              <a:ext cx="4867284" cy="319010"/>
            </a:xfrm>
            <a:prstGeom prst="rect">
              <a:avLst/>
            </a:prstGeom>
            <a:noFill/>
            <a:ln/>
          </p:spPr>
          <p:txBody>
            <a:bodyPr wrap="square" lIns="16933" tIns="16933" rIns="16933" bIns="16933" rtlCol="0" anchor="t">
              <a:noAutofit/>
            </a:bodyPr>
            <a:lstStyle/>
            <a:p>
              <a:r>
                <a:rPr lang="en-US" sz="2000" kern="0" spc="264">
                  <a:latin typeface="+mj-lt"/>
                  <a:ea typeface="Georgia" pitchFamily="34" charset="-122"/>
                  <a:cs typeface="Georgia" pitchFamily="34" charset="-120"/>
                </a:rPr>
                <a:t>A · TEMPERATURE SCALING</a:t>
              </a:r>
              <a:endParaRPr lang="en-US" sz="2000">
                <a:latin typeface="+mj-lt"/>
              </a:endParaRPr>
            </a:p>
          </p:txBody>
        </p:sp>
        <p:sp>
          <p:nvSpPr>
            <p:cNvPr id="11" name="Text 9">
              <a:extLst>
                <a:ext uri="{FF2B5EF4-FFF2-40B4-BE49-F238E27FC236}">
                  <a16:creationId xmlns:a16="http://schemas.microsoft.com/office/drawing/2014/main" id="{4795AF48-4278-180C-DBC1-65C7DAA06B5C}"/>
                </a:ext>
              </a:extLst>
            </p:cNvPr>
            <p:cNvSpPr/>
            <p:nvPr/>
          </p:nvSpPr>
          <p:spPr>
            <a:xfrm>
              <a:off x="958273" y="2786165"/>
              <a:ext cx="4867284" cy="259015"/>
            </a:xfrm>
            <a:prstGeom prst="rect">
              <a:avLst/>
            </a:prstGeom>
            <a:noFill/>
            <a:ln/>
          </p:spPr>
          <p:txBody>
            <a:bodyPr wrap="square" lIns="16933" tIns="16933" rIns="16933" bIns="16933" rtlCol="0" anchor="t">
              <a:noAutofit/>
            </a:bodyPr>
            <a:lstStyle/>
            <a:p>
              <a:pPr>
                <a:lnSpc>
                  <a:spcPct val="115000"/>
                </a:lnSpc>
              </a:pPr>
              <a:r>
                <a:rPr lang="en-US" sz="2000" i="1">
                  <a:latin typeface="+mj-lt"/>
                  <a:ea typeface="Georgia" pitchFamily="34" charset="-122"/>
                  <a:cs typeface="Georgia" pitchFamily="34" charset="-120"/>
                </a:rPr>
                <a:t>Hiệu chỉnh phân phối xác suất</a:t>
              </a:r>
              <a:endParaRPr lang="en-US" sz="2000">
                <a:latin typeface="+mj-lt"/>
              </a:endParaRPr>
            </a:p>
          </p:txBody>
        </p:sp>
        <mc:AlternateContent xmlns:mc="http://schemas.openxmlformats.org/markup-compatibility/2006" xmlns:a14="http://schemas.microsoft.com/office/drawing/2010/main">
          <mc:Choice Requires="a14">
            <p:sp>
              <p:nvSpPr>
                <p:cNvPr id="12" name="Text 10">
                  <a:extLst>
                    <a:ext uri="{FF2B5EF4-FFF2-40B4-BE49-F238E27FC236}">
                      <a16:creationId xmlns:a16="http://schemas.microsoft.com/office/drawing/2014/main" id="{27F6DC40-20B0-2853-33EB-02CA70D8B658}"/>
                    </a:ext>
                  </a:extLst>
                </p:cNvPr>
                <p:cNvSpPr/>
                <p:nvPr/>
              </p:nvSpPr>
              <p:spPr>
                <a:xfrm>
                  <a:off x="887390" y="3089029"/>
                  <a:ext cx="4867284" cy="464294"/>
                </a:xfrm>
                <a:prstGeom prst="rect">
                  <a:avLst/>
                </a:prstGeom>
                <a:noFill/>
                <a:ln/>
              </p:spPr>
              <p:txBody>
                <a:bodyPr wrap="square" lIns="16933" tIns="16933" rIns="16933" bIns="16933" rtlCol="0" anchor="t">
                  <a:noAutofit/>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𝑙𝑜𝑔𝑖𝑡</m:t>
                        </m:r>
                        <m:r>
                          <a:rPr lang="en-US" sz="2000" b="0" i="1" smtClean="0">
                            <a:latin typeface="Cambria Math" panose="02040503050406030204" pitchFamily="18" charset="0"/>
                          </a:rPr>
                          <m:t>=</m:t>
                        </m:r>
                        <m:r>
                          <a:rPr lang="en-US" sz="2000" b="0" i="1" smtClean="0">
                            <a:latin typeface="Cambria Math" panose="02040503050406030204" pitchFamily="18" charset="0"/>
                          </a:rPr>
                          <m:t>𝑠𝑜𝑓𝑡</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𝑧</m:t>
                            </m:r>
                          </m:num>
                          <m:den>
                            <m:r>
                              <a:rPr lang="en-US" sz="2000" b="0" i="1" smtClean="0">
                                <a:latin typeface="Cambria Math" panose="02040503050406030204" pitchFamily="18" charset="0"/>
                              </a:rPr>
                              <m:t>𝑇</m:t>
                            </m:r>
                          </m:den>
                        </m:f>
                        <m:r>
                          <a:rPr lang="en-US" sz="2000" b="0" i="1" smtClean="0">
                            <a:latin typeface="Cambria Math" panose="02040503050406030204" pitchFamily="18" charset="0"/>
                          </a:rPr>
                          <m:t>)</m:t>
                        </m:r>
                      </m:oMath>
                    </m:oMathPara>
                  </a14:m>
                  <a:endParaRPr lang="en-US" sz="2000">
                    <a:latin typeface="+mj-lt"/>
                  </a:endParaRPr>
                </a:p>
              </p:txBody>
            </p:sp>
          </mc:Choice>
          <mc:Fallback xmlns="">
            <p:sp>
              <p:nvSpPr>
                <p:cNvPr id="12" name="Text 10">
                  <a:extLst>
                    <a:ext uri="{FF2B5EF4-FFF2-40B4-BE49-F238E27FC236}">
                      <a16:creationId xmlns:a16="http://schemas.microsoft.com/office/drawing/2014/main" id="{27F6DC40-20B0-2853-33EB-02CA70D8B658}"/>
                    </a:ext>
                  </a:extLst>
                </p:cNvPr>
                <p:cNvSpPr>
                  <a:spLocks noRot="1" noChangeAspect="1" noMove="1" noResize="1" noEditPoints="1" noAdjustHandles="1" noChangeArrowheads="1" noChangeShapeType="1" noTextEdit="1"/>
                </p:cNvSpPr>
                <p:nvPr/>
              </p:nvSpPr>
              <p:spPr>
                <a:xfrm>
                  <a:off x="887390" y="3089029"/>
                  <a:ext cx="4867284" cy="464294"/>
                </a:xfrm>
                <a:prstGeom prst="rect">
                  <a:avLst/>
                </a:prstGeom>
                <a:blipFill>
                  <a:blip r:embed="rId3"/>
                  <a:stretch>
                    <a:fillRect b="-15789"/>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 11">
                  <a:extLst>
                    <a:ext uri="{FF2B5EF4-FFF2-40B4-BE49-F238E27FC236}">
                      <a16:creationId xmlns:a16="http://schemas.microsoft.com/office/drawing/2014/main" id="{60D7E5D4-4B15-F22F-F81C-D65DB29EC1D4}"/>
                    </a:ext>
                  </a:extLst>
                </p:cNvPr>
                <p:cNvSpPr/>
                <p:nvPr/>
              </p:nvSpPr>
              <p:spPr>
                <a:xfrm>
                  <a:off x="852800" y="5397837"/>
                  <a:ext cx="4972757" cy="1317708"/>
                </a:xfrm>
                <a:prstGeom prst="rect">
                  <a:avLst/>
                </a:prstGeom>
                <a:noFill/>
                <a:ln/>
              </p:spPr>
              <p:txBody>
                <a:bodyPr wrap="square" lIns="0" tIns="0" rIns="0" bIns="0" rtlCol="0" anchor="t">
                  <a:noAutofit/>
                </a:bodyPr>
                <a:lstStyle/>
                <a:p>
                  <a:pPr>
                    <a:lnSpc>
                      <a:spcPct val="145000"/>
                    </a:lnSpc>
                  </a:pPr>
                  <a:r>
                    <a:rPr lang="en-US" sz="2000"/>
                    <a:t>Chia </a:t>
                  </a:r>
                  <a:r>
                    <a:rPr lang="en-US" sz="2000" b="1"/>
                    <a:t>logits</a:t>
                  </a:r>
                  <a:r>
                    <a:rPr lang="en-US" sz="2000"/>
                    <a:t> cho một hệ số nhiệt độ duy nhất </a:t>
                  </a:r>
                  <a14:m>
                    <m:oMath xmlns:m="http://schemas.openxmlformats.org/officeDocument/2006/math">
                      <m:r>
                        <a:rPr lang="en-US" i="1">
                          <a:latin typeface="Cambria Math" panose="02040503050406030204" pitchFamily="18" charset="0"/>
                        </a:rPr>
                        <m:t>𝑇</m:t>
                      </m:r>
                    </m:oMath>
                  </a14:m>
                  <a:endParaRPr lang="en-US"/>
                </a:p>
                <a:p>
                  <a:pPr>
                    <a:lnSpc>
                      <a:spcPct val="145000"/>
                    </a:lnSpc>
                  </a:pPr>
                  <a:r>
                    <a:rPr lang="en-US" sz="2000">
                      <a:latin typeface="+mj-lt"/>
                      <a:ea typeface="Georgia" pitchFamily="34" charset="-122"/>
                      <a:cs typeface="Georgia" pitchFamily="34" charset="-120"/>
                    </a:rPr>
                    <a:t> =&gt; </a:t>
                  </a:r>
                  <a:r>
                    <a:rPr lang="en-US" sz="2000" b="1">
                      <a:latin typeface="+mj-lt"/>
                      <a:ea typeface="Georgia" pitchFamily="34" charset="-122"/>
                      <a:cs typeface="Georgia" pitchFamily="34" charset="-120"/>
                    </a:rPr>
                    <a:t>Ngưỡng </a:t>
                  </a:r>
                  <a:r>
                    <a:rPr lang="en-US" sz="2000" b="1" err="1">
                      <a:latin typeface="+mj-lt"/>
                      <a:ea typeface="Georgia" pitchFamily="34" charset="-122"/>
                      <a:cs typeface="Georgia" pitchFamily="34" charset="-120"/>
                    </a:rPr>
                    <a:t>quyết</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định</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ổn</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định</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hơn</a:t>
                  </a:r>
                  <a:r>
                    <a:rPr lang="en-US" sz="2000" b="1">
                      <a:latin typeface="+mj-lt"/>
                      <a:ea typeface="Georgia" pitchFamily="34" charset="-122"/>
                      <a:cs typeface="Georgia" pitchFamily="34" charset="-120"/>
                    </a:rPr>
                    <a:t>.</a:t>
                  </a:r>
                  <a:endParaRPr lang="en-US" sz="2000" b="1">
                    <a:latin typeface="+mj-lt"/>
                  </a:endParaRPr>
                </a:p>
              </p:txBody>
            </p:sp>
          </mc:Choice>
          <mc:Fallback xmlns="">
            <p:sp>
              <p:nvSpPr>
                <p:cNvPr id="17" name="Text 11">
                  <a:extLst>
                    <a:ext uri="{FF2B5EF4-FFF2-40B4-BE49-F238E27FC236}">
                      <a16:creationId xmlns:a16="http://schemas.microsoft.com/office/drawing/2014/main" id="{60D7E5D4-4B15-F22F-F81C-D65DB29EC1D4}"/>
                    </a:ext>
                  </a:extLst>
                </p:cNvPr>
                <p:cNvSpPr>
                  <a:spLocks noRot="1" noChangeAspect="1" noMove="1" noResize="1" noEditPoints="1" noAdjustHandles="1" noChangeArrowheads="1" noChangeShapeType="1" noTextEdit="1"/>
                </p:cNvSpPr>
                <p:nvPr/>
              </p:nvSpPr>
              <p:spPr>
                <a:xfrm>
                  <a:off x="852800" y="5397837"/>
                  <a:ext cx="4972757" cy="1317708"/>
                </a:xfrm>
                <a:prstGeom prst="rect">
                  <a:avLst/>
                </a:prstGeom>
                <a:blipFill>
                  <a:blip r:embed="rId4"/>
                  <a:stretch>
                    <a:fillRect l="-3186"/>
                  </a:stretch>
                </a:blipFill>
                <a:ln/>
              </p:spPr>
              <p:txBody>
                <a:bodyPr/>
                <a:lstStyle/>
                <a:p>
                  <a:r>
                    <a:rPr lang="en-US">
                      <a:noFill/>
                    </a:rPr>
                    <a:t> </a:t>
                  </a:r>
                </a:p>
              </p:txBody>
            </p:sp>
          </mc:Fallback>
        </mc:AlternateContent>
        <p:sp>
          <p:nvSpPr>
            <p:cNvPr id="29" name="Text 12">
              <a:extLst>
                <a:ext uri="{FF2B5EF4-FFF2-40B4-BE49-F238E27FC236}">
                  <a16:creationId xmlns:a16="http://schemas.microsoft.com/office/drawing/2014/main" id="{084DB12F-D590-7D7C-22FD-A03F8B620EFF}"/>
                </a:ext>
              </a:extLst>
            </p:cNvPr>
            <p:cNvSpPr/>
            <p:nvPr/>
          </p:nvSpPr>
          <p:spPr>
            <a:xfrm>
              <a:off x="1767140" y="5325140"/>
              <a:ext cx="2663346" cy="229541"/>
            </a:xfrm>
            <a:prstGeom prst="rect">
              <a:avLst/>
            </a:prstGeom>
            <a:noFill/>
            <a:ln/>
          </p:spPr>
          <p:txBody>
            <a:bodyPr wrap="square" lIns="16933" tIns="16933" rIns="16933" bIns="16933" rtlCol="0" anchor="t">
              <a:noAutofit/>
            </a:bodyPr>
            <a:lstStyle/>
            <a:p>
              <a:pPr>
                <a:lnSpc>
                  <a:spcPct val="145000"/>
                </a:lnSpc>
              </a:pPr>
              <a:endParaRPr lang="en-US" sz="1100">
                <a:latin typeface="+mj-lt"/>
              </a:endParaRPr>
            </a:p>
          </p:txBody>
        </p:sp>
        <p:sp>
          <p:nvSpPr>
            <p:cNvPr id="30" name="Shape 14">
              <a:extLst>
                <a:ext uri="{FF2B5EF4-FFF2-40B4-BE49-F238E27FC236}">
                  <a16:creationId xmlns:a16="http://schemas.microsoft.com/office/drawing/2014/main" id="{1F7FCD74-40A9-479A-78BE-FB52657F5106}"/>
                </a:ext>
              </a:extLst>
            </p:cNvPr>
            <p:cNvSpPr/>
            <p:nvPr/>
          </p:nvSpPr>
          <p:spPr>
            <a:xfrm>
              <a:off x="6248346" y="2340481"/>
              <a:ext cx="5245154" cy="4466713"/>
            </a:xfrm>
            <a:prstGeom prst="roundRect">
              <a:avLst>
                <a:gd name="adj" fmla="val 676"/>
              </a:avLst>
            </a:prstGeom>
            <a:solidFill>
              <a:srgbClr val="FFFFFF"/>
            </a:solidFill>
            <a:ln w="8659">
              <a:solidFill>
                <a:srgbClr val="D8D0BF"/>
              </a:solidFill>
              <a:prstDash val="solid"/>
            </a:ln>
          </p:spPr>
          <p:txBody>
            <a:bodyPr/>
            <a:lstStyle/>
            <a:p>
              <a:endParaRPr lang="en-US" sz="1400">
                <a:latin typeface="+mj-lt"/>
              </a:endParaRPr>
            </a:p>
          </p:txBody>
        </p:sp>
        <p:sp>
          <p:nvSpPr>
            <p:cNvPr id="31" name="Text 15">
              <a:extLst>
                <a:ext uri="{FF2B5EF4-FFF2-40B4-BE49-F238E27FC236}">
                  <a16:creationId xmlns:a16="http://schemas.microsoft.com/office/drawing/2014/main" id="{701E06A1-E550-F42F-3C05-CFE87AD6DCE4}"/>
                </a:ext>
              </a:extLst>
            </p:cNvPr>
            <p:cNvSpPr/>
            <p:nvPr/>
          </p:nvSpPr>
          <p:spPr>
            <a:xfrm>
              <a:off x="6508117" y="2427785"/>
              <a:ext cx="4867377" cy="297215"/>
            </a:xfrm>
            <a:prstGeom prst="rect">
              <a:avLst/>
            </a:prstGeom>
            <a:noFill/>
            <a:ln/>
          </p:spPr>
          <p:txBody>
            <a:bodyPr wrap="square" lIns="16933" tIns="16933" rIns="16933" bIns="16933" rtlCol="0" anchor="t">
              <a:noAutofit/>
            </a:bodyPr>
            <a:lstStyle/>
            <a:p>
              <a:r>
                <a:rPr lang="en-US" sz="2000" kern="0" spc="264">
                  <a:latin typeface="+mj-lt"/>
                  <a:ea typeface="Georgia" pitchFamily="34" charset="-122"/>
                  <a:cs typeface="Georgia" pitchFamily="34" charset="-120"/>
                </a:rPr>
                <a:t>B · GAUSSIAN SMOOTHING</a:t>
              </a:r>
              <a:endParaRPr lang="en-US" sz="2000">
                <a:latin typeface="+mj-lt"/>
              </a:endParaRPr>
            </a:p>
          </p:txBody>
        </p:sp>
        <p:sp>
          <p:nvSpPr>
            <p:cNvPr id="32" name="Text 16">
              <a:extLst>
                <a:ext uri="{FF2B5EF4-FFF2-40B4-BE49-F238E27FC236}">
                  <a16:creationId xmlns:a16="http://schemas.microsoft.com/office/drawing/2014/main" id="{555BF705-A119-857E-5710-C8D229B3B972}"/>
                </a:ext>
              </a:extLst>
            </p:cNvPr>
            <p:cNvSpPr/>
            <p:nvPr/>
          </p:nvSpPr>
          <p:spPr>
            <a:xfrm>
              <a:off x="6508116" y="2786165"/>
              <a:ext cx="4867377" cy="259015"/>
            </a:xfrm>
            <a:prstGeom prst="rect">
              <a:avLst/>
            </a:prstGeom>
            <a:noFill/>
            <a:ln/>
          </p:spPr>
          <p:txBody>
            <a:bodyPr wrap="square" lIns="16933" tIns="16933" rIns="16933" bIns="16933" rtlCol="0" anchor="t">
              <a:noAutofit/>
            </a:bodyPr>
            <a:lstStyle/>
            <a:p>
              <a:pPr>
                <a:lnSpc>
                  <a:spcPct val="115000"/>
                </a:lnSpc>
              </a:pPr>
              <a:r>
                <a:rPr lang="en-US" sz="2000" i="1">
                  <a:latin typeface="+mj-lt"/>
                  <a:ea typeface="Georgia" pitchFamily="34" charset="-122"/>
                  <a:cs typeface="Georgia" pitchFamily="34" charset="-120"/>
                </a:rPr>
                <a:t>Triệt tiêu nhiễu đơn lẻ</a:t>
              </a:r>
              <a:endParaRPr lang="en-US" sz="2000">
                <a:latin typeface="+mj-lt"/>
              </a:endParaRPr>
            </a:p>
          </p:txBody>
        </p:sp>
        <p:sp>
          <p:nvSpPr>
            <p:cNvPr id="33" name="Text 17">
              <a:extLst>
                <a:ext uri="{FF2B5EF4-FFF2-40B4-BE49-F238E27FC236}">
                  <a16:creationId xmlns:a16="http://schemas.microsoft.com/office/drawing/2014/main" id="{CED32AF4-6296-8CA8-75E7-E89A5E150258}"/>
                </a:ext>
              </a:extLst>
            </p:cNvPr>
            <p:cNvSpPr/>
            <p:nvPr/>
          </p:nvSpPr>
          <p:spPr>
            <a:xfrm>
              <a:off x="6437233" y="3175729"/>
              <a:ext cx="4867377" cy="276947"/>
            </a:xfrm>
            <a:prstGeom prst="rect">
              <a:avLst/>
            </a:prstGeom>
            <a:noFill/>
            <a:ln/>
          </p:spPr>
          <p:txBody>
            <a:bodyPr wrap="square" lIns="16933" tIns="16933" rIns="16933" bIns="16933" rtlCol="0" anchor="t">
              <a:noAutofit/>
            </a:bodyPr>
            <a:lstStyle/>
            <a:p>
              <a:pPr algn="ctr"/>
              <a:r>
                <a:rPr lang="en-US" sz="2000">
                  <a:latin typeface="+mj-lt"/>
                  <a:ea typeface="Georgia" pitchFamily="34" charset="-122"/>
                  <a:cs typeface="Georgia" pitchFamily="34" charset="-120"/>
                </a:rPr>
                <a:t>p̃ = G</a:t>
              </a:r>
              <a:r>
                <a:rPr lang="en-US" sz="2000" baseline="-40000">
                  <a:latin typeface="+mj-lt"/>
                  <a:ea typeface="Georgia" pitchFamily="34" charset="-122"/>
                  <a:cs typeface="Georgia" pitchFamily="34" charset="-120"/>
                </a:rPr>
                <a:t>σ </a:t>
              </a:r>
              <a:r>
                <a:rPr lang="en-US" sz="2000">
                  <a:latin typeface="+mj-lt"/>
                  <a:ea typeface="Georgia" pitchFamily="34" charset="-122"/>
                  <a:cs typeface="Georgia" pitchFamily="34" charset="-120"/>
                </a:rPr>
                <a:t>∗ p</a:t>
              </a:r>
              <a:endParaRPr lang="en-US" sz="2000">
                <a:latin typeface="+mj-lt"/>
              </a:endParaRPr>
            </a:p>
          </p:txBody>
        </p:sp>
        <p:sp>
          <p:nvSpPr>
            <p:cNvPr id="35" name="Text 18">
              <a:extLst>
                <a:ext uri="{FF2B5EF4-FFF2-40B4-BE49-F238E27FC236}">
                  <a16:creationId xmlns:a16="http://schemas.microsoft.com/office/drawing/2014/main" id="{189D6FA3-9515-E2CC-7BC2-EB614193AE83}"/>
                </a:ext>
              </a:extLst>
            </p:cNvPr>
            <p:cNvSpPr/>
            <p:nvPr/>
          </p:nvSpPr>
          <p:spPr>
            <a:xfrm>
              <a:off x="6354692" y="5409957"/>
              <a:ext cx="5174223" cy="1007819"/>
            </a:xfrm>
            <a:prstGeom prst="rect">
              <a:avLst/>
            </a:prstGeom>
            <a:noFill/>
            <a:ln/>
          </p:spPr>
          <p:txBody>
            <a:bodyPr wrap="square" lIns="0" tIns="0" rIns="0" bIns="0" rtlCol="0" anchor="t">
              <a:noAutofit/>
            </a:bodyPr>
            <a:lstStyle/>
            <a:p>
              <a:pPr>
                <a:lnSpc>
                  <a:spcPct val="145000"/>
                </a:lnSpc>
              </a:pPr>
              <a:r>
                <a:rPr lang="en-US" sz="2000">
                  <a:latin typeface="+mj-lt"/>
                  <a:ea typeface="Georgia" pitchFamily="34" charset="-122"/>
                  <a:cs typeface="Georgia" pitchFamily="34" charset="-120"/>
                </a:rPr>
                <a:t>Bộ lọc Gauss nhỏ làm mượt chuỗi xác suất.</a:t>
              </a:r>
            </a:p>
            <a:p>
              <a:pPr>
                <a:lnSpc>
                  <a:spcPct val="145000"/>
                </a:lnSpc>
              </a:pPr>
              <a:r>
                <a:rPr lang="en-US" sz="2000">
                  <a:latin typeface="+mj-lt"/>
                  <a:ea typeface="Georgia" pitchFamily="34" charset="-122"/>
                  <a:cs typeface="Georgia" pitchFamily="34" charset="-120"/>
                </a:rPr>
                <a:t>=&gt; </a:t>
              </a:r>
              <a:r>
                <a:rPr lang="en-US" sz="2000" b="1">
                  <a:latin typeface="+mj-lt"/>
                  <a:ea typeface="Georgia" pitchFamily="34" charset="-122"/>
                  <a:cs typeface="Georgia" pitchFamily="34" charset="-120"/>
                </a:rPr>
                <a:t>Triệt </a:t>
              </a:r>
              <a:r>
                <a:rPr lang="en-US" sz="2000" b="1" err="1">
                  <a:latin typeface="+mj-lt"/>
                  <a:ea typeface="Georgia" pitchFamily="34" charset="-122"/>
                  <a:cs typeface="Georgia" pitchFamily="34" charset="-120"/>
                </a:rPr>
                <a:t>tiêu</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đỉnh</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cô</a:t>
              </a:r>
              <a:r>
                <a:rPr lang="en-US" sz="2000" b="1">
                  <a:latin typeface="+mj-lt"/>
                  <a:ea typeface="Georgia" pitchFamily="34" charset="-122"/>
                  <a:cs typeface="Georgia" pitchFamily="34" charset="-120"/>
                </a:rPr>
                <a:t> </a:t>
              </a:r>
              <a:r>
                <a:rPr lang="en-US" sz="2000" b="1" err="1">
                  <a:latin typeface="+mj-lt"/>
                  <a:ea typeface="Georgia" pitchFamily="34" charset="-122"/>
                  <a:cs typeface="Georgia" pitchFamily="34" charset="-120"/>
                </a:rPr>
                <a:t>lập</a:t>
              </a:r>
              <a:r>
                <a:rPr lang="en-US" sz="2000" b="1">
                  <a:latin typeface="+mj-lt"/>
                  <a:ea typeface="Georgia" pitchFamily="34" charset="-122"/>
                  <a:cs typeface="Georgia" pitchFamily="34" charset="-120"/>
                </a:rPr>
                <a:t> do flash </a:t>
              </a:r>
              <a:r>
                <a:rPr lang="en-US" sz="2000" b="1" err="1">
                  <a:latin typeface="+mj-lt"/>
                  <a:ea typeface="Georgia" pitchFamily="34" charset="-122"/>
                  <a:cs typeface="Georgia" pitchFamily="34" charset="-120"/>
                </a:rPr>
                <a:t>hoặc</a:t>
              </a:r>
              <a:r>
                <a:rPr lang="en-US" sz="2000" b="1">
                  <a:latin typeface="+mj-lt"/>
                  <a:ea typeface="Georgia" pitchFamily="34" charset="-122"/>
                  <a:cs typeface="Georgia" pitchFamily="34" charset="-120"/>
                </a:rPr>
                <a:t> rung </a:t>
              </a:r>
              <a:r>
                <a:rPr lang="en-US" sz="2000" b="1" err="1">
                  <a:latin typeface="+mj-lt"/>
                  <a:ea typeface="Georgia" pitchFamily="34" charset="-122"/>
                  <a:cs typeface="Georgia" pitchFamily="34" charset="-120"/>
                </a:rPr>
                <a:t>lắc</a:t>
              </a:r>
              <a:r>
                <a:rPr lang="en-US" sz="2000" b="1">
                  <a:latin typeface="+mj-lt"/>
                  <a:ea typeface="Georgia" pitchFamily="34" charset="-122"/>
                  <a:cs typeface="Georgia" pitchFamily="34" charset="-120"/>
                </a:rPr>
                <a:t>.</a:t>
              </a:r>
              <a:endParaRPr lang="en-US" sz="2000" b="1">
                <a:latin typeface="+mj-lt"/>
              </a:endParaRPr>
            </a:p>
          </p:txBody>
        </p:sp>
        <p:pic>
          <p:nvPicPr>
            <p:cNvPr id="16" name="Picture 15">
              <a:extLst>
                <a:ext uri="{FF2B5EF4-FFF2-40B4-BE49-F238E27FC236}">
                  <a16:creationId xmlns:a16="http://schemas.microsoft.com/office/drawing/2014/main" id="{98FB53D0-9C2F-0A14-C715-5FCC4EE966D0}"/>
                </a:ext>
              </a:extLst>
            </p:cNvPr>
            <p:cNvPicPr>
              <a:picLocks noChangeAspect="1"/>
            </p:cNvPicPr>
            <p:nvPr/>
          </p:nvPicPr>
          <p:blipFill>
            <a:blip r:embed="rId5"/>
            <a:srcRect l="3289" t="11914" r="11646" b="11831"/>
            <a:stretch>
              <a:fillRect/>
            </a:stretch>
          </p:blipFill>
          <p:spPr>
            <a:xfrm>
              <a:off x="6555206" y="3583226"/>
              <a:ext cx="4631431" cy="1855715"/>
            </a:xfrm>
            <a:prstGeom prst="rect">
              <a:avLst/>
            </a:prstGeom>
          </p:spPr>
        </p:pic>
        <p:pic>
          <p:nvPicPr>
            <p:cNvPr id="19" name="Picture 18">
              <a:extLst>
                <a:ext uri="{FF2B5EF4-FFF2-40B4-BE49-F238E27FC236}">
                  <a16:creationId xmlns:a16="http://schemas.microsoft.com/office/drawing/2014/main" id="{479E838E-AEA1-372D-25AC-E84785324E63}"/>
                </a:ext>
              </a:extLst>
            </p:cNvPr>
            <p:cNvPicPr>
              <a:picLocks noChangeAspect="1"/>
            </p:cNvPicPr>
            <p:nvPr/>
          </p:nvPicPr>
          <p:blipFill>
            <a:blip r:embed="rId6"/>
            <a:srcRect t="12502" r="15165" b="13936"/>
            <a:stretch>
              <a:fillRect/>
            </a:stretch>
          </p:blipFill>
          <p:spPr>
            <a:xfrm>
              <a:off x="1011959" y="3635759"/>
              <a:ext cx="4759911" cy="1675717"/>
            </a:xfrm>
            <a:prstGeom prst="rect">
              <a:avLst/>
            </a:prstGeom>
          </p:spPr>
        </p:pic>
      </p:grpSp>
    </p:spTree>
    <p:extLst>
      <p:ext uri="{BB962C8B-B14F-4D97-AF65-F5344CB8AC3E}">
        <p14:creationId xmlns:p14="http://schemas.microsoft.com/office/powerpoint/2010/main" val="1466977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B365D"/>
                </a:solidFill>
                <a:latin typeface="+mj-lt"/>
              </a:rPr>
              <a:t>Bộ dữ liệu SHOT</a:t>
            </a: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17 / 25</a:t>
            </a:r>
          </a:p>
        </p:txBody>
      </p:sp>
      <p:pic>
        <p:nvPicPr>
          <p:cNvPr id="10" name="Picture 9" descr="Anh41.png"/>
          <p:cNvPicPr>
            <a:picLocks noChangeAspect="1"/>
          </p:cNvPicPr>
          <p:nvPr/>
        </p:nvPicPr>
        <p:blipFill>
          <a:blip r:embed="rId3"/>
          <a:stretch>
            <a:fillRect/>
          </a:stretch>
        </p:blipFill>
        <p:spPr>
          <a:xfrm>
            <a:off x="1613915" y="1411167"/>
            <a:ext cx="3678937" cy="5041507"/>
          </a:xfrm>
          <a:prstGeom prst="rect">
            <a:avLst/>
          </a:prstGeom>
        </p:spPr>
      </p:pic>
      <p:sp>
        <p:nvSpPr>
          <p:cNvPr id="11" name="Rounded Rectangle 10"/>
          <p:cNvSpPr/>
          <p:nvPr/>
        </p:nvSpPr>
        <p:spPr>
          <a:xfrm>
            <a:off x="6198525" y="1810328"/>
            <a:ext cx="4572000" cy="777240"/>
          </a:xfrm>
          <a:prstGeom prst="roundRect">
            <a:avLst>
              <a:gd name="adj" fmla="val 12000"/>
            </a:avLst>
          </a:prstGeom>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2" name="TextBox 11"/>
          <p:cNvSpPr txBox="1"/>
          <p:nvPr/>
        </p:nvSpPr>
        <p:spPr>
          <a:xfrm>
            <a:off x="6381405" y="1947488"/>
            <a:ext cx="1828800" cy="307777"/>
          </a:xfrm>
          <a:prstGeom prst="rect">
            <a:avLst/>
          </a:prstGeom>
          <a:noFill/>
        </p:spPr>
        <p:txBody>
          <a:bodyPr wrap="square" lIns="0" tIns="0" rIns="0" bIns="0" anchor="t">
            <a:spAutoFit/>
          </a:bodyPr>
          <a:lstStyle/>
          <a:p>
            <a:pPr algn="l"/>
            <a:r>
              <a:rPr sz="2000" b="1">
                <a:solidFill>
                  <a:srgbClr val="0891B2"/>
                </a:solidFill>
                <a:latin typeface="+mj-lt"/>
              </a:rPr>
              <a:t>853</a:t>
            </a:r>
          </a:p>
        </p:txBody>
      </p:sp>
      <p:sp>
        <p:nvSpPr>
          <p:cNvPr id="13" name="TextBox 12"/>
          <p:cNvSpPr txBox="1"/>
          <p:nvPr/>
        </p:nvSpPr>
        <p:spPr>
          <a:xfrm>
            <a:off x="8301645" y="2011496"/>
            <a:ext cx="2377440" cy="307777"/>
          </a:xfrm>
          <a:prstGeom prst="rect">
            <a:avLst/>
          </a:prstGeom>
          <a:noFill/>
        </p:spPr>
        <p:txBody>
          <a:bodyPr wrap="square" lIns="0" tIns="0" rIns="0" bIns="0" anchor="t">
            <a:spAutoFit/>
          </a:bodyPr>
          <a:lstStyle/>
          <a:p>
            <a:pPr algn="l"/>
            <a:r>
              <a:rPr sz="2000" b="0">
                <a:solidFill>
                  <a:srgbClr val="1B365D"/>
                </a:solidFill>
                <a:latin typeface="+mj-lt"/>
              </a:rPr>
              <a:t>video</a:t>
            </a:r>
          </a:p>
        </p:txBody>
      </p:sp>
      <p:sp>
        <p:nvSpPr>
          <p:cNvPr id="14" name="Rounded Rectangle 13"/>
          <p:cNvSpPr/>
          <p:nvPr/>
        </p:nvSpPr>
        <p:spPr>
          <a:xfrm>
            <a:off x="6198525" y="2679008"/>
            <a:ext cx="4572000" cy="777240"/>
          </a:xfrm>
          <a:prstGeom prst="roundRect">
            <a:avLst>
              <a:gd name="adj" fmla="val 12000"/>
            </a:avLst>
          </a:prstGeom>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5" name="TextBox 14"/>
          <p:cNvSpPr txBox="1"/>
          <p:nvPr/>
        </p:nvSpPr>
        <p:spPr>
          <a:xfrm>
            <a:off x="6381405" y="2816168"/>
            <a:ext cx="1828800" cy="307777"/>
          </a:xfrm>
          <a:prstGeom prst="rect">
            <a:avLst/>
          </a:prstGeom>
          <a:noFill/>
        </p:spPr>
        <p:txBody>
          <a:bodyPr wrap="square" lIns="0" tIns="0" rIns="0" bIns="0" anchor="t">
            <a:spAutoFit/>
          </a:bodyPr>
          <a:lstStyle/>
          <a:p>
            <a:pPr algn="l"/>
            <a:r>
              <a:rPr sz="2000" b="1">
                <a:solidFill>
                  <a:srgbClr val="0891B2"/>
                </a:solidFill>
                <a:latin typeface="+mj-lt"/>
              </a:rPr>
              <a:t>11.606</a:t>
            </a:r>
          </a:p>
        </p:txBody>
      </p:sp>
      <p:sp>
        <p:nvSpPr>
          <p:cNvPr id="16" name="TextBox 15"/>
          <p:cNvSpPr txBox="1"/>
          <p:nvPr/>
        </p:nvSpPr>
        <p:spPr>
          <a:xfrm>
            <a:off x="8301645" y="2880176"/>
            <a:ext cx="2377440" cy="307777"/>
          </a:xfrm>
          <a:prstGeom prst="rect">
            <a:avLst/>
          </a:prstGeom>
          <a:noFill/>
        </p:spPr>
        <p:txBody>
          <a:bodyPr wrap="square" lIns="0" tIns="0" rIns="0" bIns="0" anchor="t">
            <a:spAutoFit/>
          </a:bodyPr>
          <a:lstStyle/>
          <a:p>
            <a:pPr algn="l"/>
            <a:r>
              <a:rPr sz="2000" b="0">
                <a:solidFill>
                  <a:srgbClr val="1B365D"/>
                </a:solidFill>
                <a:latin typeface="+mj-lt"/>
              </a:rPr>
              <a:t>nhãn </a:t>
            </a:r>
            <a:r>
              <a:rPr lang="en-US" sz="2000" b="0">
                <a:solidFill>
                  <a:srgbClr val="1B365D"/>
                </a:solidFill>
                <a:latin typeface="+mj-lt"/>
              </a:rPr>
              <a:t>chuyển</a:t>
            </a:r>
            <a:endParaRPr sz="2000" b="0">
              <a:solidFill>
                <a:srgbClr val="1B365D"/>
              </a:solidFill>
              <a:latin typeface="+mj-lt"/>
            </a:endParaRPr>
          </a:p>
        </p:txBody>
      </p:sp>
      <p:sp>
        <p:nvSpPr>
          <p:cNvPr id="17" name="Rounded Rectangle 16"/>
          <p:cNvSpPr/>
          <p:nvPr/>
        </p:nvSpPr>
        <p:spPr>
          <a:xfrm>
            <a:off x="6198525" y="3547688"/>
            <a:ext cx="4572000" cy="777240"/>
          </a:xfrm>
          <a:prstGeom prst="roundRect">
            <a:avLst>
              <a:gd name="adj" fmla="val 12000"/>
            </a:avLst>
          </a:prstGeom>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8" name="TextBox 17"/>
          <p:cNvSpPr txBox="1"/>
          <p:nvPr/>
        </p:nvSpPr>
        <p:spPr>
          <a:xfrm>
            <a:off x="6381405" y="3684848"/>
            <a:ext cx="1828800" cy="307777"/>
          </a:xfrm>
          <a:prstGeom prst="rect">
            <a:avLst/>
          </a:prstGeom>
          <a:noFill/>
        </p:spPr>
        <p:txBody>
          <a:bodyPr wrap="square" lIns="0" tIns="0" rIns="0" bIns="0" anchor="t">
            <a:spAutoFit/>
          </a:bodyPr>
          <a:lstStyle/>
          <a:p>
            <a:pPr algn="l"/>
            <a:r>
              <a:rPr sz="2000" b="1">
                <a:solidFill>
                  <a:srgbClr val="0891B2"/>
                </a:solidFill>
                <a:latin typeface="+mj-lt"/>
              </a:rPr>
              <a:t>960.794</a:t>
            </a:r>
          </a:p>
        </p:txBody>
      </p:sp>
      <p:sp>
        <p:nvSpPr>
          <p:cNvPr id="19" name="TextBox 18"/>
          <p:cNvSpPr txBox="1"/>
          <p:nvPr/>
        </p:nvSpPr>
        <p:spPr>
          <a:xfrm>
            <a:off x="8301645" y="3748856"/>
            <a:ext cx="2377440" cy="307777"/>
          </a:xfrm>
          <a:prstGeom prst="rect">
            <a:avLst/>
          </a:prstGeom>
          <a:noFill/>
        </p:spPr>
        <p:txBody>
          <a:bodyPr wrap="square" lIns="0" tIns="0" rIns="0" bIns="0" anchor="t">
            <a:spAutoFit/>
          </a:bodyPr>
          <a:lstStyle/>
          <a:p>
            <a:pPr algn="l"/>
            <a:r>
              <a:rPr sz="2000" b="0">
                <a:solidFill>
                  <a:srgbClr val="1B365D"/>
                </a:solidFill>
                <a:latin typeface="+mj-lt"/>
              </a:rPr>
              <a:t>khung hình</a:t>
            </a:r>
          </a:p>
        </p:txBody>
      </p:sp>
      <p:sp>
        <p:nvSpPr>
          <p:cNvPr id="20" name="Rounded Rectangle 19"/>
          <p:cNvSpPr/>
          <p:nvPr/>
        </p:nvSpPr>
        <p:spPr>
          <a:xfrm>
            <a:off x="6198525" y="4416368"/>
            <a:ext cx="4572000" cy="777240"/>
          </a:xfrm>
          <a:prstGeom prst="roundRect">
            <a:avLst>
              <a:gd name="adj" fmla="val 12000"/>
            </a:avLst>
          </a:prstGeom>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21" name="TextBox 20"/>
          <p:cNvSpPr txBox="1"/>
          <p:nvPr/>
        </p:nvSpPr>
        <p:spPr>
          <a:xfrm>
            <a:off x="6381405" y="4553528"/>
            <a:ext cx="1828800" cy="307777"/>
          </a:xfrm>
          <a:prstGeom prst="rect">
            <a:avLst/>
          </a:prstGeom>
          <a:noFill/>
        </p:spPr>
        <p:txBody>
          <a:bodyPr wrap="square" lIns="0" tIns="0" rIns="0" bIns="0" anchor="t">
            <a:spAutoFit/>
          </a:bodyPr>
          <a:lstStyle/>
          <a:p>
            <a:pPr algn="l"/>
            <a:r>
              <a:rPr sz="2000" b="1">
                <a:solidFill>
                  <a:srgbClr val="0891B2"/>
                </a:solidFill>
                <a:latin typeface="+mj-lt"/>
              </a:rPr>
              <a:t>39,5 s</a:t>
            </a:r>
          </a:p>
        </p:txBody>
      </p:sp>
      <p:sp>
        <p:nvSpPr>
          <p:cNvPr id="22" name="TextBox 21"/>
          <p:cNvSpPr txBox="1"/>
          <p:nvPr/>
        </p:nvSpPr>
        <p:spPr>
          <a:xfrm>
            <a:off x="8301645" y="4617536"/>
            <a:ext cx="2377440" cy="307777"/>
          </a:xfrm>
          <a:prstGeom prst="rect">
            <a:avLst/>
          </a:prstGeom>
          <a:noFill/>
        </p:spPr>
        <p:txBody>
          <a:bodyPr wrap="square" lIns="0" tIns="0" rIns="0" bIns="0" anchor="t">
            <a:spAutoFit/>
          </a:bodyPr>
          <a:lstStyle/>
          <a:p>
            <a:pPr algn="l"/>
            <a:r>
              <a:rPr sz="2000" b="0">
                <a:solidFill>
                  <a:srgbClr val="1B365D"/>
                </a:solidFill>
                <a:latin typeface="+mj-lt"/>
              </a:rPr>
              <a:t>độ dài video TB</a:t>
            </a:r>
          </a:p>
        </p:txBody>
      </p:sp>
      <p:sp>
        <p:nvSpPr>
          <p:cNvPr id="23" name="Rounded Rectangle 22"/>
          <p:cNvSpPr/>
          <p:nvPr/>
        </p:nvSpPr>
        <p:spPr>
          <a:xfrm>
            <a:off x="6198525" y="5285048"/>
            <a:ext cx="4572000" cy="777240"/>
          </a:xfrm>
          <a:prstGeom prst="roundRect">
            <a:avLst>
              <a:gd name="adj" fmla="val 12000"/>
            </a:avLst>
          </a:prstGeom>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24" name="TextBox 23"/>
          <p:cNvSpPr txBox="1"/>
          <p:nvPr/>
        </p:nvSpPr>
        <p:spPr>
          <a:xfrm>
            <a:off x="6381405" y="5422208"/>
            <a:ext cx="1828800" cy="307777"/>
          </a:xfrm>
          <a:prstGeom prst="rect">
            <a:avLst/>
          </a:prstGeom>
          <a:noFill/>
        </p:spPr>
        <p:txBody>
          <a:bodyPr wrap="square" lIns="0" tIns="0" rIns="0" bIns="0" anchor="t">
            <a:spAutoFit/>
          </a:bodyPr>
          <a:lstStyle/>
          <a:p>
            <a:pPr algn="l"/>
            <a:r>
              <a:rPr sz="2000" b="1">
                <a:solidFill>
                  <a:srgbClr val="0891B2"/>
                </a:solidFill>
                <a:latin typeface="+mj-lt"/>
              </a:rPr>
              <a:t>2,59 s</a:t>
            </a:r>
          </a:p>
        </p:txBody>
      </p:sp>
      <p:sp>
        <p:nvSpPr>
          <p:cNvPr id="25" name="TextBox 24"/>
          <p:cNvSpPr txBox="1"/>
          <p:nvPr/>
        </p:nvSpPr>
        <p:spPr>
          <a:xfrm>
            <a:off x="8301645" y="5486216"/>
            <a:ext cx="2377440" cy="307777"/>
          </a:xfrm>
          <a:prstGeom prst="rect">
            <a:avLst/>
          </a:prstGeom>
          <a:noFill/>
        </p:spPr>
        <p:txBody>
          <a:bodyPr wrap="square" lIns="0" tIns="0" rIns="0" bIns="0" anchor="t">
            <a:spAutoFit/>
          </a:bodyPr>
          <a:lstStyle/>
          <a:p>
            <a:pPr algn="l"/>
            <a:r>
              <a:rPr sz="2000" b="0">
                <a:solidFill>
                  <a:srgbClr val="1B365D"/>
                </a:solidFill>
                <a:latin typeface="+mj-lt"/>
              </a:rPr>
              <a:t>độ dài shot TB</a:t>
            </a:r>
          </a:p>
        </p:txBody>
      </p:sp>
      <p:sp>
        <p:nvSpPr>
          <p:cNvPr id="8" name="TextBox 7">
            <a:extLst>
              <a:ext uri="{FF2B5EF4-FFF2-40B4-BE49-F238E27FC236}">
                <a16:creationId xmlns:a16="http://schemas.microsoft.com/office/drawing/2014/main" id="{04A7960C-8EAD-7EE1-28AE-56737EEBDBBA}"/>
              </a:ext>
            </a:extLst>
          </p:cNvPr>
          <p:cNvSpPr txBox="1"/>
          <p:nvPr/>
        </p:nvSpPr>
        <p:spPr>
          <a:xfrm>
            <a:off x="548640" y="320040"/>
            <a:ext cx="9144000" cy="215444"/>
          </a:xfrm>
          <a:prstGeom prst="rect">
            <a:avLst/>
          </a:prstGeom>
          <a:noFill/>
        </p:spPr>
        <p:txBody>
          <a:bodyPr wrap="square" lIns="0" tIns="0" rIns="0" bIns="0" anchor="t">
            <a:spAutoFit/>
          </a:bodyPr>
          <a:lstStyle/>
          <a:p>
            <a:pPr algn="l"/>
            <a:r>
              <a:rPr lang="en-US" sz="1400" b="1">
                <a:solidFill>
                  <a:srgbClr val="0891B2"/>
                </a:solidFill>
                <a:latin typeface="+mj-lt"/>
              </a:rPr>
              <a:t>4. </a:t>
            </a:r>
            <a:r>
              <a:rPr lang="en-US" sz="1400" b="1" err="1">
                <a:solidFill>
                  <a:srgbClr val="0891B2"/>
                </a:solidFill>
                <a:latin typeface="+mj-lt"/>
              </a:rPr>
              <a:t>THỰC</a:t>
            </a:r>
            <a:r>
              <a:rPr lang="en-US" sz="1400" b="1">
                <a:solidFill>
                  <a:srgbClr val="0891B2"/>
                </a:solidFill>
                <a:latin typeface="+mj-lt"/>
              </a:rPr>
              <a:t> </a:t>
            </a:r>
            <a:r>
              <a:rPr lang="en-US" sz="1400" b="1" err="1">
                <a:solidFill>
                  <a:srgbClr val="0891B2"/>
                </a:solidFill>
                <a:latin typeface="+mj-lt"/>
              </a:rPr>
              <a:t>NGHIỆM</a:t>
            </a:r>
            <a:r>
              <a:rPr lang="en-US" sz="1400" b="1">
                <a:solidFill>
                  <a:srgbClr val="0891B2"/>
                </a:solidFill>
                <a:latin typeface="+mj-lt"/>
              </a:rPr>
              <a:t> </a:t>
            </a:r>
            <a:r>
              <a:rPr lang="en-US" sz="1400" b="1" err="1">
                <a:solidFill>
                  <a:srgbClr val="0891B2"/>
                </a:solidFill>
                <a:latin typeface="+mj-lt"/>
              </a:rPr>
              <a:t>VÀ</a:t>
            </a:r>
            <a:r>
              <a:rPr lang="en-US" sz="1400" b="1">
                <a:solidFill>
                  <a:srgbClr val="0891B2"/>
                </a:solidFill>
                <a:latin typeface="+mj-lt"/>
              </a:rPr>
              <a:t> </a:t>
            </a:r>
            <a:r>
              <a:rPr lang="en-US" sz="1400" b="1" err="1">
                <a:solidFill>
                  <a:srgbClr val="0891B2"/>
                </a:solidFill>
                <a:latin typeface="+mj-lt"/>
              </a:rPr>
              <a:t>KẾT</a:t>
            </a:r>
            <a:r>
              <a:rPr lang="en-US" sz="1400" b="1">
                <a:solidFill>
                  <a:srgbClr val="0891B2"/>
                </a:solidFill>
                <a:latin typeface="+mj-lt"/>
              </a:rPr>
              <a:t> </a:t>
            </a:r>
            <a:r>
              <a:rPr lang="en-US" sz="1400" b="1" err="1">
                <a:solidFill>
                  <a:srgbClr val="0891B2"/>
                </a:solidFill>
                <a:latin typeface="+mj-lt"/>
              </a:rPr>
              <a:t>QUẢ</a:t>
            </a:r>
            <a:r>
              <a:rPr lang="en-US" sz="1400" b="1">
                <a:solidFill>
                  <a:srgbClr val="0891B2"/>
                </a:solidFill>
                <a:latin typeface="+mj-lt"/>
              </a:rPr>
              <a:t> </a:t>
            </a:r>
            <a:endParaRPr sz="1400" b="1">
              <a:solidFill>
                <a:srgbClr val="0891B2"/>
              </a:solidFill>
              <a:latin typeface="+mj-lt"/>
            </a:endParaRPr>
          </a:p>
        </p:txBody>
      </p:sp>
    </p:spTree>
    <p:extLst>
      <p:ext uri="{BB962C8B-B14F-4D97-AF65-F5344CB8AC3E}">
        <p14:creationId xmlns:p14="http://schemas.microsoft.com/office/powerpoint/2010/main" val="3089246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F2A44"/>
                </a:solidFill>
                <a:latin typeface="+mj-lt"/>
              </a:rPr>
              <a:t>Đặc trưng khó của SHOT</a:t>
            </a:r>
          </a:p>
        </p:txBody>
      </p:sp>
      <p:cxnSp>
        <p:nvCxnSpPr>
          <p:cNvPr id="6" name="Connector 5"/>
          <p:cNvCxnSpPr/>
          <p:nvPr/>
        </p:nvCxnSpPr>
        <p:spPr>
          <a:xfrm>
            <a:off x="548640" y="1325880"/>
            <a:ext cx="11091672"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6350">
            <a:solidFill>
              <a:srgbClr val="E1E6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5B6B85"/>
                </a:solidFill>
                <a:latin typeface="+mj-lt"/>
              </a:rPr>
              <a:t>18 / 25</a:t>
            </a:r>
          </a:p>
        </p:txBody>
      </p:sp>
      <p:pic>
        <p:nvPicPr>
          <p:cNvPr id="10" name="Picture 9" descr="Anh42.png"/>
          <p:cNvPicPr>
            <a:picLocks noChangeAspect="1"/>
          </p:cNvPicPr>
          <p:nvPr/>
        </p:nvPicPr>
        <p:blipFill>
          <a:blip r:embed="rId3"/>
          <a:stretch>
            <a:fillRect/>
          </a:stretch>
        </p:blipFill>
        <p:spPr>
          <a:xfrm>
            <a:off x="617626" y="1411890"/>
            <a:ext cx="5912841" cy="4851750"/>
          </a:xfrm>
          <a:prstGeom prst="rect">
            <a:avLst/>
          </a:prstGeom>
        </p:spPr>
      </p:pic>
      <p:sp>
        <p:nvSpPr>
          <p:cNvPr id="11" name="TextBox 10"/>
          <p:cNvSpPr txBox="1"/>
          <p:nvPr/>
        </p:nvSpPr>
        <p:spPr>
          <a:xfrm>
            <a:off x="6699565" y="1861364"/>
            <a:ext cx="5050014" cy="4035528"/>
          </a:xfrm>
          <a:prstGeom prst="rect">
            <a:avLst/>
          </a:prstGeom>
          <a:noFill/>
        </p:spPr>
        <p:txBody>
          <a:bodyPr wrap="square" lIns="0" tIns="0" rIns="0" bIns="0">
            <a:spAutoFit/>
          </a:bodyPr>
          <a:lstStyle/>
          <a:p>
            <a:pPr algn="l">
              <a:lnSpc>
                <a:spcPct val="140000"/>
              </a:lnSpc>
              <a:spcAft>
                <a:spcPts val="400"/>
              </a:spcAft>
            </a:pPr>
            <a:r>
              <a:rPr sz="2000" b="1">
                <a:solidFill>
                  <a:srgbClr val="0B5FFF"/>
                </a:solidFill>
                <a:latin typeface="+mj-lt"/>
              </a:rPr>
              <a:t>•  </a:t>
            </a:r>
            <a:r>
              <a:rPr lang="en-US" sz="2000" b="1">
                <a:solidFill>
                  <a:srgbClr val="1F2A44"/>
                </a:solidFill>
                <a:latin typeface="+mj-lt"/>
              </a:rPr>
              <a:t>Chuyển cảnh</a:t>
            </a:r>
            <a:r>
              <a:rPr sz="2000" b="1">
                <a:solidFill>
                  <a:srgbClr val="1F2A44"/>
                </a:solidFill>
                <a:latin typeface="+mj-lt"/>
              </a:rPr>
              <a:t> phức tạp: </a:t>
            </a:r>
            <a:r>
              <a:rPr lang="en-US" sz="2000">
                <a:solidFill>
                  <a:srgbClr val="1F2A44"/>
                </a:solidFill>
                <a:latin typeface="+mj-lt"/>
              </a:rPr>
              <a:t>như</a:t>
            </a:r>
            <a:r>
              <a:rPr lang="en-US" sz="2000" b="1">
                <a:solidFill>
                  <a:srgbClr val="1F2A44"/>
                </a:solidFill>
                <a:latin typeface="+mj-lt"/>
              </a:rPr>
              <a:t> </a:t>
            </a:r>
            <a:r>
              <a:rPr sz="2000">
                <a:solidFill>
                  <a:srgbClr val="1F2A44"/>
                </a:solidFill>
                <a:latin typeface="+mj-lt"/>
              </a:rPr>
              <a:t>dissolve / wipe chồng nhiều lớp.</a:t>
            </a:r>
          </a:p>
          <a:p>
            <a:pPr algn="l">
              <a:lnSpc>
                <a:spcPct val="140000"/>
              </a:lnSpc>
              <a:spcAft>
                <a:spcPts val="400"/>
              </a:spcAft>
            </a:pPr>
            <a:r>
              <a:rPr sz="2000" b="1">
                <a:solidFill>
                  <a:srgbClr val="0B5FFF"/>
                </a:solidFill>
                <a:latin typeface="+mj-lt"/>
              </a:rPr>
              <a:t>•  </a:t>
            </a:r>
            <a:r>
              <a:rPr sz="2000" b="1">
                <a:solidFill>
                  <a:srgbClr val="1F2A44"/>
                </a:solidFill>
                <a:latin typeface="+mj-lt"/>
              </a:rPr>
              <a:t>Cấu trúc ba phần: </a:t>
            </a:r>
            <a:r>
              <a:rPr sz="2000">
                <a:solidFill>
                  <a:srgbClr val="1F2A44"/>
                </a:solidFill>
                <a:latin typeface="+mj-lt"/>
              </a:rPr>
              <a:t>viền tĩnh trên</a:t>
            </a:r>
            <a:r>
              <a:rPr lang="en-US" sz="2000">
                <a:solidFill>
                  <a:srgbClr val="1F2A44"/>
                </a:solidFill>
                <a:latin typeface="+mj-lt"/>
              </a:rPr>
              <a:t> và </a:t>
            </a:r>
            <a:r>
              <a:rPr sz="2000">
                <a:solidFill>
                  <a:srgbClr val="1F2A44"/>
                </a:solidFill>
                <a:latin typeface="+mj-lt"/>
              </a:rPr>
              <a:t>dưới gây nhiễu</a:t>
            </a:r>
            <a:r>
              <a:rPr lang="en-US" sz="2000">
                <a:solidFill>
                  <a:srgbClr val="1F2A44"/>
                </a:solidFill>
                <a:latin typeface="+mj-lt"/>
              </a:rPr>
              <a:t> thông tin</a:t>
            </a:r>
            <a:r>
              <a:rPr sz="2000">
                <a:solidFill>
                  <a:srgbClr val="1F2A44"/>
                </a:solidFill>
                <a:latin typeface="+mj-lt"/>
              </a:rPr>
              <a:t>.</a:t>
            </a:r>
          </a:p>
          <a:p>
            <a:pPr algn="l">
              <a:lnSpc>
                <a:spcPct val="140000"/>
              </a:lnSpc>
              <a:spcAft>
                <a:spcPts val="400"/>
              </a:spcAft>
            </a:pPr>
            <a:r>
              <a:rPr sz="2000" b="1">
                <a:solidFill>
                  <a:srgbClr val="0B5FFF"/>
                </a:solidFill>
                <a:latin typeface="+mj-lt"/>
              </a:rPr>
              <a:t>•  </a:t>
            </a:r>
            <a:r>
              <a:rPr sz="2000" b="1">
                <a:solidFill>
                  <a:srgbClr val="1F2A44"/>
                </a:solidFill>
                <a:latin typeface="+mj-lt"/>
              </a:rPr>
              <a:t>Game </a:t>
            </a:r>
            <a:r>
              <a:rPr lang="en-US" sz="2000" b="1">
                <a:solidFill>
                  <a:srgbClr val="1F2A44"/>
                </a:solidFill>
                <a:latin typeface="+mj-lt"/>
              </a:rPr>
              <a:t>hoặc hiệu ứng</a:t>
            </a:r>
            <a:r>
              <a:rPr sz="2000" b="1">
                <a:solidFill>
                  <a:srgbClr val="1F2A44"/>
                </a:solidFill>
                <a:latin typeface="+mj-lt"/>
              </a:rPr>
              <a:t> ảo: </a:t>
            </a:r>
            <a:r>
              <a:rPr sz="2000">
                <a:solidFill>
                  <a:srgbClr val="1F2A44"/>
                </a:solidFill>
                <a:latin typeface="+mj-lt"/>
              </a:rPr>
              <a:t>biến đổi shot mạnh.</a:t>
            </a:r>
          </a:p>
          <a:p>
            <a:pPr algn="l">
              <a:lnSpc>
                <a:spcPct val="140000"/>
              </a:lnSpc>
              <a:spcAft>
                <a:spcPts val="400"/>
              </a:spcAft>
            </a:pPr>
            <a:r>
              <a:rPr sz="2000" b="1">
                <a:solidFill>
                  <a:srgbClr val="0B5FFF"/>
                </a:solidFill>
                <a:latin typeface="+mj-lt"/>
              </a:rPr>
              <a:t>•  </a:t>
            </a:r>
            <a:r>
              <a:rPr lang="en-US" sz="2000" b="1">
                <a:solidFill>
                  <a:srgbClr val="1F2A44"/>
                </a:solidFill>
                <a:latin typeface="+mj-lt"/>
              </a:rPr>
              <a:t>Hiệu ứng cảnh quay</a:t>
            </a:r>
            <a:r>
              <a:rPr sz="2000" b="1">
                <a:solidFill>
                  <a:srgbClr val="1F2A44"/>
                </a:solidFill>
                <a:latin typeface="+mj-lt"/>
              </a:rPr>
              <a:t>: </a:t>
            </a:r>
            <a:r>
              <a:rPr lang="en-US" sz="2000">
                <a:solidFill>
                  <a:srgbClr val="1F2A44"/>
                </a:solidFill>
                <a:latin typeface="+mj-lt"/>
              </a:rPr>
              <a:t>lia máy hoặc thu phóng</a:t>
            </a:r>
            <a:r>
              <a:rPr sz="2000">
                <a:solidFill>
                  <a:srgbClr val="1F2A44"/>
                </a:solidFill>
                <a:latin typeface="+mj-lt"/>
              </a:rPr>
              <a:t> nhanh giống </a:t>
            </a:r>
            <a:r>
              <a:rPr lang="en-US" sz="2000">
                <a:solidFill>
                  <a:srgbClr val="1F2A44"/>
                </a:solidFill>
                <a:latin typeface="+mj-lt"/>
              </a:rPr>
              <a:t>chuyển cảnh</a:t>
            </a:r>
            <a:r>
              <a:rPr sz="2000">
                <a:solidFill>
                  <a:srgbClr val="1F2A44"/>
                </a:solidFill>
                <a:latin typeface="+mj-lt"/>
              </a:rPr>
              <a:t>.</a:t>
            </a:r>
          </a:p>
          <a:p>
            <a:pPr algn="l">
              <a:lnSpc>
                <a:spcPct val="140000"/>
              </a:lnSpc>
              <a:spcAft>
                <a:spcPts val="400"/>
              </a:spcAft>
            </a:pPr>
            <a:r>
              <a:rPr sz="2000" b="1">
                <a:solidFill>
                  <a:srgbClr val="0B5FFF"/>
                </a:solidFill>
                <a:latin typeface="+mj-lt"/>
              </a:rPr>
              <a:t>•  </a:t>
            </a:r>
            <a:r>
              <a:rPr sz="2000" b="1">
                <a:solidFill>
                  <a:srgbClr val="1F2A44"/>
                </a:solidFill>
                <a:latin typeface="+mj-lt"/>
              </a:rPr>
              <a:t>Flash &amp; lighting: </a:t>
            </a:r>
            <a:r>
              <a:rPr sz="2000">
                <a:solidFill>
                  <a:srgbClr val="1F2A44"/>
                </a:solidFill>
                <a:latin typeface="+mj-lt"/>
              </a:rPr>
              <a:t>thay đổi đột ngột </a:t>
            </a:r>
            <a:r>
              <a:rPr lang="en-US" sz="2000">
                <a:solidFill>
                  <a:srgbClr val="1F2A44"/>
                </a:solidFill>
                <a:latin typeface="+mj-lt"/>
              </a:rPr>
              <a:t>dẫn đến</a:t>
            </a:r>
            <a:r>
              <a:rPr sz="2000">
                <a:solidFill>
                  <a:srgbClr val="1F2A44"/>
                </a:solidFill>
                <a:latin typeface="+mj-lt"/>
              </a:rPr>
              <a:t> </a:t>
            </a:r>
            <a:r>
              <a:rPr lang="en-US" sz="2000">
                <a:solidFill>
                  <a:srgbClr val="1F2A44"/>
                </a:solidFill>
                <a:latin typeface="+mj-lt"/>
              </a:rPr>
              <a:t>vị trí giả</a:t>
            </a:r>
            <a:r>
              <a:rPr sz="2000">
                <a:solidFill>
                  <a:srgbClr val="1F2A44"/>
                </a:solidFill>
                <a:latin typeface="+mj-lt"/>
              </a:rPr>
              <a:t>.</a:t>
            </a:r>
          </a:p>
        </p:txBody>
      </p:sp>
      <p:sp>
        <p:nvSpPr>
          <p:cNvPr id="8" name="TextBox 7">
            <a:extLst>
              <a:ext uri="{FF2B5EF4-FFF2-40B4-BE49-F238E27FC236}">
                <a16:creationId xmlns:a16="http://schemas.microsoft.com/office/drawing/2014/main" id="{86F5F52E-4EDD-4027-829F-5E6B09497758}"/>
              </a:ext>
            </a:extLst>
          </p:cNvPr>
          <p:cNvSpPr txBox="1"/>
          <p:nvPr/>
        </p:nvSpPr>
        <p:spPr>
          <a:xfrm>
            <a:off x="548640" y="320040"/>
            <a:ext cx="9144000" cy="215444"/>
          </a:xfrm>
          <a:prstGeom prst="rect">
            <a:avLst/>
          </a:prstGeom>
          <a:noFill/>
        </p:spPr>
        <p:txBody>
          <a:bodyPr wrap="square" lIns="0" tIns="0" rIns="0" bIns="0" anchor="t">
            <a:spAutoFit/>
          </a:bodyPr>
          <a:lstStyle/>
          <a:p>
            <a:pPr algn="l"/>
            <a:r>
              <a:rPr lang="en-US" sz="1400" b="1">
                <a:solidFill>
                  <a:srgbClr val="0891B2"/>
                </a:solidFill>
                <a:latin typeface="+mj-lt"/>
              </a:rPr>
              <a:t>4. </a:t>
            </a:r>
            <a:r>
              <a:rPr lang="en-US" sz="1400" b="1" err="1">
                <a:solidFill>
                  <a:srgbClr val="0891B2"/>
                </a:solidFill>
                <a:latin typeface="+mj-lt"/>
              </a:rPr>
              <a:t>THỰC</a:t>
            </a:r>
            <a:r>
              <a:rPr lang="en-US" sz="1400" b="1">
                <a:solidFill>
                  <a:srgbClr val="0891B2"/>
                </a:solidFill>
                <a:latin typeface="+mj-lt"/>
              </a:rPr>
              <a:t> </a:t>
            </a:r>
            <a:r>
              <a:rPr lang="en-US" sz="1400" b="1" err="1">
                <a:solidFill>
                  <a:srgbClr val="0891B2"/>
                </a:solidFill>
                <a:latin typeface="+mj-lt"/>
              </a:rPr>
              <a:t>NGHIỆM</a:t>
            </a:r>
            <a:r>
              <a:rPr lang="en-US" sz="1400" b="1">
                <a:solidFill>
                  <a:srgbClr val="0891B2"/>
                </a:solidFill>
                <a:latin typeface="+mj-lt"/>
              </a:rPr>
              <a:t> </a:t>
            </a:r>
            <a:r>
              <a:rPr lang="en-US" sz="1400" b="1" err="1">
                <a:solidFill>
                  <a:srgbClr val="0891B2"/>
                </a:solidFill>
                <a:latin typeface="+mj-lt"/>
              </a:rPr>
              <a:t>VÀ</a:t>
            </a:r>
            <a:r>
              <a:rPr lang="en-US" sz="1400" b="1">
                <a:solidFill>
                  <a:srgbClr val="0891B2"/>
                </a:solidFill>
                <a:latin typeface="+mj-lt"/>
              </a:rPr>
              <a:t> </a:t>
            </a:r>
            <a:r>
              <a:rPr lang="en-US" sz="1400" b="1" err="1">
                <a:solidFill>
                  <a:srgbClr val="0891B2"/>
                </a:solidFill>
                <a:latin typeface="+mj-lt"/>
              </a:rPr>
              <a:t>KẾT</a:t>
            </a:r>
            <a:r>
              <a:rPr lang="en-US" sz="1400" b="1">
                <a:solidFill>
                  <a:srgbClr val="0891B2"/>
                </a:solidFill>
                <a:latin typeface="+mj-lt"/>
              </a:rPr>
              <a:t> </a:t>
            </a:r>
            <a:r>
              <a:rPr lang="en-US" sz="1400" b="1" err="1">
                <a:solidFill>
                  <a:srgbClr val="0891B2"/>
                </a:solidFill>
                <a:latin typeface="+mj-lt"/>
              </a:rPr>
              <a:t>QUẢ</a:t>
            </a:r>
            <a:r>
              <a:rPr lang="en-US" sz="1400" b="1">
                <a:solidFill>
                  <a:srgbClr val="0891B2"/>
                </a:solidFill>
                <a:latin typeface="+mj-lt"/>
              </a:rPr>
              <a:t> </a:t>
            </a:r>
            <a:endParaRPr sz="1400" b="1">
              <a:solidFill>
                <a:srgbClr val="0891B2"/>
              </a:solidFill>
              <a:latin typeface="+mj-lt"/>
            </a:endParaRPr>
          </a:p>
        </p:txBody>
      </p:sp>
    </p:spTree>
    <p:extLst>
      <p:ext uri="{BB962C8B-B14F-4D97-AF65-F5344CB8AC3E}">
        <p14:creationId xmlns:p14="http://schemas.microsoft.com/office/powerpoint/2010/main" val="1335221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F2A44"/>
                </a:solidFill>
                <a:latin typeface="+mj-lt"/>
              </a:rPr>
              <a:t>Các bộ dữ liệu đối chứng</a:t>
            </a:r>
          </a:p>
        </p:txBody>
      </p:sp>
      <p:cxnSp>
        <p:nvCxnSpPr>
          <p:cNvPr id="6" name="Connector 5"/>
          <p:cNvCxnSpPr/>
          <p:nvPr/>
        </p:nvCxnSpPr>
        <p:spPr>
          <a:xfrm>
            <a:off x="548640" y="1325880"/>
            <a:ext cx="11091672"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6350">
            <a:solidFill>
              <a:srgbClr val="E1E6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5B6B85"/>
                </a:solidFill>
                <a:latin typeface="+mj-lt"/>
              </a:rPr>
              <a:t>19 / 25</a:t>
            </a:r>
          </a:p>
        </p:txBody>
      </p:sp>
      <p:sp>
        <p:nvSpPr>
          <p:cNvPr id="10" name="Rectangle 9"/>
          <p:cNvSpPr/>
          <p:nvPr/>
        </p:nvSpPr>
        <p:spPr>
          <a:xfrm>
            <a:off x="548640" y="1828800"/>
            <a:ext cx="11064239" cy="548640"/>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1" name="TextBox 10"/>
          <p:cNvSpPr txBox="1"/>
          <p:nvPr/>
        </p:nvSpPr>
        <p:spPr>
          <a:xfrm>
            <a:off x="685800" y="1965960"/>
            <a:ext cx="1371600" cy="307777"/>
          </a:xfrm>
          <a:prstGeom prst="rect">
            <a:avLst/>
          </a:prstGeom>
          <a:noFill/>
        </p:spPr>
        <p:txBody>
          <a:bodyPr wrap="square" lIns="0" tIns="0" rIns="0" bIns="0" anchor="t">
            <a:spAutoFit/>
          </a:bodyPr>
          <a:lstStyle/>
          <a:p>
            <a:pPr algn="l"/>
            <a:r>
              <a:rPr sz="2000" b="1">
                <a:solidFill>
                  <a:srgbClr val="FFFFFF"/>
                </a:solidFill>
                <a:latin typeface="+mj-lt"/>
              </a:rPr>
              <a:t>Dataset</a:t>
            </a:r>
          </a:p>
        </p:txBody>
      </p:sp>
      <p:sp>
        <p:nvSpPr>
          <p:cNvPr id="12" name="TextBox 11"/>
          <p:cNvSpPr txBox="1"/>
          <p:nvPr/>
        </p:nvSpPr>
        <p:spPr>
          <a:xfrm>
            <a:off x="3037883" y="1965960"/>
            <a:ext cx="1188720" cy="307777"/>
          </a:xfrm>
          <a:prstGeom prst="rect">
            <a:avLst/>
          </a:prstGeom>
          <a:noFill/>
        </p:spPr>
        <p:txBody>
          <a:bodyPr wrap="square" lIns="0" tIns="0" rIns="0" bIns="0" anchor="t">
            <a:spAutoFit/>
          </a:bodyPr>
          <a:lstStyle/>
          <a:p>
            <a:pPr algn="l"/>
            <a:r>
              <a:rPr sz="2000" b="1">
                <a:solidFill>
                  <a:srgbClr val="FFFFFF"/>
                </a:solidFill>
                <a:latin typeface="+mj-lt"/>
              </a:rPr>
              <a:t>Số video</a:t>
            </a:r>
          </a:p>
        </p:txBody>
      </p:sp>
      <p:sp>
        <p:nvSpPr>
          <p:cNvPr id="13" name="TextBox 12"/>
          <p:cNvSpPr txBox="1"/>
          <p:nvPr/>
        </p:nvSpPr>
        <p:spPr>
          <a:xfrm>
            <a:off x="4428497" y="1965960"/>
            <a:ext cx="1920240" cy="307777"/>
          </a:xfrm>
          <a:prstGeom prst="rect">
            <a:avLst/>
          </a:prstGeom>
          <a:noFill/>
        </p:spPr>
        <p:txBody>
          <a:bodyPr wrap="square" lIns="0" tIns="0" rIns="0" bIns="0" anchor="t">
            <a:spAutoFit/>
          </a:bodyPr>
          <a:lstStyle/>
          <a:p>
            <a:pPr algn="l"/>
            <a:r>
              <a:rPr sz="2000" b="1">
                <a:solidFill>
                  <a:srgbClr val="FFFFFF"/>
                </a:solidFill>
                <a:latin typeface="+mj-lt"/>
              </a:rPr>
              <a:t>Độ dài video TB</a:t>
            </a:r>
          </a:p>
        </p:txBody>
      </p:sp>
      <p:sp>
        <p:nvSpPr>
          <p:cNvPr id="14" name="TextBox 13"/>
          <p:cNvSpPr txBox="1"/>
          <p:nvPr/>
        </p:nvSpPr>
        <p:spPr>
          <a:xfrm>
            <a:off x="6677378" y="1965960"/>
            <a:ext cx="1737360" cy="307777"/>
          </a:xfrm>
          <a:prstGeom prst="rect">
            <a:avLst/>
          </a:prstGeom>
          <a:noFill/>
        </p:spPr>
        <p:txBody>
          <a:bodyPr wrap="square" lIns="0" tIns="0" rIns="0" bIns="0" anchor="t">
            <a:spAutoFit/>
          </a:bodyPr>
          <a:lstStyle/>
          <a:p>
            <a:pPr algn="l"/>
            <a:r>
              <a:rPr sz="2000" b="1">
                <a:solidFill>
                  <a:srgbClr val="FFFFFF"/>
                </a:solidFill>
                <a:latin typeface="+mj-lt"/>
              </a:rPr>
              <a:t>Độ dài shot TB</a:t>
            </a:r>
          </a:p>
        </p:txBody>
      </p:sp>
      <p:sp>
        <p:nvSpPr>
          <p:cNvPr id="15" name="TextBox 14"/>
          <p:cNvSpPr txBox="1"/>
          <p:nvPr/>
        </p:nvSpPr>
        <p:spPr>
          <a:xfrm>
            <a:off x="8689054" y="1965960"/>
            <a:ext cx="3474719" cy="307777"/>
          </a:xfrm>
          <a:prstGeom prst="rect">
            <a:avLst/>
          </a:prstGeom>
          <a:noFill/>
        </p:spPr>
        <p:txBody>
          <a:bodyPr wrap="square" lIns="0" tIns="0" rIns="0" bIns="0" anchor="t">
            <a:spAutoFit/>
          </a:bodyPr>
          <a:lstStyle/>
          <a:p>
            <a:pPr algn="l"/>
            <a:r>
              <a:rPr sz="2000" b="1">
                <a:solidFill>
                  <a:srgbClr val="FFFFFF"/>
                </a:solidFill>
                <a:latin typeface="+mj-lt"/>
              </a:rPr>
              <a:t>Đặc trưng</a:t>
            </a:r>
          </a:p>
        </p:txBody>
      </p:sp>
      <p:sp>
        <p:nvSpPr>
          <p:cNvPr id="16" name="Rectangle 15"/>
          <p:cNvSpPr/>
          <p:nvPr/>
        </p:nvSpPr>
        <p:spPr>
          <a:xfrm>
            <a:off x="548640" y="2377440"/>
            <a:ext cx="11064239" cy="548640"/>
          </a:xfrm>
          <a:prstGeom prst="rect">
            <a:avLst/>
          </a:prstGeom>
          <a:solidFill>
            <a:srgbClr val="E7F0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7" name="TextBox 16"/>
          <p:cNvSpPr txBox="1"/>
          <p:nvPr/>
        </p:nvSpPr>
        <p:spPr>
          <a:xfrm>
            <a:off x="685800" y="2532888"/>
            <a:ext cx="1371600" cy="307777"/>
          </a:xfrm>
          <a:prstGeom prst="rect">
            <a:avLst/>
          </a:prstGeom>
          <a:noFill/>
        </p:spPr>
        <p:txBody>
          <a:bodyPr wrap="square" lIns="0" tIns="0" rIns="0" bIns="0" anchor="t">
            <a:spAutoFit/>
          </a:bodyPr>
          <a:lstStyle/>
          <a:p>
            <a:pPr algn="l"/>
            <a:r>
              <a:rPr sz="2000" b="1">
                <a:solidFill>
                  <a:srgbClr val="0B5FFF"/>
                </a:solidFill>
                <a:latin typeface="+mj-lt"/>
              </a:rPr>
              <a:t>SHOT</a:t>
            </a:r>
          </a:p>
        </p:txBody>
      </p:sp>
      <p:sp>
        <p:nvSpPr>
          <p:cNvPr id="18" name="TextBox 17"/>
          <p:cNvSpPr txBox="1"/>
          <p:nvPr/>
        </p:nvSpPr>
        <p:spPr>
          <a:xfrm>
            <a:off x="3037883" y="2532888"/>
            <a:ext cx="1188720" cy="307777"/>
          </a:xfrm>
          <a:prstGeom prst="rect">
            <a:avLst/>
          </a:prstGeom>
          <a:noFill/>
        </p:spPr>
        <p:txBody>
          <a:bodyPr wrap="square" lIns="0" tIns="0" rIns="0" bIns="0" anchor="t">
            <a:spAutoFit/>
          </a:bodyPr>
          <a:lstStyle/>
          <a:p>
            <a:pPr algn="l"/>
            <a:r>
              <a:rPr sz="2000" b="1">
                <a:solidFill>
                  <a:srgbClr val="1F2A44"/>
                </a:solidFill>
                <a:latin typeface="+mj-lt"/>
              </a:rPr>
              <a:t>853</a:t>
            </a:r>
          </a:p>
        </p:txBody>
      </p:sp>
      <p:sp>
        <p:nvSpPr>
          <p:cNvPr id="19" name="TextBox 18"/>
          <p:cNvSpPr txBox="1"/>
          <p:nvPr/>
        </p:nvSpPr>
        <p:spPr>
          <a:xfrm>
            <a:off x="4428497" y="2532888"/>
            <a:ext cx="1920240" cy="307777"/>
          </a:xfrm>
          <a:prstGeom prst="rect">
            <a:avLst/>
          </a:prstGeom>
          <a:noFill/>
        </p:spPr>
        <p:txBody>
          <a:bodyPr wrap="square" lIns="0" tIns="0" rIns="0" bIns="0" anchor="t">
            <a:spAutoFit/>
          </a:bodyPr>
          <a:lstStyle/>
          <a:p>
            <a:pPr algn="l"/>
            <a:r>
              <a:rPr sz="2000" b="1">
                <a:solidFill>
                  <a:srgbClr val="1F2A44"/>
                </a:solidFill>
                <a:latin typeface="+mj-lt"/>
              </a:rPr>
              <a:t>39,5 s</a:t>
            </a:r>
          </a:p>
        </p:txBody>
      </p:sp>
      <p:sp>
        <p:nvSpPr>
          <p:cNvPr id="20" name="TextBox 19"/>
          <p:cNvSpPr txBox="1"/>
          <p:nvPr/>
        </p:nvSpPr>
        <p:spPr>
          <a:xfrm>
            <a:off x="6677378" y="2532888"/>
            <a:ext cx="1737360" cy="307777"/>
          </a:xfrm>
          <a:prstGeom prst="rect">
            <a:avLst/>
          </a:prstGeom>
          <a:noFill/>
        </p:spPr>
        <p:txBody>
          <a:bodyPr wrap="square" lIns="0" tIns="0" rIns="0" bIns="0" anchor="t">
            <a:spAutoFit/>
          </a:bodyPr>
          <a:lstStyle/>
          <a:p>
            <a:pPr algn="l"/>
            <a:r>
              <a:rPr sz="2000" b="1">
                <a:solidFill>
                  <a:srgbClr val="1F2A44"/>
                </a:solidFill>
                <a:latin typeface="+mj-lt"/>
              </a:rPr>
              <a:t>2,59 s</a:t>
            </a:r>
          </a:p>
        </p:txBody>
      </p:sp>
      <p:sp>
        <p:nvSpPr>
          <p:cNvPr id="21" name="TextBox 20"/>
          <p:cNvSpPr txBox="1"/>
          <p:nvPr/>
        </p:nvSpPr>
        <p:spPr>
          <a:xfrm>
            <a:off x="8689054" y="2532888"/>
            <a:ext cx="3474719" cy="307777"/>
          </a:xfrm>
          <a:prstGeom prst="rect">
            <a:avLst/>
          </a:prstGeom>
          <a:noFill/>
        </p:spPr>
        <p:txBody>
          <a:bodyPr wrap="square" lIns="0" tIns="0" rIns="0" bIns="0" anchor="t">
            <a:spAutoFit/>
          </a:bodyPr>
          <a:lstStyle/>
          <a:p>
            <a:pPr algn="l"/>
            <a:r>
              <a:rPr sz="2000" b="1">
                <a:solidFill>
                  <a:srgbClr val="1F2A44"/>
                </a:solidFill>
                <a:latin typeface="+mj-lt"/>
              </a:rPr>
              <a:t>Short-form đa nền tảng</a:t>
            </a:r>
          </a:p>
        </p:txBody>
      </p:sp>
      <p:sp>
        <p:nvSpPr>
          <p:cNvPr id="22" name="Rectangle 21"/>
          <p:cNvSpPr/>
          <p:nvPr/>
        </p:nvSpPr>
        <p:spPr>
          <a:xfrm>
            <a:off x="548640" y="2926080"/>
            <a:ext cx="11064239"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3" name="TextBox 22"/>
          <p:cNvSpPr txBox="1"/>
          <p:nvPr/>
        </p:nvSpPr>
        <p:spPr>
          <a:xfrm>
            <a:off x="685799" y="3081528"/>
            <a:ext cx="2077767" cy="307777"/>
          </a:xfrm>
          <a:prstGeom prst="rect">
            <a:avLst/>
          </a:prstGeom>
          <a:noFill/>
        </p:spPr>
        <p:txBody>
          <a:bodyPr wrap="square" lIns="0" tIns="0" rIns="0" bIns="0" anchor="t">
            <a:spAutoFit/>
          </a:bodyPr>
          <a:lstStyle/>
          <a:p>
            <a:pPr algn="l"/>
            <a:r>
              <a:rPr sz="2000" b="1">
                <a:solidFill>
                  <a:srgbClr val="1F2A44"/>
                </a:solidFill>
                <a:latin typeface="+mj-lt"/>
              </a:rPr>
              <a:t>BBC Planet Earth</a:t>
            </a:r>
          </a:p>
        </p:txBody>
      </p:sp>
      <p:sp>
        <p:nvSpPr>
          <p:cNvPr id="24" name="TextBox 23"/>
          <p:cNvSpPr txBox="1"/>
          <p:nvPr/>
        </p:nvSpPr>
        <p:spPr>
          <a:xfrm>
            <a:off x="3037883" y="3081528"/>
            <a:ext cx="1188720" cy="307777"/>
          </a:xfrm>
          <a:prstGeom prst="rect">
            <a:avLst/>
          </a:prstGeom>
          <a:noFill/>
        </p:spPr>
        <p:txBody>
          <a:bodyPr wrap="square" lIns="0" tIns="0" rIns="0" bIns="0" anchor="t">
            <a:spAutoFit/>
          </a:bodyPr>
          <a:lstStyle/>
          <a:p>
            <a:pPr algn="l"/>
            <a:r>
              <a:rPr sz="2000" b="0">
                <a:solidFill>
                  <a:srgbClr val="1F2A44"/>
                </a:solidFill>
                <a:latin typeface="+mj-lt"/>
              </a:rPr>
              <a:t>11</a:t>
            </a:r>
          </a:p>
        </p:txBody>
      </p:sp>
      <p:sp>
        <p:nvSpPr>
          <p:cNvPr id="25" name="TextBox 24"/>
          <p:cNvSpPr txBox="1"/>
          <p:nvPr/>
        </p:nvSpPr>
        <p:spPr>
          <a:xfrm>
            <a:off x="4428497" y="3081528"/>
            <a:ext cx="1920240" cy="307777"/>
          </a:xfrm>
          <a:prstGeom prst="rect">
            <a:avLst/>
          </a:prstGeom>
          <a:noFill/>
        </p:spPr>
        <p:txBody>
          <a:bodyPr wrap="square" lIns="0" tIns="0" rIns="0" bIns="0" anchor="t">
            <a:spAutoFit/>
          </a:bodyPr>
          <a:lstStyle/>
          <a:p>
            <a:pPr algn="l"/>
            <a:r>
              <a:rPr sz="2000" b="0">
                <a:solidFill>
                  <a:srgbClr val="1F2A44"/>
                </a:solidFill>
                <a:latin typeface="+mj-lt"/>
              </a:rPr>
              <a:t>≈ 49 min</a:t>
            </a:r>
          </a:p>
        </p:txBody>
      </p:sp>
      <p:sp>
        <p:nvSpPr>
          <p:cNvPr id="26" name="TextBox 25"/>
          <p:cNvSpPr txBox="1"/>
          <p:nvPr/>
        </p:nvSpPr>
        <p:spPr>
          <a:xfrm>
            <a:off x="6677378" y="3081528"/>
            <a:ext cx="1737360" cy="307777"/>
          </a:xfrm>
          <a:prstGeom prst="rect">
            <a:avLst/>
          </a:prstGeom>
          <a:noFill/>
        </p:spPr>
        <p:txBody>
          <a:bodyPr wrap="square" lIns="0" tIns="0" rIns="0" bIns="0" anchor="t">
            <a:spAutoFit/>
          </a:bodyPr>
          <a:lstStyle/>
          <a:p>
            <a:pPr algn="l"/>
            <a:r>
              <a:rPr sz="2000" b="0">
                <a:solidFill>
                  <a:srgbClr val="1F2A44"/>
                </a:solidFill>
                <a:latin typeface="+mj-lt"/>
              </a:rPr>
              <a:t>6,57 s</a:t>
            </a:r>
          </a:p>
        </p:txBody>
      </p:sp>
      <p:sp>
        <p:nvSpPr>
          <p:cNvPr id="27" name="TextBox 26"/>
          <p:cNvSpPr txBox="1"/>
          <p:nvPr/>
        </p:nvSpPr>
        <p:spPr>
          <a:xfrm>
            <a:off x="8689054" y="3081528"/>
            <a:ext cx="3474719" cy="307777"/>
          </a:xfrm>
          <a:prstGeom prst="rect">
            <a:avLst/>
          </a:prstGeom>
          <a:noFill/>
        </p:spPr>
        <p:txBody>
          <a:bodyPr wrap="square" lIns="0" tIns="0" rIns="0" bIns="0" anchor="t">
            <a:spAutoFit/>
          </a:bodyPr>
          <a:lstStyle/>
          <a:p>
            <a:pPr algn="l"/>
            <a:r>
              <a:rPr sz="2000" b="0">
                <a:solidFill>
                  <a:srgbClr val="1F2A44"/>
                </a:solidFill>
                <a:latin typeface="+mj-lt"/>
              </a:rPr>
              <a:t>Phim tài liệu thiên nhiên</a:t>
            </a:r>
          </a:p>
        </p:txBody>
      </p:sp>
      <p:sp>
        <p:nvSpPr>
          <p:cNvPr id="28" name="Rectangle 27"/>
          <p:cNvSpPr/>
          <p:nvPr/>
        </p:nvSpPr>
        <p:spPr>
          <a:xfrm>
            <a:off x="548640" y="3474720"/>
            <a:ext cx="11064239" cy="5486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5" name="TextBox 34"/>
          <p:cNvSpPr txBox="1"/>
          <p:nvPr/>
        </p:nvSpPr>
        <p:spPr>
          <a:xfrm>
            <a:off x="685800" y="3647343"/>
            <a:ext cx="1371600" cy="307777"/>
          </a:xfrm>
          <a:prstGeom prst="rect">
            <a:avLst/>
          </a:prstGeom>
          <a:noFill/>
        </p:spPr>
        <p:txBody>
          <a:bodyPr wrap="square" lIns="0" tIns="0" rIns="0" bIns="0" anchor="t">
            <a:spAutoFit/>
          </a:bodyPr>
          <a:lstStyle/>
          <a:p>
            <a:pPr algn="l"/>
            <a:r>
              <a:rPr sz="2000" b="1" err="1">
                <a:solidFill>
                  <a:srgbClr val="1F2A44"/>
                </a:solidFill>
                <a:latin typeface="+mj-lt"/>
              </a:rPr>
              <a:t>ClipShots</a:t>
            </a:r>
            <a:endParaRPr sz="2000" b="1">
              <a:solidFill>
                <a:srgbClr val="1F2A44"/>
              </a:solidFill>
              <a:latin typeface="+mj-lt"/>
            </a:endParaRPr>
          </a:p>
        </p:txBody>
      </p:sp>
      <p:sp>
        <p:nvSpPr>
          <p:cNvPr id="36" name="TextBox 35"/>
          <p:cNvSpPr txBox="1"/>
          <p:nvPr/>
        </p:nvSpPr>
        <p:spPr>
          <a:xfrm>
            <a:off x="3037883" y="3647343"/>
            <a:ext cx="1188720" cy="307777"/>
          </a:xfrm>
          <a:prstGeom prst="rect">
            <a:avLst/>
          </a:prstGeom>
          <a:noFill/>
        </p:spPr>
        <p:txBody>
          <a:bodyPr wrap="square" lIns="0" tIns="0" rIns="0" bIns="0" anchor="t">
            <a:spAutoFit/>
          </a:bodyPr>
          <a:lstStyle/>
          <a:p>
            <a:pPr algn="l"/>
            <a:r>
              <a:rPr sz="2000" b="0">
                <a:solidFill>
                  <a:srgbClr val="1F2A44"/>
                </a:solidFill>
                <a:latin typeface="+mj-lt"/>
              </a:rPr>
              <a:t>~500</a:t>
            </a:r>
          </a:p>
        </p:txBody>
      </p:sp>
      <p:sp>
        <p:nvSpPr>
          <p:cNvPr id="37" name="TextBox 36"/>
          <p:cNvSpPr txBox="1"/>
          <p:nvPr/>
        </p:nvSpPr>
        <p:spPr>
          <a:xfrm>
            <a:off x="4428497" y="3647343"/>
            <a:ext cx="1920240" cy="307777"/>
          </a:xfrm>
          <a:prstGeom prst="rect">
            <a:avLst/>
          </a:prstGeom>
          <a:noFill/>
        </p:spPr>
        <p:txBody>
          <a:bodyPr wrap="square" lIns="0" tIns="0" rIns="0" bIns="0" anchor="t">
            <a:spAutoFit/>
          </a:bodyPr>
          <a:lstStyle/>
          <a:p>
            <a:pPr algn="l"/>
            <a:r>
              <a:rPr sz="2000" b="0">
                <a:solidFill>
                  <a:srgbClr val="1F2A44"/>
                </a:solidFill>
                <a:latin typeface="+mj-lt"/>
              </a:rPr>
              <a:t>237 s</a:t>
            </a:r>
          </a:p>
        </p:txBody>
      </p:sp>
      <p:sp>
        <p:nvSpPr>
          <p:cNvPr id="38" name="TextBox 37"/>
          <p:cNvSpPr txBox="1"/>
          <p:nvPr/>
        </p:nvSpPr>
        <p:spPr>
          <a:xfrm>
            <a:off x="6677378" y="3647343"/>
            <a:ext cx="1737360" cy="307777"/>
          </a:xfrm>
          <a:prstGeom prst="rect">
            <a:avLst/>
          </a:prstGeom>
          <a:noFill/>
        </p:spPr>
        <p:txBody>
          <a:bodyPr wrap="square" lIns="0" tIns="0" rIns="0" bIns="0" anchor="t">
            <a:spAutoFit/>
          </a:bodyPr>
          <a:lstStyle/>
          <a:p>
            <a:pPr algn="l"/>
            <a:r>
              <a:rPr sz="2000" b="0">
                <a:solidFill>
                  <a:srgbClr val="1F2A44"/>
                </a:solidFill>
                <a:latin typeface="+mj-lt"/>
              </a:rPr>
              <a:t>15,34 s</a:t>
            </a:r>
          </a:p>
        </p:txBody>
      </p:sp>
      <p:sp>
        <p:nvSpPr>
          <p:cNvPr id="39" name="TextBox 38"/>
          <p:cNvSpPr txBox="1"/>
          <p:nvPr/>
        </p:nvSpPr>
        <p:spPr>
          <a:xfrm>
            <a:off x="8689054" y="3647343"/>
            <a:ext cx="3474719" cy="307777"/>
          </a:xfrm>
          <a:prstGeom prst="rect">
            <a:avLst/>
          </a:prstGeom>
          <a:noFill/>
        </p:spPr>
        <p:txBody>
          <a:bodyPr wrap="square" lIns="0" tIns="0" rIns="0" bIns="0" anchor="t">
            <a:spAutoFit/>
          </a:bodyPr>
          <a:lstStyle/>
          <a:p>
            <a:pPr algn="l"/>
            <a:r>
              <a:rPr sz="2000" b="0">
                <a:solidFill>
                  <a:srgbClr val="1F2A44"/>
                </a:solidFill>
                <a:latin typeface="+mj-lt"/>
              </a:rPr>
              <a:t>YouTube/Weibo đa dạng</a:t>
            </a:r>
          </a:p>
        </p:txBody>
      </p:sp>
      <p:sp>
        <p:nvSpPr>
          <p:cNvPr id="40" name="TextBox 39"/>
          <p:cNvSpPr txBox="1"/>
          <p:nvPr/>
        </p:nvSpPr>
        <p:spPr>
          <a:xfrm>
            <a:off x="548640" y="4340238"/>
            <a:ext cx="11064240" cy="307777"/>
          </a:xfrm>
          <a:prstGeom prst="rect">
            <a:avLst/>
          </a:prstGeom>
          <a:noFill/>
        </p:spPr>
        <p:txBody>
          <a:bodyPr wrap="square" lIns="0" tIns="0" rIns="0" bIns="0" anchor="t">
            <a:spAutoFit/>
          </a:bodyPr>
          <a:lstStyle/>
          <a:p>
            <a:pPr algn="l"/>
            <a:r>
              <a:rPr sz="2000" b="1">
                <a:solidFill>
                  <a:srgbClr val="0B5FFF"/>
                </a:solidFill>
                <a:latin typeface="+mj-lt"/>
              </a:rPr>
              <a:t>Nhận xét</a:t>
            </a:r>
          </a:p>
        </p:txBody>
      </p:sp>
      <p:sp>
        <p:nvSpPr>
          <p:cNvPr id="41" name="TextBox 40"/>
          <p:cNvSpPr txBox="1"/>
          <p:nvPr/>
        </p:nvSpPr>
        <p:spPr>
          <a:xfrm>
            <a:off x="548640" y="4751718"/>
            <a:ext cx="11064240" cy="811569"/>
          </a:xfrm>
          <a:prstGeom prst="rect">
            <a:avLst/>
          </a:prstGeom>
          <a:noFill/>
        </p:spPr>
        <p:txBody>
          <a:bodyPr wrap="square" lIns="0" tIns="0" rIns="0" bIns="0">
            <a:spAutoFit/>
          </a:bodyPr>
          <a:lstStyle/>
          <a:p>
            <a:pPr algn="l">
              <a:lnSpc>
                <a:spcPct val="130000"/>
              </a:lnSpc>
              <a:spcAft>
                <a:spcPts val="400"/>
              </a:spcAft>
            </a:pPr>
            <a:r>
              <a:rPr sz="2000" b="1">
                <a:solidFill>
                  <a:srgbClr val="0B5FFF"/>
                </a:solidFill>
                <a:latin typeface="+mj-lt"/>
              </a:rPr>
              <a:t>•  </a:t>
            </a:r>
            <a:r>
              <a:rPr lang="en-US" sz="2000">
                <a:solidFill>
                  <a:srgbClr val="1F2A44"/>
                </a:solidFill>
                <a:latin typeface="+mj-lt"/>
              </a:rPr>
              <a:t>Datasets </a:t>
            </a:r>
            <a:r>
              <a:rPr lang="en-US" sz="2000" b="1">
                <a:solidFill>
                  <a:srgbClr val="1F2A44"/>
                </a:solidFill>
                <a:latin typeface="+mj-lt"/>
              </a:rPr>
              <a:t>S</a:t>
            </a:r>
            <a:r>
              <a:rPr sz="2000" b="1">
                <a:solidFill>
                  <a:srgbClr val="1F2A44"/>
                </a:solidFill>
                <a:latin typeface="+mj-lt"/>
              </a:rPr>
              <a:t>HOT</a:t>
            </a:r>
            <a:r>
              <a:rPr sz="2000">
                <a:solidFill>
                  <a:srgbClr val="1F2A44"/>
                </a:solidFill>
                <a:latin typeface="+mj-lt"/>
              </a:rPr>
              <a:t> </a:t>
            </a:r>
            <a:r>
              <a:rPr sz="2000" err="1">
                <a:solidFill>
                  <a:srgbClr val="1F2A44"/>
                </a:solidFill>
                <a:latin typeface="+mj-lt"/>
              </a:rPr>
              <a:t>có</a:t>
            </a:r>
            <a:r>
              <a:rPr sz="2000">
                <a:solidFill>
                  <a:srgbClr val="1F2A44"/>
                </a:solidFill>
                <a:latin typeface="+mj-lt"/>
              </a:rPr>
              <a:t> shot </a:t>
            </a:r>
            <a:r>
              <a:rPr sz="2000" err="1">
                <a:solidFill>
                  <a:srgbClr val="1F2A44"/>
                </a:solidFill>
                <a:latin typeface="+mj-lt"/>
              </a:rPr>
              <a:t>ngắn</a:t>
            </a:r>
            <a:r>
              <a:rPr sz="2000">
                <a:solidFill>
                  <a:srgbClr val="1F2A44"/>
                </a:solidFill>
                <a:latin typeface="+mj-lt"/>
              </a:rPr>
              <a:t> </a:t>
            </a:r>
            <a:r>
              <a:rPr sz="2000" err="1">
                <a:solidFill>
                  <a:srgbClr val="1F2A44"/>
                </a:solidFill>
                <a:latin typeface="+mj-lt"/>
              </a:rPr>
              <a:t>gấp</a:t>
            </a:r>
            <a:r>
              <a:rPr sz="2000">
                <a:solidFill>
                  <a:srgbClr val="1F2A44"/>
                </a:solidFill>
                <a:latin typeface="+mj-lt"/>
              </a:rPr>
              <a:t> 2–6 </a:t>
            </a:r>
            <a:r>
              <a:rPr sz="2000" err="1">
                <a:solidFill>
                  <a:srgbClr val="1F2A44"/>
                </a:solidFill>
                <a:latin typeface="+mj-lt"/>
              </a:rPr>
              <a:t>lần</a:t>
            </a:r>
            <a:r>
              <a:rPr sz="2000">
                <a:solidFill>
                  <a:srgbClr val="1F2A44"/>
                </a:solidFill>
                <a:latin typeface="+mj-lt"/>
              </a:rPr>
              <a:t> so </a:t>
            </a:r>
            <a:r>
              <a:rPr sz="2000" err="1">
                <a:solidFill>
                  <a:srgbClr val="1F2A44"/>
                </a:solidFill>
                <a:latin typeface="+mj-lt"/>
              </a:rPr>
              <a:t>với</a:t>
            </a:r>
            <a:r>
              <a:rPr sz="2000">
                <a:solidFill>
                  <a:srgbClr val="1F2A44"/>
                </a:solidFill>
                <a:latin typeface="+mj-lt"/>
              </a:rPr>
              <a:t> </a:t>
            </a:r>
            <a:r>
              <a:rPr sz="2000" err="1">
                <a:solidFill>
                  <a:srgbClr val="1F2A44"/>
                </a:solidFill>
                <a:latin typeface="+mj-lt"/>
              </a:rPr>
              <a:t>các</a:t>
            </a:r>
            <a:r>
              <a:rPr sz="2000">
                <a:solidFill>
                  <a:srgbClr val="1F2A44"/>
                </a:solidFill>
                <a:latin typeface="+mj-lt"/>
              </a:rPr>
              <a:t> </a:t>
            </a:r>
            <a:r>
              <a:rPr sz="2000" err="1">
                <a:solidFill>
                  <a:srgbClr val="1F2A44"/>
                </a:solidFill>
                <a:latin typeface="+mj-lt"/>
              </a:rPr>
              <a:t>bộ</a:t>
            </a:r>
            <a:r>
              <a:rPr sz="2000">
                <a:solidFill>
                  <a:srgbClr val="1F2A44"/>
                </a:solidFill>
                <a:latin typeface="+mj-lt"/>
              </a:rPr>
              <a:t> </a:t>
            </a:r>
            <a:r>
              <a:rPr sz="2000" err="1">
                <a:solidFill>
                  <a:srgbClr val="1F2A44"/>
                </a:solidFill>
                <a:latin typeface="+mj-lt"/>
              </a:rPr>
              <a:t>truyền</a:t>
            </a:r>
            <a:r>
              <a:rPr sz="2000">
                <a:solidFill>
                  <a:srgbClr val="1F2A44"/>
                </a:solidFill>
                <a:latin typeface="+mj-lt"/>
              </a:rPr>
              <a:t> </a:t>
            </a:r>
            <a:r>
              <a:rPr sz="2000" err="1">
                <a:solidFill>
                  <a:srgbClr val="1F2A44"/>
                </a:solidFill>
                <a:latin typeface="+mj-lt"/>
              </a:rPr>
              <a:t>thống</a:t>
            </a:r>
            <a:r>
              <a:rPr sz="2000">
                <a:solidFill>
                  <a:srgbClr val="1F2A44"/>
                </a:solidFill>
                <a:latin typeface="+mj-lt"/>
              </a:rPr>
              <a:t> → </a:t>
            </a:r>
            <a:r>
              <a:rPr sz="2000" err="1">
                <a:solidFill>
                  <a:srgbClr val="1F2A44"/>
                </a:solidFill>
                <a:latin typeface="+mj-lt"/>
              </a:rPr>
              <a:t>miền</a:t>
            </a:r>
            <a:r>
              <a:rPr sz="2000">
                <a:solidFill>
                  <a:srgbClr val="1F2A44"/>
                </a:solidFill>
                <a:latin typeface="+mj-lt"/>
              </a:rPr>
              <a:t> </a:t>
            </a:r>
            <a:r>
              <a:rPr sz="2000" err="1">
                <a:solidFill>
                  <a:srgbClr val="1F2A44"/>
                </a:solidFill>
                <a:latin typeface="+mj-lt"/>
              </a:rPr>
              <a:t>hoàn</a:t>
            </a:r>
            <a:r>
              <a:rPr sz="2000">
                <a:solidFill>
                  <a:srgbClr val="1F2A44"/>
                </a:solidFill>
                <a:latin typeface="+mj-lt"/>
              </a:rPr>
              <a:t> </a:t>
            </a:r>
            <a:r>
              <a:rPr sz="2000" err="1">
                <a:solidFill>
                  <a:srgbClr val="1F2A44"/>
                </a:solidFill>
                <a:latin typeface="+mj-lt"/>
              </a:rPr>
              <a:t>toàn</a:t>
            </a:r>
            <a:r>
              <a:rPr sz="2000">
                <a:solidFill>
                  <a:srgbClr val="1F2A44"/>
                </a:solidFill>
                <a:latin typeface="+mj-lt"/>
              </a:rPr>
              <a:t> </a:t>
            </a:r>
            <a:r>
              <a:rPr sz="2000" err="1">
                <a:solidFill>
                  <a:srgbClr val="1F2A44"/>
                </a:solidFill>
                <a:latin typeface="+mj-lt"/>
              </a:rPr>
              <a:t>khác</a:t>
            </a:r>
            <a:r>
              <a:rPr sz="2000">
                <a:solidFill>
                  <a:srgbClr val="1F2A44"/>
                </a:solidFill>
                <a:latin typeface="+mj-lt"/>
              </a:rPr>
              <a:t>.</a:t>
            </a:r>
          </a:p>
          <a:p>
            <a:pPr algn="l">
              <a:lnSpc>
                <a:spcPct val="130000"/>
              </a:lnSpc>
              <a:spcAft>
                <a:spcPts val="400"/>
              </a:spcAft>
            </a:pPr>
            <a:r>
              <a:rPr sz="2000" b="1">
                <a:solidFill>
                  <a:srgbClr val="0B5FFF"/>
                </a:solidFill>
                <a:latin typeface="+mj-lt"/>
              </a:rPr>
              <a:t>•  </a:t>
            </a:r>
            <a:r>
              <a:rPr sz="2000" err="1">
                <a:solidFill>
                  <a:srgbClr val="1F2A44"/>
                </a:solidFill>
                <a:latin typeface="+mj-lt"/>
              </a:rPr>
              <a:t>Đánh</a:t>
            </a:r>
            <a:r>
              <a:rPr sz="2000">
                <a:solidFill>
                  <a:srgbClr val="1F2A44"/>
                </a:solidFill>
                <a:latin typeface="+mj-lt"/>
              </a:rPr>
              <a:t> </a:t>
            </a:r>
            <a:r>
              <a:rPr sz="2000" err="1">
                <a:solidFill>
                  <a:srgbClr val="1F2A44"/>
                </a:solidFill>
                <a:latin typeface="+mj-lt"/>
              </a:rPr>
              <a:t>giá</a:t>
            </a:r>
            <a:r>
              <a:rPr sz="2000">
                <a:solidFill>
                  <a:srgbClr val="1F2A44"/>
                </a:solidFill>
                <a:latin typeface="+mj-lt"/>
              </a:rPr>
              <a:t> </a:t>
            </a:r>
            <a:r>
              <a:rPr sz="2000" err="1">
                <a:solidFill>
                  <a:srgbClr val="1F2A44"/>
                </a:solidFill>
                <a:latin typeface="+mj-lt"/>
              </a:rPr>
              <a:t>trên</a:t>
            </a:r>
            <a:r>
              <a:rPr sz="2000">
                <a:solidFill>
                  <a:srgbClr val="1F2A44"/>
                </a:solidFill>
                <a:latin typeface="+mj-lt"/>
              </a:rPr>
              <a:t> </a:t>
            </a:r>
            <a:r>
              <a:rPr sz="2000" err="1">
                <a:solidFill>
                  <a:srgbClr val="1F2A44"/>
                </a:solidFill>
                <a:latin typeface="+mj-lt"/>
              </a:rPr>
              <a:t>cả</a:t>
            </a:r>
            <a:r>
              <a:rPr sz="2000">
                <a:solidFill>
                  <a:srgbClr val="1F2A44"/>
                </a:solidFill>
                <a:latin typeface="+mj-lt"/>
              </a:rPr>
              <a:t> </a:t>
            </a:r>
            <a:r>
              <a:rPr lang="en-US" sz="2000">
                <a:solidFill>
                  <a:srgbClr val="1F2A44"/>
                </a:solidFill>
                <a:latin typeface="+mj-lt"/>
              </a:rPr>
              <a:t>3</a:t>
            </a:r>
            <a:r>
              <a:rPr sz="2000">
                <a:solidFill>
                  <a:srgbClr val="1F2A44"/>
                </a:solidFill>
                <a:latin typeface="+mj-lt"/>
              </a:rPr>
              <a:t> </a:t>
            </a:r>
            <a:r>
              <a:rPr sz="2000" err="1">
                <a:solidFill>
                  <a:srgbClr val="1F2A44"/>
                </a:solidFill>
                <a:latin typeface="+mj-lt"/>
              </a:rPr>
              <a:t>bộ</a:t>
            </a:r>
            <a:r>
              <a:rPr sz="2000">
                <a:solidFill>
                  <a:srgbClr val="1F2A44"/>
                </a:solidFill>
                <a:latin typeface="+mj-lt"/>
              </a:rPr>
              <a:t> </a:t>
            </a:r>
            <a:r>
              <a:rPr sz="2000" err="1">
                <a:solidFill>
                  <a:srgbClr val="1F2A44"/>
                </a:solidFill>
                <a:latin typeface="+mj-lt"/>
              </a:rPr>
              <a:t>giúp</a:t>
            </a:r>
            <a:r>
              <a:rPr sz="2000">
                <a:solidFill>
                  <a:srgbClr val="1F2A44"/>
                </a:solidFill>
                <a:latin typeface="+mj-lt"/>
              </a:rPr>
              <a:t> </a:t>
            </a:r>
            <a:r>
              <a:rPr sz="2000" err="1">
                <a:solidFill>
                  <a:srgbClr val="1F2A44"/>
                </a:solidFill>
                <a:latin typeface="+mj-lt"/>
              </a:rPr>
              <a:t>đo</a:t>
            </a:r>
            <a:r>
              <a:rPr sz="2000">
                <a:solidFill>
                  <a:srgbClr val="1F2A44"/>
                </a:solidFill>
                <a:latin typeface="+mj-lt"/>
              </a:rPr>
              <a:t> </a:t>
            </a:r>
            <a:r>
              <a:rPr sz="2000" err="1">
                <a:solidFill>
                  <a:srgbClr val="1F2A44"/>
                </a:solidFill>
                <a:latin typeface="+mj-lt"/>
              </a:rPr>
              <a:t>kiểm</a:t>
            </a:r>
            <a:r>
              <a:rPr sz="2000">
                <a:solidFill>
                  <a:srgbClr val="1F2A44"/>
                </a:solidFill>
                <a:latin typeface="+mj-lt"/>
              </a:rPr>
              <a:t> </a:t>
            </a:r>
            <a:r>
              <a:rPr sz="2000" err="1">
                <a:solidFill>
                  <a:srgbClr val="1F2A44"/>
                </a:solidFill>
                <a:latin typeface="+mj-lt"/>
              </a:rPr>
              <a:t>khả</a:t>
            </a:r>
            <a:r>
              <a:rPr sz="2000">
                <a:solidFill>
                  <a:srgbClr val="1F2A44"/>
                </a:solidFill>
                <a:latin typeface="+mj-lt"/>
              </a:rPr>
              <a:t> </a:t>
            </a:r>
            <a:r>
              <a:rPr sz="2000" err="1">
                <a:solidFill>
                  <a:srgbClr val="1F2A44"/>
                </a:solidFill>
                <a:latin typeface="+mj-lt"/>
              </a:rPr>
              <a:t>năng</a:t>
            </a:r>
            <a:r>
              <a:rPr sz="2000">
                <a:solidFill>
                  <a:srgbClr val="1F2A44"/>
                </a:solidFill>
                <a:latin typeface="+mj-lt"/>
              </a:rPr>
              <a:t> </a:t>
            </a:r>
            <a:r>
              <a:rPr sz="2000" err="1">
                <a:solidFill>
                  <a:srgbClr val="1F2A44"/>
                </a:solidFill>
                <a:latin typeface="+mj-lt"/>
              </a:rPr>
              <a:t>tổng</a:t>
            </a:r>
            <a:r>
              <a:rPr sz="2000">
                <a:solidFill>
                  <a:srgbClr val="1F2A44"/>
                </a:solidFill>
                <a:latin typeface="+mj-lt"/>
              </a:rPr>
              <a:t> </a:t>
            </a:r>
            <a:r>
              <a:rPr sz="2000" err="1">
                <a:solidFill>
                  <a:srgbClr val="1F2A44"/>
                </a:solidFill>
                <a:latin typeface="+mj-lt"/>
              </a:rPr>
              <a:t>quát</a:t>
            </a:r>
            <a:r>
              <a:rPr sz="2000">
                <a:solidFill>
                  <a:srgbClr val="1F2A44"/>
                </a:solidFill>
                <a:latin typeface="+mj-lt"/>
              </a:rPr>
              <a:t> </a:t>
            </a:r>
            <a:r>
              <a:rPr sz="2000" err="1">
                <a:solidFill>
                  <a:srgbClr val="1F2A44"/>
                </a:solidFill>
                <a:latin typeface="+mj-lt"/>
              </a:rPr>
              <a:t>hóa</a:t>
            </a:r>
            <a:r>
              <a:rPr sz="2000">
                <a:solidFill>
                  <a:srgbClr val="1F2A44"/>
                </a:solidFill>
                <a:latin typeface="+mj-lt"/>
              </a:rPr>
              <a:t> </a:t>
            </a:r>
            <a:r>
              <a:rPr sz="2000" err="1">
                <a:solidFill>
                  <a:srgbClr val="1F2A44"/>
                </a:solidFill>
                <a:latin typeface="+mj-lt"/>
              </a:rPr>
              <a:t>của</a:t>
            </a:r>
            <a:r>
              <a:rPr sz="2000">
                <a:solidFill>
                  <a:srgbClr val="1F2A44"/>
                </a:solidFill>
                <a:latin typeface="+mj-lt"/>
              </a:rPr>
              <a:t> </a:t>
            </a:r>
            <a:r>
              <a:rPr sz="2000" err="1">
                <a:solidFill>
                  <a:srgbClr val="1F2A44"/>
                </a:solidFill>
                <a:latin typeface="+mj-lt"/>
              </a:rPr>
              <a:t>mô</a:t>
            </a:r>
            <a:r>
              <a:rPr sz="2000">
                <a:solidFill>
                  <a:srgbClr val="1F2A44"/>
                </a:solidFill>
                <a:latin typeface="+mj-lt"/>
              </a:rPr>
              <a:t> </a:t>
            </a:r>
            <a:r>
              <a:rPr sz="2000" err="1">
                <a:solidFill>
                  <a:srgbClr val="1F2A44"/>
                </a:solidFill>
                <a:latin typeface="+mj-lt"/>
              </a:rPr>
              <a:t>hình</a:t>
            </a:r>
            <a:r>
              <a:rPr sz="2000">
                <a:solidFill>
                  <a:srgbClr val="1F2A44"/>
                </a:solidFill>
                <a:latin typeface="+mj-lt"/>
              </a:rPr>
              <a:t>.</a:t>
            </a:r>
          </a:p>
        </p:txBody>
      </p:sp>
      <p:sp>
        <p:nvSpPr>
          <p:cNvPr id="8" name="TextBox 7">
            <a:extLst>
              <a:ext uri="{FF2B5EF4-FFF2-40B4-BE49-F238E27FC236}">
                <a16:creationId xmlns:a16="http://schemas.microsoft.com/office/drawing/2014/main" id="{4DE927C9-2611-75CA-F24B-21B6E44CA5A2}"/>
              </a:ext>
            </a:extLst>
          </p:cNvPr>
          <p:cNvSpPr txBox="1"/>
          <p:nvPr/>
        </p:nvSpPr>
        <p:spPr>
          <a:xfrm>
            <a:off x="548640" y="320040"/>
            <a:ext cx="9144000" cy="215444"/>
          </a:xfrm>
          <a:prstGeom prst="rect">
            <a:avLst/>
          </a:prstGeom>
          <a:noFill/>
        </p:spPr>
        <p:txBody>
          <a:bodyPr wrap="square" lIns="0" tIns="0" rIns="0" bIns="0" anchor="t">
            <a:spAutoFit/>
          </a:bodyPr>
          <a:lstStyle/>
          <a:p>
            <a:pPr algn="l"/>
            <a:r>
              <a:rPr lang="en-US" sz="1400" b="1">
                <a:solidFill>
                  <a:srgbClr val="0891B2"/>
                </a:solidFill>
                <a:latin typeface="+mj-lt"/>
              </a:rPr>
              <a:t>4. </a:t>
            </a:r>
            <a:r>
              <a:rPr lang="en-US" sz="1400" b="1" err="1">
                <a:solidFill>
                  <a:srgbClr val="0891B2"/>
                </a:solidFill>
                <a:latin typeface="+mj-lt"/>
              </a:rPr>
              <a:t>THỰC</a:t>
            </a:r>
            <a:r>
              <a:rPr lang="en-US" sz="1400" b="1">
                <a:solidFill>
                  <a:srgbClr val="0891B2"/>
                </a:solidFill>
                <a:latin typeface="+mj-lt"/>
              </a:rPr>
              <a:t> </a:t>
            </a:r>
            <a:r>
              <a:rPr lang="en-US" sz="1400" b="1" err="1">
                <a:solidFill>
                  <a:srgbClr val="0891B2"/>
                </a:solidFill>
                <a:latin typeface="+mj-lt"/>
              </a:rPr>
              <a:t>NGHIỆM</a:t>
            </a:r>
            <a:r>
              <a:rPr lang="en-US" sz="1400" b="1">
                <a:solidFill>
                  <a:srgbClr val="0891B2"/>
                </a:solidFill>
                <a:latin typeface="+mj-lt"/>
              </a:rPr>
              <a:t> </a:t>
            </a:r>
            <a:r>
              <a:rPr lang="en-US" sz="1400" b="1" err="1">
                <a:solidFill>
                  <a:srgbClr val="0891B2"/>
                </a:solidFill>
                <a:latin typeface="+mj-lt"/>
              </a:rPr>
              <a:t>VÀ</a:t>
            </a:r>
            <a:r>
              <a:rPr lang="en-US" sz="1400" b="1">
                <a:solidFill>
                  <a:srgbClr val="0891B2"/>
                </a:solidFill>
                <a:latin typeface="+mj-lt"/>
              </a:rPr>
              <a:t> </a:t>
            </a:r>
            <a:r>
              <a:rPr lang="en-US" sz="1400" b="1" err="1">
                <a:solidFill>
                  <a:srgbClr val="0891B2"/>
                </a:solidFill>
                <a:latin typeface="+mj-lt"/>
              </a:rPr>
              <a:t>KẾT</a:t>
            </a:r>
            <a:r>
              <a:rPr lang="en-US" sz="1400" b="1">
                <a:solidFill>
                  <a:srgbClr val="0891B2"/>
                </a:solidFill>
                <a:latin typeface="+mj-lt"/>
              </a:rPr>
              <a:t> </a:t>
            </a:r>
            <a:r>
              <a:rPr lang="en-US" sz="1400" b="1" err="1">
                <a:solidFill>
                  <a:srgbClr val="0891B2"/>
                </a:solidFill>
                <a:latin typeface="+mj-lt"/>
              </a:rPr>
              <a:t>QUẢ</a:t>
            </a:r>
            <a:r>
              <a:rPr lang="en-US" sz="1400" b="1">
                <a:solidFill>
                  <a:srgbClr val="0891B2"/>
                </a:solidFill>
                <a:latin typeface="+mj-lt"/>
              </a:rPr>
              <a:t> </a:t>
            </a:r>
            <a:endParaRPr sz="1400" b="1">
              <a:solidFill>
                <a:srgbClr val="0891B2"/>
              </a:solidFill>
              <a:latin typeface="+mj-lt"/>
            </a:endParaRPr>
          </a:p>
        </p:txBody>
      </p:sp>
    </p:spTree>
    <p:extLst>
      <p:ext uri="{BB962C8B-B14F-4D97-AF65-F5344CB8AC3E}">
        <p14:creationId xmlns:p14="http://schemas.microsoft.com/office/powerpoint/2010/main" val="1237850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2"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F2A44"/>
                </a:solidFill>
                <a:latin typeface="+mj-lt"/>
              </a:rPr>
              <a:t>Độ đo đánh giá</a:t>
            </a:r>
          </a:p>
        </p:txBody>
      </p:sp>
      <p:cxnSp>
        <p:nvCxnSpPr>
          <p:cNvPr id="6" name="Connector 5"/>
          <p:cNvCxnSpPr/>
          <p:nvPr/>
        </p:nvCxnSpPr>
        <p:spPr>
          <a:xfrm>
            <a:off x="548640" y="1325880"/>
            <a:ext cx="11091672"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6350">
            <a:solidFill>
              <a:srgbClr val="E1E6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5B6B85"/>
                </a:solidFill>
                <a:latin typeface="+mj-lt"/>
              </a:rPr>
              <a:t>20 / 25</a:t>
            </a:r>
          </a:p>
        </p:txBody>
      </p:sp>
      <p:sp>
        <p:nvSpPr>
          <p:cNvPr id="10" name="Rounded Rectangle 9"/>
          <p:cNvSpPr/>
          <p:nvPr/>
        </p:nvSpPr>
        <p:spPr>
          <a:xfrm>
            <a:off x="548640" y="2981739"/>
            <a:ext cx="3657600" cy="3236177"/>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1" name="Rectangle 10"/>
          <p:cNvSpPr/>
          <p:nvPr/>
        </p:nvSpPr>
        <p:spPr>
          <a:xfrm>
            <a:off x="548640" y="2981740"/>
            <a:ext cx="3657600" cy="548640"/>
          </a:xfrm>
          <a:prstGeom prst="rect">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2" name="TextBox 11"/>
          <p:cNvSpPr txBox="1"/>
          <p:nvPr/>
        </p:nvSpPr>
        <p:spPr>
          <a:xfrm>
            <a:off x="777240" y="3118900"/>
            <a:ext cx="3200400" cy="246221"/>
          </a:xfrm>
          <a:prstGeom prst="rect">
            <a:avLst/>
          </a:prstGeom>
          <a:noFill/>
        </p:spPr>
        <p:txBody>
          <a:bodyPr wrap="square" lIns="0" tIns="0" rIns="0" bIns="0" anchor="t">
            <a:spAutoFit/>
          </a:bodyPr>
          <a:lstStyle/>
          <a:p>
            <a:pPr algn="l"/>
            <a:r>
              <a:rPr sz="1600" b="1">
                <a:solidFill>
                  <a:srgbClr val="FFFFFF"/>
                </a:solidFill>
                <a:latin typeface="+mj-lt"/>
              </a:rPr>
              <a:t>Precision</a:t>
            </a:r>
          </a:p>
        </p:txBody>
      </p:sp>
      <mc:AlternateContent xmlns:mc="http://schemas.openxmlformats.org/markup-compatibility/2006" xmlns:a14="http://schemas.microsoft.com/office/drawing/2010/main">
        <mc:Choice Requires="a14">
          <p:sp>
            <p:nvSpPr>
              <p:cNvPr id="13" name="TextBox 12"/>
              <p:cNvSpPr txBox="1"/>
              <p:nvPr/>
            </p:nvSpPr>
            <p:spPr>
              <a:xfrm>
                <a:off x="777240" y="3758980"/>
                <a:ext cx="3200400" cy="581378"/>
              </a:xfrm>
              <a:prstGeom prst="rect">
                <a:avLst/>
              </a:prstGeom>
              <a:noFill/>
            </p:spPr>
            <p:txBody>
              <a:bodyPr wrap="square" lIns="0" tIns="0" rIns="0" bIns="0" anchor="t">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rgbClr val="1F2A44"/>
                              </a:solidFill>
                              <a:latin typeface="Cambria Math" panose="02040503050406030204" pitchFamily="18" charset="0"/>
                            </a:rPr>
                          </m:ctrlPr>
                        </m:fPr>
                        <m:num>
                          <m:r>
                            <a:rPr lang="en-US" sz="2000" b="1" i="0" smtClean="0">
                              <a:solidFill>
                                <a:srgbClr val="1F2A44"/>
                              </a:solidFill>
                              <a:latin typeface="Cambria Math" panose="02040503050406030204" pitchFamily="18" charset="0"/>
                            </a:rPr>
                            <m:t>𝐓𝐏</m:t>
                          </m:r>
                        </m:num>
                        <m:den>
                          <m:r>
                            <a:rPr lang="en-US" sz="2000" b="1">
                              <a:solidFill>
                                <a:srgbClr val="1F2A44"/>
                              </a:solidFill>
                              <a:latin typeface="Cambria Math" panose="02040503050406030204" pitchFamily="18" charset="0"/>
                            </a:rPr>
                            <m:t>𝐓</m:t>
                          </m:r>
                          <m:r>
                            <a:rPr lang="en-US" sz="2000" b="1" i="0" smtClean="0">
                              <a:solidFill>
                                <a:srgbClr val="1F2A44"/>
                              </a:solidFill>
                              <a:latin typeface="Cambria Math" panose="02040503050406030204" pitchFamily="18" charset="0"/>
                            </a:rPr>
                            <m:t>𝐏</m:t>
                          </m:r>
                          <m:r>
                            <a:rPr lang="en-US" sz="2000" b="1">
                              <a:solidFill>
                                <a:srgbClr val="1F2A44"/>
                              </a:solidFill>
                              <a:latin typeface="Cambria Math" panose="02040503050406030204" pitchFamily="18" charset="0"/>
                            </a:rPr>
                            <m:t>+</m:t>
                          </m:r>
                          <m:r>
                            <a:rPr lang="en-US" sz="2000" b="1" i="0" smtClean="0">
                              <a:solidFill>
                                <a:srgbClr val="1F2A44"/>
                              </a:solidFill>
                              <a:latin typeface="Cambria Math" panose="02040503050406030204" pitchFamily="18" charset="0"/>
                            </a:rPr>
                            <m:t>𝐅𝐏</m:t>
                          </m:r>
                        </m:den>
                      </m:f>
                    </m:oMath>
                  </m:oMathPara>
                </a14:m>
                <a:endParaRPr sz="2000" b="1">
                  <a:solidFill>
                    <a:srgbClr val="1F2A44"/>
                  </a:solidFill>
                  <a:latin typeface="+mj-lt"/>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777240" y="3758980"/>
                <a:ext cx="3200400" cy="581378"/>
              </a:xfrm>
              <a:prstGeom prst="rect">
                <a:avLst/>
              </a:prstGeom>
              <a:blipFill>
                <a:blip r:embed="rId3"/>
                <a:stretch>
                  <a:fillRect/>
                </a:stretch>
              </a:blipFill>
            </p:spPr>
            <p:txBody>
              <a:bodyPr/>
              <a:lstStyle/>
              <a:p>
                <a:r>
                  <a:rPr lang="en-US">
                    <a:noFill/>
                  </a:rPr>
                  <a:t> </a:t>
                </a:r>
              </a:p>
            </p:txBody>
          </p:sp>
        </mc:Fallback>
      </mc:AlternateContent>
      <p:cxnSp>
        <p:nvCxnSpPr>
          <p:cNvPr id="14" name="Connector 13"/>
          <p:cNvCxnSpPr/>
          <p:nvPr/>
        </p:nvCxnSpPr>
        <p:spPr>
          <a:xfrm>
            <a:off x="777240" y="4653504"/>
            <a:ext cx="3200400"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5069502"/>
            <a:ext cx="3200400" cy="615553"/>
          </a:xfrm>
          <a:prstGeom prst="rect">
            <a:avLst/>
          </a:prstGeom>
          <a:noFill/>
        </p:spPr>
        <p:txBody>
          <a:bodyPr wrap="square" lIns="0" tIns="0" rIns="0" bIns="0" anchor="t">
            <a:spAutoFit/>
          </a:bodyPr>
          <a:lstStyle/>
          <a:p>
            <a:pPr algn="l"/>
            <a:r>
              <a:rPr sz="2000" b="0">
                <a:solidFill>
                  <a:srgbClr val="5B6B85"/>
                </a:solidFill>
                <a:latin typeface="+mj-lt"/>
              </a:rPr>
              <a:t>Tỉ lệ dự đoán đúng trong số</a:t>
            </a:r>
            <a:r>
              <a:rPr lang="en-US" sz="2000" b="0">
                <a:solidFill>
                  <a:srgbClr val="5B6B85"/>
                </a:solidFill>
                <a:latin typeface="+mj-lt"/>
              </a:rPr>
              <a:t> các</a:t>
            </a:r>
            <a:r>
              <a:rPr sz="2000" b="0">
                <a:solidFill>
                  <a:srgbClr val="5B6B85"/>
                </a:solidFill>
                <a:latin typeface="+mj-lt"/>
              </a:rPr>
              <a:t> </a:t>
            </a:r>
            <a:r>
              <a:rPr lang="en-US" sz="2000">
                <a:solidFill>
                  <a:srgbClr val="5B6B85"/>
                </a:solidFill>
                <a:latin typeface="+mj-lt"/>
              </a:rPr>
              <a:t>chuyển cảnh đã</a:t>
            </a:r>
            <a:r>
              <a:rPr sz="2000" b="0">
                <a:solidFill>
                  <a:srgbClr val="5B6B85"/>
                </a:solidFill>
                <a:latin typeface="+mj-lt"/>
              </a:rPr>
              <a:t> dự đoán.</a:t>
            </a:r>
          </a:p>
        </p:txBody>
      </p:sp>
      <p:sp>
        <p:nvSpPr>
          <p:cNvPr id="16" name="Rounded Rectangle 15"/>
          <p:cNvSpPr/>
          <p:nvPr/>
        </p:nvSpPr>
        <p:spPr>
          <a:xfrm>
            <a:off x="4343400" y="2981739"/>
            <a:ext cx="3657600" cy="3236177"/>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7" name="Rectangle 16"/>
          <p:cNvSpPr/>
          <p:nvPr/>
        </p:nvSpPr>
        <p:spPr>
          <a:xfrm>
            <a:off x="4343400" y="2981740"/>
            <a:ext cx="3657600" cy="548640"/>
          </a:xfrm>
          <a:prstGeom prst="rect">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8" name="TextBox 17"/>
          <p:cNvSpPr txBox="1"/>
          <p:nvPr/>
        </p:nvSpPr>
        <p:spPr>
          <a:xfrm>
            <a:off x="4572000" y="3118900"/>
            <a:ext cx="3200400" cy="246221"/>
          </a:xfrm>
          <a:prstGeom prst="rect">
            <a:avLst/>
          </a:prstGeom>
          <a:noFill/>
        </p:spPr>
        <p:txBody>
          <a:bodyPr wrap="square" lIns="0" tIns="0" rIns="0" bIns="0" anchor="t">
            <a:spAutoFit/>
          </a:bodyPr>
          <a:lstStyle/>
          <a:p>
            <a:pPr algn="l"/>
            <a:r>
              <a:rPr sz="1600" b="1">
                <a:solidFill>
                  <a:srgbClr val="FFFFFF"/>
                </a:solidFill>
                <a:latin typeface="+mj-lt"/>
              </a:rPr>
              <a:t>Recall</a:t>
            </a:r>
          </a:p>
        </p:txBody>
      </p:sp>
      <mc:AlternateContent xmlns:mc="http://schemas.openxmlformats.org/markup-compatibility/2006" xmlns:a14="http://schemas.microsoft.com/office/drawing/2010/main">
        <mc:Choice Requires="a14">
          <p:sp>
            <p:nvSpPr>
              <p:cNvPr id="19" name="TextBox 18"/>
              <p:cNvSpPr txBox="1"/>
              <p:nvPr/>
            </p:nvSpPr>
            <p:spPr>
              <a:xfrm>
                <a:off x="4572000" y="3758980"/>
                <a:ext cx="3200400" cy="581378"/>
              </a:xfrm>
              <a:prstGeom prst="rect">
                <a:avLst/>
              </a:prstGeom>
              <a:noFill/>
            </p:spPr>
            <p:txBody>
              <a:bodyPr wrap="square" lIns="0" tIns="0" rIns="0" bIns="0" anchor="t">
                <a:spAutoFit/>
              </a:bodyPr>
              <a:lstStyle/>
              <a:p>
                <a:pPr algn="l"/>
                <a14:m>
                  <m:oMathPara xmlns:m="http://schemas.openxmlformats.org/officeDocument/2006/math">
                    <m:oMathParaPr>
                      <m:jc m:val="centerGroup"/>
                    </m:oMathParaPr>
                    <m:oMath xmlns:m="http://schemas.openxmlformats.org/officeDocument/2006/math">
                      <m:f>
                        <m:fPr>
                          <m:ctrlPr>
                            <a:rPr lang="en-US" sz="2000" b="1" i="1" smtClean="0">
                              <a:solidFill>
                                <a:srgbClr val="1F2A44"/>
                              </a:solidFill>
                              <a:latin typeface="Cambria Math" panose="02040503050406030204" pitchFamily="18" charset="0"/>
                            </a:rPr>
                          </m:ctrlPr>
                        </m:fPr>
                        <m:num>
                          <m:r>
                            <a:rPr lang="en-US" sz="2000" b="1" i="0" smtClean="0">
                              <a:solidFill>
                                <a:srgbClr val="1F2A44"/>
                              </a:solidFill>
                              <a:latin typeface="Cambria Math" panose="02040503050406030204" pitchFamily="18" charset="0"/>
                            </a:rPr>
                            <m:t>𝐓𝐏</m:t>
                          </m:r>
                        </m:num>
                        <m:den>
                          <m:r>
                            <a:rPr lang="en-US" sz="2000" b="1" i="0" smtClean="0">
                              <a:solidFill>
                                <a:srgbClr val="1F2A44"/>
                              </a:solidFill>
                              <a:latin typeface="Cambria Math" panose="02040503050406030204" pitchFamily="18" charset="0"/>
                            </a:rPr>
                            <m:t>𝐓𝐏</m:t>
                          </m:r>
                          <m:r>
                            <a:rPr lang="en-US" sz="2000" b="1" i="0" smtClean="0">
                              <a:solidFill>
                                <a:srgbClr val="1F2A44"/>
                              </a:solidFill>
                              <a:latin typeface="Cambria Math" panose="02040503050406030204" pitchFamily="18" charset="0"/>
                            </a:rPr>
                            <m:t>+</m:t>
                          </m:r>
                          <m:r>
                            <a:rPr lang="en-US" sz="2000" b="1" i="0" smtClean="0">
                              <a:solidFill>
                                <a:srgbClr val="1F2A44"/>
                              </a:solidFill>
                              <a:latin typeface="Cambria Math" panose="02040503050406030204" pitchFamily="18" charset="0"/>
                            </a:rPr>
                            <m:t>𝐅𝐍</m:t>
                          </m:r>
                        </m:den>
                      </m:f>
                    </m:oMath>
                  </m:oMathPara>
                </a14:m>
                <a:endParaRPr lang="en-US" sz="2000" b="1">
                  <a:solidFill>
                    <a:srgbClr val="1F2A44"/>
                  </a:solidFill>
                  <a:latin typeface="Cambria Math" panose="02040503050406030204" pitchFamily="18"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4572000" y="3758980"/>
                <a:ext cx="3200400" cy="581378"/>
              </a:xfrm>
              <a:prstGeom prst="rect">
                <a:avLst/>
              </a:prstGeom>
              <a:blipFill>
                <a:blip r:embed="rId4"/>
                <a:stretch>
                  <a:fillRect/>
                </a:stretch>
              </a:blipFill>
            </p:spPr>
            <p:txBody>
              <a:bodyPr/>
              <a:lstStyle/>
              <a:p>
                <a:r>
                  <a:rPr lang="en-US">
                    <a:noFill/>
                  </a:rPr>
                  <a:t> </a:t>
                </a:r>
              </a:p>
            </p:txBody>
          </p:sp>
        </mc:Fallback>
      </mc:AlternateContent>
      <p:cxnSp>
        <p:nvCxnSpPr>
          <p:cNvPr id="20" name="Connector 19"/>
          <p:cNvCxnSpPr/>
          <p:nvPr/>
        </p:nvCxnSpPr>
        <p:spPr>
          <a:xfrm>
            <a:off x="4572000" y="4653504"/>
            <a:ext cx="3200400"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0" y="5069501"/>
            <a:ext cx="3200400" cy="615553"/>
          </a:xfrm>
          <a:prstGeom prst="rect">
            <a:avLst/>
          </a:prstGeom>
          <a:noFill/>
        </p:spPr>
        <p:txBody>
          <a:bodyPr wrap="square" lIns="0" tIns="0" rIns="0" bIns="0" anchor="t">
            <a:spAutoFit/>
          </a:bodyPr>
          <a:lstStyle/>
          <a:p>
            <a:pPr algn="l"/>
            <a:r>
              <a:rPr sz="2000" b="0">
                <a:solidFill>
                  <a:srgbClr val="5B6B85"/>
                </a:solidFill>
                <a:latin typeface="+mj-lt"/>
              </a:rPr>
              <a:t>Tỉ lệ </a:t>
            </a:r>
            <a:r>
              <a:rPr lang="en-US" sz="2000">
                <a:solidFill>
                  <a:srgbClr val="5B6B85"/>
                </a:solidFill>
                <a:latin typeface="+mj-lt"/>
              </a:rPr>
              <a:t>chuyển cảnh</a:t>
            </a:r>
            <a:r>
              <a:rPr sz="2000" b="0">
                <a:solidFill>
                  <a:srgbClr val="5B6B85"/>
                </a:solidFill>
                <a:latin typeface="+mj-lt"/>
              </a:rPr>
              <a:t> thật được phát hiện.</a:t>
            </a:r>
          </a:p>
        </p:txBody>
      </p:sp>
      <p:sp>
        <p:nvSpPr>
          <p:cNvPr id="22" name="Rounded Rectangle 21"/>
          <p:cNvSpPr/>
          <p:nvPr/>
        </p:nvSpPr>
        <p:spPr>
          <a:xfrm>
            <a:off x="8138160" y="2981739"/>
            <a:ext cx="3657600" cy="3236178"/>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23" name="Rectangle 22"/>
          <p:cNvSpPr/>
          <p:nvPr/>
        </p:nvSpPr>
        <p:spPr>
          <a:xfrm>
            <a:off x="8138160" y="2981740"/>
            <a:ext cx="3657600" cy="548640"/>
          </a:xfrm>
          <a:prstGeom prst="rect">
            <a:avLst/>
          </a:prstGeom>
          <a:solidFill>
            <a:srgbClr val="1B365D"/>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4" name="TextBox 23"/>
          <p:cNvSpPr txBox="1"/>
          <p:nvPr/>
        </p:nvSpPr>
        <p:spPr>
          <a:xfrm>
            <a:off x="8366760" y="3118900"/>
            <a:ext cx="3200400" cy="246221"/>
          </a:xfrm>
          <a:prstGeom prst="rect">
            <a:avLst/>
          </a:prstGeom>
          <a:noFill/>
        </p:spPr>
        <p:txBody>
          <a:bodyPr wrap="square" lIns="0" tIns="0" rIns="0" bIns="0" anchor="t">
            <a:spAutoFit/>
          </a:bodyPr>
          <a:lstStyle/>
          <a:p>
            <a:pPr algn="l"/>
            <a:r>
              <a:rPr sz="1600" b="1">
                <a:solidFill>
                  <a:srgbClr val="FFFFFF"/>
                </a:solidFill>
                <a:latin typeface="+mj-lt"/>
              </a:rPr>
              <a:t>F1-Score</a:t>
            </a:r>
          </a:p>
        </p:txBody>
      </p:sp>
      <mc:AlternateContent xmlns:mc="http://schemas.openxmlformats.org/markup-compatibility/2006" xmlns:a14="http://schemas.microsoft.com/office/drawing/2010/main">
        <mc:Choice Requires="a14">
          <p:sp>
            <p:nvSpPr>
              <p:cNvPr id="25" name="TextBox 24"/>
              <p:cNvSpPr txBox="1"/>
              <p:nvPr/>
            </p:nvSpPr>
            <p:spPr>
              <a:xfrm>
                <a:off x="8366760" y="3758980"/>
                <a:ext cx="3200400" cy="589777"/>
              </a:xfrm>
              <a:prstGeom prst="rect">
                <a:avLst/>
              </a:prstGeom>
              <a:noFill/>
            </p:spPr>
            <p:txBody>
              <a:bodyPr wrap="square" lIns="0" tIns="0" rIns="0" bIns="0" anchor="t">
                <a:spAutoFit/>
              </a:bodyPr>
              <a:lstStyle/>
              <a:p>
                <a:pPr algn="l"/>
                <a14:m>
                  <m:oMathPara xmlns:m="http://schemas.openxmlformats.org/officeDocument/2006/math">
                    <m:oMathParaPr>
                      <m:jc m:val="centerGroup"/>
                    </m:oMathParaPr>
                    <m:oMath xmlns:m="http://schemas.openxmlformats.org/officeDocument/2006/math">
                      <m:r>
                        <a:rPr lang="en-US" sz="2000" b="1" i="1" smtClean="0">
                          <a:solidFill>
                            <a:srgbClr val="1F2A44"/>
                          </a:solidFill>
                          <a:latin typeface="Cambria Math" panose="02040503050406030204" pitchFamily="18" charset="0"/>
                        </a:rPr>
                        <m:t>𝟐</m:t>
                      </m:r>
                      <m:r>
                        <a:rPr lang="en-US" sz="2000" b="1" i="1" smtClean="0">
                          <a:solidFill>
                            <a:srgbClr val="1F2A44"/>
                          </a:solidFill>
                          <a:latin typeface="Cambria Math" panose="02040503050406030204" pitchFamily="18" charset="0"/>
                          <a:ea typeface="Cambria Math" panose="02040503050406030204" pitchFamily="18" charset="0"/>
                        </a:rPr>
                        <m:t>×</m:t>
                      </m:r>
                      <m:f>
                        <m:fPr>
                          <m:ctrlPr>
                            <a:rPr lang="en-US" sz="2000" b="1" i="1" smtClean="0">
                              <a:solidFill>
                                <a:srgbClr val="1F2A44"/>
                              </a:solidFill>
                              <a:latin typeface="Cambria Math" panose="02040503050406030204" pitchFamily="18" charset="0"/>
                            </a:rPr>
                          </m:ctrlPr>
                        </m:fPr>
                        <m:num>
                          <m:r>
                            <a:rPr lang="en-US" sz="2000" b="1" i="1" smtClean="0">
                              <a:solidFill>
                                <a:srgbClr val="1F2A44"/>
                              </a:solidFill>
                              <a:latin typeface="Cambria Math" panose="02040503050406030204" pitchFamily="18" charset="0"/>
                            </a:rPr>
                            <m:t>𝑷𝒓𝒆𝒄𝒊𝒔𝒊𝒐𝒏</m:t>
                          </m:r>
                          <m:r>
                            <a:rPr lang="en-US" sz="2000" b="1" i="1" smtClean="0">
                              <a:solidFill>
                                <a:srgbClr val="1F2A44"/>
                              </a:solidFill>
                              <a:latin typeface="Cambria Math" panose="02040503050406030204" pitchFamily="18" charset="0"/>
                              <a:ea typeface="Cambria Math" panose="02040503050406030204" pitchFamily="18" charset="0"/>
                            </a:rPr>
                            <m:t>×</m:t>
                          </m:r>
                          <m:r>
                            <a:rPr lang="en-US" sz="2000" b="1" i="1" smtClean="0">
                              <a:solidFill>
                                <a:srgbClr val="1F2A44"/>
                              </a:solidFill>
                              <a:latin typeface="Cambria Math" panose="02040503050406030204" pitchFamily="18" charset="0"/>
                              <a:ea typeface="Cambria Math" panose="02040503050406030204" pitchFamily="18" charset="0"/>
                            </a:rPr>
                            <m:t>𝑹𝒆𝒄𝒂𝒍𝒍</m:t>
                          </m:r>
                        </m:num>
                        <m:den>
                          <m:r>
                            <a:rPr lang="en-US" sz="2000" b="1" i="1" smtClean="0">
                              <a:solidFill>
                                <a:srgbClr val="1F2A44"/>
                              </a:solidFill>
                              <a:latin typeface="Cambria Math" panose="02040503050406030204" pitchFamily="18" charset="0"/>
                            </a:rPr>
                            <m:t>𝑷𝒓𝒆𝒄𝒊𝒔𝒊𝒐𝒏</m:t>
                          </m:r>
                          <m:r>
                            <a:rPr lang="en-US" sz="2000" b="1" i="1" smtClean="0">
                              <a:solidFill>
                                <a:srgbClr val="1F2A44"/>
                              </a:solidFill>
                              <a:latin typeface="Cambria Math" panose="02040503050406030204" pitchFamily="18" charset="0"/>
                            </a:rPr>
                            <m:t>+</m:t>
                          </m:r>
                          <m:r>
                            <a:rPr lang="en-US" sz="2000" b="1" i="1" smtClean="0">
                              <a:solidFill>
                                <a:srgbClr val="1F2A44"/>
                              </a:solidFill>
                              <a:latin typeface="Cambria Math" panose="02040503050406030204" pitchFamily="18" charset="0"/>
                            </a:rPr>
                            <m:t>𝑹𝒆𝒄𝒂𝒍𝒍</m:t>
                          </m:r>
                        </m:den>
                      </m:f>
                    </m:oMath>
                  </m:oMathPara>
                </a14:m>
                <a:endParaRPr sz="2000" b="1">
                  <a:solidFill>
                    <a:srgbClr val="1F2A44"/>
                  </a:solidFill>
                  <a:latin typeface="+mj-lt"/>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8366760" y="3758980"/>
                <a:ext cx="3200400" cy="589777"/>
              </a:xfrm>
              <a:prstGeom prst="rect">
                <a:avLst/>
              </a:prstGeom>
              <a:blipFill>
                <a:blip r:embed="rId5"/>
                <a:stretch>
                  <a:fillRect/>
                </a:stretch>
              </a:blipFill>
            </p:spPr>
            <p:txBody>
              <a:bodyPr/>
              <a:lstStyle/>
              <a:p>
                <a:r>
                  <a:rPr lang="en-US">
                    <a:noFill/>
                  </a:rPr>
                  <a:t> </a:t>
                </a:r>
              </a:p>
            </p:txBody>
          </p:sp>
        </mc:Fallback>
      </mc:AlternateContent>
      <p:cxnSp>
        <p:nvCxnSpPr>
          <p:cNvPr id="26" name="Connector 25"/>
          <p:cNvCxnSpPr/>
          <p:nvPr/>
        </p:nvCxnSpPr>
        <p:spPr>
          <a:xfrm>
            <a:off x="8366760" y="4653504"/>
            <a:ext cx="3200400"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366760" y="5069502"/>
            <a:ext cx="3200400" cy="923330"/>
          </a:xfrm>
          <a:prstGeom prst="rect">
            <a:avLst/>
          </a:prstGeom>
          <a:noFill/>
        </p:spPr>
        <p:txBody>
          <a:bodyPr wrap="square" lIns="0" tIns="0" rIns="0" bIns="0" anchor="t">
            <a:spAutoFit/>
          </a:bodyPr>
          <a:lstStyle/>
          <a:p>
            <a:pPr algn="l"/>
            <a:r>
              <a:rPr sz="2000" b="0">
                <a:solidFill>
                  <a:srgbClr val="5B6B85"/>
                </a:solidFill>
                <a:latin typeface="+mj-lt"/>
              </a:rPr>
              <a:t>Trung bình điều hòa </a:t>
            </a:r>
            <a:r>
              <a:rPr lang="en-US" sz="2000" b="0">
                <a:solidFill>
                  <a:srgbClr val="5B6B85"/>
                </a:solidFill>
                <a:latin typeface="+mj-lt"/>
              </a:rPr>
              <a:t>chỉ số</a:t>
            </a:r>
            <a:r>
              <a:rPr sz="2000" b="0">
                <a:solidFill>
                  <a:srgbClr val="5B6B85"/>
                </a:solidFill>
                <a:latin typeface="+mj-lt"/>
              </a:rPr>
              <a:t> độ đo</a:t>
            </a:r>
            <a:r>
              <a:rPr lang="en-US" sz="2000" b="0">
                <a:solidFill>
                  <a:srgbClr val="5B6B85"/>
                </a:solidFill>
                <a:latin typeface="+mj-lt"/>
              </a:rPr>
              <a:t> và cũng là độ đo</a:t>
            </a:r>
            <a:r>
              <a:rPr sz="2000" b="0">
                <a:solidFill>
                  <a:srgbClr val="5B6B85"/>
                </a:solidFill>
                <a:latin typeface="+mj-lt"/>
              </a:rPr>
              <a:t> chính của </a:t>
            </a:r>
            <a:r>
              <a:rPr lang="en-US" sz="2000">
                <a:solidFill>
                  <a:srgbClr val="5B6B85"/>
                </a:solidFill>
                <a:latin typeface="+mj-lt"/>
              </a:rPr>
              <a:t>bài toán</a:t>
            </a:r>
            <a:r>
              <a:rPr sz="2000" b="0">
                <a:solidFill>
                  <a:srgbClr val="5B6B85"/>
                </a:solidFill>
                <a:latin typeface="+mj-lt"/>
              </a:rPr>
              <a:t>.</a:t>
            </a:r>
          </a:p>
        </p:txBody>
      </p:sp>
      <p:sp>
        <p:nvSpPr>
          <p:cNvPr id="31" name="TextBox 30">
            <a:extLst>
              <a:ext uri="{FF2B5EF4-FFF2-40B4-BE49-F238E27FC236}">
                <a16:creationId xmlns:a16="http://schemas.microsoft.com/office/drawing/2014/main" id="{84484A36-CD7C-34E2-8BDB-92CB07461482}"/>
              </a:ext>
            </a:extLst>
          </p:cNvPr>
          <p:cNvSpPr txBox="1"/>
          <p:nvPr/>
        </p:nvSpPr>
        <p:spPr>
          <a:xfrm>
            <a:off x="874643" y="1618579"/>
            <a:ext cx="5019163" cy="1323439"/>
          </a:xfrm>
          <a:prstGeom prst="rect">
            <a:avLst/>
          </a:prstGeom>
          <a:noFill/>
        </p:spPr>
        <p:txBody>
          <a:bodyPr wrap="square" rtlCol="0">
            <a:spAutoFit/>
          </a:bodyPr>
          <a:lstStyle/>
          <a:p>
            <a:pPr marL="285750" indent="-285750">
              <a:buFont typeface="Arial" panose="020B0604020202020204" pitchFamily="34" charset="0"/>
              <a:buChar char="•"/>
            </a:pPr>
            <a:r>
              <a:rPr lang="fr-FR" sz="2000" b="1"/>
              <a:t>TP</a:t>
            </a:r>
            <a:r>
              <a:rPr lang="fr-FR" sz="2000"/>
              <a:t>: dự đoán đúng là Positive</a:t>
            </a:r>
          </a:p>
          <a:p>
            <a:pPr marL="285750" indent="-285750">
              <a:buFont typeface="Arial" panose="020B0604020202020204" pitchFamily="34" charset="0"/>
              <a:buChar char="•"/>
            </a:pPr>
            <a:r>
              <a:rPr lang="en-US" sz="2000" b="1"/>
              <a:t>FP</a:t>
            </a:r>
            <a:r>
              <a:rPr lang="en-US" sz="2000"/>
              <a:t>: dự đoán sai thành Positive</a:t>
            </a:r>
          </a:p>
          <a:p>
            <a:pPr marL="285750" indent="-285750">
              <a:buFont typeface="Arial" panose="020B0604020202020204" pitchFamily="34" charset="0"/>
              <a:buChar char="•"/>
            </a:pPr>
            <a:r>
              <a:rPr lang="en-US" sz="2000" b="1"/>
              <a:t>FN</a:t>
            </a:r>
            <a:r>
              <a:rPr lang="en-US" sz="2000"/>
              <a:t>: dự đoán sai thành Negative</a:t>
            </a:r>
          </a:p>
          <a:p>
            <a:pPr marL="285750" indent="-285750">
              <a:buFont typeface="Arial" panose="020B0604020202020204" pitchFamily="34" charset="0"/>
              <a:buChar char="•"/>
            </a:pPr>
            <a:r>
              <a:rPr lang="en-US" sz="2000" b="1"/>
              <a:t>TN</a:t>
            </a:r>
            <a:r>
              <a:rPr lang="en-US" sz="2000"/>
              <a:t>: dự đoán đúng là Negative</a:t>
            </a:r>
          </a:p>
        </p:txBody>
      </p:sp>
      <p:sp>
        <p:nvSpPr>
          <p:cNvPr id="28" name="TextBox 7">
            <a:extLst>
              <a:ext uri="{FF2B5EF4-FFF2-40B4-BE49-F238E27FC236}">
                <a16:creationId xmlns:a16="http://schemas.microsoft.com/office/drawing/2014/main" id="{E3C4B310-9228-E446-BD00-4F57CADBDA4B}"/>
              </a:ext>
            </a:extLst>
          </p:cNvPr>
          <p:cNvSpPr txBox="1"/>
          <p:nvPr/>
        </p:nvSpPr>
        <p:spPr>
          <a:xfrm>
            <a:off x="548640" y="320040"/>
            <a:ext cx="9144000" cy="215444"/>
          </a:xfrm>
          <a:prstGeom prst="rect">
            <a:avLst/>
          </a:prstGeom>
          <a:noFill/>
        </p:spPr>
        <p:txBody>
          <a:bodyPr wrap="square" lIns="0" tIns="0" rIns="0" bIns="0" anchor="t">
            <a:spAutoFit/>
          </a:bodyPr>
          <a:lstStyle/>
          <a:p>
            <a:pPr algn="l"/>
            <a:r>
              <a:rPr lang="en-US" sz="1400" b="1">
                <a:solidFill>
                  <a:srgbClr val="0891B2"/>
                </a:solidFill>
                <a:latin typeface="+mj-lt"/>
              </a:rPr>
              <a:t>4. </a:t>
            </a:r>
            <a:r>
              <a:rPr lang="en-US" sz="1400" b="1" err="1">
                <a:solidFill>
                  <a:srgbClr val="0891B2"/>
                </a:solidFill>
                <a:latin typeface="+mj-lt"/>
              </a:rPr>
              <a:t>THỰC</a:t>
            </a:r>
            <a:r>
              <a:rPr lang="en-US" sz="1400" b="1">
                <a:solidFill>
                  <a:srgbClr val="0891B2"/>
                </a:solidFill>
                <a:latin typeface="+mj-lt"/>
              </a:rPr>
              <a:t> </a:t>
            </a:r>
            <a:r>
              <a:rPr lang="en-US" sz="1400" b="1" err="1">
                <a:solidFill>
                  <a:srgbClr val="0891B2"/>
                </a:solidFill>
                <a:latin typeface="+mj-lt"/>
              </a:rPr>
              <a:t>NGHIỆM</a:t>
            </a:r>
            <a:r>
              <a:rPr lang="en-US" sz="1400" b="1">
                <a:solidFill>
                  <a:srgbClr val="0891B2"/>
                </a:solidFill>
                <a:latin typeface="+mj-lt"/>
              </a:rPr>
              <a:t> </a:t>
            </a:r>
            <a:r>
              <a:rPr lang="en-US" sz="1400" b="1" err="1">
                <a:solidFill>
                  <a:srgbClr val="0891B2"/>
                </a:solidFill>
                <a:latin typeface="+mj-lt"/>
              </a:rPr>
              <a:t>VÀ</a:t>
            </a:r>
            <a:r>
              <a:rPr lang="en-US" sz="1400" b="1">
                <a:solidFill>
                  <a:srgbClr val="0891B2"/>
                </a:solidFill>
                <a:latin typeface="+mj-lt"/>
              </a:rPr>
              <a:t> </a:t>
            </a:r>
            <a:r>
              <a:rPr lang="en-US" sz="1400" b="1" err="1">
                <a:solidFill>
                  <a:srgbClr val="0891B2"/>
                </a:solidFill>
                <a:latin typeface="+mj-lt"/>
              </a:rPr>
              <a:t>KẾT</a:t>
            </a:r>
            <a:r>
              <a:rPr lang="en-US" sz="1400" b="1">
                <a:solidFill>
                  <a:srgbClr val="0891B2"/>
                </a:solidFill>
                <a:latin typeface="+mj-lt"/>
              </a:rPr>
              <a:t> </a:t>
            </a:r>
            <a:r>
              <a:rPr lang="en-US" sz="1400" b="1" err="1">
                <a:solidFill>
                  <a:srgbClr val="0891B2"/>
                </a:solidFill>
                <a:latin typeface="+mj-lt"/>
              </a:rPr>
              <a:t>QUẢ</a:t>
            </a:r>
            <a:r>
              <a:rPr lang="en-US" sz="1400" b="1">
                <a:solidFill>
                  <a:srgbClr val="0891B2"/>
                </a:solidFill>
                <a:latin typeface="+mj-lt"/>
              </a:rPr>
              <a:t> </a:t>
            </a:r>
            <a:endParaRPr sz="1400" b="1">
              <a:solidFill>
                <a:srgbClr val="0891B2"/>
              </a:solidFill>
              <a:latin typeface="+mj-lt"/>
            </a:endParaRPr>
          </a:p>
        </p:txBody>
      </p:sp>
    </p:spTree>
    <p:extLst>
      <p:ext uri="{BB962C8B-B14F-4D97-AF65-F5344CB8AC3E}">
        <p14:creationId xmlns:p14="http://schemas.microsoft.com/office/powerpoint/2010/main" val="3543776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632" y="-10704"/>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F2A44"/>
                </a:solidFill>
                <a:latin typeface="+mj-lt"/>
              </a:rPr>
              <a:t>Kết quả chính trên SHOT</a:t>
            </a:r>
          </a:p>
        </p:txBody>
      </p:sp>
      <p:cxnSp>
        <p:nvCxnSpPr>
          <p:cNvPr id="6" name="Connector 5"/>
          <p:cNvCxnSpPr/>
          <p:nvPr/>
        </p:nvCxnSpPr>
        <p:spPr>
          <a:xfrm>
            <a:off x="548640" y="1325880"/>
            <a:ext cx="11091672"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6350">
            <a:solidFill>
              <a:srgbClr val="E1E6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5B6B85"/>
                </a:solidFill>
                <a:latin typeface="+mj-lt"/>
              </a:rPr>
              <a:t>21 / 25</a:t>
            </a:r>
          </a:p>
        </p:txBody>
      </p:sp>
      <p:sp>
        <p:nvSpPr>
          <p:cNvPr id="10" name="Rectangle 9"/>
          <p:cNvSpPr/>
          <p:nvPr/>
        </p:nvSpPr>
        <p:spPr>
          <a:xfrm>
            <a:off x="548640" y="1828800"/>
            <a:ext cx="5943600" cy="548640"/>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1" name="TextBox 10"/>
          <p:cNvSpPr txBox="1"/>
          <p:nvPr/>
        </p:nvSpPr>
        <p:spPr>
          <a:xfrm>
            <a:off x="685800" y="1965960"/>
            <a:ext cx="4023360" cy="307777"/>
          </a:xfrm>
          <a:prstGeom prst="rect">
            <a:avLst/>
          </a:prstGeom>
          <a:noFill/>
        </p:spPr>
        <p:txBody>
          <a:bodyPr wrap="square" lIns="0" tIns="0" rIns="0" bIns="0" anchor="t">
            <a:spAutoFit/>
          </a:bodyPr>
          <a:lstStyle/>
          <a:p>
            <a:pPr algn="l"/>
            <a:r>
              <a:rPr sz="2000" b="1">
                <a:solidFill>
                  <a:srgbClr val="FFFFFF"/>
                </a:solidFill>
                <a:latin typeface="+mj-lt"/>
              </a:rPr>
              <a:t>Mô hình</a:t>
            </a:r>
          </a:p>
        </p:txBody>
      </p:sp>
      <p:sp>
        <p:nvSpPr>
          <p:cNvPr id="12" name="TextBox 11"/>
          <p:cNvSpPr txBox="1"/>
          <p:nvPr/>
        </p:nvSpPr>
        <p:spPr>
          <a:xfrm>
            <a:off x="4983480" y="1965960"/>
            <a:ext cx="1371600" cy="307777"/>
          </a:xfrm>
          <a:prstGeom prst="rect">
            <a:avLst/>
          </a:prstGeom>
          <a:noFill/>
        </p:spPr>
        <p:txBody>
          <a:bodyPr wrap="square" lIns="0" tIns="0" rIns="0" bIns="0" anchor="t">
            <a:spAutoFit/>
          </a:bodyPr>
          <a:lstStyle/>
          <a:p>
            <a:pPr algn="l"/>
            <a:r>
              <a:rPr sz="2000" b="1">
                <a:solidFill>
                  <a:srgbClr val="FFFFFF"/>
                </a:solidFill>
                <a:latin typeface="+mj-lt"/>
              </a:rPr>
              <a:t>F1</a:t>
            </a:r>
          </a:p>
        </p:txBody>
      </p:sp>
      <p:sp>
        <p:nvSpPr>
          <p:cNvPr id="13" name="Rectangle 12"/>
          <p:cNvSpPr/>
          <p:nvPr/>
        </p:nvSpPr>
        <p:spPr>
          <a:xfrm>
            <a:off x="548640" y="2377440"/>
            <a:ext cx="5943600" cy="5486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4" name="TextBox 13"/>
          <p:cNvSpPr txBox="1"/>
          <p:nvPr/>
        </p:nvSpPr>
        <p:spPr>
          <a:xfrm>
            <a:off x="685800" y="2532888"/>
            <a:ext cx="4023360" cy="307777"/>
          </a:xfrm>
          <a:prstGeom prst="rect">
            <a:avLst/>
          </a:prstGeom>
          <a:noFill/>
        </p:spPr>
        <p:txBody>
          <a:bodyPr wrap="square" lIns="0" tIns="0" rIns="0" bIns="0" anchor="t">
            <a:spAutoFit/>
          </a:bodyPr>
          <a:lstStyle/>
          <a:p>
            <a:pPr algn="l"/>
            <a:r>
              <a:rPr sz="2000" b="0">
                <a:solidFill>
                  <a:srgbClr val="1F2A44"/>
                </a:solidFill>
                <a:latin typeface="+mj-lt"/>
              </a:rPr>
              <a:t>TransNetV2</a:t>
            </a:r>
          </a:p>
        </p:txBody>
      </p:sp>
      <p:sp>
        <p:nvSpPr>
          <p:cNvPr id="15" name="TextBox 14"/>
          <p:cNvSpPr txBox="1"/>
          <p:nvPr/>
        </p:nvSpPr>
        <p:spPr>
          <a:xfrm>
            <a:off x="4983480" y="2532888"/>
            <a:ext cx="1371600" cy="307777"/>
          </a:xfrm>
          <a:prstGeom prst="rect">
            <a:avLst/>
          </a:prstGeom>
          <a:noFill/>
        </p:spPr>
        <p:txBody>
          <a:bodyPr wrap="square" lIns="0" tIns="0" rIns="0" bIns="0" anchor="t">
            <a:spAutoFit/>
          </a:bodyPr>
          <a:lstStyle/>
          <a:p>
            <a:pPr algn="l"/>
            <a:r>
              <a:rPr sz="2000" b="1">
                <a:solidFill>
                  <a:srgbClr val="1F2A44"/>
                </a:solidFill>
                <a:latin typeface="+mj-lt"/>
              </a:rPr>
              <a:t>0.799</a:t>
            </a:r>
          </a:p>
        </p:txBody>
      </p:sp>
      <p:sp>
        <p:nvSpPr>
          <p:cNvPr id="16" name="Rectangle 15"/>
          <p:cNvSpPr/>
          <p:nvPr/>
        </p:nvSpPr>
        <p:spPr>
          <a:xfrm>
            <a:off x="548640" y="2926080"/>
            <a:ext cx="59436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7" name="TextBox 16"/>
          <p:cNvSpPr txBox="1"/>
          <p:nvPr/>
        </p:nvSpPr>
        <p:spPr>
          <a:xfrm>
            <a:off x="685800" y="3081528"/>
            <a:ext cx="4023360" cy="307777"/>
          </a:xfrm>
          <a:prstGeom prst="rect">
            <a:avLst/>
          </a:prstGeom>
          <a:noFill/>
        </p:spPr>
        <p:txBody>
          <a:bodyPr wrap="square" lIns="0" tIns="0" rIns="0" bIns="0" anchor="t">
            <a:spAutoFit/>
          </a:bodyPr>
          <a:lstStyle/>
          <a:p>
            <a:pPr algn="l"/>
            <a:r>
              <a:rPr sz="2000" b="0">
                <a:solidFill>
                  <a:srgbClr val="1F2A44"/>
                </a:solidFill>
                <a:latin typeface="+mj-lt"/>
              </a:rPr>
              <a:t>AutoShot</a:t>
            </a:r>
          </a:p>
        </p:txBody>
      </p:sp>
      <p:sp>
        <p:nvSpPr>
          <p:cNvPr id="18" name="TextBox 17"/>
          <p:cNvSpPr txBox="1"/>
          <p:nvPr/>
        </p:nvSpPr>
        <p:spPr>
          <a:xfrm>
            <a:off x="4983480" y="3081528"/>
            <a:ext cx="1371600" cy="307777"/>
          </a:xfrm>
          <a:prstGeom prst="rect">
            <a:avLst/>
          </a:prstGeom>
          <a:noFill/>
        </p:spPr>
        <p:txBody>
          <a:bodyPr wrap="square" lIns="0" tIns="0" rIns="0" bIns="0" anchor="t">
            <a:spAutoFit/>
          </a:bodyPr>
          <a:lstStyle/>
          <a:p>
            <a:pPr algn="l"/>
            <a:r>
              <a:rPr sz="2000" b="1">
                <a:solidFill>
                  <a:srgbClr val="1F2A44"/>
                </a:solidFill>
                <a:latin typeface="+mj-lt"/>
              </a:rPr>
              <a:t>0.841</a:t>
            </a:r>
          </a:p>
        </p:txBody>
      </p:sp>
      <p:sp>
        <p:nvSpPr>
          <p:cNvPr id="22" name="Rectangle 21"/>
          <p:cNvSpPr/>
          <p:nvPr/>
        </p:nvSpPr>
        <p:spPr>
          <a:xfrm>
            <a:off x="548640" y="3520440"/>
            <a:ext cx="5943600" cy="548640"/>
          </a:xfrm>
          <a:prstGeom prst="rect">
            <a:avLst/>
          </a:prstGeom>
          <a:solidFill>
            <a:srgbClr val="E7F0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3" name="TextBox 22"/>
          <p:cNvSpPr txBox="1"/>
          <p:nvPr/>
        </p:nvSpPr>
        <p:spPr>
          <a:xfrm>
            <a:off x="685800" y="3690164"/>
            <a:ext cx="4023360" cy="307777"/>
          </a:xfrm>
          <a:prstGeom prst="rect">
            <a:avLst/>
          </a:prstGeom>
          <a:noFill/>
        </p:spPr>
        <p:txBody>
          <a:bodyPr wrap="square" lIns="0" tIns="0" rIns="0" bIns="0" anchor="t">
            <a:spAutoFit/>
          </a:bodyPr>
          <a:lstStyle/>
          <a:p>
            <a:pPr algn="l"/>
            <a:r>
              <a:rPr sz="2000" b="1" err="1">
                <a:solidFill>
                  <a:srgbClr val="1F2A44"/>
                </a:solidFill>
                <a:latin typeface="+mj-lt"/>
              </a:rPr>
              <a:t>AutoShotV2</a:t>
            </a:r>
            <a:endParaRPr sz="2000" b="1">
              <a:solidFill>
                <a:srgbClr val="1F2A44"/>
              </a:solidFill>
              <a:latin typeface="+mj-lt"/>
            </a:endParaRPr>
          </a:p>
        </p:txBody>
      </p:sp>
      <p:sp>
        <p:nvSpPr>
          <p:cNvPr id="24" name="TextBox 23"/>
          <p:cNvSpPr txBox="1"/>
          <p:nvPr/>
        </p:nvSpPr>
        <p:spPr>
          <a:xfrm>
            <a:off x="4983480" y="3652976"/>
            <a:ext cx="1371600" cy="307777"/>
          </a:xfrm>
          <a:prstGeom prst="rect">
            <a:avLst/>
          </a:prstGeom>
          <a:noFill/>
        </p:spPr>
        <p:txBody>
          <a:bodyPr wrap="square" lIns="0" tIns="0" rIns="0" bIns="0" anchor="t">
            <a:spAutoFit/>
          </a:bodyPr>
          <a:lstStyle/>
          <a:p>
            <a:pPr algn="l"/>
            <a:r>
              <a:rPr sz="2000" b="1">
                <a:solidFill>
                  <a:srgbClr val="0B5FFF"/>
                </a:solidFill>
                <a:latin typeface="+mj-lt"/>
              </a:rPr>
              <a:t>0.861</a:t>
            </a:r>
            <a:r>
              <a:rPr lang="en-US" sz="2000" b="1">
                <a:solidFill>
                  <a:srgbClr val="0B5FFF"/>
                </a:solidFill>
                <a:latin typeface="+mj-lt"/>
              </a:rPr>
              <a:t/>
            </a:r>
            <a:r>
              <a:rPr sz="2000" b="1">
                <a:solidFill>
                  <a:srgbClr val="0B5FFF"/>
                </a:solidFill>
                <a:latin typeface="+mj-lt"/>
              </a:rPr>
              <a:t/>
            </a:r>
          </a:p>
        </p:txBody>
      </p:sp>
      <p:sp>
        <p:nvSpPr>
          <p:cNvPr id="25" name="Rounded Rectangle 24"/>
          <p:cNvSpPr/>
          <p:nvPr/>
        </p:nvSpPr>
        <p:spPr>
          <a:xfrm>
            <a:off x="6675120" y="1828800"/>
            <a:ext cx="5165898" cy="3200400"/>
          </a:xfrm>
          <a:prstGeom prst="roundRect">
            <a:avLst>
              <a:gd name="adj" fmla="val 12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26" name="TextBox 25"/>
          <p:cNvSpPr txBox="1"/>
          <p:nvPr/>
        </p:nvSpPr>
        <p:spPr>
          <a:xfrm>
            <a:off x="6903720" y="1965960"/>
            <a:ext cx="4480560" cy="307777"/>
          </a:xfrm>
          <a:prstGeom prst="rect">
            <a:avLst/>
          </a:prstGeom>
          <a:noFill/>
        </p:spPr>
        <p:txBody>
          <a:bodyPr wrap="square" lIns="0" tIns="0" rIns="0" bIns="0" anchor="t">
            <a:spAutoFit/>
          </a:bodyPr>
          <a:lstStyle/>
          <a:p>
            <a:pPr algn="l"/>
            <a:r>
              <a:rPr sz="2000" b="1">
                <a:solidFill>
                  <a:srgbClr val="5B6B85"/>
                </a:solidFill>
                <a:latin typeface="+mj-lt"/>
              </a:rPr>
              <a:t>F1-score trên SHOT</a:t>
            </a:r>
          </a:p>
        </p:txBody>
      </p:sp>
      <p:sp>
        <p:nvSpPr>
          <p:cNvPr id="27" name="TextBox 26"/>
          <p:cNvSpPr txBox="1"/>
          <p:nvPr/>
        </p:nvSpPr>
        <p:spPr>
          <a:xfrm>
            <a:off x="6765638" y="2578608"/>
            <a:ext cx="1383599" cy="307777"/>
          </a:xfrm>
          <a:prstGeom prst="rect">
            <a:avLst/>
          </a:prstGeom>
          <a:noFill/>
        </p:spPr>
        <p:txBody>
          <a:bodyPr wrap="square" lIns="0" tIns="0" rIns="0" bIns="0" anchor="t">
            <a:spAutoFit/>
          </a:bodyPr>
          <a:lstStyle/>
          <a:p>
            <a:pPr algn="l"/>
            <a:r>
              <a:rPr sz="2000" b="1">
                <a:solidFill>
                  <a:srgbClr val="1F2A44"/>
                </a:solidFill>
                <a:latin typeface="+mj-lt"/>
              </a:rPr>
              <a:t>TransNetV2</a:t>
            </a:r>
          </a:p>
        </p:txBody>
      </p:sp>
      <p:sp>
        <p:nvSpPr>
          <p:cNvPr id="28" name="Rectangle 27"/>
          <p:cNvSpPr/>
          <p:nvPr/>
        </p:nvSpPr>
        <p:spPr>
          <a:xfrm>
            <a:off x="8241601" y="2468880"/>
            <a:ext cx="1629460" cy="457200"/>
          </a:xfrm>
          <a:prstGeom prst="rect">
            <a:avLst/>
          </a:prstGeom>
          <a:solidFill>
            <a:srgbClr val="5B6B85"/>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9" name="TextBox 28"/>
          <p:cNvSpPr txBox="1"/>
          <p:nvPr/>
        </p:nvSpPr>
        <p:spPr>
          <a:xfrm>
            <a:off x="9962501" y="2578608"/>
            <a:ext cx="731520" cy="184666"/>
          </a:xfrm>
          <a:prstGeom prst="rect">
            <a:avLst/>
          </a:prstGeom>
          <a:noFill/>
        </p:spPr>
        <p:txBody>
          <a:bodyPr wrap="square" lIns="0" tIns="0" rIns="0" bIns="0" anchor="t">
            <a:spAutoFit/>
          </a:bodyPr>
          <a:lstStyle/>
          <a:p>
            <a:pPr algn="l"/>
            <a:r>
              <a:rPr sz="1200" b="1">
                <a:solidFill>
                  <a:srgbClr val="1F2A44"/>
                </a:solidFill>
                <a:latin typeface="+mj-lt"/>
              </a:rPr>
              <a:t>0.799</a:t>
            </a:r>
          </a:p>
        </p:txBody>
      </p:sp>
      <p:sp>
        <p:nvSpPr>
          <p:cNvPr id="30" name="TextBox 29"/>
          <p:cNvSpPr txBox="1"/>
          <p:nvPr/>
        </p:nvSpPr>
        <p:spPr>
          <a:xfrm>
            <a:off x="6765639" y="3264408"/>
            <a:ext cx="1097280" cy="307777"/>
          </a:xfrm>
          <a:prstGeom prst="rect">
            <a:avLst/>
          </a:prstGeom>
          <a:noFill/>
        </p:spPr>
        <p:txBody>
          <a:bodyPr wrap="square" lIns="0" tIns="0" rIns="0" bIns="0" anchor="t">
            <a:spAutoFit/>
          </a:bodyPr>
          <a:lstStyle/>
          <a:p>
            <a:pPr algn="l"/>
            <a:r>
              <a:rPr sz="2000" b="1">
                <a:solidFill>
                  <a:srgbClr val="1F2A44"/>
                </a:solidFill>
                <a:latin typeface="+mj-lt"/>
              </a:rPr>
              <a:t>AutoShot</a:t>
            </a:r>
          </a:p>
        </p:txBody>
      </p:sp>
      <p:sp>
        <p:nvSpPr>
          <p:cNvPr id="31" name="Rectangle 30"/>
          <p:cNvSpPr/>
          <p:nvPr/>
        </p:nvSpPr>
        <p:spPr>
          <a:xfrm>
            <a:off x="8241601" y="3154680"/>
            <a:ext cx="2320747" cy="457200"/>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2" name="TextBox 31"/>
          <p:cNvSpPr txBox="1"/>
          <p:nvPr/>
        </p:nvSpPr>
        <p:spPr>
          <a:xfrm>
            <a:off x="10653788" y="3264408"/>
            <a:ext cx="731520" cy="184666"/>
          </a:xfrm>
          <a:prstGeom prst="rect">
            <a:avLst/>
          </a:prstGeom>
          <a:noFill/>
        </p:spPr>
        <p:txBody>
          <a:bodyPr wrap="square" lIns="0" tIns="0" rIns="0" bIns="0" anchor="t">
            <a:spAutoFit/>
          </a:bodyPr>
          <a:lstStyle/>
          <a:p>
            <a:pPr algn="l"/>
            <a:r>
              <a:rPr sz="1200" b="1">
                <a:solidFill>
                  <a:srgbClr val="1F2A44"/>
                </a:solidFill>
                <a:latin typeface="+mj-lt"/>
              </a:rPr>
              <a:t>0.841</a:t>
            </a:r>
          </a:p>
        </p:txBody>
      </p:sp>
      <p:sp>
        <p:nvSpPr>
          <p:cNvPr id="33" name="TextBox 32"/>
          <p:cNvSpPr txBox="1"/>
          <p:nvPr/>
        </p:nvSpPr>
        <p:spPr>
          <a:xfrm>
            <a:off x="6765638" y="3950208"/>
            <a:ext cx="1383595" cy="307777"/>
          </a:xfrm>
          <a:prstGeom prst="rect">
            <a:avLst/>
          </a:prstGeom>
          <a:noFill/>
        </p:spPr>
        <p:txBody>
          <a:bodyPr wrap="square" lIns="0" tIns="0" rIns="0" bIns="0" anchor="t">
            <a:spAutoFit/>
          </a:bodyPr>
          <a:lstStyle/>
          <a:p>
            <a:pPr algn="l"/>
            <a:r>
              <a:rPr sz="2000" b="1">
                <a:solidFill>
                  <a:srgbClr val="1F2A44"/>
                </a:solidFill>
                <a:latin typeface="+mj-lt"/>
              </a:rPr>
              <a:t>AutoShotV2</a:t>
            </a:r>
          </a:p>
        </p:txBody>
      </p:sp>
      <p:sp>
        <p:nvSpPr>
          <p:cNvPr id="34" name="Rectangle 33"/>
          <p:cNvSpPr/>
          <p:nvPr/>
        </p:nvSpPr>
        <p:spPr>
          <a:xfrm>
            <a:off x="8241601" y="3840480"/>
            <a:ext cx="2551175" cy="457200"/>
          </a:xfrm>
          <a:prstGeom prst="rect">
            <a:avLst/>
          </a:prstGeom>
          <a:solidFill>
            <a:srgbClr val="FF7A45"/>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5" name="TextBox 34"/>
          <p:cNvSpPr txBox="1"/>
          <p:nvPr/>
        </p:nvSpPr>
        <p:spPr>
          <a:xfrm>
            <a:off x="10884216" y="3950208"/>
            <a:ext cx="731520" cy="184666"/>
          </a:xfrm>
          <a:prstGeom prst="rect">
            <a:avLst/>
          </a:prstGeom>
          <a:noFill/>
        </p:spPr>
        <p:txBody>
          <a:bodyPr wrap="square" lIns="0" tIns="0" rIns="0" bIns="0" anchor="t">
            <a:spAutoFit/>
          </a:bodyPr>
          <a:lstStyle/>
          <a:p>
            <a:pPr algn="l"/>
            <a:r>
              <a:rPr sz="1200" b="1">
                <a:solidFill>
                  <a:srgbClr val="1F2A44"/>
                </a:solidFill>
                <a:latin typeface="+mj-lt"/>
              </a:rPr>
              <a:t>0.861</a:t>
            </a:r>
            <a:r>
              <a:rPr lang="en-US" sz="1200" b="1">
                <a:solidFill>
                  <a:srgbClr val="1F2A44"/>
                </a:solidFill>
                <a:latin typeface="+mj-lt"/>
              </a:rPr>
              <a:t/>
            </a:r>
            <a:r>
              <a:rPr sz="1200" b="1">
                <a:solidFill>
                  <a:srgbClr val="1F2A44"/>
                </a:solidFill>
                <a:latin typeface="+mj-lt"/>
              </a:rPr>
              <a:t/>
            </a:r>
          </a:p>
        </p:txBody>
      </p:sp>
      <p:cxnSp>
        <p:nvCxnSpPr>
          <p:cNvPr id="36" name="Connector 35"/>
          <p:cNvCxnSpPr/>
          <p:nvPr/>
        </p:nvCxnSpPr>
        <p:spPr>
          <a:xfrm>
            <a:off x="8241601" y="4526280"/>
            <a:ext cx="3291840" cy="0"/>
          </a:xfrm>
          <a:prstGeom prst="line">
            <a:avLst/>
          </a:prstGeom>
          <a:ln w="9525">
            <a:solidFill>
              <a:srgbClr val="5B6B8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241601" y="4526280"/>
            <a:ext cx="0" cy="73152"/>
          </a:xfrm>
          <a:prstGeom prst="line">
            <a:avLst/>
          </a:prstGeom>
          <a:ln w="6350">
            <a:solidFill>
              <a:srgbClr val="5B6B8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013001" y="4617720"/>
            <a:ext cx="457200" cy="138499"/>
          </a:xfrm>
          <a:prstGeom prst="rect">
            <a:avLst/>
          </a:prstGeom>
          <a:noFill/>
        </p:spPr>
        <p:txBody>
          <a:bodyPr wrap="square" lIns="0" tIns="0" rIns="0" bIns="0" anchor="t">
            <a:spAutoFit/>
          </a:bodyPr>
          <a:lstStyle/>
          <a:p>
            <a:pPr algn="ctr"/>
            <a:r>
              <a:rPr sz="900" b="0">
                <a:solidFill>
                  <a:srgbClr val="5B6B85"/>
                </a:solidFill>
                <a:latin typeface="+mj-lt"/>
              </a:rPr>
              <a:t>0.70</a:t>
            </a:r>
          </a:p>
        </p:txBody>
      </p:sp>
      <p:cxnSp>
        <p:nvCxnSpPr>
          <p:cNvPr id="39" name="Connector 38"/>
          <p:cNvCxnSpPr/>
          <p:nvPr/>
        </p:nvCxnSpPr>
        <p:spPr>
          <a:xfrm>
            <a:off x="9064561" y="4526280"/>
            <a:ext cx="0" cy="73152"/>
          </a:xfrm>
          <a:prstGeom prst="line">
            <a:avLst/>
          </a:prstGeom>
          <a:ln w="6350">
            <a:solidFill>
              <a:srgbClr val="5B6B85"/>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835961" y="4617720"/>
            <a:ext cx="457200" cy="138499"/>
          </a:xfrm>
          <a:prstGeom prst="rect">
            <a:avLst/>
          </a:prstGeom>
          <a:noFill/>
        </p:spPr>
        <p:txBody>
          <a:bodyPr wrap="square" lIns="0" tIns="0" rIns="0" bIns="0" anchor="t">
            <a:spAutoFit/>
          </a:bodyPr>
          <a:lstStyle/>
          <a:p>
            <a:pPr algn="ctr"/>
            <a:r>
              <a:rPr sz="900" b="0">
                <a:solidFill>
                  <a:srgbClr val="5B6B85"/>
                </a:solidFill>
                <a:latin typeface="+mj-lt"/>
              </a:rPr>
              <a:t>0.75</a:t>
            </a:r>
          </a:p>
        </p:txBody>
      </p:sp>
      <p:cxnSp>
        <p:nvCxnSpPr>
          <p:cNvPr id="41" name="Connector 40"/>
          <p:cNvCxnSpPr/>
          <p:nvPr/>
        </p:nvCxnSpPr>
        <p:spPr>
          <a:xfrm>
            <a:off x="9887521" y="4526280"/>
            <a:ext cx="0" cy="73152"/>
          </a:xfrm>
          <a:prstGeom prst="line">
            <a:avLst/>
          </a:prstGeom>
          <a:ln w="6350">
            <a:solidFill>
              <a:srgbClr val="5B6B85"/>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658921" y="4617720"/>
            <a:ext cx="457200" cy="138499"/>
          </a:xfrm>
          <a:prstGeom prst="rect">
            <a:avLst/>
          </a:prstGeom>
          <a:noFill/>
        </p:spPr>
        <p:txBody>
          <a:bodyPr wrap="square" lIns="0" tIns="0" rIns="0" bIns="0" anchor="t">
            <a:spAutoFit/>
          </a:bodyPr>
          <a:lstStyle/>
          <a:p>
            <a:pPr algn="ctr"/>
            <a:r>
              <a:rPr sz="900" b="0">
                <a:solidFill>
                  <a:srgbClr val="5B6B85"/>
                </a:solidFill>
                <a:latin typeface="+mj-lt"/>
              </a:rPr>
              <a:t>0.80</a:t>
            </a:r>
          </a:p>
        </p:txBody>
      </p:sp>
      <p:cxnSp>
        <p:nvCxnSpPr>
          <p:cNvPr id="43" name="Connector 42"/>
          <p:cNvCxnSpPr/>
          <p:nvPr/>
        </p:nvCxnSpPr>
        <p:spPr>
          <a:xfrm>
            <a:off x="10710480" y="4526280"/>
            <a:ext cx="0" cy="73152"/>
          </a:xfrm>
          <a:prstGeom prst="line">
            <a:avLst/>
          </a:prstGeom>
          <a:ln w="6350">
            <a:solidFill>
              <a:srgbClr val="5B6B85"/>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481880" y="4617720"/>
            <a:ext cx="457200" cy="138499"/>
          </a:xfrm>
          <a:prstGeom prst="rect">
            <a:avLst/>
          </a:prstGeom>
          <a:noFill/>
        </p:spPr>
        <p:txBody>
          <a:bodyPr wrap="square" lIns="0" tIns="0" rIns="0" bIns="0" anchor="t">
            <a:spAutoFit/>
          </a:bodyPr>
          <a:lstStyle/>
          <a:p>
            <a:pPr algn="ctr"/>
            <a:r>
              <a:rPr sz="900" b="0">
                <a:solidFill>
                  <a:srgbClr val="5B6B85"/>
                </a:solidFill>
                <a:latin typeface="+mj-lt"/>
              </a:rPr>
              <a:t>0.85</a:t>
            </a:r>
          </a:p>
        </p:txBody>
      </p:sp>
      <p:cxnSp>
        <p:nvCxnSpPr>
          <p:cNvPr id="45" name="Connector 44"/>
          <p:cNvCxnSpPr/>
          <p:nvPr/>
        </p:nvCxnSpPr>
        <p:spPr>
          <a:xfrm>
            <a:off x="11533441" y="4526280"/>
            <a:ext cx="0" cy="73152"/>
          </a:xfrm>
          <a:prstGeom prst="line">
            <a:avLst/>
          </a:prstGeom>
          <a:ln w="6350">
            <a:solidFill>
              <a:srgbClr val="5B6B85"/>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304841" y="4617720"/>
            <a:ext cx="457200" cy="138499"/>
          </a:xfrm>
          <a:prstGeom prst="rect">
            <a:avLst/>
          </a:prstGeom>
          <a:noFill/>
        </p:spPr>
        <p:txBody>
          <a:bodyPr wrap="square" lIns="0" tIns="0" rIns="0" bIns="0" anchor="t">
            <a:spAutoFit/>
          </a:bodyPr>
          <a:lstStyle/>
          <a:p>
            <a:pPr algn="ctr"/>
            <a:r>
              <a:rPr sz="900" b="0">
                <a:solidFill>
                  <a:srgbClr val="5B6B85"/>
                </a:solidFill>
                <a:latin typeface="+mj-lt"/>
              </a:rPr>
              <a:t>0.90</a:t>
            </a:r>
          </a:p>
        </p:txBody>
      </p:sp>
      <p:sp>
        <p:nvSpPr>
          <p:cNvPr id="47" name="Rectangle 46"/>
          <p:cNvSpPr/>
          <p:nvPr/>
        </p:nvSpPr>
        <p:spPr>
          <a:xfrm>
            <a:off x="548640" y="5257799"/>
            <a:ext cx="11064240" cy="1221057"/>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48" name="TextBox 47"/>
          <p:cNvSpPr txBox="1"/>
          <p:nvPr/>
        </p:nvSpPr>
        <p:spPr>
          <a:xfrm>
            <a:off x="777240" y="5433202"/>
            <a:ext cx="10698480" cy="307777"/>
          </a:xfrm>
          <a:prstGeom prst="rect">
            <a:avLst/>
          </a:prstGeom>
          <a:noFill/>
        </p:spPr>
        <p:txBody>
          <a:bodyPr wrap="square" lIns="0" tIns="0" rIns="0" bIns="0" anchor="t">
            <a:spAutoFit/>
          </a:bodyPr>
          <a:lstStyle/>
          <a:p>
            <a:pPr algn="l"/>
            <a:r>
              <a:rPr sz="2000" b="1">
                <a:solidFill>
                  <a:srgbClr val="FF7A45"/>
                </a:solidFill>
                <a:latin typeface="+mj-lt"/>
              </a:rPr>
              <a:t>Kết luận</a:t>
            </a:r>
          </a:p>
        </p:txBody>
      </p:sp>
      <p:sp>
        <p:nvSpPr>
          <p:cNvPr id="49" name="TextBox 48"/>
          <p:cNvSpPr txBox="1"/>
          <p:nvPr/>
        </p:nvSpPr>
        <p:spPr>
          <a:xfrm>
            <a:off x="777240" y="5786698"/>
            <a:ext cx="10698480" cy="615553"/>
          </a:xfrm>
          <a:prstGeom prst="rect">
            <a:avLst/>
          </a:prstGeom>
          <a:noFill/>
        </p:spPr>
        <p:txBody>
          <a:bodyPr wrap="square" lIns="0" tIns="0" rIns="0" bIns="0" anchor="t">
            <a:spAutoFit/>
          </a:bodyPr>
          <a:lstStyle/>
          <a:p>
            <a:pPr algn="l"/>
            <a:r>
              <a:rPr sz="2000" b="1" err="1">
                <a:solidFill>
                  <a:srgbClr val="FFFFFF"/>
                </a:solidFill>
                <a:latin typeface="+mj-lt"/>
              </a:rPr>
              <a:t>AutoShotV2</a:t>
            </a:r>
            <a:r>
              <a:rPr sz="2000" b="1">
                <a:solidFill>
                  <a:srgbClr val="FFFFFF"/>
                </a:solidFill>
                <a:latin typeface="+mj-lt"/>
              </a:rPr>
              <a:t> </a:t>
            </a:r>
            <a:r>
              <a:rPr sz="2000" b="1" err="1">
                <a:solidFill>
                  <a:srgbClr val="FFFFFF"/>
                </a:solidFill>
                <a:latin typeface="+mj-lt"/>
              </a:rPr>
              <a:t>đạt</a:t>
            </a:r>
            <a:r>
              <a:rPr sz="2000" b="1">
                <a:solidFill>
                  <a:srgbClr val="FFFFFF"/>
                </a:solidFill>
                <a:latin typeface="+mj-lt"/>
              </a:rPr>
              <a:t> </a:t>
            </a:r>
            <a:r>
              <a:rPr sz="2000" b="1" err="1">
                <a:solidFill>
                  <a:srgbClr val="FFFFFF"/>
                </a:solidFill>
                <a:latin typeface="+mj-lt"/>
              </a:rPr>
              <a:t>F1</a:t>
            </a:r>
            <a:r>
              <a:rPr sz="2000" b="1">
                <a:solidFill>
                  <a:srgbClr val="FFFFFF"/>
                </a:solidFill>
                <a:latin typeface="+mj-lt"/>
              </a:rPr>
              <a:t> = 0.861</a:t>
            </a:r>
            <a:r>
              <a:rPr lang="en-US" sz="2000" b="1">
                <a:solidFill>
                  <a:srgbClr val="FFFFFF"/>
                </a:solidFill>
                <a:latin typeface="+mj-lt"/>
              </a:rPr>
              <a:t/>
            </a:r>
            <a:r>
              <a:rPr sz="2000" b="1">
                <a:solidFill>
                  <a:srgbClr val="FFFFFF"/>
                </a:solidFill>
                <a:latin typeface="+mj-lt"/>
              </a:rPr>
              <a:t> — </a:t>
            </a:r>
            <a:r>
              <a:rPr sz="2000" b="1" err="1">
                <a:solidFill>
                  <a:srgbClr val="FFFFFF"/>
                </a:solidFill>
                <a:latin typeface="+mj-lt"/>
              </a:rPr>
              <a:t>cao</a:t>
            </a:r>
            <a:r>
              <a:rPr sz="2000" b="1">
                <a:solidFill>
                  <a:srgbClr val="FFFFFF"/>
                </a:solidFill>
                <a:latin typeface="+mj-lt"/>
              </a:rPr>
              <a:t> </a:t>
            </a:r>
            <a:r>
              <a:rPr sz="2000" b="1" err="1">
                <a:solidFill>
                  <a:srgbClr val="FFFFFF"/>
                </a:solidFill>
                <a:latin typeface="+mj-lt"/>
              </a:rPr>
              <a:t>nhất</a:t>
            </a:r>
            <a:r>
              <a:rPr sz="2000" b="1">
                <a:solidFill>
                  <a:srgbClr val="FFFFFF"/>
                </a:solidFill>
                <a:latin typeface="+mj-lt"/>
              </a:rPr>
              <a:t> </a:t>
            </a:r>
            <a:r>
              <a:rPr sz="2000" b="1" err="1">
                <a:solidFill>
                  <a:srgbClr val="FFFFFF"/>
                </a:solidFill>
                <a:latin typeface="+mj-lt"/>
              </a:rPr>
              <a:t>trên</a:t>
            </a:r>
            <a:r>
              <a:rPr sz="2000" b="1">
                <a:solidFill>
                  <a:srgbClr val="FFFFFF"/>
                </a:solidFill>
                <a:latin typeface="+mj-lt"/>
              </a:rPr>
              <a:t> SHOT, +2.02%</a:t>
            </a:r>
            <a:r>
              <a:rPr lang="en-US" sz="2000" b="1">
                <a:solidFill>
                  <a:srgbClr val="FFFFFF"/>
                </a:solidFill>
                <a:latin typeface="+mj-lt"/>
              </a:rPr>
              <a:t/>
            </a:r>
            <a:r>
              <a:rPr sz="2000" b="1">
                <a:solidFill>
                  <a:srgbClr val="FFFFFF"/>
                </a:solidFill>
                <a:latin typeface="+mj-lt"/>
              </a:rPr>
              <a:t> so </a:t>
            </a:r>
            <a:r>
              <a:rPr sz="2000" b="1" err="1">
                <a:solidFill>
                  <a:srgbClr val="FFFFFF"/>
                </a:solidFill>
                <a:latin typeface="+mj-lt"/>
              </a:rPr>
              <a:t>với</a:t>
            </a:r>
            <a:r>
              <a:rPr sz="2000" b="1">
                <a:solidFill>
                  <a:srgbClr val="FFFFFF"/>
                </a:solidFill>
                <a:latin typeface="+mj-lt"/>
              </a:rPr>
              <a:t> </a:t>
            </a:r>
            <a:r>
              <a:rPr sz="2000" b="1" err="1">
                <a:solidFill>
                  <a:srgbClr val="FFFFFF"/>
                </a:solidFill>
                <a:latin typeface="+mj-lt"/>
              </a:rPr>
              <a:t>AutoShot</a:t>
            </a:r>
            <a:r>
              <a:rPr sz="2000" b="1">
                <a:solidFill>
                  <a:srgbClr val="FFFFFF"/>
                </a:solidFill>
                <a:latin typeface="+mj-lt"/>
              </a:rPr>
              <a:t> </a:t>
            </a:r>
            <a:r>
              <a:rPr sz="2000" b="1" err="1">
                <a:solidFill>
                  <a:srgbClr val="FFFFFF"/>
                </a:solidFill>
                <a:latin typeface="+mj-lt"/>
              </a:rPr>
              <a:t>gốc</a:t>
            </a:r>
            <a:r>
              <a:rPr sz="2000" b="1">
                <a:solidFill>
                  <a:srgbClr val="FFFFFF"/>
                </a:solidFill>
                <a:latin typeface="+mj-lt"/>
              </a:rPr>
              <a:t> </a:t>
            </a:r>
            <a:r>
              <a:rPr sz="2000" b="1" err="1">
                <a:solidFill>
                  <a:srgbClr val="FFFFFF"/>
                </a:solidFill>
                <a:latin typeface="+mj-lt"/>
              </a:rPr>
              <a:t>và</a:t>
            </a:r>
            <a:r>
              <a:rPr sz="2000" b="1">
                <a:solidFill>
                  <a:srgbClr val="FFFFFF"/>
                </a:solidFill>
                <a:latin typeface="+mj-lt"/>
              </a:rPr>
              <a:t> +6.1% so </a:t>
            </a:r>
            <a:r>
              <a:rPr sz="2000" b="1" err="1">
                <a:solidFill>
                  <a:srgbClr val="FFFFFF"/>
                </a:solidFill>
                <a:latin typeface="+mj-lt"/>
              </a:rPr>
              <a:t>với</a:t>
            </a:r>
            <a:r>
              <a:rPr sz="2000" b="1">
                <a:solidFill>
                  <a:srgbClr val="FFFFFF"/>
                </a:solidFill>
                <a:latin typeface="+mj-lt"/>
              </a:rPr>
              <a:t> </a:t>
            </a:r>
            <a:r>
              <a:rPr sz="2000" b="1" err="1">
                <a:solidFill>
                  <a:srgbClr val="FFFFFF"/>
                </a:solidFill>
                <a:latin typeface="+mj-lt"/>
              </a:rPr>
              <a:t>TransNetV2</a:t>
            </a:r>
            <a:r>
              <a:rPr sz="2000" b="1">
                <a:solidFill>
                  <a:srgbClr val="FFFFFF"/>
                </a:solidFill>
                <a:latin typeface="+mj-lt"/>
              </a:rPr>
              <a:t>.</a:t>
            </a:r>
          </a:p>
        </p:txBody>
      </p:sp>
      <p:sp>
        <p:nvSpPr>
          <p:cNvPr id="8" name="TextBox 7">
            <a:extLst>
              <a:ext uri="{FF2B5EF4-FFF2-40B4-BE49-F238E27FC236}">
                <a16:creationId xmlns:a16="http://schemas.microsoft.com/office/drawing/2014/main" id="{5C949983-44E0-16BE-FA91-A729A57D2961}"/>
              </a:ext>
            </a:extLst>
          </p:cNvPr>
          <p:cNvSpPr txBox="1"/>
          <p:nvPr/>
        </p:nvSpPr>
        <p:spPr>
          <a:xfrm>
            <a:off x="548640" y="320040"/>
            <a:ext cx="9144000" cy="215444"/>
          </a:xfrm>
          <a:prstGeom prst="rect">
            <a:avLst/>
          </a:prstGeom>
          <a:noFill/>
        </p:spPr>
        <p:txBody>
          <a:bodyPr wrap="square" lIns="0" tIns="0" rIns="0" bIns="0" anchor="t">
            <a:spAutoFit/>
          </a:bodyPr>
          <a:lstStyle/>
          <a:p>
            <a:pPr algn="l"/>
            <a:r>
              <a:rPr lang="en-US" sz="1400" b="1">
                <a:solidFill>
                  <a:srgbClr val="0891B2"/>
                </a:solidFill>
                <a:latin typeface="+mj-lt"/>
              </a:rPr>
              <a:t>4. </a:t>
            </a:r>
            <a:r>
              <a:rPr lang="en-US" sz="1400" b="1" err="1">
                <a:solidFill>
                  <a:srgbClr val="0891B2"/>
                </a:solidFill>
                <a:latin typeface="+mj-lt"/>
              </a:rPr>
              <a:t>THỰC</a:t>
            </a:r>
            <a:r>
              <a:rPr lang="en-US" sz="1400" b="1">
                <a:solidFill>
                  <a:srgbClr val="0891B2"/>
                </a:solidFill>
                <a:latin typeface="+mj-lt"/>
              </a:rPr>
              <a:t> </a:t>
            </a:r>
            <a:r>
              <a:rPr lang="en-US" sz="1400" b="1" err="1">
                <a:solidFill>
                  <a:srgbClr val="0891B2"/>
                </a:solidFill>
                <a:latin typeface="+mj-lt"/>
              </a:rPr>
              <a:t>NGHIỆM</a:t>
            </a:r>
            <a:r>
              <a:rPr lang="en-US" sz="1400" b="1">
                <a:solidFill>
                  <a:srgbClr val="0891B2"/>
                </a:solidFill>
                <a:latin typeface="+mj-lt"/>
              </a:rPr>
              <a:t> </a:t>
            </a:r>
            <a:r>
              <a:rPr lang="en-US" sz="1400" b="1" err="1">
                <a:solidFill>
                  <a:srgbClr val="0891B2"/>
                </a:solidFill>
                <a:latin typeface="+mj-lt"/>
              </a:rPr>
              <a:t>VÀ</a:t>
            </a:r>
            <a:r>
              <a:rPr lang="en-US" sz="1400" b="1">
                <a:solidFill>
                  <a:srgbClr val="0891B2"/>
                </a:solidFill>
                <a:latin typeface="+mj-lt"/>
              </a:rPr>
              <a:t> </a:t>
            </a:r>
            <a:r>
              <a:rPr lang="en-US" sz="1400" b="1" err="1">
                <a:solidFill>
                  <a:srgbClr val="0891B2"/>
                </a:solidFill>
                <a:latin typeface="+mj-lt"/>
              </a:rPr>
              <a:t>KẾT</a:t>
            </a:r>
            <a:r>
              <a:rPr lang="en-US" sz="1400" b="1">
                <a:solidFill>
                  <a:srgbClr val="0891B2"/>
                </a:solidFill>
                <a:latin typeface="+mj-lt"/>
              </a:rPr>
              <a:t> </a:t>
            </a:r>
            <a:r>
              <a:rPr lang="en-US" sz="1400" b="1" err="1">
                <a:solidFill>
                  <a:srgbClr val="0891B2"/>
                </a:solidFill>
                <a:latin typeface="+mj-lt"/>
              </a:rPr>
              <a:t>QUẢ</a:t>
            </a:r>
            <a:r>
              <a:rPr lang="en-US" sz="1400" b="1">
                <a:solidFill>
                  <a:srgbClr val="0891B2"/>
                </a:solidFill>
                <a:latin typeface="+mj-lt"/>
              </a:rPr>
              <a:t> </a:t>
            </a:r>
            <a:endParaRPr sz="1400" b="1">
              <a:solidFill>
                <a:srgbClr val="0891B2"/>
              </a:solidFill>
              <a:latin typeface="+mj-lt"/>
            </a:endParaRPr>
          </a:p>
        </p:txBody>
      </p:sp>
    </p:spTree>
    <p:extLst>
      <p:ext uri="{BB962C8B-B14F-4D97-AF65-F5344CB8AC3E}">
        <p14:creationId xmlns:p14="http://schemas.microsoft.com/office/powerpoint/2010/main" val="3285244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2AB36-3653-77C3-5679-5C65B9C5ECD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DCBF245-CD50-DB98-8A23-E372BC80E919}"/>
              </a:ext>
            </a:extLst>
          </p:cNvPr>
          <p:cNvSpPr/>
          <p:nvPr/>
        </p:nvSpPr>
        <p:spPr>
          <a:xfrm>
            <a:off x="-1372"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a:extLst>
              <a:ext uri="{FF2B5EF4-FFF2-40B4-BE49-F238E27FC236}">
                <a16:creationId xmlns:a16="http://schemas.microsoft.com/office/drawing/2014/main" id="{81873B2E-5028-4EC3-A1AC-7F370E95AF17}"/>
              </a:ext>
            </a:extLst>
          </p:cNvPr>
          <p:cNvSpPr/>
          <p:nvPr/>
        </p:nvSpPr>
        <p:spPr>
          <a:xfrm>
            <a:off x="0" y="0"/>
            <a:ext cx="16459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a:extLst>
              <a:ext uri="{FF2B5EF4-FFF2-40B4-BE49-F238E27FC236}">
                <a16:creationId xmlns:a16="http://schemas.microsoft.com/office/drawing/2014/main" id="{EBA1BEA3-DD8D-BC7C-3498-82CB1A3C6ECF}"/>
              </a:ext>
            </a:extLst>
          </p:cNvPr>
          <p:cNvSpPr txBox="1"/>
          <p:nvPr/>
        </p:nvSpPr>
        <p:spPr>
          <a:xfrm>
            <a:off x="548640" y="594360"/>
            <a:ext cx="10972800" cy="954107"/>
          </a:xfrm>
          <a:prstGeom prst="rect">
            <a:avLst/>
          </a:prstGeom>
          <a:noFill/>
        </p:spPr>
        <p:txBody>
          <a:bodyPr wrap="square" lIns="0" tIns="0" rIns="0" bIns="0" anchor="t">
            <a:spAutoFit/>
          </a:bodyPr>
          <a:lstStyle/>
          <a:p>
            <a:r>
              <a:rPr lang="en-US" sz="3200" b="1" kern="0" spc="-48" err="1">
                <a:solidFill>
                  <a:srgbClr val="14110C"/>
                </a:solidFill>
                <a:latin typeface="+mj-lt"/>
                <a:ea typeface="Georgia" pitchFamily="34" charset="-122"/>
                <a:cs typeface="Georgia" pitchFamily="34" charset="-120"/>
              </a:rPr>
              <a:t>Phân</a:t>
            </a:r>
            <a:r>
              <a:rPr lang="en-US" sz="3200" b="1" kern="0" spc="-48">
                <a:solidFill>
                  <a:srgbClr val="14110C"/>
                </a:solidFill>
                <a:latin typeface="+mj-lt"/>
                <a:ea typeface="Georgia" pitchFamily="34" charset="-122"/>
                <a:cs typeface="Georgia" pitchFamily="34" charset="-120"/>
              </a:rPr>
              <a:t> </a:t>
            </a:r>
            <a:r>
              <a:rPr lang="en-US" sz="3200" b="1" kern="0" spc="-48" err="1">
                <a:solidFill>
                  <a:srgbClr val="14110C"/>
                </a:solidFill>
                <a:latin typeface="+mj-lt"/>
                <a:ea typeface="Georgia" pitchFamily="34" charset="-122"/>
                <a:cs typeface="Georgia" pitchFamily="34" charset="-120"/>
              </a:rPr>
              <a:t>tích</a:t>
            </a:r>
            <a:r>
              <a:rPr lang="en-US" sz="3200" b="1" kern="0" spc="-48">
                <a:solidFill>
                  <a:srgbClr val="14110C"/>
                </a:solidFill>
                <a:latin typeface="+mj-lt"/>
                <a:ea typeface="Georgia" pitchFamily="34" charset="-122"/>
                <a:cs typeface="Georgia" pitchFamily="34" charset="-120"/>
              </a:rPr>
              <a:t> kết quả cải thiện</a:t>
            </a:r>
            <a:endParaRPr lang="en-US" sz="3200" b="1">
              <a:latin typeface="+mj-lt"/>
            </a:endParaRPr>
          </a:p>
          <a:p>
            <a:pPr algn="l"/>
            <a:endParaRPr sz="3000" b="1">
              <a:solidFill>
                <a:srgbClr val="1F2A44"/>
              </a:solidFill>
              <a:latin typeface="+mj-lt"/>
            </a:endParaRPr>
          </a:p>
        </p:txBody>
      </p:sp>
      <p:cxnSp>
        <p:nvCxnSpPr>
          <p:cNvPr id="6" name="Connector 5">
            <a:extLst>
              <a:ext uri="{FF2B5EF4-FFF2-40B4-BE49-F238E27FC236}">
                <a16:creationId xmlns:a16="http://schemas.microsoft.com/office/drawing/2014/main" id="{FE9C0352-A778-DC92-5C45-AFCCA4A6EA71}"/>
              </a:ext>
            </a:extLst>
          </p:cNvPr>
          <p:cNvCxnSpPr/>
          <p:nvPr/>
        </p:nvCxnSpPr>
        <p:spPr>
          <a:xfrm>
            <a:off x="548640" y="1325880"/>
            <a:ext cx="11091672"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E7F95734-D679-0FB1-A7F7-3B3B4848AF9C}"/>
              </a:ext>
            </a:extLst>
          </p:cNvPr>
          <p:cNvCxnSpPr/>
          <p:nvPr/>
        </p:nvCxnSpPr>
        <p:spPr>
          <a:xfrm>
            <a:off x="548640" y="6537960"/>
            <a:ext cx="11091672" cy="0"/>
          </a:xfrm>
          <a:prstGeom prst="line">
            <a:avLst/>
          </a:prstGeom>
          <a:ln w="6350">
            <a:solidFill>
              <a:srgbClr val="E1E6EE"/>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D352364-923A-51AC-A788-4A08E1EA3022}"/>
              </a:ext>
            </a:extLst>
          </p:cNvPr>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5B6B85"/>
                </a:solidFill>
                <a:latin typeface="+mj-lt"/>
              </a:rPr>
              <a:t>22 / 25</a:t>
            </a:r>
          </a:p>
        </p:txBody>
      </p:sp>
      <p:sp>
        <p:nvSpPr>
          <p:cNvPr id="8" name="TextBox 7">
            <a:extLst>
              <a:ext uri="{FF2B5EF4-FFF2-40B4-BE49-F238E27FC236}">
                <a16:creationId xmlns:a16="http://schemas.microsoft.com/office/drawing/2014/main" id="{D52B48C4-D732-6B18-B648-3B6E6964E04E}"/>
              </a:ext>
            </a:extLst>
          </p:cNvPr>
          <p:cNvSpPr txBox="1"/>
          <p:nvPr/>
        </p:nvSpPr>
        <p:spPr>
          <a:xfrm>
            <a:off x="548640" y="320040"/>
            <a:ext cx="9144000" cy="215444"/>
          </a:xfrm>
          <a:prstGeom prst="rect">
            <a:avLst/>
          </a:prstGeom>
          <a:noFill/>
        </p:spPr>
        <p:txBody>
          <a:bodyPr wrap="square" lIns="0" tIns="0" rIns="0" bIns="0" anchor="t">
            <a:spAutoFit/>
          </a:bodyPr>
          <a:lstStyle/>
          <a:p>
            <a:pPr algn="l"/>
            <a:r>
              <a:rPr lang="en-US" sz="1400" b="1">
                <a:solidFill>
                  <a:srgbClr val="0891B2"/>
                </a:solidFill>
                <a:latin typeface="+mj-lt"/>
              </a:rPr>
              <a:t>4. </a:t>
            </a:r>
            <a:r>
              <a:rPr lang="en-US" sz="1400" b="1" err="1">
                <a:solidFill>
                  <a:srgbClr val="0891B2"/>
                </a:solidFill>
                <a:latin typeface="+mj-lt"/>
              </a:rPr>
              <a:t>THỰC</a:t>
            </a:r>
            <a:r>
              <a:rPr lang="en-US" sz="1400" b="1">
                <a:solidFill>
                  <a:srgbClr val="0891B2"/>
                </a:solidFill>
                <a:latin typeface="+mj-lt"/>
              </a:rPr>
              <a:t> </a:t>
            </a:r>
            <a:r>
              <a:rPr lang="en-US" sz="1400" b="1" err="1">
                <a:solidFill>
                  <a:srgbClr val="0891B2"/>
                </a:solidFill>
                <a:latin typeface="+mj-lt"/>
              </a:rPr>
              <a:t>NGHIỆM</a:t>
            </a:r>
            <a:r>
              <a:rPr lang="en-US" sz="1400" b="1">
                <a:solidFill>
                  <a:srgbClr val="0891B2"/>
                </a:solidFill>
                <a:latin typeface="+mj-lt"/>
              </a:rPr>
              <a:t> </a:t>
            </a:r>
            <a:r>
              <a:rPr lang="en-US" sz="1400" b="1" err="1">
                <a:solidFill>
                  <a:srgbClr val="0891B2"/>
                </a:solidFill>
                <a:latin typeface="+mj-lt"/>
              </a:rPr>
              <a:t>VÀ</a:t>
            </a:r>
            <a:r>
              <a:rPr lang="en-US" sz="1400" b="1">
                <a:solidFill>
                  <a:srgbClr val="0891B2"/>
                </a:solidFill>
                <a:latin typeface="+mj-lt"/>
              </a:rPr>
              <a:t> </a:t>
            </a:r>
            <a:r>
              <a:rPr lang="en-US" sz="1400" b="1" err="1">
                <a:solidFill>
                  <a:srgbClr val="0891B2"/>
                </a:solidFill>
                <a:latin typeface="+mj-lt"/>
              </a:rPr>
              <a:t>KẾT</a:t>
            </a:r>
            <a:r>
              <a:rPr lang="en-US" sz="1400" b="1">
                <a:solidFill>
                  <a:srgbClr val="0891B2"/>
                </a:solidFill>
                <a:latin typeface="+mj-lt"/>
              </a:rPr>
              <a:t> </a:t>
            </a:r>
            <a:r>
              <a:rPr lang="en-US" sz="1400" b="1" err="1">
                <a:solidFill>
                  <a:srgbClr val="0891B2"/>
                </a:solidFill>
                <a:latin typeface="+mj-lt"/>
              </a:rPr>
              <a:t>QUẢ</a:t>
            </a:r>
            <a:r>
              <a:rPr lang="en-US" sz="1400" b="1">
                <a:solidFill>
                  <a:srgbClr val="0891B2"/>
                </a:solidFill>
                <a:latin typeface="+mj-lt"/>
              </a:rPr>
              <a:t> </a:t>
            </a:r>
            <a:endParaRPr sz="1400" b="1">
              <a:solidFill>
                <a:srgbClr val="0891B2"/>
              </a:solidFill>
              <a:latin typeface="+mj-lt"/>
            </a:endParaRPr>
          </a:p>
        </p:txBody>
      </p:sp>
      <p:sp>
        <p:nvSpPr>
          <p:cNvPr id="4" name="Text 6">
            <a:extLst>
              <a:ext uri="{FF2B5EF4-FFF2-40B4-BE49-F238E27FC236}">
                <a16:creationId xmlns:a16="http://schemas.microsoft.com/office/drawing/2014/main" id="{115D44A5-BA6C-BB16-2D41-91D57AEF1A2A}"/>
              </a:ext>
            </a:extLst>
          </p:cNvPr>
          <p:cNvSpPr/>
          <p:nvPr/>
        </p:nvSpPr>
        <p:spPr>
          <a:xfrm>
            <a:off x="698500" y="1543753"/>
            <a:ext cx="11118850" cy="337759"/>
          </a:xfrm>
          <a:prstGeom prst="rect">
            <a:avLst/>
          </a:prstGeom>
          <a:noFill/>
          <a:ln/>
        </p:spPr>
        <p:txBody>
          <a:bodyPr wrap="square" lIns="16933" tIns="16933" rIns="16933" bIns="16933" rtlCol="0" anchor="t">
            <a:noAutofit/>
          </a:bodyPr>
          <a:lstStyle/>
          <a:p>
            <a:pPr>
              <a:lnSpc>
                <a:spcPct val="142000"/>
              </a:lnSpc>
            </a:pPr>
            <a:r>
              <a:rPr lang="en-US" sz="2000">
                <a:latin typeface="+mj-lt"/>
                <a:ea typeface="Georgia" pitchFamily="34" charset="-122"/>
                <a:cs typeface="Georgia" pitchFamily="34" charset="-120"/>
              </a:rPr>
              <a:t>Mỗi thành phần đóng góp một mức cải thiện — các kỹ thuật </a:t>
            </a:r>
            <a:r>
              <a:rPr lang="en-US" sz="2000" i="1">
                <a:latin typeface="+mj-lt"/>
                <a:ea typeface="Georgia" pitchFamily="34" charset="-122"/>
                <a:cs typeface="Georgia" pitchFamily="34" charset="-120"/>
              </a:rPr>
              <a:t>bổ sung lẫn nhau</a:t>
            </a:r>
            <a:r>
              <a:rPr lang="en-US" sz="2000">
                <a:latin typeface="+mj-lt"/>
                <a:ea typeface="Georgia" pitchFamily="34" charset="-122"/>
                <a:cs typeface="Georgia" pitchFamily="34" charset="-120"/>
              </a:rPr>
              <a:t>, không trùng lặp.</a:t>
            </a:r>
            <a:endParaRPr lang="en-US" sz="2000">
              <a:latin typeface="+mj-lt"/>
            </a:endParaRPr>
          </a:p>
        </p:txBody>
      </p:sp>
      <p:sp>
        <p:nvSpPr>
          <p:cNvPr id="42" name="Shape 7">
            <a:extLst>
              <a:ext uri="{FF2B5EF4-FFF2-40B4-BE49-F238E27FC236}">
                <a16:creationId xmlns:a16="http://schemas.microsoft.com/office/drawing/2014/main" id="{A4BDFD77-9E5B-85D4-7EA1-EBC51CFD1A31}"/>
              </a:ext>
            </a:extLst>
          </p:cNvPr>
          <p:cNvSpPr/>
          <p:nvPr/>
        </p:nvSpPr>
        <p:spPr>
          <a:xfrm>
            <a:off x="698500" y="2478846"/>
            <a:ext cx="755596" cy="6350"/>
          </a:xfrm>
          <a:prstGeom prst="rect">
            <a:avLst/>
          </a:prstGeom>
          <a:solidFill>
            <a:srgbClr val="8C6A23"/>
          </a:solidFill>
          <a:ln/>
        </p:spPr>
        <p:txBody>
          <a:bodyPr/>
          <a:lstStyle/>
          <a:p>
            <a:endParaRPr lang="en-US" sz="2000">
              <a:latin typeface="+mj-lt"/>
            </a:endParaRPr>
          </a:p>
        </p:txBody>
      </p:sp>
      <p:sp>
        <p:nvSpPr>
          <p:cNvPr id="43" name="Text 8">
            <a:extLst>
              <a:ext uri="{FF2B5EF4-FFF2-40B4-BE49-F238E27FC236}">
                <a16:creationId xmlns:a16="http://schemas.microsoft.com/office/drawing/2014/main" id="{727DAE06-3F04-F1B4-ECFA-5A14B3B6F124}"/>
              </a:ext>
            </a:extLst>
          </p:cNvPr>
          <p:cNvSpPr/>
          <p:nvPr/>
        </p:nvSpPr>
        <p:spPr>
          <a:xfrm>
            <a:off x="828041" y="2173576"/>
            <a:ext cx="603196" cy="241769"/>
          </a:xfrm>
          <a:prstGeom prst="rect">
            <a:avLst/>
          </a:prstGeom>
          <a:noFill/>
          <a:ln/>
        </p:spPr>
        <p:txBody>
          <a:bodyPr wrap="square" lIns="16933" tIns="16933" rIns="16933" bIns="16933" rtlCol="0" anchor="ctr">
            <a:noAutofit/>
          </a:bodyPr>
          <a:lstStyle/>
          <a:p>
            <a:r>
              <a:rPr lang="en-US" sz="2000" i="1">
                <a:latin typeface="+mj-lt"/>
                <a:ea typeface="Georgia" pitchFamily="34" charset="-122"/>
                <a:cs typeface="Georgia" pitchFamily="34" charset="-120"/>
              </a:rPr>
              <a:t>#</a:t>
            </a:r>
            <a:endParaRPr lang="en-US" sz="2000">
              <a:latin typeface="+mj-lt"/>
            </a:endParaRPr>
          </a:p>
        </p:txBody>
      </p:sp>
      <p:sp>
        <p:nvSpPr>
          <p:cNvPr id="44" name="Shape 9">
            <a:extLst>
              <a:ext uri="{FF2B5EF4-FFF2-40B4-BE49-F238E27FC236}">
                <a16:creationId xmlns:a16="http://schemas.microsoft.com/office/drawing/2014/main" id="{5659131F-8BBD-BBEF-B73E-863EBB3F77E4}"/>
              </a:ext>
            </a:extLst>
          </p:cNvPr>
          <p:cNvSpPr/>
          <p:nvPr/>
        </p:nvSpPr>
        <p:spPr>
          <a:xfrm>
            <a:off x="1454097" y="2478846"/>
            <a:ext cx="7012059" cy="6350"/>
          </a:xfrm>
          <a:prstGeom prst="rect">
            <a:avLst/>
          </a:prstGeom>
          <a:solidFill>
            <a:srgbClr val="8C6A23"/>
          </a:solidFill>
          <a:ln/>
        </p:spPr>
        <p:txBody>
          <a:bodyPr/>
          <a:lstStyle/>
          <a:p>
            <a:endParaRPr lang="en-US" sz="2000">
              <a:latin typeface="+mj-lt"/>
            </a:endParaRPr>
          </a:p>
        </p:txBody>
      </p:sp>
      <p:sp>
        <p:nvSpPr>
          <p:cNvPr id="45" name="Text 10">
            <a:extLst>
              <a:ext uri="{FF2B5EF4-FFF2-40B4-BE49-F238E27FC236}">
                <a16:creationId xmlns:a16="http://schemas.microsoft.com/office/drawing/2014/main" id="{EA2AB17B-C01D-9A9C-E4A2-89275ED0B713}"/>
              </a:ext>
            </a:extLst>
          </p:cNvPr>
          <p:cNvSpPr/>
          <p:nvPr/>
        </p:nvSpPr>
        <p:spPr>
          <a:xfrm>
            <a:off x="1583637" y="2173576"/>
            <a:ext cx="7019221" cy="241769"/>
          </a:xfrm>
          <a:prstGeom prst="rect">
            <a:avLst/>
          </a:prstGeom>
          <a:noFill/>
          <a:ln/>
        </p:spPr>
        <p:txBody>
          <a:bodyPr wrap="square" lIns="16933" tIns="16933" rIns="16933" bIns="16933" rtlCol="0" anchor="ctr">
            <a:noAutofit/>
          </a:bodyPr>
          <a:lstStyle/>
          <a:p>
            <a:r>
              <a:rPr lang="en-US" sz="2000" i="1">
                <a:latin typeface="+mj-lt"/>
                <a:ea typeface="Georgia" pitchFamily="34" charset="-122"/>
                <a:cs typeface="Georgia" pitchFamily="34" charset="-120"/>
              </a:rPr>
              <a:t>Cấu hình</a:t>
            </a:r>
            <a:endParaRPr lang="en-US" sz="2000">
              <a:latin typeface="+mj-lt"/>
            </a:endParaRPr>
          </a:p>
        </p:txBody>
      </p:sp>
      <p:sp>
        <p:nvSpPr>
          <p:cNvPr id="46" name="Shape 11">
            <a:extLst>
              <a:ext uri="{FF2B5EF4-FFF2-40B4-BE49-F238E27FC236}">
                <a16:creationId xmlns:a16="http://schemas.microsoft.com/office/drawing/2014/main" id="{5B5F389D-F3E8-206C-9059-8D2A75FD697C}"/>
              </a:ext>
            </a:extLst>
          </p:cNvPr>
          <p:cNvSpPr/>
          <p:nvPr/>
        </p:nvSpPr>
        <p:spPr>
          <a:xfrm>
            <a:off x="8466155" y="2478846"/>
            <a:ext cx="1018255" cy="6350"/>
          </a:xfrm>
          <a:prstGeom prst="rect">
            <a:avLst/>
          </a:prstGeom>
          <a:solidFill>
            <a:srgbClr val="8C6A23"/>
          </a:solidFill>
          <a:ln/>
        </p:spPr>
        <p:txBody>
          <a:bodyPr/>
          <a:lstStyle/>
          <a:p>
            <a:endParaRPr lang="en-US" sz="2000">
              <a:latin typeface="+mj-lt"/>
            </a:endParaRPr>
          </a:p>
        </p:txBody>
      </p:sp>
      <p:sp>
        <p:nvSpPr>
          <p:cNvPr id="47" name="Text 12">
            <a:extLst>
              <a:ext uri="{FF2B5EF4-FFF2-40B4-BE49-F238E27FC236}">
                <a16:creationId xmlns:a16="http://schemas.microsoft.com/office/drawing/2014/main" id="{19E15919-3944-9698-C06F-37374E963B1C}"/>
              </a:ext>
            </a:extLst>
          </p:cNvPr>
          <p:cNvSpPr/>
          <p:nvPr/>
        </p:nvSpPr>
        <p:spPr>
          <a:xfrm>
            <a:off x="8544896" y="2173576"/>
            <a:ext cx="865855" cy="241769"/>
          </a:xfrm>
          <a:prstGeom prst="rect">
            <a:avLst/>
          </a:prstGeom>
          <a:noFill/>
          <a:ln/>
        </p:spPr>
        <p:txBody>
          <a:bodyPr wrap="square" lIns="16933" tIns="16933" rIns="16933" bIns="16933" rtlCol="0" anchor="ctr">
            <a:noAutofit/>
          </a:bodyPr>
          <a:lstStyle/>
          <a:p>
            <a:pPr algn="r"/>
            <a:r>
              <a:rPr lang="en-US" sz="2000" i="1">
                <a:latin typeface="+mj-lt"/>
                <a:ea typeface="Courier New" pitchFamily="34" charset="-122"/>
                <a:cs typeface="Courier New" pitchFamily="34" charset="-120"/>
              </a:rPr>
              <a:t>F1</a:t>
            </a:r>
            <a:endParaRPr lang="en-US" sz="2000">
              <a:latin typeface="+mj-lt"/>
            </a:endParaRPr>
          </a:p>
        </p:txBody>
      </p:sp>
      <p:sp>
        <p:nvSpPr>
          <p:cNvPr id="48" name="Shape 13">
            <a:extLst>
              <a:ext uri="{FF2B5EF4-FFF2-40B4-BE49-F238E27FC236}">
                <a16:creationId xmlns:a16="http://schemas.microsoft.com/office/drawing/2014/main" id="{DDD3477E-2791-5839-24F8-42C662179B47}"/>
              </a:ext>
            </a:extLst>
          </p:cNvPr>
          <p:cNvSpPr/>
          <p:nvPr/>
        </p:nvSpPr>
        <p:spPr>
          <a:xfrm>
            <a:off x="9484410" y="2478846"/>
            <a:ext cx="2009089" cy="6350"/>
          </a:xfrm>
          <a:prstGeom prst="rect">
            <a:avLst/>
          </a:prstGeom>
          <a:solidFill>
            <a:srgbClr val="8C6A23"/>
          </a:solidFill>
          <a:ln/>
        </p:spPr>
        <p:txBody>
          <a:bodyPr/>
          <a:lstStyle/>
          <a:p>
            <a:endParaRPr lang="en-US" sz="2000">
              <a:latin typeface="+mj-lt"/>
            </a:endParaRPr>
          </a:p>
        </p:txBody>
      </p:sp>
      <p:sp>
        <p:nvSpPr>
          <p:cNvPr id="49" name="Text 14">
            <a:extLst>
              <a:ext uri="{FF2B5EF4-FFF2-40B4-BE49-F238E27FC236}">
                <a16:creationId xmlns:a16="http://schemas.microsoft.com/office/drawing/2014/main" id="{EC02D2DD-94F9-03BB-962B-7934EE12489E}"/>
              </a:ext>
            </a:extLst>
          </p:cNvPr>
          <p:cNvSpPr/>
          <p:nvPr/>
        </p:nvSpPr>
        <p:spPr>
          <a:xfrm>
            <a:off x="9553679" y="2173576"/>
            <a:ext cx="1866162" cy="241769"/>
          </a:xfrm>
          <a:prstGeom prst="rect">
            <a:avLst/>
          </a:prstGeom>
          <a:noFill/>
          <a:ln/>
        </p:spPr>
        <p:txBody>
          <a:bodyPr wrap="square" lIns="16933" tIns="16933" rIns="16933" bIns="16933" rtlCol="0" anchor="ctr">
            <a:noAutofit/>
          </a:bodyPr>
          <a:lstStyle/>
          <a:p>
            <a:pPr algn="r"/>
            <a:r>
              <a:rPr lang="en-US" sz="2000" i="1">
                <a:latin typeface="+mj-lt"/>
                <a:ea typeface="Courier New" pitchFamily="34" charset="-122"/>
                <a:cs typeface="Courier New" pitchFamily="34" charset="-120"/>
              </a:rPr>
              <a:t>Δ vs. AutoShot</a:t>
            </a:r>
            <a:endParaRPr lang="en-US" sz="2000">
              <a:latin typeface="+mj-lt"/>
            </a:endParaRPr>
          </a:p>
        </p:txBody>
      </p:sp>
      <p:sp>
        <p:nvSpPr>
          <p:cNvPr id="50" name="Shape 15">
            <a:extLst>
              <a:ext uri="{FF2B5EF4-FFF2-40B4-BE49-F238E27FC236}">
                <a16:creationId xmlns:a16="http://schemas.microsoft.com/office/drawing/2014/main" id="{53D334B0-8A6F-47C3-FBA0-0542B66A6664}"/>
              </a:ext>
            </a:extLst>
          </p:cNvPr>
          <p:cNvSpPr/>
          <p:nvPr/>
        </p:nvSpPr>
        <p:spPr>
          <a:xfrm>
            <a:off x="698500" y="2926773"/>
            <a:ext cx="755596" cy="6350"/>
          </a:xfrm>
          <a:prstGeom prst="rect">
            <a:avLst/>
          </a:prstGeom>
          <a:solidFill>
            <a:srgbClr val="D8D0BF"/>
          </a:solidFill>
          <a:ln/>
        </p:spPr>
        <p:txBody>
          <a:bodyPr/>
          <a:lstStyle/>
          <a:p>
            <a:endParaRPr lang="en-US" sz="2000">
              <a:latin typeface="+mj-lt"/>
            </a:endParaRPr>
          </a:p>
        </p:txBody>
      </p:sp>
      <p:sp>
        <p:nvSpPr>
          <p:cNvPr id="51" name="Text 16">
            <a:extLst>
              <a:ext uri="{FF2B5EF4-FFF2-40B4-BE49-F238E27FC236}">
                <a16:creationId xmlns:a16="http://schemas.microsoft.com/office/drawing/2014/main" id="{80FE4A06-9B58-8D34-061C-74E39BEBDCD4}"/>
              </a:ext>
            </a:extLst>
          </p:cNvPr>
          <p:cNvSpPr/>
          <p:nvPr/>
        </p:nvSpPr>
        <p:spPr>
          <a:xfrm>
            <a:off x="828041" y="2598918"/>
            <a:ext cx="603196" cy="238955"/>
          </a:xfrm>
          <a:prstGeom prst="rect">
            <a:avLst/>
          </a:prstGeom>
          <a:noFill/>
          <a:ln/>
        </p:spPr>
        <p:txBody>
          <a:bodyPr wrap="square" lIns="16933" tIns="16933" rIns="16933" bIns="16933" rtlCol="0" anchor="ctr">
            <a:noAutofit/>
          </a:bodyPr>
          <a:lstStyle/>
          <a:p>
            <a:r>
              <a:rPr lang="en-US" sz="2000">
                <a:latin typeface="+mj-lt"/>
                <a:ea typeface="Georgia" pitchFamily="34" charset="-122"/>
                <a:cs typeface="Georgia" pitchFamily="34" charset="-120"/>
              </a:rPr>
              <a:t>0</a:t>
            </a:r>
            <a:endParaRPr lang="en-US" sz="2000">
              <a:latin typeface="+mj-lt"/>
            </a:endParaRPr>
          </a:p>
        </p:txBody>
      </p:sp>
      <p:sp>
        <p:nvSpPr>
          <p:cNvPr id="52" name="Shape 17">
            <a:extLst>
              <a:ext uri="{FF2B5EF4-FFF2-40B4-BE49-F238E27FC236}">
                <a16:creationId xmlns:a16="http://schemas.microsoft.com/office/drawing/2014/main" id="{6143C2CC-DC17-E781-28B1-5583C52560B6}"/>
              </a:ext>
            </a:extLst>
          </p:cNvPr>
          <p:cNvSpPr/>
          <p:nvPr/>
        </p:nvSpPr>
        <p:spPr>
          <a:xfrm>
            <a:off x="1454097" y="2926773"/>
            <a:ext cx="7012059" cy="6350"/>
          </a:xfrm>
          <a:prstGeom prst="rect">
            <a:avLst/>
          </a:prstGeom>
          <a:solidFill>
            <a:srgbClr val="D8D0BF"/>
          </a:solidFill>
          <a:ln/>
        </p:spPr>
        <p:txBody>
          <a:bodyPr/>
          <a:lstStyle/>
          <a:p>
            <a:endParaRPr lang="en-US" sz="2000">
              <a:latin typeface="+mj-lt"/>
            </a:endParaRPr>
          </a:p>
        </p:txBody>
      </p:sp>
      <p:sp>
        <p:nvSpPr>
          <p:cNvPr id="53" name="Text 18">
            <a:extLst>
              <a:ext uri="{FF2B5EF4-FFF2-40B4-BE49-F238E27FC236}">
                <a16:creationId xmlns:a16="http://schemas.microsoft.com/office/drawing/2014/main" id="{77493597-2094-3FC8-AA1F-9CA7074F02B6}"/>
              </a:ext>
            </a:extLst>
          </p:cNvPr>
          <p:cNvSpPr/>
          <p:nvPr/>
        </p:nvSpPr>
        <p:spPr>
          <a:xfrm>
            <a:off x="1583637" y="2598918"/>
            <a:ext cx="7019221" cy="238955"/>
          </a:xfrm>
          <a:prstGeom prst="rect">
            <a:avLst/>
          </a:prstGeom>
          <a:noFill/>
          <a:ln/>
        </p:spPr>
        <p:txBody>
          <a:bodyPr wrap="square" lIns="16933" tIns="16933" rIns="16933" bIns="16933" rtlCol="0" anchor="ctr">
            <a:noAutofit/>
          </a:bodyPr>
          <a:lstStyle/>
          <a:p>
            <a:r>
              <a:rPr lang="en-US" sz="2000">
                <a:latin typeface="+mj-lt"/>
                <a:ea typeface="Georgia" pitchFamily="34" charset="-122"/>
                <a:cs typeface="Georgia" pitchFamily="34" charset="-120"/>
              </a:rPr>
              <a:t>AutoShot gốc · baseline kế thừa</a:t>
            </a:r>
            <a:endParaRPr lang="en-US" sz="2000">
              <a:latin typeface="+mj-lt"/>
            </a:endParaRPr>
          </a:p>
        </p:txBody>
      </p:sp>
      <p:sp>
        <p:nvSpPr>
          <p:cNvPr id="54" name="Shape 19">
            <a:extLst>
              <a:ext uri="{FF2B5EF4-FFF2-40B4-BE49-F238E27FC236}">
                <a16:creationId xmlns:a16="http://schemas.microsoft.com/office/drawing/2014/main" id="{AE999AF7-9DE7-D626-444B-FC0A42C67A81}"/>
              </a:ext>
            </a:extLst>
          </p:cNvPr>
          <p:cNvSpPr/>
          <p:nvPr/>
        </p:nvSpPr>
        <p:spPr>
          <a:xfrm>
            <a:off x="8466155" y="2926773"/>
            <a:ext cx="1018255" cy="6350"/>
          </a:xfrm>
          <a:prstGeom prst="rect">
            <a:avLst/>
          </a:prstGeom>
          <a:solidFill>
            <a:srgbClr val="D8D0BF"/>
          </a:solidFill>
          <a:ln/>
        </p:spPr>
        <p:txBody>
          <a:bodyPr/>
          <a:lstStyle/>
          <a:p>
            <a:endParaRPr lang="en-US" sz="2000">
              <a:latin typeface="+mj-lt"/>
            </a:endParaRPr>
          </a:p>
        </p:txBody>
      </p:sp>
      <p:sp>
        <p:nvSpPr>
          <p:cNvPr id="55" name="Text 20">
            <a:extLst>
              <a:ext uri="{FF2B5EF4-FFF2-40B4-BE49-F238E27FC236}">
                <a16:creationId xmlns:a16="http://schemas.microsoft.com/office/drawing/2014/main" id="{12070930-7329-4338-4E64-3A281BC29A7E}"/>
              </a:ext>
            </a:extLst>
          </p:cNvPr>
          <p:cNvSpPr/>
          <p:nvPr/>
        </p:nvSpPr>
        <p:spPr>
          <a:xfrm>
            <a:off x="8544896" y="2598918"/>
            <a:ext cx="865855" cy="238955"/>
          </a:xfrm>
          <a:prstGeom prst="rect">
            <a:avLst/>
          </a:prstGeom>
          <a:noFill/>
          <a:ln/>
        </p:spPr>
        <p:txBody>
          <a:bodyPr wrap="square" lIns="16933" tIns="16933" rIns="16933" bIns="16933" rtlCol="0" anchor="ctr">
            <a:noAutofit/>
          </a:bodyPr>
          <a:lstStyle/>
          <a:p>
            <a:pPr algn="r"/>
            <a:r>
              <a:rPr lang="en-US" sz="2000">
                <a:latin typeface="+mj-lt"/>
                <a:ea typeface="Courier New" pitchFamily="34" charset="-122"/>
                <a:cs typeface="Courier New" pitchFamily="34" charset="-120"/>
              </a:rPr>
              <a:t>0.840</a:t>
            </a:r>
            <a:endParaRPr lang="en-US" sz="2000">
              <a:latin typeface="+mj-lt"/>
            </a:endParaRPr>
          </a:p>
        </p:txBody>
      </p:sp>
      <p:sp>
        <p:nvSpPr>
          <p:cNvPr id="56" name="Shape 21">
            <a:extLst>
              <a:ext uri="{FF2B5EF4-FFF2-40B4-BE49-F238E27FC236}">
                <a16:creationId xmlns:a16="http://schemas.microsoft.com/office/drawing/2014/main" id="{A92C6FC6-0919-FAC1-E8FB-854B0F9336B4}"/>
              </a:ext>
            </a:extLst>
          </p:cNvPr>
          <p:cNvSpPr/>
          <p:nvPr/>
        </p:nvSpPr>
        <p:spPr>
          <a:xfrm>
            <a:off x="9484410" y="2926773"/>
            <a:ext cx="2009089" cy="6350"/>
          </a:xfrm>
          <a:prstGeom prst="rect">
            <a:avLst/>
          </a:prstGeom>
          <a:solidFill>
            <a:srgbClr val="D8D0BF"/>
          </a:solidFill>
          <a:ln/>
        </p:spPr>
        <p:txBody>
          <a:bodyPr/>
          <a:lstStyle/>
          <a:p>
            <a:endParaRPr lang="en-US" sz="2000">
              <a:latin typeface="+mj-lt"/>
            </a:endParaRPr>
          </a:p>
        </p:txBody>
      </p:sp>
      <p:sp>
        <p:nvSpPr>
          <p:cNvPr id="57" name="Text 22">
            <a:extLst>
              <a:ext uri="{FF2B5EF4-FFF2-40B4-BE49-F238E27FC236}">
                <a16:creationId xmlns:a16="http://schemas.microsoft.com/office/drawing/2014/main" id="{74175EC4-3E0E-99A1-8F39-D8C5FCE6FC1A}"/>
              </a:ext>
            </a:extLst>
          </p:cNvPr>
          <p:cNvSpPr/>
          <p:nvPr/>
        </p:nvSpPr>
        <p:spPr>
          <a:xfrm>
            <a:off x="9553679" y="2598918"/>
            <a:ext cx="1866162" cy="238955"/>
          </a:xfrm>
          <a:prstGeom prst="rect">
            <a:avLst/>
          </a:prstGeom>
          <a:noFill/>
          <a:ln/>
        </p:spPr>
        <p:txBody>
          <a:bodyPr wrap="square" lIns="16933" tIns="16933" rIns="16933" bIns="16933" rtlCol="0" anchor="ctr">
            <a:noAutofit/>
          </a:bodyPr>
          <a:lstStyle/>
          <a:p>
            <a:pPr algn="r"/>
            <a:r>
              <a:rPr lang="en-US" sz="2000">
                <a:latin typeface="+mj-lt"/>
                <a:ea typeface="Courier New" pitchFamily="34" charset="-122"/>
                <a:cs typeface="Courier New" pitchFamily="34" charset="-120"/>
              </a:rPr>
              <a:t>—</a:t>
            </a:r>
            <a:endParaRPr lang="en-US" sz="2000">
              <a:latin typeface="+mj-lt"/>
            </a:endParaRPr>
          </a:p>
        </p:txBody>
      </p:sp>
      <p:sp>
        <p:nvSpPr>
          <p:cNvPr id="58" name="Shape 23">
            <a:extLst>
              <a:ext uri="{FF2B5EF4-FFF2-40B4-BE49-F238E27FC236}">
                <a16:creationId xmlns:a16="http://schemas.microsoft.com/office/drawing/2014/main" id="{B8B66EBC-55A6-6DCD-C669-E75B11832F4F}"/>
              </a:ext>
            </a:extLst>
          </p:cNvPr>
          <p:cNvSpPr/>
          <p:nvPr/>
        </p:nvSpPr>
        <p:spPr>
          <a:xfrm>
            <a:off x="698500" y="3374700"/>
            <a:ext cx="755596" cy="6350"/>
          </a:xfrm>
          <a:prstGeom prst="rect">
            <a:avLst/>
          </a:prstGeom>
          <a:solidFill>
            <a:srgbClr val="D8D0BF"/>
          </a:solidFill>
          <a:ln/>
        </p:spPr>
        <p:txBody>
          <a:bodyPr/>
          <a:lstStyle/>
          <a:p>
            <a:endParaRPr lang="en-US" sz="2000">
              <a:latin typeface="+mj-lt"/>
            </a:endParaRPr>
          </a:p>
        </p:txBody>
      </p:sp>
      <p:sp>
        <p:nvSpPr>
          <p:cNvPr id="59" name="Text 24">
            <a:extLst>
              <a:ext uri="{FF2B5EF4-FFF2-40B4-BE49-F238E27FC236}">
                <a16:creationId xmlns:a16="http://schemas.microsoft.com/office/drawing/2014/main" id="{4DDBFB1C-910E-3626-CA62-16D753387A22}"/>
              </a:ext>
            </a:extLst>
          </p:cNvPr>
          <p:cNvSpPr/>
          <p:nvPr/>
        </p:nvSpPr>
        <p:spPr>
          <a:xfrm>
            <a:off x="828041" y="3046845"/>
            <a:ext cx="603196" cy="238955"/>
          </a:xfrm>
          <a:prstGeom prst="rect">
            <a:avLst/>
          </a:prstGeom>
          <a:noFill/>
          <a:ln/>
        </p:spPr>
        <p:txBody>
          <a:bodyPr wrap="square" lIns="16933" tIns="16933" rIns="16933" bIns="16933" rtlCol="0" anchor="ctr">
            <a:noAutofit/>
          </a:bodyPr>
          <a:lstStyle/>
          <a:p>
            <a:r>
              <a:rPr lang="en-US" sz="2000">
                <a:latin typeface="+mj-lt"/>
                <a:ea typeface="Georgia" pitchFamily="34" charset="-122"/>
                <a:cs typeface="Georgia" pitchFamily="34" charset="-120"/>
              </a:rPr>
              <a:t>V1</a:t>
            </a:r>
            <a:endParaRPr lang="en-US" sz="2000">
              <a:latin typeface="+mj-lt"/>
            </a:endParaRPr>
          </a:p>
        </p:txBody>
      </p:sp>
      <p:sp>
        <p:nvSpPr>
          <p:cNvPr id="60" name="Shape 25">
            <a:extLst>
              <a:ext uri="{FF2B5EF4-FFF2-40B4-BE49-F238E27FC236}">
                <a16:creationId xmlns:a16="http://schemas.microsoft.com/office/drawing/2014/main" id="{383E7E3F-C205-7239-ADA6-E9A1B8FD75C0}"/>
              </a:ext>
            </a:extLst>
          </p:cNvPr>
          <p:cNvSpPr/>
          <p:nvPr/>
        </p:nvSpPr>
        <p:spPr>
          <a:xfrm>
            <a:off x="1454097" y="3374700"/>
            <a:ext cx="7012059" cy="6350"/>
          </a:xfrm>
          <a:prstGeom prst="rect">
            <a:avLst/>
          </a:prstGeom>
          <a:solidFill>
            <a:srgbClr val="D8D0BF"/>
          </a:solidFill>
          <a:ln/>
        </p:spPr>
        <p:txBody>
          <a:bodyPr/>
          <a:lstStyle/>
          <a:p>
            <a:endParaRPr lang="en-US" sz="2000">
              <a:latin typeface="+mj-lt"/>
            </a:endParaRPr>
          </a:p>
        </p:txBody>
      </p:sp>
      <p:sp>
        <p:nvSpPr>
          <p:cNvPr id="61" name="Text 26">
            <a:extLst>
              <a:ext uri="{FF2B5EF4-FFF2-40B4-BE49-F238E27FC236}">
                <a16:creationId xmlns:a16="http://schemas.microsoft.com/office/drawing/2014/main" id="{8708556F-A408-8659-29E9-CE040285133F}"/>
              </a:ext>
            </a:extLst>
          </p:cNvPr>
          <p:cNvSpPr/>
          <p:nvPr/>
        </p:nvSpPr>
        <p:spPr>
          <a:xfrm>
            <a:off x="1583637" y="3046845"/>
            <a:ext cx="7019221" cy="238955"/>
          </a:xfrm>
          <a:prstGeom prst="rect">
            <a:avLst/>
          </a:prstGeom>
          <a:noFill/>
          <a:ln/>
        </p:spPr>
        <p:txBody>
          <a:bodyPr wrap="square" lIns="16933" tIns="16933" rIns="16933" bIns="16933" rtlCol="0" anchor="ctr">
            <a:noAutofit/>
          </a:bodyPr>
          <a:lstStyle/>
          <a:p>
            <a:r>
              <a:rPr lang="en-US" sz="2000" b="1">
                <a:solidFill>
                  <a:srgbClr val="1F2A44"/>
                </a:solidFill>
              </a:rPr>
              <a:t>+ </a:t>
            </a:r>
            <a:r>
              <a:rPr lang="en-US" sz="2000">
                <a:solidFill>
                  <a:srgbClr val="1F2A44"/>
                </a:solidFill>
              </a:rPr>
              <a:t>Gaussian smoothing</a:t>
            </a:r>
            <a:endParaRPr lang="en-US" sz="2000">
              <a:latin typeface="+mj-lt"/>
            </a:endParaRPr>
          </a:p>
        </p:txBody>
      </p:sp>
      <p:sp>
        <p:nvSpPr>
          <p:cNvPr id="62" name="Shape 27">
            <a:extLst>
              <a:ext uri="{FF2B5EF4-FFF2-40B4-BE49-F238E27FC236}">
                <a16:creationId xmlns:a16="http://schemas.microsoft.com/office/drawing/2014/main" id="{02AB2D52-97D9-B968-3EB9-BF873B84A0F8}"/>
              </a:ext>
            </a:extLst>
          </p:cNvPr>
          <p:cNvSpPr/>
          <p:nvPr/>
        </p:nvSpPr>
        <p:spPr>
          <a:xfrm>
            <a:off x="8466155" y="3374700"/>
            <a:ext cx="1018255" cy="6350"/>
          </a:xfrm>
          <a:prstGeom prst="rect">
            <a:avLst/>
          </a:prstGeom>
          <a:solidFill>
            <a:srgbClr val="D8D0BF"/>
          </a:solidFill>
          <a:ln/>
        </p:spPr>
        <p:txBody>
          <a:bodyPr/>
          <a:lstStyle/>
          <a:p>
            <a:endParaRPr lang="en-US" sz="2000">
              <a:latin typeface="+mj-lt"/>
            </a:endParaRPr>
          </a:p>
        </p:txBody>
      </p:sp>
      <p:sp>
        <p:nvSpPr>
          <p:cNvPr id="63" name="Text 28">
            <a:extLst>
              <a:ext uri="{FF2B5EF4-FFF2-40B4-BE49-F238E27FC236}">
                <a16:creationId xmlns:a16="http://schemas.microsoft.com/office/drawing/2014/main" id="{64067CA2-08E8-2E3A-ED20-A849277F37CF}"/>
              </a:ext>
            </a:extLst>
          </p:cNvPr>
          <p:cNvSpPr/>
          <p:nvPr/>
        </p:nvSpPr>
        <p:spPr>
          <a:xfrm>
            <a:off x="8544896" y="3046845"/>
            <a:ext cx="865855" cy="238955"/>
          </a:xfrm>
          <a:prstGeom prst="rect">
            <a:avLst/>
          </a:prstGeom>
          <a:noFill/>
          <a:ln/>
        </p:spPr>
        <p:txBody>
          <a:bodyPr wrap="square" lIns="16933" tIns="16933" rIns="16933" bIns="16933" rtlCol="0" anchor="ctr">
            <a:noAutofit/>
          </a:bodyPr>
          <a:lstStyle/>
          <a:p>
            <a:pPr algn="r"/>
            <a:r>
              <a:rPr lang="en-US" sz="2000">
                <a:latin typeface="+mj-lt"/>
                <a:ea typeface="Courier New" pitchFamily="34" charset="-122"/>
                <a:cs typeface="Courier New" pitchFamily="34" charset="-120"/>
              </a:rPr>
              <a:t>0.848</a:t>
            </a:r>
            <a:endParaRPr lang="en-US" sz="2000">
              <a:latin typeface="+mj-lt"/>
            </a:endParaRPr>
          </a:p>
        </p:txBody>
      </p:sp>
      <p:sp>
        <p:nvSpPr>
          <p:cNvPr id="64" name="Shape 29">
            <a:extLst>
              <a:ext uri="{FF2B5EF4-FFF2-40B4-BE49-F238E27FC236}">
                <a16:creationId xmlns:a16="http://schemas.microsoft.com/office/drawing/2014/main" id="{7E5142EC-F254-AAA5-2406-2EE1CC26FA21}"/>
              </a:ext>
            </a:extLst>
          </p:cNvPr>
          <p:cNvSpPr/>
          <p:nvPr/>
        </p:nvSpPr>
        <p:spPr>
          <a:xfrm>
            <a:off x="9484410" y="3374700"/>
            <a:ext cx="2009089" cy="6350"/>
          </a:xfrm>
          <a:prstGeom prst="rect">
            <a:avLst/>
          </a:prstGeom>
          <a:solidFill>
            <a:srgbClr val="D8D0BF"/>
          </a:solidFill>
          <a:ln/>
        </p:spPr>
        <p:txBody>
          <a:bodyPr/>
          <a:lstStyle/>
          <a:p>
            <a:endParaRPr lang="en-US" sz="2000">
              <a:latin typeface="+mj-lt"/>
            </a:endParaRPr>
          </a:p>
        </p:txBody>
      </p:sp>
      <p:sp>
        <p:nvSpPr>
          <p:cNvPr id="65" name="Text 30">
            <a:extLst>
              <a:ext uri="{FF2B5EF4-FFF2-40B4-BE49-F238E27FC236}">
                <a16:creationId xmlns:a16="http://schemas.microsoft.com/office/drawing/2014/main" id="{9E0DD827-1477-7AF7-B35E-657E45E4D422}"/>
              </a:ext>
            </a:extLst>
          </p:cNvPr>
          <p:cNvSpPr/>
          <p:nvPr/>
        </p:nvSpPr>
        <p:spPr>
          <a:xfrm>
            <a:off x="9553679" y="3046845"/>
            <a:ext cx="1866162" cy="238955"/>
          </a:xfrm>
          <a:prstGeom prst="rect">
            <a:avLst/>
          </a:prstGeom>
          <a:noFill/>
          <a:ln/>
        </p:spPr>
        <p:txBody>
          <a:bodyPr wrap="square" lIns="16933" tIns="16933" rIns="16933" bIns="16933" rtlCol="0" anchor="ctr">
            <a:noAutofit/>
          </a:bodyPr>
          <a:lstStyle/>
          <a:p>
            <a:pPr algn="r"/>
            <a:r>
              <a:rPr lang="en-US" sz="2000">
                <a:latin typeface="+mj-lt"/>
                <a:ea typeface="Courier New" pitchFamily="34" charset="-122"/>
                <a:cs typeface="Courier New" pitchFamily="34" charset="-120"/>
              </a:rPr>
              <a:t>+0.83%</a:t>
            </a:r>
            <a:endParaRPr lang="en-US" sz="2000">
              <a:latin typeface="+mj-lt"/>
            </a:endParaRPr>
          </a:p>
        </p:txBody>
      </p:sp>
      <p:sp>
        <p:nvSpPr>
          <p:cNvPr id="66" name="Shape 31">
            <a:extLst>
              <a:ext uri="{FF2B5EF4-FFF2-40B4-BE49-F238E27FC236}">
                <a16:creationId xmlns:a16="http://schemas.microsoft.com/office/drawing/2014/main" id="{42D3D13D-27F1-2AE3-2D1C-13BDFBFDD120}"/>
              </a:ext>
            </a:extLst>
          </p:cNvPr>
          <p:cNvSpPr/>
          <p:nvPr/>
        </p:nvSpPr>
        <p:spPr>
          <a:xfrm>
            <a:off x="698500" y="3793764"/>
            <a:ext cx="755596" cy="6350"/>
          </a:xfrm>
          <a:prstGeom prst="rect">
            <a:avLst/>
          </a:prstGeom>
          <a:solidFill>
            <a:srgbClr val="D8D0BF"/>
          </a:solidFill>
          <a:ln/>
        </p:spPr>
        <p:txBody>
          <a:bodyPr/>
          <a:lstStyle/>
          <a:p>
            <a:endParaRPr lang="en-US" sz="2000">
              <a:latin typeface="+mj-lt"/>
            </a:endParaRPr>
          </a:p>
        </p:txBody>
      </p:sp>
      <p:sp>
        <p:nvSpPr>
          <p:cNvPr id="68" name="Shape 33">
            <a:extLst>
              <a:ext uri="{FF2B5EF4-FFF2-40B4-BE49-F238E27FC236}">
                <a16:creationId xmlns:a16="http://schemas.microsoft.com/office/drawing/2014/main" id="{B9BC5F81-759C-CA54-C1E1-B5EC712051C4}"/>
              </a:ext>
            </a:extLst>
          </p:cNvPr>
          <p:cNvSpPr/>
          <p:nvPr/>
        </p:nvSpPr>
        <p:spPr>
          <a:xfrm>
            <a:off x="1454097" y="3793764"/>
            <a:ext cx="7012059" cy="6350"/>
          </a:xfrm>
          <a:prstGeom prst="rect">
            <a:avLst/>
          </a:prstGeom>
          <a:solidFill>
            <a:srgbClr val="D8D0BF"/>
          </a:solidFill>
          <a:ln/>
        </p:spPr>
        <p:txBody>
          <a:bodyPr/>
          <a:lstStyle/>
          <a:p>
            <a:endParaRPr lang="en-US" sz="2000">
              <a:latin typeface="+mj-lt"/>
            </a:endParaRPr>
          </a:p>
        </p:txBody>
      </p:sp>
      <p:sp>
        <p:nvSpPr>
          <p:cNvPr id="70" name="Shape 35">
            <a:extLst>
              <a:ext uri="{FF2B5EF4-FFF2-40B4-BE49-F238E27FC236}">
                <a16:creationId xmlns:a16="http://schemas.microsoft.com/office/drawing/2014/main" id="{176A0542-39AE-37B4-76E5-1F0D6FB044BD}"/>
              </a:ext>
            </a:extLst>
          </p:cNvPr>
          <p:cNvSpPr/>
          <p:nvPr/>
        </p:nvSpPr>
        <p:spPr>
          <a:xfrm>
            <a:off x="8466155" y="3793764"/>
            <a:ext cx="1018255" cy="6350"/>
          </a:xfrm>
          <a:prstGeom prst="rect">
            <a:avLst/>
          </a:prstGeom>
          <a:solidFill>
            <a:srgbClr val="D8D0BF"/>
          </a:solidFill>
          <a:ln/>
        </p:spPr>
        <p:txBody>
          <a:bodyPr/>
          <a:lstStyle/>
          <a:p>
            <a:endParaRPr lang="en-US" sz="2000">
              <a:latin typeface="+mj-lt"/>
            </a:endParaRPr>
          </a:p>
        </p:txBody>
      </p:sp>
      <p:sp>
        <p:nvSpPr>
          <p:cNvPr id="72" name="Shape 37">
            <a:extLst>
              <a:ext uri="{FF2B5EF4-FFF2-40B4-BE49-F238E27FC236}">
                <a16:creationId xmlns:a16="http://schemas.microsoft.com/office/drawing/2014/main" id="{A62202CF-8B42-B52C-13E6-6530BA560466}"/>
              </a:ext>
            </a:extLst>
          </p:cNvPr>
          <p:cNvSpPr/>
          <p:nvPr/>
        </p:nvSpPr>
        <p:spPr>
          <a:xfrm>
            <a:off x="9484410" y="3793764"/>
            <a:ext cx="2009089" cy="6350"/>
          </a:xfrm>
          <a:prstGeom prst="rect">
            <a:avLst/>
          </a:prstGeom>
          <a:solidFill>
            <a:srgbClr val="D8D0BF"/>
          </a:solidFill>
          <a:ln/>
        </p:spPr>
        <p:txBody>
          <a:bodyPr/>
          <a:lstStyle/>
          <a:p>
            <a:endParaRPr lang="en-US" sz="2000">
              <a:latin typeface="+mj-lt"/>
            </a:endParaRPr>
          </a:p>
        </p:txBody>
      </p:sp>
      <p:sp>
        <p:nvSpPr>
          <p:cNvPr id="74" name="Shape 39">
            <a:extLst>
              <a:ext uri="{FF2B5EF4-FFF2-40B4-BE49-F238E27FC236}">
                <a16:creationId xmlns:a16="http://schemas.microsoft.com/office/drawing/2014/main" id="{16EFEA7F-A182-3F50-075E-B5018AB7A0E7}"/>
              </a:ext>
            </a:extLst>
          </p:cNvPr>
          <p:cNvSpPr/>
          <p:nvPr/>
        </p:nvSpPr>
        <p:spPr>
          <a:xfrm>
            <a:off x="726441" y="3380802"/>
            <a:ext cx="755596" cy="6350"/>
          </a:xfrm>
          <a:prstGeom prst="rect">
            <a:avLst/>
          </a:prstGeom>
          <a:solidFill>
            <a:srgbClr val="D8D0BF"/>
          </a:solidFill>
          <a:ln/>
        </p:spPr>
        <p:txBody>
          <a:bodyPr/>
          <a:lstStyle/>
          <a:p>
            <a:endParaRPr lang="en-US" sz="2000">
              <a:latin typeface="+mj-lt"/>
            </a:endParaRPr>
          </a:p>
        </p:txBody>
      </p:sp>
      <p:sp>
        <p:nvSpPr>
          <p:cNvPr id="82" name="Shape 47">
            <a:extLst>
              <a:ext uri="{FF2B5EF4-FFF2-40B4-BE49-F238E27FC236}">
                <a16:creationId xmlns:a16="http://schemas.microsoft.com/office/drawing/2014/main" id="{2C376707-1E6C-2E2E-2F3C-70AB3D60AB05}"/>
              </a:ext>
            </a:extLst>
          </p:cNvPr>
          <p:cNvSpPr/>
          <p:nvPr/>
        </p:nvSpPr>
        <p:spPr>
          <a:xfrm>
            <a:off x="726441" y="3386575"/>
            <a:ext cx="755596" cy="456587"/>
          </a:xfrm>
          <a:prstGeom prst="rect">
            <a:avLst/>
          </a:prstGeom>
          <a:solidFill>
            <a:schemeClr val="bg1"/>
          </a:solidFill>
          <a:ln/>
        </p:spPr>
        <p:txBody>
          <a:bodyPr/>
          <a:lstStyle/>
          <a:p>
            <a:endParaRPr lang="en-US" sz="2000">
              <a:highlight>
                <a:srgbClr val="FFFF00"/>
              </a:highlight>
              <a:latin typeface="+mj-lt"/>
            </a:endParaRPr>
          </a:p>
        </p:txBody>
      </p:sp>
      <p:grpSp>
        <p:nvGrpSpPr>
          <p:cNvPr id="10" name="Group 9">
            <a:extLst>
              <a:ext uri="{FF2B5EF4-FFF2-40B4-BE49-F238E27FC236}">
                <a16:creationId xmlns:a16="http://schemas.microsoft.com/office/drawing/2014/main" id="{48A02F0F-CE97-FDB7-CC54-9287F1438CF9}"/>
              </a:ext>
            </a:extLst>
          </p:cNvPr>
          <p:cNvGrpSpPr/>
          <p:nvPr/>
        </p:nvGrpSpPr>
        <p:grpSpPr>
          <a:xfrm>
            <a:off x="828041" y="3380802"/>
            <a:ext cx="10693399" cy="462360"/>
            <a:chOff x="800100" y="4212828"/>
            <a:chExt cx="10693399" cy="462360"/>
          </a:xfrm>
        </p:grpSpPr>
        <p:sp>
          <p:nvSpPr>
            <p:cNvPr id="76" name="Shape 41">
              <a:extLst>
                <a:ext uri="{FF2B5EF4-FFF2-40B4-BE49-F238E27FC236}">
                  <a16:creationId xmlns:a16="http://schemas.microsoft.com/office/drawing/2014/main" id="{A680D0B5-C55D-3D3A-7015-021CEFD6ACC7}"/>
                </a:ext>
              </a:extLst>
            </p:cNvPr>
            <p:cNvSpPr/>
            <p:nvPr/>
          </p:nvSpPr>
          <p:spPr>
            <a:xfrm>
              <a:off x="1454097" y="4212828"/>
              <a:ext cx="7012059" cy="6350"/>
            </a:xfrm>
            <a:prstGeom prst="rect">
              <a:avLst/>
            </a:prstGeom>
            <a:solidFill>
              <a:srgbClr val="D8D0BF"/>
            </a:solidFill>
            <a:ln/>
          </p:spPr>
          <p:txBody>
            <a:bodyPr/>
            <a:lstStyle/>
            <a:p>
              <a:endParaRPr lang="en-US" sz="2000">
                <a:latin typeface="+mj-lt"/>
              </a:endParaRPr>
            </a:p>
          </p:txBody>
        </p:sp>
        <p:sp>
          <p:nvSpPr>
            <p:cNvPr id="78" name="Shape 43">
              <a:extLst>
                <a:ext uri="{FF2B5EF4-FFF2-40B4-BE49-F238E27FC236}">
                  <a16:creationId xmlns:a16="http://schemas.microsoft.com/office/drawing/2014/main" id="{EBFDE419-B691-B404-CAEA-0A54EE1DC396}"/>
                </a:ext>
              </a:extLst>
            </p:cNvPr>
            <p:cNvSpPr/>
            <p:nvPr/>
          </p:nvSpPr>
          <p:spPr>
            <a:xfrm>
              <a:off x="8466155" y="4212828"/>
              <a:ext cx="1018255" cy="6350"/>
            </a:xfrm>
            <a:prstGeom prst="rect">
              <a:avLst/>
            </a:prstGeom>
            <a:solidFill>
              <a:srgbClr val="D8D0BF"/>
            </a:solidFill>
            <a:ln/>
          </p:spPr>
          <p:txBody>
            <a:bodyPr/>
            <a:lstStyle/>
            <a:p>
              <a:endParaRPr lang="en-US" sz="2000">
                <a:latin typeface="+mj-lt"/>
              </a:endParaRPr>
            </a:p>
          </p:txBody>
        </p:sp>
        <p:sp>
          <p:nvSpPr>
            <p:cNvPr id="80" name="Shape 45">
              <a:extLst>
                <a:ext uri="{FF2B5EF4-FFF2-40B4-BE49-F238E27FC236}">
                  <a16:creationId xmlns:a16="http://schemas.microsoft.com/office/drawing/2014/main" id="{50E79089-B041-21AE-8D4D-A8313C6D70D1}"/>
                </a:ext>
              </a:extLst>
            </p:cNvPr>
            <p:cNvSpPr/>
            <p:nvPr/>
          </p:nvSpPr>
          <p:spPr>
            <a:xfrm>
              <a:off x="9484410" y="4212828"/>
              <a:ext cx="2009089" cy="6350"/>
            </a:xfrm>
            <a:prstGeom prst="rect">
              <a:avLst/>
            </a:prstGeom>
            <a:solidFill>
              <a:srgbClr val="D8D0BF"/>
            </a:solidFill>
            <a:ln/>
          </p:spPr>
          <p:txBody>
            <a:bodyPr/>
            <a:lstStyle/>
            <a:p>
              <a:endParaRPr lang="en-US" sz="2000">
                <a:latin typeface="+mj-lt"/>
              </a:endParaRPr>
            </a:p>
          </p:txBody>
        </p:sp>
        <p:sp>
          <p:nvSpPr>
            <p:cNvPr id="83" name="Text 48">
              <a:extLst>
                <a:ext uri="{FF2B5EF4-FFF2-40B4-BE49-F238E27FC236}">
                  <a16:creationId xmlns:a16="http://schemas.microsoft.com/office/drawing/2014/main" id="{893D3D83-AA8E-8F65-EF0D-ECBB00D9441C}"/>
                </a:ext>
              </a:extLst>
            </p:cNvPr>
            <p:cNvSpPr/>
            <p:nvPr/>
          </p:nvSpPr>
          <p:spPr>
            <a:xfrm>
              <a:off x="800100" y="4332901"/>
              <a:ext cx="603196" cy="253387"/>
            </a:xfrm>
            <a:prstGeom prst="rect">
              <a:avLst/>
            </a:prstGeom>
            <a:noFill/>
            <a:ln/>
          </p:spPr>
          <p:txBody>
            <a:bodyPr wrap="square" lIns="16933" tIns="16933" rIns="16933" bIns="16933" rtlCol="0" anchor="ctr">
              <a:noAutofit/>
            </a:bodyPr>
            <a:lstStyle/>
            <a:p>
              <a:r>
                <a:rPr lang="en-US" sz="2000">
                  <a:latin typeface="+mj-lt"/>
                </a:rPr>
                <a:t>V2</a:t>
              </a:r>
            </a:p>
          </p:txBody>
        </p:sp>
        <p:sp>
          <p:nvSpPr>
            <p:cNvPr id="84" name="Shape 49">
              <a:extLst>
                <a:ext uri="{FF2B5EF4-FFF2-40B4-BE49-F238E27FC236}">
                  <a16:creationId xmlns:a16="http://schemas.microsoft.com/office/drawing/2014/main" id="{EA2EFB49-17ED-1D83-8E62-E89FED172826}"/>
                </a:ext>
              </a:extLst>
            </p:cNvPr>
            <p:cNvSpPr/>
            <p:nvPr/>
          </p:nvSpPr>
          <p:spPr>
            <a:xfrm>
              <a:off x="1454097" y="4218601"/>
              <a:ext cx="7012059" cy="456587"/>
            </a:xfrm>
            <a:prstGeom prst="rect">
              <a:avLst/>
            </a:prstGeom>
            <a:solidFill>
              <a:schemeClr val="bg1"/>
            </a:solidFill>
            <a:ln/>
          </p:spPr>
          <p:txBody>
            <a:bodyPr/>
            <a:lstStyle/>
            <a:p>
              <a:endParaRPr lang="en-US" sz="2000">
                <a:solidFill>
                  <a:schemeClr val="bg2">
                    <a:lumMod val="75000"/>
                  </a:schemeClr>
                </a:solidFill>
                <a:latin typeface="+mj-lt"/>
              </a:endParaRPr>
            </a:p>
          </p:txBody>
        </p:sp>
        <p:sp>
          <p:nvSpPr>
            <p:cNvPr id="85" name="Text 50">
              <a:extLst>
                <a:ext uri="{FF2B5EF4-FFF2-40B4-BE49-F238E27FC236}">
                  <a16:creationId xmlns:a16="http://schemas.microsoft.com/office/drawing/2014/main" id="{95DEA8AD-0605-2B24-7D0E-5C8901E1225F}"/>
                </a:ext>
              </a:extLst>
            </p:cNvPr>
            <p:cNvSpPr/>
            <p:nvPr/>
          </p:nvSpPr>
          <p:spPr>
            <a:xfrm>
              <a:off x="1555696" y="4332901"/>
              <a:ext cx="7019221" cy="253387"/>
            </a:xfrm>
            <a:prstGeom prst="rect">
              <a:avLst/>
            </a:prstGeom>
            <a:noFill/>
            <a:ln/>
          </p:spPr>
          <p:txBody>
            <a:bodyPr wrap="square" lIns="16933" tIns="16933" rIns="16933" bIns="16933" rtlCol="0" anchor="ctr">
              <a:noAutofit/>
            </a:bodyPr>
            <a:lstStyle/>
            <a:p>
              <a:r>
                <a:rPr lang="en-US" sz="2000">
                  <a:latin typeface="+mj-lt"/>
                  <a:ea typeface="Georgia" pitchFamily="34" charset="-122"/>
                  <a:cs typeface="Georgia" pitchFamily="34" charset="-120"/>
                </a:rPr>
                <a:t>FL + Temperature Scaling</a:t>
              </a:r>
              <a:endParaRPr lang="en-US" sz="2000">
                <a:latin typeface="+mj-lt"/>
              </a:endParaRPr>
            </a:p>
          </p:txBody>
        </p:sp>
        <p:sp>
          <p:nvSpPr>
            <p:cNvPr id="86" name="Shape 51">
              <a:extLst>
                <a:ext uri="{FF2B5EF4-FFF2-40B4-BE49-F238E27FC236}">
                  <a16:creationId xmlns:a16="http://schemas.microsoft.com/office/drawing/2014/main" id="{F53B2BFD-54EA-4AFE-1369-8BAD15ECE541}"/>
                </a:ext>
              </a:extLst>
            </p:cNvPr>
            <p:cNvSpPr/>
            <p:nvPr/>
          </p:nvSpPr>
          <p:spPr>
            <a:xfrm>
              <a:off x="8466155" y="4218601"/>
              <a:ext cx="1018255" cy="456587"/>
            </a:xfrm>
            <a:prstGeom prst="rect">
              <a:avLst/>
            </a:prstGeom>
            <a:solidFill>
              <a:schemeClr val="bg1"/>
            </a:solidFill>
            <a:ln/>
          </p:spPr>
          <p:txBody>
            <a:bodyPr/>
            <a:lstStyle/>
            <a:p>
              <a:endParaRPr lang="en-US" sz="2000">
                <a:solidFill>
                  <a:schemeClr val="bg2">
                    <a:lumMod val="75000"/>
                  </a:schemeClr>
                </a:solidFill>
                <a:latin typeface="+mj-lt"/>
              </a:endParaRPr>
            </a:p>
          </p:txBody>
        </p:sp>
        <p:sp>
          <p:nvSpPr>
            <p:cNvPr id="87" name="Text 52">
              <a:extLst>
                <a:ext uri="{FF2B5EF4-FFF2-40B4-BE49-F238E27FC236}">
                  <a16:creationId xmlns:a16="http://schemas.microsoft.com/office/drawing/2014/main" id="{CBB45079-8414-58B3-1CA2-E91044B1E6E6}"/>
                </a:ext>
              </a:extLst>
            </p:cNvPr>
            <p:cNvSpPr/>
            <p:nvPr/>
          </p:nvSpPr>
          <p:spPr>
            <a:xfrm>
              <a:off x="8516955" y="4332901"/>
              <a:ext cx="865855" cy="253387"/>
            </a:xfrm>
            <a:prstGeom prst="rect">
              <a:avLst/>
            </a:prstGeom>
            <a:noFill/>
            <a:ln/>
          </p:spPr>
          <p:txBody>
            <a:bodyPr wrap="square" lIns="16933" tIns="16933" rIns="16933" bIns="16933" rtlCol="0" anchor="ctr">
              <a:noAutofit/>
            </a:bodyPr>
            <a:lstStyle/>
            <a:p>
              <a:pPr algn="r"/>
              <a:r>
                <a:rPr lang="en-US" sz="2000">
                  <a:latin typeface="+mj-lt"/>
                  <a:ea typeface="Courier New" pitchFamily="34" charset="-122"/>
                  <a:cs typeface="Courier New" pitchFamily="34" charset="-120"/>
                </a:rPr>
                <a:t>0.861</a:t>
              </a:r>
              <a:endParaRPr lang="en-US" sz="2000">
                <a:latin typeface="+mj-lt"/>
              </a:endParaRPr>
            </a:p>
          </p:txBody>
        </p:sp>
        <p:sp>
          <p:nvSpPr>
            <p:cNvPr id="88" name="Shape 53">
              <a:extLst>
                <a:ext uri="{FF2B5EF4-FFF2-40B4-BE49-F238E27FC236}">
                  <a16:creationId xmlns:a16="http://schemas.microsoft.com/office/drawing/2014/main" id="{F1781E76-5F43-99B8-8B96-B584A4286F62}"/>
                </a:ext>
              </a:extLst>
            </p:cNvPr>
            <p:cNvSpPr/>
            <p:nvPr/>
          </p:nvSpPr>
          <p:spPr>
            <a:xfrm>
              <a:off x="9484410" y="4218601"/>
              <a:ext cx="2009089" cy="456587"/>
            </a:xfrm>
            <a:prstGeom prst="rect">
              <a:avLst/>
            </a:prstGeom>
            <a:solidFill>
              <a:schemeClr val="bg1"/>
            </a:solidFill>
            <a:ln/>
          </p:spPr>
          <p:txBody>
            <a:bodyPr/>
            <a:lstStyle/>
            <a:p>
              <a:endParaRPr lang="en-US" sz="2000">
                <a:solidFill>
                  <a:schemeClr val="bg2">
                    <a:lumMod val="75000"/>
                  </a:schemeClr>
                </a:solidFill>
                <a:latin typeface="+mj-lt"/>
              </a:endParaRPr>
            </a:p>
          </p:txBody>
        </p:sp>
        <p:sp>
          <p:nvSpPr>
            <p:cNvPr id="89" name="Text 54">
              <a:extLst>
                <a:ext uri="{FF2B5EF4-FFF2-40B4-BE49-F238E27FC236}">
                  <a16:creationId xmlns:a16="http://schemas.microsoft.com/office/drawing/2014/main" id="{1E842D60-2AD4-5598-9C08-727B0069B53C}"/>
                </a:ext>
              </a:extLst>
            </p:cNvPr>
            <p:cNvSpPr/>
            <p:nvPr/>
          </p:nvSpPr>
          <p:spPr>
            <a:xfrm>
              <a:off x="9525738" y="4332901"/>
              <a:ext cx="1866162" cy="253387"/>
            </a:xfrm>
            <a:prstGeom prst="rect">
              <a:avLst/>
            </a:prstGeom>
            <a:noFill/>
            <a:ln/>
          </p:spPr>
          <p:txBody>
            <a:bodyPr wrap="square" lIns="16933" tIns="16933" rIns="16933" bIns="16933" rtlCol="0" anchor="ctr">
              <a:noAutofit/>
            </a:bodyPr>
            <a:lstStyle/>
            <a:p>
              <a:pPr algn="r"/>
              <a:r>
                <a:rPr lang="en-US" sz="2000">
                  <a:latin typeface="+mj-lt"/>
                  <a:ea typeface="Courier New" pitchFamily="34" charset="-122"/>
                  <a:cs typeface="Courier New" pitchFamily="34" charset="-120"/>
                </a:rPr>
                <a:t>+2.02%</a:t>
              </a:r>
              <a:endParaRPr lang="en-US" sz="2000">
                <a:latin typeface="+mj-lt"/>
              </a:endParaRPr>
            </a:p>
          </p:txBody>
        </p:sp>
      </p:grpSp>
    </p:spTree>
    <p:extLst>
      <p:ext uri="{BB962C8B-B14F-4D97-AF65-F5344CB8AC3E}">
        <p14:creationId xmlns:p14="http://schemas.microsoft.com/office/powerpoint/2010/main" val="2117516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p:cNvSpPr/>
          <p:nvPr/>
        </p:nvSpPr>
        <p:spPr>
          <a:xfrm>
            <a:off x="0" y="0"/>
            <a:ext cx="16459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a:solidFill>
                  <a:srgbClr val="1F2A44"/>
                </a:solidFill>
                <a:latin typeface="+mj-lt"/>
              </a:rPr>
              <a:t>Kết quả trên BBC &amp; ClipShots</a:t>
            </a:r>
          </a:p>
        </p:txBody>
      </p:sp>
      <p:cxnSp>
        <p:nvCxnSpPr>
          <p:cNvPr id="6" name="Connector 5"/>
          <p:cNvCxnSpPr/>
          <p:nvPr/>
        </p:nvCxnSpPr>
        <p:spPr>
          <a:xfrm>
            <a:off x="548640" y="1325880"/>
            <a:ext cx="11091672"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6350">
            <a:solidFill>
              <a:srgbClr val="E1E6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5B6B85"/>
                </a:solidFill>
                <a:latin typeface="+mj-lt"/>
              </a:rPr>
              <a:t>23 / 25</a:t>
            </a:r>
          </a:p>
        </p:txBody>
      </p:sp>
      <p:grpSp>
        <p:nvGrpSpPr>
          <p:cNvPr id="4" name="Group 3">
            <a:extLst>
              <a:ext uri="{FF2B5EF4-FFF2-40B4-BE49-F238E27FC236}">
                <a16:creationId xmlns:a16="http://schemas.microsoft.com/office/drawing/2014/main" id="{57AC4D5B-B95D-FF18-70FA-E7DDBF4C5CFB}"/>
              </a:ext>
            </a:extLst>
          </p:cNvPr>
          <p:cNvGrpSpPr/>
          <p:nvPr/>
        </p:nvGrpSpPr>
        <p:grpSpPr>
          <a:xfrm>
            <a:off x="548640" y="1588657"/>
            <a:ext cx="8321040" cy="2594198"/>
            <a:chOff x="548640" y="1828800"/>
            <a:chExt cx="8321040" cy="2594198"/>
          </a:xfrm>
        </p:grpSpPr>
        <p:sp>
          <p:nvSpPr>
            <p:cNvPr id="10" name="Rectangle 9"/>
            <p:cNvSpPr/>
            <p:nvPr/>
          </p:nvSpPr>
          <p:spPr>
            <a:xfrm>
              <a:off x="548640" y="1828800"/>
              <a:ext cx="8321040" cy="502920"/>
            </a:xfrm>
            <a:prstGeom prst="rect">
              <a:avLst/>
            </a:prstGeom>
            <a:solidFill>
              <a:srgbClr val="0B5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1" name="TextBox 10"/>
            <p:cNvSpPr txBox="1"/>
            <p:nvPr/>
          </p:nvSpPr>
          <p:spPr>
            <a:xfrm>
              <a:off x="685800" y="1938528"/>
              <a:ext cx="3108960" cy="307777"/>
            </a:xfrm>
            <a:prstGeom prst="rect">
              <a:avLst/>
            </a:prstGeom>
            <a:noFill/>
          </p:spPr>
          <p:txBody>
            <a:bodyPr wrap="square" lIns="0" tIns="0" rIns="0" bIns="0" anchor="t">
              <a:spAutoFit/>
            </a:bodyPr>
            <a:lstStyle/>
            <a:p>
              <a:pPr algn="l"/>
              <a:r>
                <a:rPr sz="2000" b="1" err="1">
                  <a:solidFill>
                    <a:srgbClr val="FFFFFF"/>
                  </a:solidFill>
                  <a:latin typeface="+mj-lt"/>
                </a:rPr>
                <a:t>Mô</a:t>
              </a:r>
              <a:r>
                <a:rPr sz="2000" b="1">
                  <a:solidFill>
                    <a:srgbClr val="FFFFFF"/>
                  </a:solidFill>
                  <a:latin typeface="+mj-lt"/>
                </a:rPr>
                <a:t> </a:t>
              </a:r>
              <a:r>
                <a:rPr sz="2000" b="1" err="1">
                  <a:solidFill>
                    <a:srgbClr val="FFFFFF"/>
                  </a:solidFill>
                  <a:latin typeface="+mj-lt"/>
                </a:rPr>
                <a:t>hình</a:t>
              </a:r>
              <a:endParaRPr sz="2000" b="1">
                <a:solidFill>
                  <a:srgbClr val="FFFFFF"/>
                </a:solidFill>
                <a:latin typeface="+mj-lt"/>
              </a:endParaRPr>
            </a:p>
          </p:txBody>
        </p:sp>
        <p:sp>
          <p:nvSpPr>
            <p:cNvPr id="12" name="TextBox 11"/>
            <p:cNvSpPr txBox="1"/>
            <p:nvPr/>
          </p:nvSpPr>
          <p:spPr>
            <a:xfrm>
              <a:off x="4069080" y="1938528"/>
              <a:ext cx="1371600" cy="307777"/>
            </a:xfrm>
            <a:prstGeom prst="rect">
              <a:avLst/>
            </a:prstGeom>
            <a:noFill/>
          </p:spPr>
          <p:txBody>
            <a:bodyPr wrap="square" lIns="0" tIns="0" rIns="0" bIns="0" anchor="t">
              <a:spAutoFit/>
            </a:bodyPr>
            <a:lstStyle/>
            <a:p>
              <a:pPr algn="l"/>
              <a:r>
                <a:rPr sz="2000" b="1">
                  <a:solidFill>
                    <a:srgbClr val="FFFFFF"/>
                  </a:solidFill>
                  <a:latin typeface="+mj-lt"/>
                </a:rPr>
                <a:t>SHOT</a:t>
              </a:r>
            </a:p>
          </p:txBody>
        </p:sp>
        <p:sp>
          <p:nvSpPr>
            <p:cNvPr id="13" name="TextBox 12"/>
            <p:cNvSpPr txBox="1"/>
            <p:nvPr/>
          </p:nvSpPr>
          <p:spPr>
            <a:xfrm>
              <a:off x="5715000" y="1938528"/>
              <a:ext cx="1371600" cy="307777"/>
            </a:xfrm>
            <a:prstGeom prst="rect">
              <a:avLst/>
            </a:prstGeom>
            <a:noFill/>
          </p:spPr>
          <p:txBody>
            <a:bodyPr wrap="square" lIns="0" tIns="0" rIns="0" bIns="0" anchor="t">
              <a:spAutoFit/>
            </a:bodyPr>
            <a:lstStyle/>
            <a:p>
              <a:pPr algn="l"/>
              <a:r>
                <a:rPr sz="2000" b="1">
                  <a:solidFill>
                    <a:srgbClr val="FFFFFF"/>
                  </a:solidFill>
                  <a:latin typeface="+mj-lt"/>
                </a:rPr>
                <a:t>BBC</a:t>
              </a:r>
            </a:p>
          </p:txBody>
        </p:sp>
        <p:sp>
          <p:nvSpPr>
            <p:cNvPr id="14" name="TextBox 13"/>
            <p:cNvSpPr txBox="1"/>
            <p:nvPr/>
          </p:nvSpPr>
          <p:spPr>
            <a:xfrm>
              <a:off x="7360920" y="1938528"/>
              <a:ext cx="1371600" cy="307777"/>
            </a:xfrm>
            <a:prstGeom prst="rect">
              <a:avLst/>
            </a:prstGeom>
            <a:noFill/>
          </p:spPr>
          <p:txBody>
            <a:bodyPr wrap="square" lIns="0" tIns="0" rIns="0" bIns="0" anchor="t">
              <a:spAutoFit/>
            </a:bodyPr>
            <a:lstStyle/>
            <a:p>
              <a:pPr algn="l"/>
              <a:r>
                <a:rPr sz="2000" b="1">
                  <a:solidFill>
                    <a:srgbClr val="FFFFFF"/>
                  </a:solidFill>
                  <a:latin typeface="+mj-lt"/>
                </a:rPr>
                <a:t>ClipShots</a:t>
              </a:r>
            </a:p>
          </p:txBody>
        </p:sp>
        <p:sp>
          <p:nvSpPr>
            <p:cNvPr id="15" name="Rectangle 14"/>
            <p:cNvSpPr/>
            <p:nvPr/>
          </p:nvSpPr>
          <p:spPr>
            <a:xfrm>
              <a:off x="548640" y="2331720"/>
              <a:ext cx="8321040" cy="5029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16" name="TextBox 15"/>
            <p:cNvSpPr txBox="1"/>
            <p:nvPr/>
          </p:nvSpPr>
          <p:spPr>
            <a:xfrm>
              <a:off x="685800" y="2441448"/>
              <a:ext cx="3108960" cy="307777"/>
            </a:xfrm>
            <a:prstGeom prst="rect">
              <a:avLst/>
            </a:prstGeom>
            <a:noFill/>
          </p:spPr>
          <p:txBody>
            <a:bodyPr wrap="square" lIns="0" tIns="0" rIns="0" bIns="0" anchor="t">
              <a:spAutoFit/>
            </a:bodyPr>
            <a:lstStyle/>
            <a:p>
              <a:pPr algn="l"/>
              <a:r>
                <a:rPr sz="2000" b="0">
                  <a:solidFill>
                    <a:srgbClr val="1F2A44"/>
                  </a:solidFill>
                  <a:latin typeface="+mj-lt"/>
                </a:rPr>
                <a:t>TransNetV2</a:t>
              </a:r>
            </a:p>
          </p:txBody>
        </p:sp>
        <p:sp>
          <p:nvSpPr>
            <p:cNvPr id="17" name="TextBox 16"/>
            <p:cNvSpPr txBox="1"/>
            <p:nvPr/>
          </p:nvSpPr>
          <p:spPr>
            <a:xfrm>
              <a:off x="4069080" y="2441448"/>
              <a:ext cx="1371600" cy="307777"/>
            </a:xfrm>
            <a:prstGeom prst="rect">
              <a:avLst/>
            </a:prstGeom>
            <a:noFill/>
          </p:spPr>
          <p:txBody>
            <a:bodyPr wrap="square" lIns="0" tIns="0" rIns="0" bIns="0" anchor="t">
              <a:spAutoFit/>
            </a:bodyPr>
            <a:lstStyle/>
            <a:p>
              <a:pPr algn="l"/>
              <a:r>
                <a:rPr sz="2000" b="0">
                  <a:solidFill>
                    <a:srgbClr val="1F2A44"/>
                  </a:solidFill>
                  <a:latin typeface="+mj-lt"/>
                </a:rPr>
                <a:t>0.799</a:t>
              </a:r>
            </a:p>
          </p:txBody>
        </p:sp>
        <p:sp>
          <p:nvSpPr>
            <p:cNvPr id="18" name="TextBox 17"/>
            <p:cNvSpPr txBox="1"/>
            <p:nvPr/>
          </p:nvSpPr>
          <p:spPr>
            <a:xfrm>
              <a:off x="5715000" y="2441448"/>
              <a:ext cx="1371600" cy="307777"/>
            </a:xfrm>
            <a:prstGeom prst="rect">
              <a:avLst/>
            </a:prstGeom>
            <a:noFill/>
          </p:spPr>
          <p:txBody>
            <a:bodyPr wrap="square" lIns="0" tIns="0" rIns="0" bIns="0" anchor="t">
              <a:spAutoFit/>
            </a:bodyPr>
            <a:lstStyle/>
            <a:p>
              <a:pPr algn="l"/>
              <a:r>
                <a:rPr sz="2000" b="0">
                  <a:solidFill>
                    <a:srgbClr val="1F2A44"/>
                  </a:solidFill>
                  <a:latin typeface="+mj-lt"/>
                </a:rPr>
                <a:t>0.962</a:t>
              </a:r>
            </a:p>
          </p:txBody>
        </p:sp>
        <p:sp>
          <p:nvSpPr>
            <p:cNvPr id="19" name="TextBox 18"/>
            <p:cNvSpPr txBox="1"/>
            <p:nvPr/>
          </p:nvSpPr>
          <p:spPr>
            <a:xfrm>
              <a:off x="7360920" y="2441448"/>
              <a:ext cx="1371600" cy="307777"/>
            </a:xfrm>
            <a:prstGeom prst="rect">
              <a:avLst/>
            </a:prstGeom>
            <a:noFill/>
          </p:spPr>
          <p:txBody>
            <a:bodyPr wrap="square" lIns="0" tIns="0" rIns="0" bIns="0" anchor="t">
              <a:spAutoFit/>
            </a:bodyPr>
            <a:lstStyle/>
            <a:p>
              <a:pPr algn="l"/>
              <a:r>
                <a:rPr sz="2000" b="0">
                  <a:solidFill>
                    <a:srgbClr val="1F2A44"/>
                  </a:solidFill>
                  <a:latin typeface="+mj-lt"/>
                </a:rPr>
                <a:t>0.776</a:t>
              </a:r>
            </a:p>
          </p:txBody>
        </p:sp>
        <p:sp>
          <p:nvSpPr>
            <p:cNvPr id="20" name="Rectangle 19"/>
            <p:cNvSpPr/>
            <p:nvPr/>
          </p:nvSpPr>
          <p:spPr>
            <a:xfrm>
              <a:off x="548640" y="2834640"/>
              <a:ext cx="83210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1" name="TextBox 20"/>
            <p:cNvSpPr txBox="1"/>
            <p:nvPr/>
          </p:nvSpPr>
          <p:spPr>
            <a:xfrm>
              <a:off x="685800" y="2944368"/>
              <a:ext cx="3108960" cy="307777"/>
            </a:xfrm>
            <a:prstGeom prst="rect">
              <a:avLst/>
            </a:prstGeom>
            <a:noFill/>
          </p:spPr>
          <p:txBody>
            <a:bodyPr wrap="square" lIns="0" tIns="0" rIns="0" bIns="0" anchor="t">
              <a:spAutoFit/>
            </a:bodyPr>
            <a:lstStyle/>
            <a:p>
              <a:pPr algn="l"/>
              <a:r>
                <a:rPr sz="2000" b="0">
                  <a:solidFill>
                    <a:srgbClr val="1F2A44"/>
                  </a:solidFill>
                  <a:latin typeface="+mj-lt"/>
                </a:rPr>
                <a:t>AutoShot (báo cáo)</a:t>
              </a:r>
            </a:p>
          </p:txBody>
        </p:sp>
        <p:sp>
          <p:nvSpPr>
            <p:cNvPr id="22" name="TextBox 21"/>
            <p:cNvSpPr txBox="1"/>
            <p:nvPr/>
          </p:nvSpPr>
          <p:spPr>
            <a:xfrm>
              <a:off x="4069080" y="2944368"/>
              <a:ext cx="1371600" cy="307777"/>
            </a:xfrm>
            <a:prstGeom prst="rect">
              <a:avLst/>
            </a:prstGeom>
            <a:noFill/>
          </p:spPr>
          <p:txBody>
            <a:bodyPr wrap="square" lIns="0" tIns="0" rIns="0" bIns="0" anchor="t">
              <a:spAutoFit/>
            </a:bodyPr>
            <a:lstStyle/>
            <a:p>
              <a:pPr algn="l"/>
              <a:r>
                <a:rPr sz="2000" b="0">
                  <a:solidFill>
                    <a:srgbClr val="1F2A44"/>
                  </a:solidFill>
                  <a:latin typeface="+mj-lt"/>
                </a:rPr>
                <a:t>0.841</a:t>
              </a:r>
            </a:p>
          </p:txBody>
        </p:sp>
        <p:sp>
          <p:nvSpPr>
            <p:cNvPr id="23" name="TextBox 22"/>
            <p:cNvSpPr txBox="1"/>
            <p:nvPr/>
          </p:nvSpPr>
          <p:spPr>
            <a:xfrm>
              <a:off x="5715000" y="2944368"/>
              <a:ext cx="1371600" cy="307777"/>
            </a:xfrm>
            <a:prstGeom prst="rect">
              <a:avLst/>
            </a:prstGeom>
            <a:noFill/>
          </p:spPr>
          <p:txBody>
            <a:bodyPr wrap="square" lIns="0" tIns="0" rIns="0" bIns="0" anchor="t">
              <a:spAutoFit/>
            </a:bodyPr>
            <a:lstStyle/>
            <a:p>
              <a:pPr algn="l"/>
              <a:r>
                <a:rPr sz="2000" b="0">
                  <a:solidFill>
                    <a:srgbClr val="1F2A44"/>
                  </a:solidFill>
                  <a:latin typeface="+mj-lt"/>
                </a:rPr>
                <a:t>0.971</a:t>
              </a:r>
            </a:p>
          </p:txBody>
        </p:sp>
        <p:sp>
          <p:nvSpPr>
            <p:cNvPr id="24" name="TextBox 23"/>
            <p:cNvSpPr txBox="1"/>
            <p:nvPr/>
          </p:nvSpPr>
          <p:spPr>
            <a:xfrm>
              <a:off x="7360920" y="2944368"/>
              <a:ext cx="1371600" cy="307777"/>
            </a:xfrm>
            <a:prstGeom prst="rect">
              <a:avLst/>
            </a:prstGeom>
            <a:noFill/>
          </p:spPr>
          <p:txBody>
            <a:bodyPr wrap="square" lIns="0" tIns="0" rIns="0" bIns="0" anchor="t">
              <a:spAutoFit/>
            </a:bodyPr>
            <a:lstStyle/>
            <a:p>
              <a:pPr algn="l"/>
              <a:r>
                <a:rPr sz="2000" b="0">
                  <a:solidFill>
                    <a:srgbClr val="1F2A44"/>
                  </a:solidFill>
                  <a:latin typeface="+mj-lt"/>
                </a:rPr>
                <a:t>0.787</a:t>
              </a:r>
            </a:p>
          </p:txBody>
        </p:sp>
        <p:sp>
          <p:nvSpPr>
            <p:cNvPr id="25" name="Rectangle 24"/>
            <p:cNvSpPr/>
            <p:nvPr/>
          </p:nvSpPr>
          <p:spPr>
            <a:xfrm>
              <a:off x="548640" y="3337560"/>
              <a:ext cx="8321040" cy="5029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26" name="TextBox 25"/>
            <p:cNvSpPr txBox="1"/>
            <p:nvPr/>
          </p:nvSpPr>
          <p:spPr>
            <a:xfrm>
              <a:off x="685800" y="3447288"/>
              <a:ext cx="3108960" cy="307777"/>
            </a:xfrm>
            <a:prstGeom prst="rect">
              <a:avLst/>
            </a:prstGeom>
            <a:noFill/>
          </p:spPr>
          <p:txBody>
            <a:bodyPr wrap="square" lIns="0" tIns="0" rIns="0" bIns="0" anchor="t">
              <a:spAutoFit/>
            </a:bodyPr>
            <a:lstStyle/>
            <a:p>
              <a:pPr algn="l"/>
              <a:r>
                <a:rPr sz="2000" b="0">
                  <a:solidFill>
                    <a:srgbClr val="1F2A44"/>
                  </a:solidFill>
                  <a:latin typeface="+mj-lt"/>
                </a:rPr>
                <a:t>AutoShot tự chạy</a:t>
              </a:r>
            </a:p>
          </p:txBody>
        </p:sp>
        <p:sp>
          <p:nvSpPr>
            <p:cNvPr id="27" name="TextBox 26"/>
            <p:cNvSpPr txBox="1"/>
            <p:nvPr/>
          </p:nvSpPr>
          <p:spPr>
            <a:xfrm>
              <a:off x="4069080" y="3447288"/>
              <a:ext cx="1371600" cy="307777"/>
            </a:xfrm>
            <a:prstGeom prst="rect">
              <a:avLst/>
            </a:prstGeom>
            <a:noFill/>
          </p:spPr>
          <p:txBody>
            <a:bodyPr wrap="square" lIns="0" tIns="0" rIns="0" bIns="0" anchor="t">
              <a:spAutoFit/>
            </a:bodyPr>
            <a:lstStyle/>
            <a:p>
              <a:pPr algn="l"/>
              <a:r>
                <a:rPr sz="2000" b="0">
                  <a:solidFill>
                    <a:srgbClr val="1F2A44"/>
                  </a:solidFill>
                  <a:latin typeface="+mj-lt"/>
                </a:rPr>
                <a:t>0.841</a:t>
              </a:r>
            </a:p>
          </p:txBody>
        </p:sp>
        <p:sp>
          <p:nvSpPr>
            <p:cNvPr id="28" name="TextBox 27"/>
            <p:cNvSpPr txBox="1"/>
            <p:nvPr/>
          </p:nvSpPr>
          <p:spPr>
            <a:xfrm>
              <a:off x="5715000" y="3447288"/>
              <a:ext cx="1371600" cy="307777"/>
            </a:xfrm>
            <a:prstGeom prst="rect">
              <a:avLst/>
            </a:prstGeom>
            <a:noFill/>
          </p:spPr>
          <p:txBody>
            <a:bodyPr wrap="square" lIns="0" tIns="0" rIns="0" bIns="0" anchor="t">
              <a:spAutoFit/>
            </a:bodyPr>
            <a:lstStyle/>
            <a:p>
              <a:pPr algn="l"/>
              <a:r>
                <a:rPr sz="2000" b="0">
                  <a:solidFill>
                    <a:srgbClr val="1F2A44"/>
                  </a:solidFill>
                  <a:latin typeface="+mj-lt"/>
                </a:rPr>
                <a:t>0.955</a:t>
              </a:r>
            </a:p>
          </p:txBody>
        </p:sp>
        <p:sp>
          <p:nvSpPr>
            <p:cNvPr id="29" name="TextBox 28"/>
            <p:cNvSpPr txBox="1"/>
            <p:nvPr/>
          </p:nvSpPr>
          <p:spPr>
            <a:xfrm>
              <a:off x="7360920" y="3447288"/>
              <a:ext cx="1371600" cy="307777"/>
            </a:xfrm>
            <a:prstGeom prst="rect">
              <a:avLst/>
            </a:prstGeom>
            <a:noFill/>
          </p:spPr>
          <p:txBody>
            <a:bodyPr wrap="square" lIns="0" tIns="0" rIns="0" bIns="0" anchor="t">
              <a:spAutoFit/>
            </a:bodyPr>
            <a:lstStyle/>
            <a:p>
              <a:pPr algn="l"/>
              <a:r>
                <a:rPr sz="2000" b="0">
                  <a:solidFill>
                    <a:srgbClr val="1F2A44"/>
                  </a:solidFill>
                  <a:latin typeface="+mj-lt"/>
                </a:rPr>
                <a:t>0.765</a:t>
              </a:r>
            </a:p>
          </p:txBody>
        </p:sp>
        <p:sp>
          <p:nvSpPr>
            <p:cNvPr id="35" name="Rectangle 34"/>
            <p:cNvSpPr/>
            <p:nvPr/>
          </p:nvSpPr>
          <p:spPr>
            <a:xfrm>
              <a:off x="548640" y="3920078"/>
              <a:ext cx="8321040" cy="502920"/>
            </a:xfrm>
            <a:prstGeom prst="rect">
              <a:avLst/>
            </a:prstGeom>
            <a:solidFill>
              <a:srgbClr val="E7F0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6" name="TextBox 35"/>
            <p:cNvSpPr txBox="1"/>
            <p:nvPr/>
          </p:nvSpPr>
          <p:spPr>
            <a:xfrm>
              <a:off x="685800" y="4029806"/>
              <a:ext cx="3108960" cy="307777"/>
            </a:xfrm>
            <a:prstGeom prst="rect">
              <a:avLst/>
            </a:prstGeom>
            <a:noFill/>
          </p:spPr>
          <p:txBody>
            <a:bodyPr wrap="square" lIns="0" tIns="0" rIns="0" bIns="0" anchor="t">
              <a:spAutoFit/>
            </a:bodyPr>
            <a:lstStyle/>
            <a:p>
              <a:pPr algn="l"/>
              <a:r>
                <a:rPr sz="2000" b="1">
                  <a:solidFill>
                    <a:srgbClr val="1F2A44"/>
                  </a:solidFill>
                  <a:latin typeface="+mj-lt"/>
                </a:rPr>
                <a:t>AutoShotV2</a:t>
              </a:r>
            </a:p>
          </p:txBody>
        </p:sp>
        <p:sp>
          <p:nvSpPr>
            <p:cNvPr id="37" name="TextBox 36"/>
            <p:cNvSpPr txBox="1"/>
            <p:nvPr/>
          </p:nvSpPr>
          <p:spPr>
            <a:xfrm>
              <a:off x="4069080" y="4029806"/>
              <a:ext cx="1371600" cy="307777"/>
            </a:xfrm>
            <a:prstGeom prst="rect">
              <a:avLst/>
            </a:prstGeom>
            <a:noFill/>
          </p:spPr>
          <p:txBody>
            <a:bodyPr wrap="square" lIns="0" tIns="0" rIns="0" bIns="0" anchor="t">
              <a:spAutoFit/>
            </a:bodyPr>
            <a:lstStyle/>
            <a:p>
              <a:pPr algn="l"/>
              <a:r>
                <a:rPr sz="2000" b="1">
                  <a:solidFill>
                    <a:srgbClr val="0B5FFF"/>
                  </a:solidFill>
                  <a:latin typeface="+mj-lt"/>
                </a:rPr>
                <a:t>0.861</a:t>
              </a:r>
            </a:p>
          </p:txBody>
        </p:sp>
        <p:sp>
          <p:nvSpPr>
            <p:cNvPr id="38" name="TextBox 37"/>
            <p:cNvSpPr txBox="1"/>
            <p:nvPr/>
          </p:nvSpPr>
          <p:spPr>
            <a:xfrm>
              <a:off x="5715000" y="4029806"/>
              <a:ext cx="1371600" cy="307777"/>
            </a:xfrm>
            <a:prstGeom prst="rect">
              <a:avLst/>
            </a:prstGeom>
            <a:noFill/>
          </p:spPr>
          <p:txBody>
            <a:bodyPr wrap="square" lIns="0" tIns="0" rIns="0" bIns="0" anchor="t">
              <a:spAutoFit/>
            </a:bodyPr>
            <a:lstStyle/>
            <a:p>
              <a:pPr algn="l"/>
              <a:r>
                <a:rPr sz="2000" b="1">
                  <a:solidFill>
                    <a:srgbClr val="0B5FFF"/>
                  </a:solidFill>
                  <a:latin typeface="+mj-lt"/>
                </a:rPr>
                <a:t>0.9</a:t>
              </a:r>
              <a:r>
                <a:rPr lang="en-US" sz="2000" b="1">
                  <a:solidFill>
                    <a:srgbClr val="0B5FFF"/>
                  </a:solidFill>
                  <a:latin typeface="+mj-lt"/>
                </a:rPr>
                <a:t>66</a:t>
              </a:r>
              <a:endParaRPr sz="2000" b="1">
                <a:solidFill>
                  <a:srgbClr val="0B5FFF"/>
                </a:solidFill>
                <a:latin typeface="+mj-lt"/>
              </a:endParaRPr>
            </a:p>
          </p:txBody>
        </p:sp>
        <p:sp>
          <p:nvSpPr>
            <p:cNvPr id="39" name="TextBox 38"/>
            <p:cNvSpPr txBox="1"/>
            <p:nvPr/>
          </p:nvSpPr>
          <p:spPr>
            <a:xfrm>
              <a:off x="7360920" y="4029806"/>
              <a:ext cx="1371600" cy="307777"/>
            </a:xfrm>
            <a:prstGeom prst="rect">
              <a:avLst/>
            </a:prstGeom>
            <a:noFill/>
          </p:spPr>
          <p:txBody>
            <a:bodyPr wrap="square" lIns="0" tIns="0" rIns="0" bIns="0" anchor="t">
              <a:spAutoFit/>
            </a:bodyPr>
            <a:lstStyle/>
            <a:p>
              <a:pPr algn="l"/>
              <a:r>
                <a:rPr sz="2000" b="1">
                  <a:solidFill>
                    <a:srgbClr val="0B5FFF"/>
                  </a:solidFill>
                  <a:latin typeface="+mj-lt"/>
                </a:rPr>
                <a:t>0.771</a:t>
              </a:r>
              <a:r>
                <a:rPr lang="en-US" sz="2000" b="1">
                  <a:solidFill>
                    <a:srgbClr val="0B5FFF"/>
                  </a:solidFill>
                  <a:latin typeface="+mj-lt"/>
                </a:rPr>
                <a:t/>
              </a:r>
              <a:endParaRPr sz="2000" b="1">
                <a:solidFill>
                  <a:srgbClr val="0B5FFF"/>
                </a:solidFill>
                <a:latin typeface="+mj-lt"/>
              </a:endParaRPr>
            </a:p>
          </p:txBody>
        </p:sp>
      </p:grpSp>
      <p:sp>
        <p:nvSpPr>
          <p:cNvPr id="40" name="TextBox 39"/>
          <p:cNvSpPr txBox="1"/>
          <p:nvPr/>
        </p:nvSpPr>
        <p:spPr>
          <a:xfrm>
            <a:off x="548640" y="4356795"/>
            <a:ext cx="11064240" cy="307777"/>
          </a:xfrm>
          <a:prstGeom prst="rect">
            <a:avLst/>
          </a:prstGeom>
          <a:noFill/>
        </p:spPr>
        <p:txBody>
          <a:bodyPr wrap="square" lIns="0" tIns="0" rIns="0" bIns="0" anchor="t">
            <a:spAutoFit/>
          </a:bodyPr>
          <a:lstStyle/>
          <a:p>
            <a:pPr algn="l"/>
            <a:r>
              <a:rPr sz="2000" b="1">
                <a:solidFill>
                  <a:srgbClr val="0B5FFF"/>
                </a:solidFill>
                <a:latin typeface="+mj-lt"/>
              </a:rPr>
              <a:t>Phân tích</a:t>
            </a:r>
          </a:p>
        </p:txBody>
      </p:sp>
      <p:sp>
        <p:nvSpPr>
          <p:cNvPr id="41" name="TextBox 40"/>
          <p:cNvSpPr txBox="1"/>
          <p:nvPr/>
        </p:nvSpPr>
        <p:spPr>
          <a:xfrm>
            <a:off x="548640" y="4768275"/>
            <a:ext cx="11064240" cy="1663084"/>
          </a:xfrm>
          <a:prstGeom prst="rect">
            <a:avLst/>
          </a:prstGeom>
          <a:noFill/>
        </p:spPr>
        <p:txBody>
          <a:bodyPr wrap="square" lIns="0" tIns="0" rIns="0" bIns="0">
            <a:spAutoFit/>
          </a:bodyPr>
          <a:lstStyle/>
          <a:p>
            <a:pPr algn="l">
              <a:lnSpc>
                <a:spcPct val="130000"/>
              </a:lnSpc>
              <a:spcAft>
                <a:spcPts val="400"/>
              </a:spcAft>
            </a:pPr>
            <a:r>
              <a:rPr sz="2000" b="1">
                <a:solidFill>
                  <a:srgbClr val="0B5FFF"/>
                </a:solidFill>
                <a:latin typeface="+mj-lt"/>
              </a:rPr>
              <a:t>•  </a:t>
            </a:r>
            <a:r>
              <a:rPr lang="en-US" sz="2000" b="1">
                <a:solidFill>
                  <a:srgbClr val="1F2A44"/>
                </a:solidFill>
                <a:latin typeface="+mj-lt"/>
              </a:rPr>
              <a:t>Cải thiện trên miền mục tiêu SHOT</a:t>
            </a:r>
            <a:r>
              <a:rPr sz="2000" b="1">
                <a:solidFill>
                  <a:srgbClr val="1F2A44"/>
                </a:solidFill>
                <a:latin typeface="+mj-lt"/>
              </a:rPr>
              <a:t>: </a:t>
            </a:r>
            <a:r>
              <a:rPr sz="2000">
                <a:solidFill>
                  <a:srgbClr val="1F2A44"/>
                </a:solidFill>
                <a:latin typeface="+mj-lt"/>
              </a:rPr>
              <a:t>F1</a:t>
            </a:r>
            <a:r>
              <a:rPr lang="en-US" sz="2000">
                <a:solidFill>
                  <a:srgbClr val="1F2A44"/>
                </a:solidFill>
                <a:latin typeface="+mj-lt"/>
              </a:rPr>
              <a:t> tăng 2.02%</a:t>
            </a:r>
            <a:r>
              <a:rPr sz="2000">
                <a:solidFill>
                  <a:srgbClr val="1F2A44"/>
                </a:solidFill>
                <a:latin typeface="+mj-lt"/>
              </a:rPr>
              <a:t>.</a:t>
            </a:r>
            <a:endParaRPr lang="en-US" sz="2000">
              <a:solidFill>
                <a:srgbClr val="1F2A44"/>
              </a:solidFill>
              <a:latin typeface="+mj-lt"/>
            </a:endParaRPr>
          </a:p>
          <a:p>
            <a:pPr>
              <a:lnSpc>
                <a:spcPct val="130000"/>
              </a:lnSpc>
              <a:spcAft>
                <a:spcPts val="400"/>
              </a:spcAft>
            </a:pPr>
            <a:r>
              <a:rPr lang="en-US" sz="2000" b="1">
                <a:solidFill>
                  <a:srgbClr val="0B5FFF"/>
                </a:solidFill>
              </a:rPr>
              <a:t>•  </a:t>
            </a:r>
            <a:r>
              <a:rPr lang="en-US" sz="2000" b="1">
                <a:solidFill>
                  <a:srgbClr val="1F2A44"/>
                </a:solidFill>
              </a:rPr>
              <a:t>Mang lại kết quả tốt hơn trên BBC: </a:t>
            </a:r>
            <a:r>
              <a:rPr lang="en-US" sz="2000">
                <a:solidFill>
                  <a:srgbClr val="1F2A44"/>
                </a:solidFill>
              </a:rPr>
              <a:t>cải thiện 1.1%.</a:t>
            </a:r>
            <a:endParaRPr sz="2000">
              <a:solidFill>
                <a:srgbClr val="1F2A44"/>
              </a:solidFill>
              <a:latin typeface="+mj-lt"/>
            </a:endParaRPr>
          </a:p>
          <a:p>
            <a:pPr algn="l">
              <a:lnSpc>
                <a:spcPct val="130000"/>
              </a:lnSpc>
              <a:spcAft>
                <a:spcPts val="400"/>
              </a:spcAft>
            </a:pPr>
            <a:r>
              <a:rPr sz="2000" b="1">
                <a:solidFill>
                  <a:srgbClr val="0B5FFF"/>
                </a:solidFill>
                <a:latin typeface="+mj-lt"/>
              </a:rPr>
              <a:t>•  </a:t>
            </a:r>
            <a:r>
              <a:rPr sz="2000" b="1">
                <a:solidFill>
                  <a:srgbClr val="1F2A44"/>
                </a:solidFill>
                <a:latin typeface="+mj-lt"/>
              </a:rPr>
              <a:t>Cải thiện nhẹ trên </a:t>
            </a:r>
            <a:r>
              <a:rPr lang="en-US" sz="2000" b="1">
                <a:solidFill>
                  <a:srgbClr val="1F2A44"/>
                </a:solidFill>
                <a:latin typeface="+mj-lt"/>
              </a:rPr>
              <a:t>ClipShots</a:t>
            </a:r>
            <a:r>
              <a:rPr sz="2000" b="1">
                <a:solidFill>
                  <a:srgbClr val="1F2A44"/>
                </a:solidFill>
                <a:latin typeface="+mj-lt"/>
              </a:rPr>
              <a:t>: </a:t>
            </a:r>
            <a:r>
              <a:rPr sz="2000">
                <a:solidFill>
                  <a:srgbClr val="1F2A44"/>
                </a:solidFill>
                <a:latin typeface="+mj-lt"/>
              </a:rPr>
              <a:t>+0.6 điểm so với AutoShot tự chạy, nhưng Precision còn thấp trên miền </a:t>
            </a:r>
            <a:r>
              <a:rPr lang="en-US" sz="2000">
                <a:solidFill>
                  <a:srgbClr val="1F2A44"/>
                </a:solidFill>
                <a:latin typeface="+mj-lt"/>
              </a:rPr>
              <a:t>thế giới mở</a:t>
            </a:r>
            <a:r>
              <a:rPr sz="2000">
                <a:solidFill>
                  <a:srgbClr val="1F2A44"/>
                </a:solidFill>
                <a:latin typeface="+mj-lt"/>
              </a:rPr>
              <a:t>.</a:t>
            </a:r>
          </a:p>
        </p:txBody>
      </p:sp>
      <p:sp>
        <p:nvSpPr>
          <p:cNvPr id="8" name="TextBox 7">
            <a:extLst>
              <a:ext uri="{FF2B5EF4-FFF2-40B4-BE49-F238E27FC236}">
                <a16:creationId xmlns:a16="http://schemas.microsoft.com/office/drawing/2014/main" id="{A5245FA2-CF19-292C-2AA6-CDC1AEE4249F}"/>
              </a:ext>
            </a:extLst>
          </p:cNvPr>
          <p:cNvSpPr txBox="1"/>
          <p:nvPr/>
        </p:nvSpPr>
        <p:spPr>
          <a:xfrm>
            <a:off x="548640" y="320040"/>
            <a:ext cx="9144000" cy="215444"/>
          </a:xfrm>
          <a:prstGeom prst="rect">
            <a:avLst/>
          </a:prstGeom>
          <a:noFill/>
        </p:spPr>
        <p:txBody>
          <a:bodyPr wrap="square" lIns="0" tIns="0" rIns="0" bIns="0" anchor="t">
            <a:spAutoFit/>
          </a:bodyPr>
          <a:lstStyle/>
          <a:p>
            <a:pPr algn="l"/>
            <a:r>
              <a:rPr lang="en-US" sz="1400" b="1">
                <a:solidFill>
                  <a:srgbClr val="0891B2"/>
                </a:solidFill>
                <a:latin typeface="+mj-lt"/>
              </a:rPr>
              <a:t>4. </a:t>
            </a:r>
            <a:r>
              <a:rPr lang="en-US" sz="1400" b="1" err="1">
                <a:solidFill>
                  <a:srgbClr val="0891B2"/>
                </a:solidFill>
                <a:latin typeface="+mj-lt"/>
              </a:rPr>
              <a:t>THỰC</a:t>
            </a:r>
            <a:r>
              <a:rPr lang="en-US" sz="1400" b="1">
                <a:solidFill>
                  <a:srgbClr val="0891B2"/>
                </a:solidFill>
                <a:latin typeface="+mj-lt"/>
              </a:rPr>
              <a:t> </a:t>
            </a:r>
            <a:r>
              <a:rPr lang="en-US" sz="1400" b="1" err="1">
                <a:solidFill>
                  <a:srgbClr val="0891B2"/>
                </a:solidFill>
                <a:latin typeface="+mj-lt"/>
              </a:rPr>
              <a:t>NGHIỆM</a:t>
            </a:r>
            <a:r>
              <a:rPr lang="en-US" sz="1400" b="1">
                <a:solidFill>
                  <a:srgbClr val="0891B2"/>
                </a:solidFill>
                <a:latin typeface="+mj-lt"/>
              </a:rPr>
              <a:t> </a:t>
            </a:r>
            <a:r>
              <a:rPr lang="en-US" sz="1400" b="1" err="1">
                <a:solidFill>
                  <a:srgbClr val="0891B2"/>
                </a:solidFill>
                <a:latin typeface="+mj-lt"/>
              </a:rPr>
              <a:t>VÀ</a:t>
            </a:r>
            <a:r>
              <a:rPr lang="en-US" sz="1400" b="1">
                <a:solidFill>
                  <a:srgbClr val="0891B2"/>
                </a:solidFill>
                <a:latin typeface="+mj-lt"/>
              </a:rPr>
              <a:t> </a:t>
            </a:r>
            <a:r>
              <a:rPr lang="en-US" sz="1400" b="1" err="1">
                <a:solidFill>
                  <a:srgbClr val="0891B2"/>
                </a:solidFill>
                <a:latin typeface="+mj-lt"/>
              </a:rPr>
              <a:t>KẾT</a:t>
            </a:r>
            <a:r>
              <a:rPr lang="en-US" sz="1400" b="1">
                <a:solidFill>
                  <a:srgbClr val="0891B2"/>
                </a:solidFill>
                <a:latin typeface="+mj-lt"/>
              </a:rPr>
              <a:t> </a:t>
            </a:r>
            <a:r>
              <a:rPr lang="en-US" sz="1400" b="1" err="1">
                <a:solidFill>
                  <a:srgbClr val="0891B2"/>
                </a:solidFill>
                <a:latin typeface="+mj-lt"/>
              </a:rPr>
              <a:t>QUẢ</a:t>
            </a:r>
            <a:r>
              <a:rPr lang="en-US" sz="1400" b="1">
                <a:solidFill>
                  <a:srgbClr val="0891B2"/>
                </a:solidFill>
                <a:latin typeface="+mj-lt"/>
              </a:rPr>
              <a:t> </a:t>
            </a:r>
            <a:endParaRPr sz="1400" b="1">
              <a:solidFill>
                <a:srgbClr val="0891B2"/>
              </a:solidFill>
              <a:latin typeface="+mj-lt"/>
            </a:endParaRPr>
          </a:p>
        </p:txBody>
      </p:sp>
    </p:spTree>
    <p:extLst>
      <p:ext uri="{BB962C8B-B14F-4D97-AF65-F5344CB8AC3E}">
        <p14:creationId xmlns:p14="http://schemas.microsoft.com/office/powerpoint/2010/main" val="3291450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kern="0" spc="264">
                <a:ea typeface="Georgia" pitchFamily="34" charset="-122"/>
                <a:cs typeface="Georgia" pitchFamily="34" charset="-120"/>
              </a:rPr>
              <a:t>· </a:t>
            </a:r>
            <a:r>
              <a:rPr lang="en-US" kern="0" spc="264" err="1">
                <a:ea typeface="Georgia" pitchFamily="34" charset="-122"/>
                <a:cs typeface="Georgia" pitchFamily="34" charset="-120"/>
              </a:rPr>
              <a:t>HẠN</a:t>
            </a:r>
            <a:r>
              <a:rPr lang="en-US" kern="0" spc="264">
                <a:ea typeface="Georgia" pitchFamily="34" charset="-122"/>
                <a:cs typeface="Georgia" pitchFamily="34" charset="-120"/>
              </a:rPr>
              <a:t> </a:t>
            </a:r>
            <a:r>
              <a:rPr lang="en-US" kern="0" spc="264" err="1">
                <a:ea typeface="Georgia" pitchFamily="34" charset="-122"/>
                <a:cs typeface="Georgia" pitchFamily="34" charset="-120"/>
              </a:rPr>
              <a:t>CHẾ</a:t>
            </a:r>
            <a:endParaRPr>
              <a:latin typeface="+mj-lt"/>
            </a:endParaRPr>
          </a:p>
        </p:txBody>
      </p:sp>
      <p:sp>
        <p:nvSpPr>
          <p:cNvPr id="3" name="Rectangle 2"/>
          <p:cNvSpPr/>
          <p:nvPr/>
        </p:nvSpPr>
        <p:spPr>
          <a:xfrm>
            <a:off x="0" y="0"/>
            <a:ext cx="16459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err="1">
                <a:solidFill>
                  <a:srgbClr val="1F2A44"/>
                </a:solidFill>
                <a:latin typeface="+mj-lt"/>
              </a:rPr>
              <a:t>Kết</a:t>
            </a:r>
            <a:r>
              <a:rPr sz="3000" b="1">
                <a:solidFill>
                  <a:srgbClr val="1F2A44"/>
                </a:solidFill>
                <a:latin typeface="+mj-lt"/>
              </a:rPr>
              <a:t> </a:t>
            </a:r>
            <a:r>
              <a:rPr sz="3000" b="1" err="1">
                <a:solidFill>
                  <a:srgbClr val="1F2A44"/>
                </a:solidFill>
                <a:latin typeface="+mj-lt"/>
              </a:rPr>
              <a:t>luận</a:t>
            </a:r>
            <a:r>
              <a:rPr lang="en-US" sz="3000" b="1">
                <a:solidFill>
                  <a:srgbClr val="1F2A44"/>
                </a:solidFill>
                <a:latin typeface="+mj-lt"/>
              </a:rPr>
              <a:t> </a:t>
            </a:r>
            <a:r>
              <a:rPr lang="en-US" sz="3000" b="1" err="1">
                <a:solidFill>
                  <a:srgbClr val="1F2A44"/>
                </a:solidFill>
                <a:latin typeface="+mj-lt"/>
              </a:rPr>
              <a:t>và</a:t>
            </a:r>
            <a:r>
              <a:rPr sz="3000" b="1">
                <a:solidFill>
                  <a:srgbClr val="1F2A44"/>
                </a:solidFill>
                <a:latin typeface="+mj-lt"/>
              </a:rPr>
              <a:t> </a:t>
            </a:r>
            <a:r>
              <a:rPr lang="en-US" sz="3000" b="1" err="1">
                <a:solidFill>
                  <a:srgbClr val="1F2A44"/>
                </a:solidFill>
                <a:latin typeface="+mj-lt"/>
              </a:rPr>
              <a:t>Hướng</a:t>
            </a:r>
            <a:r>
              <a:rPr lang="en-US" sz="3000" b="1">
                <a:solidFill>
                  <a:srgbClr val="1F2A44"/>
                </a:solidFill>
                <a:latin typeface="+mj-lt"/>
              </a:rPr>
              <a:t> </a:t>
            </a:r>
            <a:r>
              <a:rPr lang="en-US" sz="3000" b="1" err="1">
                <a:solidFill>
                  <a:srgbClr val="1F2A44"/>
                </a:solidFill>
                <a:latin typeface="+mj-lt"/>
              </a:rPr>
              <a:t>phát</a:t>
            </a:r>
            <a:r>
              <a:rPr lang="en-US" sz="3000" b="1">
                <a:solidFill>
                  <a:srgbClr val="1F2A44"/>
                </a:solidFill>
                <a:latin typeface="+mj-lt"/>
              </a:rPr>
              <a:t> </a:t>
            </a:r>
            <a:r>
              <a:rPr lang="en-US" sz="3000" b="1" err="1">
                <a:solidFill>
                  <a:srgbClr val="1F2A44"/>
                </a:solidFill>
                <a:latin typeface="+mj-lt"/>
              </a:rPr>
              <a:t>triển</a:t>
            </a:r>
            <a:endParaRPr sz="3000" b="1">
              <a:solidFill>
                <a:srgbClr val="1F2A44"/>
              </a:solidFill>
              <a:latin typeface="+mj-lt"/>
            </a:endParaRPr>
          </a:p>
        </p:txBody>
      </p:sp>
      <p:cxnSp>
        <p:nvCxnSpPr>
          <p:cNvPr id="6" name="Connector 5"/>
          <p:cNvCxnSpPr/>
          <p:nvPr/>
        </p:nvCxnSpPr>
        <p:spPr>
          <a:xfrm>
            <a:off x="548640" y="1325880"/>
            <a:ext cx="11091672"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6350">
            <a:solidFill>
              <a:srgbClr val="E1E6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583680"/>
            <a:ext cx="7315200" cy="138499"/>
          </a:xfrm>
          <a:prstGeom prst="rect">
            <a:avLst/>
          </a:prstGeom>
          <a:noFill/>
        </p:spPr>
        <p:txBody>
          <a:bodyPr wrap="square" lIns="0" tIns="0" rIns="0" bIns="0" anchor="t">
            <a:spAutoFit/>
          </a:bodyPr>
          <a:lstStyle/>
          <a:p>
            <a:pPr algn="l">
              <a:buNone/>
            </a:pPr>
            <a:r>
              <a:rPr lang="vi-VN" sz="900">
                <a:solidFill>
                  <a:srgbClr val="5B6B85"/>
                </a:solidFill>
                <a:latin typeface="+mn-lt"/>
              </a:rPr>
              <a:t>AutoShotV2 | HCMUS 07/2026</a:t>
            </a:r>
          </a:p>
        </p:txBody>
      </p: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5B6B85"/>
                </a:solidFill>
                <a:latin typeface="+mj-lt"/>
              </a:rPr>
              <a:t>24 / 25</a:t>
            </a:r>
          </a:p>
        </p:txBody>
      </p:sp>
      <p:sp>
        <p:nvSpPr>
          <p:cNvPr id="100" name="Card1"/>
          <p:cNvSpPr/>
          <p:nvPr/>
        </p:nvSpPr>
        <p:spPr>
          <a:xfrm>
            <a:off x="1638300" y="1393806"/>
            <a:ext cx="2667000" cy="4864100"/>
          </a:xfrm>
          <a:prstGeom prst="rect">
            <a:avLst/>
          </a:prstGeom>
          <a:solidFill>
            <a:srgbClr val="F8FAFC"/>
          </a:solidFill>
          <a:ln>
            <a:noFill/>
          </a:ln>
        </p:spPr>
        <p:txBody>
          <a:bodyPr/>
          <a:lstStyle/>
          <a:p>
            <a:endParaRPr/>
          </a:p>
        </p:txBody>
      </p:sp>
      <p:sp>
        <p:nvSpPr>
          <p:cNvPr id="101" name="Card2"/>
          <p:cNvSpPr/>
          <p:nvPr/>
        </p:nvSpPr>
        <p:spPr>
          <a:xfrm>
            <a:off x="4467225" y="1393806"/>
            <a:ext cx="2667000" cy="4864100"/>
          </a:xfrm>
          <a:prstGeom prst="rect">
            <a:avLst/>
          </a:prstGeom>
          <a:solidFill>
            <a:srgbClr val="F8FAFC"/>
          </a:solidFill>
          <a:ln>
            <a:noFill/>
          </a:ln>
        </p:spPr>
        <p:txBody>
          <a:bodyPr/>
          <a:lstStyle/>
          <a:p>
            <a:endParaRPr/>
          </a:p>
        </p:txBody>
      </p:sp>
      <p:sp>
        <p:nvSpPr>
          <p:cNvPr id="102" name="Card3"/>
          <p:cNvSpPr/>
          <p:nvPr/>
        </p:nvSpPr>
        <p:spPr>
          <a:xfrm>
            <a:off x="7296150" y="1393806"/>
            <a:ext cx="2667000" cy="4864100"/>
          </a:xfrm>
          <a:prstGeom prst="rect">
            <a:avLst/>
          </a:prstGeom>
          <a:solidFill>
            <a:srgbClr val="F8FAFC"/>
          </a:solidFill>
          <a:ln>
            <a:noFill/>
          </a:ln>
        </p:spPr>
        <p:txBody>
          <a:bodyPr/>
          <a:lstStyle/>
          <a:p>
            <a:endParaRPr/>
          </a:p>
        </p:txBody>
      </p:sp>
      <p:sp>
        <p:nvSpPr>
          <p:cNvPr id="103" name="Header1"/>
          <p:cNvSpPr/>
          <p:nvPr/>
        </p:nvSpPr>
        <p:spPr>
          <a:xfrm>
            <a:off x="1571625" y="1393806"/>
            <a:ext cx="2667000" cy="361950"/>
          </a:xfrm>
          <a:prstGeom prst="rect">
            <a:avLst/>
          </a:prstGeom>
          <a:solidFill>
            <a:srgbClr val="1B365D"/>
          </a:solidFill>
          <a:ln>
            <a:noFill/>
          </a:ln>
        </p:spPr>
        <p:txBody>
          <a:bodyPr lIns="91440" tIns="45720" rIns="91440" bIns="45720" anchor="ctr"/>
          <a:lstStyle/>
          <a:p>
            <a:pPr algn="ctr">
              <a:lnSpc>
                <a:spcPct val="100000"/>
              </a:lnSpc>
            </a:pPr>
            <a:r>
              <a:rPr lang="en-US" sz="1500" b="1" kern="0" spc="200">
                <a:solidFill>
                  <a:srgbClr val="FFFFFF"/>
                </a:solidFill>
                <a:latin typeface="+mj-lt"/>
              </a:rPr>
              <a:t>ĐÓNG GÓP</a:t>
            </a:r>
          </a:p>
        </p:txBody>
      </p:sp>
      <p:sp>
        <p:nvSpPr>
          <p:cNvPr id="104" name="Header2"/>
          <p:cNvSpPr/>
          <p:nvPr/>
        </p:nvSpPr>
        <p:spPr>
          <a:xfrm>
            <a:off x="4400550" y="1393806"/>
            <a:ext cx="2667000" cy="361950"/>
          </a:xfrm>
          <a:prstGeom prst="rect">
            <a:avLst/>
          </a:prstGeom>
          <a:solidFill>
            <a:srgbClr val="0891B2"/>
          </a:solidFill>
          <a:ln>
            <a:noFill/>
          </a:ln>
        </p:spPr>
        <p:txBody>
          <a:bodyPr lIns="91440" tIns="45720" rIns="91440" bIns="45720" anchor="ctr"/>
          <a:lstStyle/>
          <a:p>
            <a:pPr algn="ctr">
              <a:lnSpc>
                <a:spcPct val="100000"/>
              </a:lnSpc>
            </a:pPr>
            <a:r>
              <a:rPr lang="en-US" sz="1500" b="1" kern="0" spc="200">
                <a:solidFill>
                  <a:srgbClr val="FFFFFF"/>
                </a:solidFill>
                <a:latin typeface="+mj-lt"/>
              </a:rPr>
              <a:t>HẠN CHẾ</a:t>
            </a:r>
          </a:p>
        </p:txBody>
      </p:sp>
      <p:sp>
        <p:nvSpPr>
          <p:cNvPr id="105" name="Header3"/>
          <p:cNvSpPr/>
          <p:nvPr/>
        </p:nvSpPr>
        <p:spPr>
          <a:xfrm>
            <a:off x="7229475" y="1393806"/>
            <a:ext cx="2667000" cy="361950"/>
          </a:xfrm>
          <a:prstGeom prst="rect">
            <a:avLst/>
          </a:prstGeom>
          <a:solidFill>
            <a:srgbClr val="14B8A6"/>
          </a:solidFill>
          <a:ln>
            <a:noFill/>
          </a:ln>
        </p:spPr>
        <p:txBody>
          <a:bodyPr lIns="91440" tIns="45720" rIns="91440" bIns="45720" anchor="ctr"/>
          <a:lstStyle/>
          <a:p>
            <a:pPr algn="ctr">
              <a:lnSpc>
                <a:spcPct val="100000"/>
              </a:lnSpc>
            </a:pPr>
            <a:r>
              <a:rPr lang="en-US" sz="1500" b="1" kern="0" spc="200">
                <a:solidFill>
                  <a:srgbClr val="FFFFFF"/>
                </a:solidFill>
                <a:latin typeface="+mj-lt"/>
              </a:rPr>
              <a:t>HƯỚNG PHÁT TRIỂN</a:t>
            </a:r>
          </a:p>
        </p:txBody>
      </p:sp>
      <p:sp>
        <p:nvSpPr>
          <p:cNvPr id="106" name="Dot"/>
          <p:cNvSpPr/>
          <p:nvPr/>
        </p:nvSpPr>
        <p:spPr>
          <a:xfrm>
            <a:off x="1743075" y="2219306"/>
            <a:ext cx="38100" cy="1016000"/>
          </a:xfrm>
          <a:prstGeom prst="ellipse">
            <a:avLst/>
          </a:prstGeom>
          <a:solidFill>
            <a:srgbClr val="1B365D"/>
          </a:solidFill>
          <a:ln>
            <a:noFill/>
          </a:ln>
        </p:spPr>
        <p:txBody>
          <a:bodyPr/>
          <a:lstStyle/>
          <a:p>
            <a:endParaRPr/>
          </a:p>
        </p:txBody>
      </p:sp>
      <p:sp>
        <p:nvSpPr>
          <p:cNvPr id="107" name="Item"/>
          <p:cNvSpPr txBox="1"/>
          <p:nvPr/>
        </p:nvSpPr>
        <p:spPr>
          <a:xfrm>
            <a:off x="1895475" y="2136756"/>
            <a:ext cx="2171700" cy="923925"/>
          </a:xfrm>
          <a:prstGeom prst="rect">
            <a:avLst/>
          </a:prstGeom>
          <a:noFill/>
        </p:spPr>
        <p:txBody>
          <a:bodyPr wrap="square" lIns="0" tIns="0" rIns="0" bIns="0" anchor="t"/>
          <a:lstStyle/>
          <a:p>
            <a:pPr>
              <a:lnSpc>
                <a:spcPct val="125000"/>
              </a:lnSpc>
            </a:pPr>
            <a:r>
              <a:rPr lang="en-US" sz="1400" b="1">
                <a:solidFill>
                  <a:srgbClr val="1E293B"/>
                </a:solidFill>
                <a:latin typeface="+mj-lt"/>
              </a:rPr>
              <a:t>Hệ thống hoá lý thuyết </a:t>
            </a:r>
            <a:r>
              <a:rPr lang="en-US" sz="1400">
                <a:solidFill>
                  <a:srgbClr val="1E293B"/>
                </a:solidFill>
                <a:latin typeface="+mj-lt"/>
              </a:rPr>
              <a:t>SBD và tái hiện AutoShot trên SHOT.</a:t>
            </a:r>
          </a:p>
        </p:txBody>
      </p:sp>
      <p:sp>
        <p:nvSpPr>
          <p:cNvPr id="108" name="Dot"/>
          <p:cNvSpPr/>
          <p:nvPr/>
        </p:nvSpPr>
        <p:spPr>
          <a:xfrm>
            <a:off x="1743075" y="3654406"/>
            <a:ext cx="38100" cy="1016000"/>
          </a:xfrm>
          <a:prstGeom prst="ellipse">
            <a:avLst/>
          </a:prstGeom>
          <a:solidFill>
            <a:srgbClr val="1B365D"/>
          </a:solidFill>
          <a:ln>
            <a:noFill/>
          </a:ln>
        </p:spPr>
        <p:txBody>
          <a:bodyPr/>
          <a:lstStyle/>
          <a:p>
            <a:endParaRPr/>
          </a:p>
        </p:txBody>
      </p:sp>
      <p:sp>
        <p:nvSpPr>
          <p:cNvPr id="109" name="Item"/>
          <p:cNvSpPr txBox="1"/>
          <p:nvPr/>
        </p:nvSpPr>
        <p:spPr>
          <a:xfrm>
            <a:off x="1895475" y="3571856"/>
            <a:ext cx="2171700" cy="923925"/>
          </a:xfrm>
          <a:prstGeom prst="rect">
            <a:avLst/>
          </a:prstGeom>
          <a:noFill/>
        </p:spPr>
        <p:txBody>
          <a:bodyPr wrap="square" lIns="0" tIns="0" rIns="0" bIns="0" anchor="t"/>
          <a:lstStyle/>
          <a:p>
            <a:pPr>
              <a:lnSpc>
                <a:spcPct val="125000"/>
              </a:lnSpc>
            </a:pPr>
            <a:r>
              <a:rPr lang="en-US" sz="1400" b="1" err="1">
                <a:solidFill>
                  <a:srgbClr val="1E293B"/>
                </a:solidFill>
                <a:latin typeface="+mj-lt"/>
              </a:rPr>
              <a:t>AutoShotV2</a:t>
            </a:r>
            <a:r>
              <a:rPr lang="en-US" sz="1400" b="1">
                <a:solidFill>
                  <a:srgbClr val="1E293B"/>
                </a:solidFill>
                <a:latin typeface="+mj-lt"/>
              </a:rPr>
              <a:t> </a:t>
            </a:r>
            <a:r>
              <a:rPr lang="en-US" sz="1400" err="1">
                <a:solidFill>
                  <a:srgbClr val="1E293B"/>
                </a:solidFill>
                <a:latin typeface="+mj-lt"/>
              </a:rPr>
              <a:t>đạt</a:t>
            </a:r>
            <a:r>
              <a:rPr lang="en-US" sz="1400">
                <a:solidFill>
                  <a:srgbClr val="1E293B"/>
                </a:solidFill>
                <a:latin typeface="+mj-lt"/>
              </a:rPr>
              <a:t> </a:t>
            </a:r>
            <a:r>
              <a:rPr lang="en-US" sz="1400" err="1">
                <a:solidFill>
                  <a:srgbClr val="1E293B"/>
                </a:solidFill>
                <a:latin typeface="+mj-lt"/>
              </a:rPr>
              <a:t>F1</a:t>
            </a:r>
            <a:r>
              <a:rPr lang="en-US" sz="1400">
                <a:solidFill>
                  <a:srgbClr val="1E293B"/>
                </a:solidFill>
                <a:latin typeface="+mj-lt"/>
              </a:rPr>
              <a:t> = </a:t>
            </a:r>
            <a:r>
              <a:rPr lang="en-US" sz="1400" b="1" i="1">
                <a:solidFill>
                  <a:srgbClr val="1E293B"/>
                </a:solidFill>
                <a:latin typeface="+mj-lt"/>
              </a:rPr>
              <a:t>0.861</a:t>
            </a:r>
            <a:r>
              <a:rPr lang="en-US" sz="1400">
                <a:solidFill>
                  <a:srgbClr val="1E293B"/>
                </a:solidFill>
                <a:latin typeface="+mj-lt"/>
              </a:rPr>
              <a:t> — </a:t>
            </a:r>
            <a:r>
              <a:rPr lang="en-US" sz="1400" err="1">
                <a:solidFill>
                  <a:srgbClr val="1E293B"/>
                </a:solidFill>
                <a:latin typeface="+mj-lt"/>
              </a:rPr>
              <a:t>cải</a:t>
            </a:r>
            <a:r>
              <a:rPr lang="en-US" sz="1400">
                <a:solidFill>
                  <a:srgbClr val="1E293B"/>
                </a:solidFill>
                <a:latin typeface="+mj-lt"/>
              </a:rPr>
              <a:t> </a:t>
            </a:r>
            <a:r>
              <a:rPr lang="en-US" sz="1400" err="1">
                <a:solidFill>
                  <a:srgbClr val="1E293B"/>
                </a:solidFill>
                <a:latin typeface="+mj-lt"/>
              </a:rPr>
              <a:t>thiện</a:t>
            </a:r>
            <a:r>
              <a:rPr lang="en-US" sz="1400">
                <a:solidFill>
                  <a:srgbClr val="1E293B"/>
                </a:solidFill>
                <a:latin typeface="+mj-lt"/>
              </a:rPr>
              <a:t> </a:t>
            </a:r>
            <a:r>
              <a:rPr lang="en-US" sz="1400" err="1">
                <a:solidFill>
                  <a:srgbClr val="1E293B"/>
                </a:solidFill>
                <a:latin typeface="+mj-lt"/>
              </a:rPr>
              <a:t>không</a:t>
            </a:r>
            <a:r>
              <a:rPr lang="en-US" sz="1400">
                <a:solidFill>
                  <a:srgbClr val="1E293B"/>
                </a:solidFill>
                <a:latin typeface="+mj-lt"/>
              </a:rPr>
              <a:t> </a:t>
            </a:r>
            <a:r>
              <a:rPr lang="en-US" sz="1400" err="1">
                <a:solidFill>
                  <a:srgbClr val="1E293B"/>
                </a:solidFill>
                <a:latin typeface="+mj-lt"/>
              </a:rPr>
              <a:t>cần</a:t>
            </a:r>
            <a:r>
              <a:rPr lang="en-US" sz="1400">
                <a:solidFill>
                  <a:srgbClr val="1E293B"/>
                </a:solidFill>
                <a:latin typeface="+mj-lt"/>
              </a:rPr>
              <a:t> </a:t>
            </a:r>
            <a:r>
              <a:rPr lang="en-US" sz="1400" err="1">
                <a:solidFill>
                  <a:srgbClr val="1E293B"/>
                </a:solidFill>
                <a:latin typeface="+mj-lt"/>
              </a:rPr>
              <a:t>thay</a:t>
            </a:r>
            <a:r>
              <a:rPr lang="en-US" sz="1400">
                <a:solidFill>
                  <a:srgbClr val="1E293B"/>
                </a:solidFill>
                <a:latin typeface="+mj-lt"/>
              </a:rPr>
              <a:t> backbone.</a:t>
            </a:r>
          </a:p>
        </p:txBody>
      </p:sp>
      <p:sp>
        <p:nvSpPr>
          <p:cNvPr id="110" name="Dot"/>
          <p:cNvSpPr/>
          <p:nvPr/>
        </p:nvSpPr>
        <p:spPr>
          <a:xfrm>
            <a:off x="1743075" y="5089506"/>
            <a:ext cx="38100" cy="1016000"/>
          </a:xfrm>
          <a:prstGeom prst="ellipse">
            <a:avLst/>
          </a:prstGeom>
          <a:solidFill>
            <a:srgbClr val="1B365D"/>
          </a:solidFill>
          <a:ln>
            <a:noFill/>
          </a:ln>
        </p:spPr>
        <p:txBody>
          <a:bodyPr/>
          <a:lstStyle/>
          <a:p>
            <a:endParaRPr/>
          </a:p>
        </p:txBody>
      </p:sp>
      <p:sp>
        <p:nvSpPr>
          <p:cNvPr id="111" name="Item"/>
          <p:cNvSpPr txBox="1"/>
          <p:nvPr/>
        </p:nvSpPr>
        <p:spPr>
          <a:xfrm>
            <a:off x="1895475" y="5006956"/>
            <a:ext cx="2171700" cy="923925"/>
          </a:xfrm>
          <a:prstGeom prst="rect">
            <a:avLst/>
          </a:prstGeom>
          <a:noFill/>
        </p:spPr>
        <p:txBody>
          <a:bodyPr wrap="square" lIns="0" tIns="0" rIns="0" bIns="0" anchor="t"/>
          <a:lstStyle/>
          <a:p>
            <a:pPr>
              <a:lnSpc>
                <a:spcPct val="125000"/>
              </a:lnSpc>
            </a:pPr>
            <a:r>
              <a:rPr lang="en-US" sz="1400">
                <a:solidFill>
                  <a:srgbClr val="1E293B"/>
                </a:solidFill>
                <a:latin typeface="+mj-lt"/>
              </a:rPr>
              <a:t>Cải tiến tầng phân loại </a:t>
            </a:r>
            <a:r>
              <a:rPr lang="en-US" sz="1400" b="1">
                <a:solidFill>
                  <a:srgbClr val="1E293B"/>
                </a:solidFill>
                <a:latin typeface="+mj-lt"/>
              </a:rPr>
              <a:t>bổ trợ tốt </a:t>
            </a:r>
            <a:r>
              <a:rPr lang="en-US" sz="1400">
                <a:solidFill>
                  <a:srgbClr val="1E293B"/>
                </a:solidFill>
                <a:latin typeface="+mj-lt"/>
              </a:rPr>
              <a:t>cho NAS đã tối ưu sẵn.</a:t>
            </a:r>
          </a:p>
        </p:txBody>
      </p:sp>
      <p:sp>
        <p:nvSpPr>
          <p:cNvPr id="112" name="Dot"/>
          <p:cNvSpPr/>
          <p:nvPr/>
        </p:nvSpPr>
        <p:spPr>
          <a:xfrm>
            <a:off x="4572000" y="2219306"/>
            <a:ext cx="38100" cy="1016000"/>
          </a:xfrm>
          <a:prstGeom prst="ellipse">
            <a:avLst/>
          </a:prstGeom>
          <a:solidFill>
            <a:srgbClr val="0891B2"/>
          </a:solidFill>
          <a:ln>
            <a:noFill/>
          </a:ln>
        </p:spPr>
        <p:txBody>
          <a:bodyPr/>
          <a:lstStyle/>
          <a:p>
            <a:endParaRPr/>
          </a:p>
        </p:txBody>
      </p:sp>
      <p:sp>
        <p:nvSpPr>
          <p:cNvPr id="113" name="Item"/>
          <p:cNvSpPr txBox="1"/>
          <p:nvPr/>
        </p:nvSpPr>
        <p:spPr>
          <a:xfrm>
            <a:off x="4724400" y="2136756"/>
            <a:ext cx="2171700" cy="923925"/>
          </a:xfrm>
          <a:prstGeom prst="rect">
            <a:avLst/>
          </a:prstGeom>
          <a:noFill/>
        </p:spPr>
        <p:txBody>
          <a:bodyPr wrap="square" lIns="0" tIns="0" rIns="0" bIns="0" anchor="t"/>
          <a:lstStyle/>
          <a:p>
            <a:pPr>
              <a:lnSpc>
                <a:spcPct val="125000"/>
              </a:lnSpc>
            </a:pPr>
            <a:r>
              <a:rPr lang="en-US" sz="1400" b="1">
                <a:solidFill>
                  <a:srgbClr val="1E293B"/>
                </a:solidFill>
                <a:latin typeface="+mj-lt"/>
              </a:rPr>
              <a:t>Chi phí tính toán </a:t>
            </a:r>
            <a:r>
              <a:rPr lang="en-US" sz="1400">
                <a:solidFill>
                  <a:srgbClr val="1E293B"/>
                </a:solidFill>
                <a:latin typeface="+mj-lt"/>
              </a:rPr>
              <a:t>giai đoạn NAS còn cao.</a:t>
            </a:r>
          </a:p>
        </p:txBody>
      </p:sp>
      <p:sp>
        <p:nvSpPr>
          <p:cNvPr id="114" name="Dot"/>
          <p:cNvSpPr/>
          <p:nvPr/>
        </p:nvSpPr>
        <p:spPr>
          <a:xfrm>
            <a:off x="4572000" y="3654406"/>
            <a:ext cx="38100" cy="1016000"/>
          </a:xfrm>
          <a:prstGeom prst="ellipse">
            <a:avLst/>
          </a:prstGeom>
          <a:solidFill>
            <a:srgbClr val="0891B2"/>
          </a:solidFill>
          <a:ln>
            <a:noFill/>
          </a:ln>
        </p:spPr>
        <p:txBody>
          <a:bodyPr/>
          <a:lstStyle/>
          <a:p>
            <a:endParaRPr/>
          </a:p>
        </p:txBody>
      </p:sp>
      <p:sp>
        <p:nvSpPr>
          <p:cNvPr id="115" name="Item"/>
          <p:cNvSpPr txBox="1"/>
          <p:nvPr/>
        </p:nvSpPr>
        <p:spPr>
          <a:xfrm>
            <a:off x="4724400" y="3571856"/>
            <a:ext cx="2171700" cy="923925"/>
          </a:xfrm>
          <a:prstGeom prst="rect">
            <a:avLst/>
          </a:prstGeom>
          <a:noFill/>
        </p:spPr>
        <p:txBody>
          <a:bodyPr wrap="square" lIns="0" tIns="0" rIns="0" bIns="0" anchor="t"/>
          <a:lstStyle/>
          <a:p>
            <a:pPr>
              <a:lnSpc>
                <a:spcPct val="125000"/>
              </a:lnSpc>
            </a:pPr>
            <a:r>
              <a:rPr lang="en-US" sz="1400">
                <a:solidFill>
                  <a:srgbClr val="1E293B"/>
                </a:solidFill>
                <a:latin typeface="+mj-lt"/>
              </a:rPr>
              <a:t>Nhạy cảm với chuyển động cực nhanh và </a:t>
            </a:r>
            <a:r>
              <a:rPr lang="en-US" sz="1400" b="1">
                <a:solidFill>
                  <a:srgbClr val="1E293B"/>
                </a:solidFill>
                <a:latin typeface="+mj-lt"/>
              </a:rPr>
              <a:t>flash mạnh</a:t>
            </a:r>
            <a:r>
              <a:rPr lang="en-US" sz="1400">
                <a:solidFill>
                  <a:srgbClr val="1E293B"/>
                </a:solidFill>
                <a:latin typeface="+mj-lt"/>
              </a:rPr>
              <a:t>.</a:t>
            </a:r>
          </a:p>
        </p:txBody>
      </p:sp>
      <p:sp>
        <p:nvSpPr>
          <p:cNvPr id="116" name="Dot"/>
          <p:cNvSpPr/>
          <p:nvPr/>
        </p:nvSpPr>
        <p:spPr>
          <a:xfrm>
            <a:off x="4572000" y="5089506"/>
            <a:ext cx="38100" cy="1016000"/>
          </a:xfrm>
          <a:prstGeom prst="ellipse">
            <a:avLst/>
          </a:prstGeom>
          <a:solidFill>
            <a:srgbClr val="0891B2"/>
          </a:solidFill>
          <a:ln>
            <a:noFill/>
          </a:ln>
        </p:spPr>
        <p:txBody>
          <a:bodyPr/>
          <a:lstStyle/>
          <a:p>
            <a:endParaRPr/>
          </a:p>
        </p:txBody>
      </p:sp>
      <p:sp>
        <p:nvSpPr>
          <p:cNvPr id="117" name="Item"/>
          <p:cNvSpPr txBox="1"/>
          <p:nvPr/>
        </p:nvSpPr>
        <p:spPr>
          <a:xfrm>
            <a:off x="4724400" y="5006956"/>
            <a:ext cx="2171700" cy="923925"/>
          </a:xfrm>
          <a:prstGeom prst="rect">
            <a:avLst/>
          </a:prstGeom>
          <a:noFill/>
        </p:spPr>
        <p:txBody>
          <a:bodyPr wrap="square" lIns="0" tIns="0" rIns="0" bIns="0" anchor="t"/>
          <a:lstStyle/>
          <a:p>
            <a:pPr>
              <a:lnSpc>
                <a:spcPct val="125000"/>
              </a:lnSpc>
            </a:pPr>
            <a:r>
              <a:rPr lang="en-US" sz="1400" b="1">
                <a:solidFill>
                  <a:srgbClr val="1E293B"/>
                </a:solidFill>
                <a:latin typeface="+mj-lt"/>
              </a:rPr>
              <a:t>Khoảng cách miền dữ liệu </a:t>
            </a:r>
            <a:r>
              <a:rPr lang="en-US" sz="1400">
                <a:solidFill>
                  <a:srgbClr val="1E293B"/>
                </a:solidFill>
                <a:latin typeface="+mj-lt"/>
              </a:rPr>
              <a:t>giữa SHOT và ClipShots.</a:t>
            </a:r>
          </a:p>
        </p:txBody>
      </p:sp>
      <p:sp>
        <p:nvSpPr>
          <p:cNvPr id="119" name="Item"/>
          <p:cNvSpPr txBox="1"/>
          <p:nvPr/>
        </p:nvSpPr>
        <p:spPr>
          <a:xfrm>
            <a:off x="7605713" y="3524905"/>
            <a:ext cx="2171700" cy="1111250"/>
          </a:xfrm>
          <a:prstGeom prst="rect">
            <a:avLst/>
          </a:prstGeom>
          <a:noFill/>
        </p:spPr>
        <p:txBody>
          <a:bodyPr wrap="square" lIns="0" tIns="0" rIns="0" bIns="0" anchor="t"/>
          <a:lstStyle/>
          <a:p>
            <a:pPr>
              <a:lnSpc>
                <a:spcPct val="125000"/>
              </a:lnSpc>
            </a:pPr>
            <a:r>
              <a:rPr lang="en-US" sz="1400" b="1">
                <a:solidFill>
                  <a:srgbClr val="1E293B"/>
                </a:solidFill>
                <a:latin typeface="+mj-lt"/>
              </a:rPr>
              <a:t>Cải thiện độ chính xác </a:t>
            </a:r>
            <a:r>
              <a:rPr lang="en-US" sz="1400">
                <a:solidFill>
                  <a:srgbClr val="1E293B"/>
                </a:solidFill>
                <a:latin typeface="+mj-lt"/>
              </a:rPr>
              <a:t>theo ngữ cảnh và t</a:t>
            </a:r>
            <a:r>
              <a:rPr lang="vi-VN" sz="1400">
                <a:solidFill>
                  <a:srgbClr val="1E293B"/>
                </a:solidFill>
                <a:latin typeface="+mj-lt"/>
              </a:rPr>
              <a:t>ối ưu model để nhận diện </a:t>
            </a:r>
            <a:r>
              <a:rPr lang="en-US" sz="1400">
                <a:solidFill>
                  <a:srgbClr val="1E293B"/>
                </a:solidFill>
                <a:latin typeface="+mj-lt"/>
              </a:rPr>
              <a:t>gradual tốt hơn</a:t>
            </a:r>
          </a:p>
        </p:txBody>
      </p:sp>
      <p:sp>
        <p:nvSpPr>
          <p:cNvPr id="123" name="Item"/>
          <p:cNvSpPr txBox="1"/>
          <p:nvPr/>
        </p:nvSpPr>
        <p:spPr>
          <a:xfrm>
            <a:off x="7553325" y="4956194"/>
            <a:ext cx="2171700" cy="1098550"/>
          </a:xfrm>
          <a:prstGeom prst="rect">
            <a:avLst/>
          </a:prstGeom>
          <a:noFill/>
        </p:spPr>
        <p:txBody>
          <a:bodyPr wrap="square" lIns="0" tIns="0" rIns="0" bIns="0" anchor="t"/>
          <a:lstStyle/>
          <a:p>
            <a:pPr>
              <a:lnSpc>
                <a:spcPct val="125000"/>
              </a:lnSpc>
            </a:pPr>
            <a:r>
              <a:rPr lang="en-US" sz="1400" b="1">
                <a:solidFill>
                  <a:srgbClr val="1E293B"/>
                </a:solidFill>
                <a:latin typeface="+mj-lt"/>
              </a:rPr>
              <a:t>Mở rộng khả năng suy luận/quyết định </a:t>
            </a:r>
            <a:r>
              <a:rPr lang="vi-VN" sz="1400">
                <a:solidFill>
                  <a:srgbClr val="1E293B"/>
                </a:solidFill>
                <a:latin typeface="+mj-lt"/>
              </a:rPr>
              <a:t>tự điều chỉnh chiến lược theo dữ liệu đầu vào.</a:t>
            </a:r>
            <a:endParaRPr lang="en-US" sz="1400">
              <a:solidFill>
                <a:srgbClr val="1E293B"/>
              </a:solidFill>
              <a:latin typeface="+mj-lt"/>
            </a:endParaRPr>
          </a:p>
        </p:txBody>
      </p:sp>
      <p:sp>
        <p:nvSpPr>
          <p:cNvPr id="4" name="TextBox 3">
            <a:extLst>
              <a:ext uri="{FF2B5EF4-FFF2-40B4-BE49-F238E27FC236}">
                <a16:creationId xmlns:a16="http://schemas.microsoft.com/office/drawing/2014/main" id="{6E2165EF-C76B-9AFB-550A-433DDEB732DF}"/>
              </a:ext>
            </a:extLst>
          </p:cNvPr>
          <p:cNvSpPr txBox="1"/>
          <p:nvPr/>
        </p:nvSpPr>
        <p:spPr>
          <a:xfrm>
            <a:off x="548640" y="320040"/>
            <a:ext cx="9144000" cy="215444"/>
          </a:xfrm>
          <a:prstGeom prst="rect">
            <a:avLst/>
          </a:prstGeom>
          <a:noFill/>
        </p:spPr>
        <p:txBody>
          <a:bodyPr wrap="square" lIns="0" tIns="0" rIns="0" bIns="0" anchor="t">
            <a:spAutoFit/>
          </a:bodyPr>
          <a:lstStyle/>
          <a:p>
            <a:pPr algn="l"/>
            <a:r>
              <a:rPr lang="en-US" sz="1400" b="1">
                <a:solidFill>
                  <a:srgbClr val="0891B2"/>
                </a:solidFill>
                <a:latin typeface="+mj-lt"/>
              </a:rPr>
              <a:t>5. </a:t>
            </a:r>
            <a:r>
              <a:rPr lang="en-US" sz="1400" b="1" err="1">
                <a:solidFill>
                  <a:srgbClr val="0891B2"/>
                </a:solidFill>
                <a:latin typeface="+mj-lt"/>
              </a:rPr>
              <a:t>KẾT</a:t>
            </a:r>
            <a:r>
              <a:rPr lang="en-US" sz="1400" b="1">
                <a:solidFill>
                  <a:srgbClr val="0891B2"/>
                </a:solidFill>
                <a:latin typeface="+mj-lt"/>
              </a:rPr>
              <a:t> LUẬN </a:t>
            </a:r>
            <a:r>
              <a:rPr lang="en-US" sz="1400" b="1" err="1">
                <a:solidFill>
                  <a:srgbClr val="0891B2"/>
                </a:solidFill>
                <a:latin typeface="+mj-lt"/>
              </a:rPr>
              <a:t>VÀ</a:t>
            </a:r>
            <a:r>
              <a:rPr lang="en-US" sz="1400" b="1">
                <a:solidFill>
                  <a:srgbClr val="0891B2"/>
                </a:solidFill>
                <a:latin typeface="+mj-lt"/>
              </a:rPr>
              <a:t> </a:t>
            </a:r>
            <a:r>
              <a:rPr lang="en-US" sz="1400" b="1" err="1">
                <a:solidFill>
                  <a:srgbClr val="0891B2"/>
                </a:solidFill>
                <a:latin typeface="+mj-lt"/>
              </a:rPr>
              <a:t>HƯỚNG</a:t>
            </a:r>
            <a:r>
              <a:rPr lang="en-US" sz="1400" b="1">
                <a:solidFill>
                  <a:srgbClr val="0891B2"/>
                </a:solidFill>
                <a:latin typeface="+mj-lt"/>
              </a:rPr>
              <a:t> </a:t>
            </a:r>
            <a:r>
              <a:rPr lang="en-US" sz="1400" b="1" err="1">
                <a:solidFill>
                  <a:srgbClr val="0891B2"/>
                </a:solidFill>
                <a:latin typeface="+mj-lt"/>
              </a:rPr>
              <a:t>PHÁT</a:t>
            </a:r>
            <a:r>
              <a:rPr lang="en-US" sz="1400" b="1">
                <a:solidFill>
                  <a:srgbClr val="0891B2"/>
                </a:solidFill>
                <a:latin typeface="+mj-lt"/>
              </a:rPr>
              <a:t> </a:t>
            </a:r>
            <a:r>
              <a:rPr lang="en-US" sz="1400" b="1" err="1">
                <a:solidFill>
                  <a:srgbClr val="0891B2"/>
                </a:solidFill>
                <a:latin typeface="+mj-lt"/>
              </a:rPr>
              <a:t>TRIỂN</a:t>
            </a:r>
            <a:endParaRPr sz="1400" b="1">
              <a:solidFill>
                <a:srgbClr val="0891B2"/>
              </a:solidFill>
              <a:latin typeface="+mj-lt"/>
            </a:endParaRPr>
          </a:p>
        </p:txBody>
      </p:sp>
      <p:sp>
        <p:nvSpPr>
          <p:cNvPr id="10" name="Dot">
            <a:extLst>
              <a:ext uri="{FF2B5EF4-FFF2-40B4-BE49-F238E27FC236}">
                <a16:creationId xmlns:a16="http://schemas.microsoft.com/office/drawing/2014/main" id="{BBA0C7EC-E5F0-543B-F52F-F9CEE7F210D6}"/>
              </a:ext>
            </a:extLst>
          </p:cNvPr>
          <p:cNvSpPr/>
          <p:nvPr/>
        </p:nvSpPr>
        <p:spPr>
          <a:xfrm>
            <a:off x="7405688" y="2219306"/>
            <a:ext cx="38100" cy="1016000"/>
          </a:xfrm>
          <a:prstGeom prst="ellipse">
            <a:avLst/>
          </a:prstGeom>
          <a:solidFill>
            <a:schemeClr val="accent5">
              <a:lumMod val="60000"/>
              <a:lumOff val="40000"/>
            </a:schemeClr>
          </a:solidFill>
          <a:ln>
            <a:noFill/>
          </a:ln>
        </p:spPr>
        <p:txBody>
          <a:bodyPr/>
          <a:lstStyle/>
          <a:p>
            <a:endParaRPr/>
          </a:p>
        </p:txBody>
      </p:sp>
      <p:sp>
        <p:nvSpPr>
          <p:cNvPr id="11" name="Dot">
            <a:extLst>
              <a:ext uri="{FF2B5EF4-FFF2-40B4-BE49-F238E27FC236}">
                <a16:creationId xmlns:a16="http://schemas.microsoft.com/office/drawing/2014/main" id="{BE5ECA2C-FCAD-5683-D8DA-7F080DBDC9B6}"/>
              </a:ext>
            </a:extLst>
          </p:cNvPr>
          <p:cNvSpPr/>
          <p:nvPr/>
        </p:nvSpPr>
        <p:spPr>
          <a:xfrm>
            <a:off x="7405688" y="3541357"/>
            <a:ext cx="38100" cy="1016000"/>
          </a:xfrm>
          <a:prstGeom prst="ellipse">
            <a:avLst/>
          </a:prstGeom>
          <a:solidFill>
            <a:schemeClr val="accent5">
              <a:lumMod val="60000"/>
              <a:lumOff val="40000"/>
            </a:schemeClr>
          </a:solidFill>
          <a:ln>
            <a:noFill/>
          </a:ln>
        </p:spPr>
        <p:txBody>
          <a:bodyPr/>
          <a:lstStyle/>
          <a:p>
            <a:endParaRPr/>
          </a:p>
        </p:txBody>
      </p:sp>
      <p:sp>
        <p:nvSpPr>
          <p:cNvPr id="12" name="Dot">
            <a:extLst>
              <a:ext uri="{FF2B5EF4-FFF2-40B4-BE49-F238E27FC236}">
                <a16:creationId xmlns:a16="http://schemas.microsoft.com/office/drawing/2014/main" id="{492D9AD8-1622-6AF9-4512-EED0FAFBCB48}"/>
              </a:ext>
            </a:extLst>
          </p:cNvPr>
          <p:cNvSpPr/>
          <p:nvPr/>
        </p:nvSpPr>
        <p:spPr>
          <a:xfrm>
            <a:off x="7372350" y="4956194"/>
            <a:ext cx="38100" cy="1016000"/>
          </a:xfrm>
          <a:prstGeom prst="ellipse">
            <a:avLst/>
          </a:prstGeom>
          <a:solidFill>
            <a:schemeClr val="accent5">
              <a:lumMod val="60000"/>
              <a:lumOff val="40000"/>
            </a:schemeClr>
          </a:solidFill>
          <a:ln>
            <a:noFill/>
          </a:ln>
        </p:spPr>
        <p:txBody>
          <a:bodyPr/>
          <a:lstStyle/>
          <a:p>
            <a:endParaRPr/>
          </a:p>
        </p:txBody>
      </p:sp>
      <p:sp>
        <p:nvSpPr>
          <p:cNvPr id="13" name="Item">
            <a:extLst>
              <a:ext uri="{FF2B5EF4-FFF2-40B4-BE49-F238E27FC236}">
                <a16:creationId xmlns:a16="http://schemas.microsoft.com/office/drawing/2014/main" id="{1BFE07A7-A84C-353F-E882-4E1088EC9829}"/>
              </a:ext>
            </a:extLst>
          </p:cNvPr>
          <p:cNvSpPr txBox="1"/>
          <p:nvPr/>
        </p:nvSpPr>
        <p:spPr>
          <a:xfrm>
            <a:off x="7543800" y="2171681"/>
            <a:ext cx="2171700" cy="1111250"/>
          </a:xfrm>
          <a:prstGeom prst="rect">
            <a:avLst/>
          </a:prstGeom>
          <a:noFill/>
        </p:spPr>
        <p:txBody>
          <a:bodyPr wrap="square" lIns="0" tIns="0" rIns="0" bIns="0" anchor="t"/>
          <a:lstStyle/>
          <a:p>
            <a:pPr>
              <a:lnSpc>
                <a:spcPct val="125000"/>
              </a:lnSpc>
            </a:pPr>
            <a:r>
              <a:rPr lang="en-US" sz="1400" b="1">
                <a:solidFill>
                  <a:srgbClr val="1E293B"/>
                </a:solidFill>
                <a:latin typeface="+mj-lt"/>
              </a:rPr>
              <a:t>Phân tích NAS </a:t>
            </a:r>
            <a:r>
              <a:rPr lang="en-US" sz="1400">
                <a:solidFill>
                  <a:srgbClr val="1E293B"/>
                </a:solidFill>
                <a:latin typeface="+mj-lt"/>
              </a:rPr>
              <a:t>để có thể tìm được nhiều hướng phát triển thêm</a:t>
            </a:r>
          </a:p>
        </p:txBody>
      </p:sp>
    </p:spTree>
    <p:extLst>
      <p:ext uri="{BB962C8B-B14F-4D97-AF65-F5344CB8AC3E}">
        <p14:creationId xmlns:p14="http://schemas.microsoft.com/office/powerpoint/2010/main" val="4057508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536575" y="1882540"/>
            <a:ext cx="11118850" cy="330450"/>
          </a:xfrm>
          <a:prstGeom prst="rect">
            <a:avLst/>
          </a:prstGeom>
          <a:noFill/>
          <a:ln/>
        </p:spPr>
        <p:txBody>
          <a:bodyPr wrap="square" lIns="16933" tIns="16933" rIns="16933" bIns="16933" rtlCol="0" anchor="t">
            <a:noAutofit/>
          </a:bodyPr>
          <a:lstStyle/>
          <a:p>
            <a:pPr algn="ctr"/>
            <a:r>
              <a:rPr lang="en-US" sz="2000" kern="0" spc="264">
                <a:latin typeface="+mj-lt"/>
                <a:ea typeface="Georgia" pitchFamily="34" charset="-122"/>
                <a:cs typeface="Georgia" pitchFamily="34" charset="-120"/>
              </a:rPr>
              <a:t>LỜI CẢM ƠN</a:t>
            </a:r>
            <a:endParaRPr lang="en-US" sz="2000">
              <a:latin typeface="+mj-lt"/>
            </a:endParaRPr>
          </a:p>
        </p:txBody>
      </p:sp>
      <p:sp>
        <p:nvSpPr>
          <p:cNvPr id="8" name="Text 6"/>
          <p:cNvSpPr/>
          <p:nvPr/>
        </p:nvSpPr>
        <p:spPr>
          <a:xfrm>
            <a:off x="536575" y="2218441"/>
            <a:ext cx="11118850" cy="1874477"/>
          </a:xfrm>
          <a:prstGeom prst="rect">
            <a:avLst/>
          </a:prstGeom>
          <a:noFill/>
          <a:ln/>
        </p:spPr>
        <p:txBody>
          <a:bodyPr wrap="square" lIns="16933" tIns="16933" rIns="16933" bIns="16933" rtlCol="0" anchor="t">
            <a:normAutofit/>
          </a:bodyPr>
          <a:lstStyle/>
          <a:p>
            <a:pPr algn="ctr">
              <a:lnSpc>
                <a:spcPct val="104000"/>
              </a:lnSpc>
            </a:pPr>
            <a:r>
              <a:rPr lang="en-US" sz="7000" i="1" kern="0" spc="-70">
                <a:latin typeface="+mj-lt"/>
                <a:ea typeface="Georgia" pitchFamily="34" charset="-122"/>
                <a:cs typeface="Georgia" pitchFamily="34" charset="-120"/>
              </a:rPr>
              <a:t>Trân trọng cảm ơn quý thầy cô.</a:t>
            </a:r>
            <a:endParaRPr lang="en-US" sz="7000">
              <a:latin typeface="+mj-lt"/>
            </a:endParaRPr>
          </a:p>
        </p:txBody>
      </p:sp>
      <p:sp>
        <p:nvSpPr>
          <p:cNvPr id="9" name="Shape 7"/>
          <p:cNvSpPr/>
          <p:nvPr/>
        </p:nvSpPr>
        <p:spPr>
          <a:xfrm>
            <a:off x="5207000" y="4372300"/>
            <a:ext cx="1778000" cy="6350"/>
          </a:xfrm>
          <a:prstGeom prst="rect">
            <a:avLst/>
          </a:prstGeom>
          <a:solidFill>
            <a:srgbClr val="C9A961"/>
          </a:solidFill>
          <a:ln/>
        </p:spPr>
        <p:txBody>
          <a:bodyPr/>
          <a:lstStyle/>
          <a:p>
            <a:endParaRPr lang="en-US" sz="1200">
              <a:latin typeface="+mj-lt"/>
            </a:endParaRPr>
          </a:p>
        </p:txBody>
      </p:sp>
      <p:sp>
        <p:nvSpPr>
          <p:cNvPr id="11" name="Text 9"/>
          <p:cNvSpPr/>
          <p:nvPr/>
        </p:nvSpPr>
        <p:spPr>
          <a:xfrm>
            <a:off x="661183" y="4926654"/>
            <a:ext cx="4588724" cy="436905"/>
          </a:xfrm>
          <a:prstGeom prst="rect">
            <a:avLst/>
          </a:prstGeom>
          <a:noFill/>
          <a:ln/>
        </p:spPr>
        <p:txBody>
          <a:bodyPr wrap="square" lIns="16933" tIns="16933" rIns="16933" bIns="16933" rtlCol="0" anchor="t">
            <a:noAutofit/>
          </a:bodyPr>
          <a:lstStyle/>
          <a:p>
            <a:pPr>
              <a:lnSpc>
                <a:spcPct val="165000"/>
              </a:lnSpc>
            </a:pPr>
            <a:r>
              <a:rPr lang="en-US" sz="2000" kern="0" spc="153">
                <a:latin typeface="+mj-lt"/>
                <a:ea typeface="Georgia" pitchFamily="34" charset="-122"/>
                <a:cs typeface="Georgia" pitchFamily="34" charset="-120"/>
              </a:rPr>
              <a:t>NHÓM TÁC GIẢ</a:t>
            </a:r>
            <a:endParaRPr lang="en-US" sz="2000">
              <a:latin typeface="+mj-lt"/>
            </a:endParaRPr>
          </a:p>
        </p:txBody>
      </p:sp>
      <p:sp>
        <p:nvSpPr>
          <p:cNvPr id="12" name="Text 10"/>
          <p:cNvSpPr/>
          <p:nvPr/>
        </p:nvSpPr>
        <p:spPr>
          <a:xfrm>
            <a:off x="661183" y="5326764"/>
            <a:ext cx="3124502" cy="570167"/>
          </a:xfrm>
          <a:prstGeom prst="rect">
            <a:avLst/>
          </a:prstGeom>
          <a:noFill/>
          <a:ln/>
        </p:spPr>
        <p:txBody>
          <a:bodyPr wrap="square" lIns="16933" tIns="16933" rIns="16933" bIns="16933" rtlCol="0" anchor="t">
            <a:noAutofit/>
          </a:bodyPr>
          <a:lstStyle/>
          <a:p>
            <a:pPr>
              <a:lnSpc>
                <a:spcPct val="165000"/>
              </a:lnSpc>
            </a:pPr>
            <a:r>
              <a:rPr lang="en-US" sz="2000" err="1">
                <a:latin typeface="+mj-lt"/>
                <a:ea typeface="Georgia" pitchFamily="34" charset="-122"/>
                <a:cs typeface="Georgia" pitchFamily="34" charset="-120"/>
              </a:rPr>
              <a:t>Tằng</a:t>
            </a:r>
            <a:r>
              <a:rPr lang="en-US" sz="2000">
                <a:latin typeface="+mj-lt"/>
                <a:ea typeface="Georgia" pitchFamily="34" charset="-122"/>
                <a:cs typeface="Georgia" pitchFamily="34" charset="-120"/>
              </a:rPr>
              <a:t> Sềnh Mành</a:t>
            </a:r>
            <a:endParaRPr lang="en-US" sz="2000">
              <a:latin typeface="+mj-lt"/>
            </a:endParaRPr>
          </a:p>
        </p:txBody>
      </p:sp>
      <p:sp>
        <p:nvSpPr>
          <p:cNvPr id="13" name="Text 11"/>
          <p:cNvSpPr/>
          <p:nvPr/>
        </p:nvSpPr>
        <p:spPr>
          <a:xfrm>
            <a:off x="2723990" y="5341241"/>
            <a:ext cx="1359489" cy="285081"/>
          </a:xfrm>
          <a:prstGeom prst="rect">
            <a:avLst/>
          </a:prstGeom>
          <a:noFill/>
          <a:ln/>
        </p:spPr>
        <p:txBody>
          <a:bodyPr wrap="square" lIns="16933" tIns="16933" rIns="16933" bIns="16933" rtlCol="0" anchor="t">
            <a:noAutofit/>
          </a:bodyPr>
          <a:lstStyle/>
          <a:p>
            <a:pPr>
              <a:lnSpc>
                <a:spcPct val="165000"/>
              </a:lnSpc>
            </a:pPr>
            <a:r>
              <a:rPr lang="en-US" sz="2000">
                <a:latin typeface="+mj-lt"/>
                <a:ea typeface="Courier New" pitchFamily="34" charset="-122"/>
                <a:cs typeface="Courier New" pitchFamily="34" charset="-120"/>
              </a:rPr>
              <a:t>22120202</a:t>
            </a:r>
            <a:endParaRPr lang="en-US" sz="2000">
              <a:latin typeface="+mj-lt"/>
            </a:endParaRPr>
          </a:p>
        </p:txBody>
      </p:sp>
      <p:sp>
        <p:nvSpPr>
          <p:cNvPr id="14" name="Text 12"/>
          <p:cNvSpPr/>
          <p:nvPr/>
        </p:nvSpPr>
        <p:spPr>
          <a:xfrm>
            <a:off x="698500" y="5724647"/>
            <a:ext cx="2705236" cy="396754"/>
          </a:xfrm>
          <a:prstGeom prst="rect">
            <a:avLst/>
          </a:prstGeom>
          <a:noFill/>
          <a:ln/>
        </p:spPr>
        <p:txBody>
          <a:bodyPr wrap="square" lIns="16933" tIns="16933" rIns="16933" bIns="16933" rtlCol="0" anchor="t">
            <a:noAutofit/>
          </a:bodyPr>
          <a:lstStyle/>
          <a:p>
            <a:pPr>
              <a:lnSpc>
                <a:spcPct val="165000"/>
              </a:lnSpc>
            </a:pPr>
            <a:r>
              <a:rPr lang="en-US" sz="2000">
                <a:latin typeface="+mj-lt"/>
                <a:ea typeface="Georgia" pitchFamily="34" charset="-122"/>
                <a:cs typeface="Georgia" pitchFamily="34" charset="-120"/>
              </a:rPr>
              <a:t>Đỗ Tiến Mạnh</a:t>
            </a:r>
            <a:endParaRPr lang="en-US" sz="2000">
              <a:latin typeface="+mj-lt"/>
            </a:endParaRPr>
          </a:p>
        </p:txBody>
      </p:sp>
      <p:sp>
        <p:nvSpPr>
          <p:cNvPr id="15" name="Text 13"/>
          <p:cNvSpPr/>
          <p:nvPr/>
        </p:nvSpPr>
        <p:spPr>
          <a:xfrm>
            <a:off x="2723990" y="5742240"/>
            <a:ext cx="1359489" cy="285081"/>
          </a:xfrm>
          <a:prstGeom prst="rect">
            <a:avLst/>
          </a:prstGeom>
          <a:noFill/>
          <a:ln/>
        </p:spPr>
        <p:txBody>
          <a:bodyPr wrap="square" lIns="16933" tIns="16933" rIns="16933" bIns="16933" rtlCol="0" anchor="t">
            <a:noAutofit/>
          </a:bodyPr>
          <a:lstStyle/>
          <a:p>
            <a:pPr>
              <a:lnSpc>
                <a:spcPct val="165000"/>
              </a:lnSpc>
            </a:pPr>
            <a:r>
              <a:rPr lang="en-US" sz="2000">
                <a:latin typeface="+mj-lt"/>
                <a:ea typeface="Courier New" pitchFamily="34" charset="-122"/>
                <a:cs typeface="Courier New" pitchFamily="34" charset="-120"/>
              </a:rPr>
              <a:t>22120203</a:t>
            </a:r>
            <a:endParaRPr lang="en-US" sz="2000">
              <a:latin typeface="+mj-lt"/>
            </a:endParaRPr>
          </a:p>
        </p:txBody>
      </p:sp>
      <p:sp>
        <p:nvSpPr>
          <p:cNvPr id="16" name="Text 14"/>
          <p:cNvSpPr/>
          <p:nvPr/>
        </p:nvSpPr>
        <p:spPr>
          <a:xfrm>
            <a:off x="8108523" y="4882956"/>
            <a:ext cx="3666977" cy="523564"/>
          </a:xfrm>
          <a:prstGeom prst="rect">
            <a:avLst/>
          </a:prstGeom>
          <a:noFill/>
          <a:ln/>
        </p:spPr>
        <p:txBody>
          <a:bodyPr wrap="square" lIns="16933" tIns="16933" rIns="16933" bIns="16933" rtlCol="0" anchor="t">
            <a:noAutofit/>
          </a:bodyPr>
          <a:lstStyle/>
          <a:p>
            <a:pPr algn="r">
              <a:lnSpc>
                <a:spcPct val="165000"/>
              </a:lnSpc>
            </a:pPr>
            <a:r>
              <a:rPr lang="en-US" sz="2000" kern="0" spc="153">
                <a:latin typeface="+mj-lt"/>
                <a:ea typeface="Georgia" pitchFamily="34" charset="-122"/>
                <a:cs typeface="Georgia" pitchFamily="34" charset="-120"/>
              </a:rPr>
              <a:t>GIÁO VIÊN HƯỚNG DẪN</a:t>
            </a:r>
            <a:endParaRPr lang="en-US" sz="2000">
              <a:latin typeface="+mj-lt"/>
            </a:endParaRPr>
          </a:p>
        </p:txBody>
      </p:sp>
      <p:sp>
        <p:nvSpPr>
          <p:cNvPr id="17" name="Text 15"/>
          <p:cNvSpPr/>
          <p:nvPr/>
        </p:nvSpPr>
        <p:spPr>
          <a:xfrm>
            <a:off x="8590721" y="5326764"/>
            <a:ext cx="3144038" cy="505785"/>
          </a:xfrm>
          <a:prstGeom prst="rect">
            <a:avLst/>
          </a:prstGeom>
          <a:noFill/>
          <a:ln/>
        </p:spPr>
        <p:txBody>
          <a:bodyPr wrap="square" lIns="16933" tIns="16933" rIns="16933" bIns="16933" rtlCol="0" anchor="t">
            <a:noAutofit/>
          </a:bodyPr>
          <a:lstStyle/>
          <a:p>
            <a:pPr algn="r">
              <a:lnSpc>
                <a:spcPct val="165000"/>
              </a:lnSpc>
            </a:pPr>
            <a:r>
              <a:rPr lang="en-US" sz="2000">
                <a:latin typeface="+mj-lt"/>
                <a:ea typeface="Georgia" pitchFamily="34" charset="-122"/>
                <a:cs typeface="Georgia" pitchFamily="34" charset="-120"/>
              </a:rPr>
              <a:t>TS. Trần Thái Sơn</a:t>
            </a:r>
            <a:endParaRPr lang="en-US" sz="2000">
              <a:latin typeface="+mj-lt"/>
            </a:endParaRPr>
          </a:p>
        </p:txBody>
      </p:sp>
      <p:sp>
        <p:nvSpPr>
          <p:cNvPr id="18" name="Text 16"/>
          <p:cNvSpPr/>
          <p:nvPr/>
        </p:nvSpPr>
        <p:spPr>
          <a:xfrm>
            <a:off x="8304350" y="5720314"/>
            <a:ext cx="3430409" cy="224469"/>
          </a:xfrm>
          <a:prstGeom prst="rect">
            <a:avLst/>
          </a:prstGeom>
          <a:noFill/>
          <a:ln/>
        </p:spPr>
        <p:txBody>
          <a:bodyPr wrap="square" lIns="16933" tIns="16933" rIns="16933" bIns="16933" rtlCol="0" anchor="t">
            <a:noAutofit/>
          </a:bodyPr>
          <a:lstStyle/>
          <a:p>
            <a:pPr algn="r">
              <a:lnSpc>
                <a:spcPct val="165000"/>
              </a:lnSpc>
            </a:pPr>
            <a:r>
              <a:rPr lang="en-US" sz="2000">
                <a:latin typeface="+mj-lt"/>
                <a:ea typeface="Georgia" pitchFamily="34" charset="-122"/>
                <a:cs typeface="Georgia" pitchFamily="34" charset="-120"/>
              </a:rPr>
              <a:t>Khoa CNTT · HCMUS</a:t>
            </a:r>
            <a:endParaRPr lang="en-US" sz="2000">
              <a:latin typeface="+mj-lt"/>
            </a:endParaRPr>
          </a:p>
        </p:txBody>
      </p:sp>
      <p:cxnSp>
        <p:nvCxnSpPr>
          <p:cNvPr id="19" name="Connector 6">
            <a:extLst>
              <a:ext uri="{FF2B5EF4-FFF2-40B4-BE49-F238E27FC236}">
                <a16:creationId xmlns:a16="http://schemas.microsoft.com/office/drawing/2014/main" id="{E499334F-1A7C-CB1D-2365-0C8A582EA946}"/>
              </a:ext>
            </a:extLst>
          </p:cNvPr>
          <p:cNvCxnSpPr/>
          <p:nvPr/>
        </p:nvCxnSpPr>
        <p:spPr>
          <a:xfrm>
            <a:off x="548640" y="6537960"/>
            <a:ext cx="11091672" cy="0"/>
          </a:xfrm>
          <a:prstGeom prst="line">
            <a:avLst/>
          </a:prstGeom>
          <a:ln w="6350">
            <a:solidFill>
              <a:srgbClr val="E1E6EE"/>
            </a:solidFill>
          </a:ln>
        </p:spPr>
        <p:style>
          <a:lnRef idx="2">
            <a:schemeClr val="accent1"/>
          </a:lnRef>
          <a:fillRef idx="0">
            <a:schemeClr val="accent1"/>
          </a:fillRef>
          <a:effectRef idx="1">
            <a:schemeClr val="accent1"/>
          </a:effectRef>
          <a:fontRef idx="minor">
            <a:schemeClr val="tx1"/>
          </a:fontRef>
        </p:style>
      </p:cxnSp>
      <p:sp>
        <p:nvSpPr>
          <p:cNvPr id="20" name="TextBox 7">
            <a:extLst>
              <a:ext uri="{FF2B5EF4-FFF2-40B4-BE49-F238E27FC236}">
                <a16:creationId xmlns:a16="http://schemas.microsoft.com/office/drawing/2014/main" id="{53F0046D-7D33-9753-760E-741EAF1C9450}"/>
              </a:ext>
            </a:extLst>
          </p:cNvPr>
          <p:cNvSpPr txBox="1"/>
          <p:nvPr/>
        </p:nvSpPr>
        <p:spPr>
          <a:xfrm>
            <a:off x="548640" y="6583680"/>
            <a:ext cx="7315200" cy="138499"/>
          </a:xfrm>
          <a:prstGeom prst="rect">
            <a:avLst/>
          </a:prstGeom>
          <a:noFill/>
        </p:spPr>
        <p:txBody>
          <a:bodyPr wrap="square" lIns="0" tIns="0" rIns="0" bIns="0" anchor="t">
            <a:spAutoFit/>
          </a:bodyPr>
          <a:lstStyle/>
          <a:p>
            <a:pPr algn="l">
              <a:buNone/>
            </a:pPr>
            <a:r>
              <a:rPr lang="vi-VN" sz="900">
                <a:solidFill>
                  <a:srgbClr val="5B6B85"/>
                </a:solidFill>
                <a:latin typeface="+mn-lt"/>
              </a:rPr>
              <a:t>AutoShotV2 | HCMUS 07/2026</a:t>
            </a:r>
          </a:p>
        </p:txBody>
      </p:sp>
      <p:sp>
        <p:nvSpPr>
          <p:cNvPr id="21" name="TextBox 8">
            <a:extLst>
              <a:ext uri="{FF2B5EF4-FFF2-40B4-BE49-F238E27FC236}">
                <a16:creationId xmlns:a16="http://schemas.microsoft.com/office/drawing/2014/main" id="{B1F2C6E8-92F8-5C5C-7B3E-03AA2C1CEF00}"/>
              </a:ext>
            </a:extLst>
          </p:cNvPr>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5B6B85"/>
                </a:solidFill>
                <a:latin typeface="+mj-lt"/>
              </a:rPr>
              <a:t>25 / 25</a:t>
            </a:r>
          </a:p>
        </p:txBody>
      </p:sp>
    </p:spTree>
    <p:extLst>
      <p:ext uri="{BB962C8B-B14F-4D97-AF65-F5344CB8AC3E}">
        <p14:creationId xmlns:p14="http://schemas.microsoft.com/office/powerpoint/2010/main" val="1785691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92A4B9-0F0A-732B-3DC6-E63E9F0F3633}"/>
              </a:ext>
            </a:extLst>
          </p:cNvPr>
          <p:cNvSpPr/>
          <p:nvPr/>
        </p:nvSpPr>
        <p:spPr>
          <a:xfrm>
            <a:off x="1" y="0"/>
            <a:ext cx="12192000" cy="68580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274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solidFill>
                <a:schemeClr val="tx1"/>
              </a:solidFill>
              <a:latin typeface="+mj-lt"/>
            </a:endParaRPr>
          </a:p>
        </p:txBody>
      </p:sp>
      <p:sp>
        <p:nvSpPr>
          <p:cNvPr id="3" name="Rectangle 2"/>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solidFill>
                <a:schemeClr val="tx1"/>
              </a:solidFill>
              <a:latin typeface="+mj-lt"/>
            </a:endParaRPr>
          </a:p>
        </p:txBody>
      </p:sp>
      <p:sp>
        <p:nvSpPr>
          <p:cNvPr id="5" name="TextBox 4"/>
          <p:cNvSpPr txBox="1"/>
          <p:nvPr/>
        </p:nvSpPr>
        <p:spPr>
          <a:xfrm>
            <a:off x="548640" y="594360"/>
            <a:ext cx="10972800" cy="461665"/>
          </a:xfrm>
          <a:prstGeom prst="rect">
            <a:avLst/>
          </a:prstGeom>
          <a:noFill/>
        </p:spPr>
        <p:txBody>
          <a:bodyPr wrap="square" lIns="0" tIns="0" rIns="0" bIns="0" anchor="t">
            <a:spAutoFit/>
          </a:bodyPr>
          <a:lstStyle/>
          <a:p>
            <a:pPr algn="l"/>
            <a:r>
              <a:rPr sz="3000" b="1" err="1">
                <a:latin typeface="+mj-lt"/>
              </a:rPr>
              <a:t>AutoShotV2</a:t>
            </a:r>
            <a:r>
              <a:rPr sz="3000" b="1">
                <a:latin typeface="+mj-lt"/>
              </a:rPr>
              <a:t> </a:t>
            </a:r>
            <a:r>
              <a:rPr lang="en-US" sz="3000" b="1">
                <a:latin typeface="+mj-lt"/>
              </a:rPr>
              <a:t>– </a:t>
            </a:r>
            <a:r>
              <a:rPr lang="en-US" sz="3000" b="1" err="1">
                <a:latin typeface="+mj-lt"/>
              </a:rPr>
              <a:t>chiến</a:t>
            </a:r>
            <a:r>
              <a:rPr lang="en-US" sz="3000" b="1">
                <a:latin typeface="+mj-lt"/>
              </a:rPr>
              <a:t> </a:t>
            </a:r>
            <a:r>
              <a:rPr lang="en-US" sz="3000" b="1" err="1">
                <a:latin typeface="+mj-lt"/>
              </a:rPr>
              <a:t>lược</a:t>
            </a:r>
            <a:r>
              <a:rPr lang="en-US" sz="3000" b="1">
                <a:latin typeface="+mj-lt"/>
              </a:rPr>
              <a:t> </a:t>
            </a:r>
            <a:r>
              <a:rPr lang="en-US" sz="3000" b="1" err="1">
                <a:latin typeface="+mj-lt"/>
              </a:rPr>
              <a:t>tổng</a:t>
            </a:r>
            <a:r>
              <a:rPr lang="en-US" sz="3000" b="1">
                <a:latin typeface="+mj-lt"/>
              </a:rPr>
              <a:t> </a:t>
            </a:r>
            <a:r>
              <a:rPr lang="en-US" sz="3000" b="1" err="1">
                <a:latin typeface="+mj-lt"/>
              </a:rPr>
              <a:t>thể</a:t>
            </a:r>
            <a:endParaRPr sz="3000" b="1">
              <a:latin typeface="+mj-lt"/>
            </a:endParaRPr>
          </a:p>
        </p:txBody>
      </p:sp>
      <p:cxnSp>
        <p:nvCxnSpPr>
          <p:cNvPr id="6" name="Connector 5"/>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0" y="6583680"/>
            <a:ext cx="1124712" cy="138499"/>
          </a:xfrm>
          <a:prstGeom prst="rect">
            <a:avLst/>
          </a:prstGeom>
          <a:noFill/>
        </p:spPr>
        <p:txBody>
          <a:bodyPr wrap="square" lIns="0" tIns="0" rIns="0" bIns="0" anchor="t">
            <a:spAutoFit/>
          </a:bodyPr>
          <a:lstStyle/>
          <a:p>
            <a:pPr algn="r"/>
            <a:r>
              <a:rPr sz="900" b="0">
                <a:latin typeface="+mj-lt"/>
              </a:rPr>
              <a:t>13 / 25</a:t>
            </a:r>
          </a:p>
        </p:txBody>
      </p:sp>
      <p:sp>
        <p:nvSpPr>
          <p:cNvPr id="14" name="Text 2">
            <a:extLst>
              <a:ext uri="{FF2B5EF4-FFF2-40B4-BE49-F238E27FC236}">
                <a16:creationId xmlns:a16="http://schemas.microsoft.com/office/drawing/2014/main" id="{DC5CB7D0-38DC-4C7E-CA07-860A5F6B552F}"/>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latin typeface="+mj-lt"/>
                <a:ea typeface="Times New Roman" pitchFamily="34" charset="-122"/>
                <a:cs typeface="Times New Roman" pitchFamily="34" charset="-120"/>
              </a:rPr>
              <a:t>3. PHƯƠNG </a:t>
            </a:r>
            <a:r>
              <a:rPr lang="en-US" sz="1350" b="1" err="1">
                <a:latin typeface="+mj-lt"/>
                <a:ea typeface="Times New Roman" pitchFamily="34" charset="-122"/>
                <a:cs typeface="Times New Roman" pitchFamily="34" charset="-120"/>
              </a:rPr>
              <a:t>PHÁ</a:t>
            </a:r>
            <a:r>
              <a:rPr lang="en-US" sz="1350" b="1">
                <a:latin typeface="+mj-lt"/>
                <a:ea typeface="Times New Roman" pitchFamily="34" charset="-122"/>
                <a:cs typeface="Times New Roman" pitchFamily="34" charset="-120"/>
              </a:rPr>
              <a:t> </a:t>
            </a:r>
            <a:r>
              <a:rPr lang="en-US" sz="1350" b="1" err="1">
                <a:latin typeface="+mj-lt"/>
                <a:ea typeface="Times New Roman" pitchFamily="34" charset="-122"/>
                <a:cs typeface="Times New Roman" pitchFamily="34" charset="-120"/>
              </a:rPr>
              <a:t>ĐỀ</a:t>
            </a:r>
            <a:r>
              <a:rPr lang="en-US" sz="1350" b="1">
                <a:latin typeface="+mj-lt"/>
                <a:ea typeface="Times New Roman" pitchFamily="34" charset="-122"/>
                <a:cs typeface="Times New Roman" pitchFamily="34" charset="-120"/>
              </a:rPr>
              <a:t> </a:t>
            </a:r>
            <a:r>
              <a:rPr lang="en-US" sz="1350" b="1" err="1">
                <a:latin typeface="+mj-lt"/>
                <a:ea typeface="Times New Roman" pitchFamily="34" charset="-122"/>
                <a:cs typeface="Times New Roman" pitchFamily="34" charset="-120"/>
              </a:rPr>
              <a:t>XUẤT</a:t>
            </a:r>
            <a:r>
              <a:rPr lang="en-US" sz="1350" b="1">
                <a:latin typeface="+mj-lt"/>
                <a:ea typeface="Times New Roman" pitchFamily="34" charset="-122"/>
                <a:cs typeface="Times New Roman" pitchFamily="34" charset="-120"/>
              </a:rPr>
              <a:t> – </a:t>
            </a:r>
            <a:r>
              <a:rPr lang="en-US" sz="1350" b="1" err="1">
                <a:latin typeface="+mj-lt"/>
                <a:ea typeface="Times New Roman" pitchFamily="34" charset="-122"/>
                <a:cs typeface="Times New Roman" pitchFamily="34" charset="-120"/>
              </a:rPr>
              <a:t>AUTOSHOTV2</a:t>
            </a:r>
            <a:endParaRPr lang="en-US" sz="1350">
              <a:latin typeface="+mj-lt"/>
            </a:endParaRPr>
          </a:p>
        </p:txBody>
      </p:sp>
      <p:pic>
        <p:nvPicPr>
          <p:cNvPr id="20" name="Image 0" descr="preencoded.png">
            <a:extLst>
              <a:ext uri="{FF2B5EF4-FFF2-40B4-BE49-F238E27FC236}">
                <a16:creationId xmlns:a16="http://schemas.microsoft.com/office/drawing/2014/main" id="{902D7CE5-79DF-549B-F8FE-92B17AF738A3}"/>
              </a:ext>
            </a:extLst>
          </p:cNvPr>
          <p:cNvPicPr>
            <a:picLocks noChangeAspect="1"/>
          </p:cNvPicPr>
          <p:nvPr/>
        </p:nvPicPr>
        <p:blipFill>
          <a:blip r:embed="rId3"/>
          <a:stretch>
            <a:fillRect/>
          </a:stretch>
        </p:blipFill>
        <p:spPr>
          <a:xfrm>
            <a:off x="323076" y="2405972"/>
            <a:ext cx="11710134" cy="3284473"/>
          </a:xfrm>
          <a:prstGeom prst="rect">
            <a:avLst/>
          </a:prstGeom>
        </p:spPr>
      </p:pic>
      <p:sp>
        <p:nvSpPr>
          <p:cNvPr id="26" name="Text 6">
            <a:extLst>
              <a:ext uri="{FF2B5EF4-FFF2-40B4-BE49-F238E27FC236}">
                <a16:creationId xmlns:a16="http://schemas.microsoft.com/office/drawing/2014/main" id="{A2133A83-A1D6-0716-BBFC-C86F465C4416}"/>
              </a:ext>
            </a:extLst>
          </p:cNvPr>
          <p:cNvSpPr/>
          <p:nvPr/>
        </p:nvSpPr>
        <p:spPr>
          <a:xfrm>
            <a:off x="698500" y="1543754"/>
            <a:ext cx="10515600" cy="644345"/>
          </a:xfrm>
          <a:prstGeom prst="rect">
            <a:avLst/>
          </a:prstGeom>
          <a:noFill/>
          <a:ln/>
        </p:spPr>
        <p:txBody>
          <a:bodyPr wrap="square" lIns="16933" tIns="16933" rIns="16933" bIns="16933" rtlCol="0" anchor="t">
            <a:normAutofit fontScale="92500" lnSpcReduction="20000"/>
          </a:bodyPr>
          <a:lstStyle/>
          <a:p>
            <a:pPr>
              <a:lnSpc>
                <a:spcPct val="142000"/>
              </a:lnSpc>
            </a:pPr>
            <a:r>
              <a:rPr lang="en-US">
                <a:latin typeface="+mj-lt"/>
                <a:ea typeface="Georgia" pitchFamily="34" charset="-122"/>
                <a:cs typeface="Georgia" pitchFamily="34" charset="-120"/>
              </a:rPr>
              <a:t>Tận dụng tối đa biểu diễn đã được NAS tối ưu — </a:t>
            </a:r>
            <a:r>
              <a:rPr lang="en-US" i="1">
                <a:latin typeface="+mj-lt"/>
                <a:ea typeface="Georgia" pitchFamily="34" charset="-122"/>
                <a:cs typeface="Georgia" pitchFamily="34" charset="-120"/>
              </a:rPr>
              <a:t>chỉ cải tiến tầng đầu ra </a:t>
            </a:r>
            <a:r>
              <a:rPr lang="en-US">
                <a:latin typeface="+mj-lt"/>
                <a:ea typeface="Georgia" pitchFamily="34" charset="-122"/>
                <a:cs typeface="Georgia" pitchFamily="34" charset="-120"/>
              </a:rPr>
              <a:t>, nơi mô hình dễ tổn thương nhất với mất cân bằng và nhiễu.</a:t>
            </a:r>
            <a:endParaRPr lang="en-US">
              <a:latin typeface="+mj-lt"/>
            </a:endParaRPr>
          </a:p>
        </p:txBody>
      </p:sp>
    </p:spTree>
    <p:extLst>
      <p:ext uri="{BB962C8B-B14F-4D97-AF65-F5344CB8AC3E}">
        <p14:creationId xmlns:p14="http://schemas.microsoft.com/office/powerpoint/2010/main" val="663343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0E7FA-8DC2-2190-FA4F-DD0A5828FF9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B63656-8E0D-F8B6-14A7-BFE7A8ECB883}"/>
              </a:ext>
            </a:extLst>
          </p:cNvPr>
          <p:cNvSpPr/>
          <p:nvPr/>
        </p:nvSpPr>
        <p:spPr>
          <a:xfrm>
            <a:off x="0" y="0"/>
            <a:ext cx="12191695" cy="6858000"/>
          </a:xfrm>
          <a:prstGeom prst="rect">
            <a:avLst/>
          </a:prstGeom>
          <a:solidFill>
            <a:srgbClr val="FAFBFC"/>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a:extLst>
              <a:ext uri="{FF2B5EF4-FFF2-40B4-BE49-F238E27FC236}">
                <a16:creationId xmlns:a16="http://schemas.microsoft.com/office/drawing/2014/main" id="{BD281B22-781E-24E5-AA13-961BC34BFE00}"/>
              </a:ext>
            </a:extLst>
          </p:cNvPr>
          <p:cNvSpPr/>
          <p:nvPr/>
        </p:nvSpPr>
        <p:spPr>
          <a:xfrm>
            <a:off x="0" y="0"/>
            <a:ext cx="164592" cy="6858000"/>
          </a:xfrm>
          <a:prstGeom prst="rect">
            <a:avLst/>
          </a:prstGeom>
          <a:solidFill>
            <a:srgbClr val="1B365D"/>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a:extLst>
              <a:ext uri="{FF2B5EF4-FFF2-40B4-BE49-F238E27FC236}">
                <a16:creationId xmlns:a16="http://schemas.microsoft.com/office/drawing/2014/main" id="{C4F8D8FB-E263-74A9-A085-FC1E0EC662F3}"/>
              </a:ext>
            </a:extLst>
          </p:cNvPr>
          <p:cNvSpPr txBox="1"/>
          <p:nvPr/>
        </p:nvSpPr>
        <p:spPr>
          <a:xfrm>
            <a:off x="469900" y="607694"/>
            <a:ext cx="10972800" cy="461665"/>
          </a:xfrm>
          <a:prstGeom prst="rect">
            <a:avLst/>
          </a:prstGeom>
          <a:noFill/>
        </p:spPr>
        <p:txBody>
          <a:bodyPr wrap="square" lIns="0" tIns="0" rIns="0" bIns="0" anchor="t">
            <a:spAutoFit/>
          </a:bodyPr>
          <a:lstStyle/>
          <a:p>
            <a:pPr algn="l"/>
            <a:r>
              <a:rPr lang="en-US" sz="3000" b="1">
                <a:solidFill>
                  <a:srgbClr val="1B365D"/>
                </a:solidFill>
                <a:latin typeface="+mj-lt"/>
              </a:rPr>
              <a:t>Focal Loss và nhãn many-hot</a:t>
            </a:r>
            <a:endParaRPr sz="3000" b="1">
              <a:solidFill>
                <a:srgbClr val="1B365D"/>
              </a:solidFill>
              <a:latin typeface="+mj-lt"/>
            </a:endParaRPr>
          </a:p>
        </p:txBody>
      </p:sp>
      <p:cxnSp>
        <p:nvCxnSpPr>
          <p:cNvPr id="6" name="Connector 5">
            <a:extLst>
              <a:ext uri="{FF2B5EF4-FFF2-40B4-BE49-F238E27FC236}">
                <a16:creationId xmlns:a16="http://schemas.microsoft.com/office/drawing/2014/main" id="{4E26A1E7-F3D0-577D-087B-5838A79D98A2}"/>
              </a:ext>
            </a:extLst>
          </p:cNvPr>
          <p:cNvCxnSpPr/>
          <p:nvPr/>
        </p:nvCxnSpPr>
        <p:spPr>
          <a:xfrm>
            <a:off x="548640" y="1325880"/>
            <a:ext cx="11091672" cy="0"/>
          </a:xfrm>
          <a:prstGeom prst="line">
            <a:avLst/>
          </a:prstGeom>
          <a:ln w="19050">
            <a:solidFill>
              <a:srgbClr val="0891B2"/>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9B938A26-2730-5E5A-417B-53FB9A3179C1}"/>
              </a:ext>
            </a:extLst>
          </p:cNvPr>
          <p:cNvCxnSpPr/>
          <p:nvPr/>
        </p:nvCxnSpPr>
        <p:spPr>
          <a:xfrm>
            <a:off x="548640" y="6537960"/>
            <a:ext cx="11091672"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5D266FE-E02A-FC64-CE99-832CEEC25FF5}"/>
              </a:ext>
            </a:extLst>
          </p:cNvPr>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64748B"/>
                </a:solidFill>
                <a:latin typeface="+mj-lt"/>
              </a:rPr>
              <a:t>15 / 25</a:t>
            </a:r>
          </a:p>
        </p:txBody>
      </p:sp>
      <p:sp>
        <p:nvSpPr>
          <p:cNvPr id="14" name="Text 2">
            <a:extLst>
              <a:ext uri="{FF2B5EF4-FFF2-40B4-BE49-F238E27FC236}">
                <a16:creationId xmlns:a16="http://schemas.microsoft.com/office/drawing/2014/main" id="{3CCDD79D-3A4A-FB9C-4458-40E38FE8B9B9}"/>
              </a:ext>
            </a:extLst>
          </p:cNvPr>
          <p:cNvSpPr/>
          <p:nvPr/>
        </p:nvSpPr>
        <p:spPr>
          <a:xfrm>
            <a:off x="552436" y="361950"/>
            <a:ext cx="4147587" cy="200025"/>
          </a:xfrm>
          <a:prstGeom prst="rect">
            <a:avLst/>
          </a:prstGeom>
          <a:noFill/>
          <a:ln/>
        </p:spPr>
        <p:txBody>
          <a:bodyPr wrap="square" lIns="0" tIns="0" rIns="0" bIns="0" rtlCol="0" anchor="t">
            <a:normAutofit lnSpcReduction="10000"/>
          </a:bodyPr>
          <a:lstStyle/>
          <a:p>
            <a:pPr marL="0" indent="0" algn="l">
              <a:buNone/>
            </a:pPr>
            <a:r>
              <a:rPr lang="en-US" sz="1350" b="1">
                <a:solidFill>
                  <a:srgbClr val="008FB3"/>
                </a:solidFill>
                <a:latin typeface="+mj-lt"/>
                <a:ea typeface="Times New Roman" pitchFamily="34" charset="-122"/>
                <a:cs typeface="Times New Roman" pitchFamily="34" charset="-120"/>
              </a:rPr>
              <a:t>3. PHƯƠNG </a:t>
            </a:r>
            <a:r>
              <a:rPr lang="en-US" sz="1350" b="1" err="1">
                <a:solidFill>
                  <a:srgbClr val="008FB3"/>
                </a:solidFill>
                <a:latin typeface="+mj-lt"/>
                <a:ea typeface="Times New Roman" pitchFamily="34" charset="-122"/>
                <a:cs typeface="Times New Roman" pitchFamily="34" charset="-120"/>
              </a:rPr>
              <a:t>PHÁ</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ĐỀ</a:t>
            </a:r>
            <a:r>
              <a:rPr lang="en-US" sz="1350" b="1">
                <a:solidFill>
                  <a:srgbClr val="008FB3"/>
                </a:solidFill>
                <a:latin typeface="+mj-lt"/>
                <a:ea typeface="Times New Roman" pitchFamily="34" charset="-122"/>
                <a:cs typeface="Times New Roman" pitchFamily="34" charset="-120"/>
              </a:rPr>
              <a:t> </a:t>
            </a:r>
            <a:r>
              <a:rPr lang="en-US" sz="1350" b="1" err="1">
                <a:solidFill>
                  <a:srgbClr val="008FB3"/>
                </a:solidFill>
                <a:latin typeface="+mj-lt"/>
                <a:ea typeface="Times New Roman" pitchFamily="34" charset="-122"/>
                <a:cs typeface="Times New Roman" pitchFamily="34" charset="-120"/>
              </a:rPr>
              <a:t>XUẤT</a:t>
            </a:r>
            <a:r>
              <a:rPr lang="en-US" sz="1350" b="1">
                <a:solidFill>
                  <a:srgbClr val="008FB3"/>
                </a:solidFill>
                <a:latin typeface="+mj-lt"/>
                <a:ea typeface="Times New Roman" pitchFamily="34" charset="-122"/>
                <a:cs typeface="Times New Roman" pitchFamily="34" charset="-120"/>
              </a:rPr>
              <a:t> – </a:t>
            </a:r>
            <a:r>
              <a:rPr lang="en-US" sz="1350" b="1" err="1">
                <a:solidFill>
                  <a:srgbClr val="008FB3"/>
                </a:solidFill>
                <a:latin typeface="+mj-lt"/>
                <a:ea typeface="Times New Roman" pitchFamily="34" charset="-122"/>
                <a:cs typeface="Times New Roman" pitchFamily="34" charset="-120"/>
              </a:rPr>
              <a:t>AUTOSHOTV2</a:t>
            </a:r>
            <a:endParaRPr lang="en-US" sz="1350">
              <a:latin typeface="+mj-lt"/>
            </a:endParaRPr>
          </a:p>
        </p:txBody>
      </p:sp>
      <p:sp>
        <p:nvSpPr>
          <p:cNvPr id="13" name="Text 6">
            <a:extLst>
              <a:ext uri="{FF2B5EF4-FFF2-40B4-BE49-F238E27FC236}">
                <a16:creationId xmlns:a16="http://schemas.microsoft.com/office/drawing/2014/main" id="{E9187CAC-C02D-AFBC-9F17-AD6EE0A39945}"/>
              </a:ext>
            </a:extLst>
          </p:cNvPr>
          <p:cNvSpPr/>
          <p:nvPr/>
        </p:nvSpPr>
        <p:spPr>
          <a:xfrm>
            <a:off x="698500" y="1696100"/>
            <a:ext cx="5376309" cy="221673"/>
          </a:xfrm>
          <a:prstGeom prst="rect">
            <a:avLst/>
          </a:prstGeom>
          <a:noFill/>
          <a:ln/>
        </p:spPr>
        <p:txBody>
          <a:bodyPr wrap="square" lIns="16933" tIns="16933" rIns="16933" bIns="16933" rtlCol="0" anchor="t">
            <a:noAutofit/>
          </a:bodyPr>
          <a:lstStyle/>
          <a:p>
            <a:r>
              <a:rPr lang="en-US" sz="1400" kern="0" spc="264">
                <a:latin typeface="+mj-lt"/>
                <a:ea typeface="Georgia" pitchFamily="34" charset="-122"/>
                <a:cs typeface="Georgia" pitchFamily="34" charset="-120"/>
              </a:rPr>
              <a:t>A · FOCAL LOSS</a:t>
            </a:r>
            <a:endParaRPr lang="en-US" sz="1400">
              <a:latin typeface="+mj-lt"/>
            </a:endParaRPr>
          </a:p>
        </p:txBody>
      </p:sp>
      <p:sp>
        <p:nvSpPr>
          <p:cNvPr id="15" name="Text 7">
            <a:extLst>
              <a:ext uri="{FF2B5EF4-FFF2-40B4-BE49-F238E27FC236}">
                <a16:creationId xmlns:a16="http://schemas.microsoft.com/office/drawing/2014/main" id="{E762F688-5DC9-8593-2CFD-D7B1B09E38B6}"/>
              </a:ext>
            </a:extLst>
          </p:cNvPr>
          <p:cNvSpPr/>
          <p:nvPr/>
        </p:nvSpPr>
        <p:spPr>
          <a:xfrm>
            <a:off x="698500" y="2044719"/>
            <a:ext cx="5376309" cy="259015"/>
          </a:xfrm>
          <a:prstGeom prst="rect">
            <a:avLst/>
          </a:prstGeom>
          <a:noFill/>
          <a:ln/>
        </p:spPr>
        <p:txBody>
          <a:bodyPr wrap="square" lIns="16933" tIns="16933" rIns="16933" bIns="16933" rtlCol="0" anchor="t">
            <a:noAutofit/>
          </a:bodyPr>
          <a:lstStyle/>
          <a:p>
            <a:pPr>
              <a:lnSpc>
                <a:spcPct val="115000"/>
              </a:lnSpc>
            </a:pPr>
            <a:r>
              <a:rPr lang="en-US" sz="1600" i="1">
                <a:latin typeface="+mj-lt"/>
                <a:ea typeface="Georgia" pitchFamily="34" charset="-122"/>
                <a:cs typeface="Georgia" pitchFamily="34" charset="-120"/>
              </a:rPr>
              <a:t>Giải quyết mất cân bằng lớp</a:t>
            </a:r>
            <a:endParaRPr lang="en-US" sz="1600">
              <a:latin typeface="+mj-lt"/>
            </a:endParaRPr>
          </a:p>
        </p:txBody>
      </p:sp>
      <p:sp>
        <p:nvSpPr>
          <p:cNvPr id="16" name="Shape 8">
            <a:extLst>
              <a:ext uri="{FF2B5EF4-FFF2-40B4-BE49-F238E27FC236}">
                <a16:creationId xmlns:a16="http://schemas.microsoft.com/office/drawing/2014/main" id="{BFA2CD9A-BF5F-0339-F93A-722E9E8116A2}"/>
              </a:ext>
            </a:extLst>
          </p:cNvPr>
          <p:cNvSpPr/>
          <p:nvPr/>
        </p:nvSpPr>
        <p:spPr>
          <a:xfrm>
            <a:off x="698500" y="2468743"/>
            <a:ext cx="5219718" cy="924719"/>
          </a:xfrm>
          <a:prstGeom prst="rect">
            <a:avLst/>
          </a:prstGeom>
          <a:solidFill>
            <a:srgbClr val="FFFFFF"/>
          </a:solidFill>
          <a:ln w="8659">
            <a:solidFill>
              <a:srgbClr val="D8D0BF"/>
            </a:solidFill>
            <a:prstDash val="solid"/>
          </a:ln>
        </p:spPr>
        <p:txBody>
          <a:bodyPr/>
          <a:lstStyle/>
          <a:p>
            <a:endParaRPr lang="en-US" sz="1400">
              <a:latin typeface="+mj-lt"/>
            </a:endParaRPr>
          </a:p>
        </p:txBody>
      </p:sp>
      <p:sp>
        <p:nvSpPr>
          <p:cNvPr id="18" name="Text 9">
            <a:extLst>
              <a:ext uri="{FF2B5EF4-FFF2-40B4-BE49-F238E27FC236}">
                <a16:creationId xmlns:a16="http://schemas.microsoft.com/office/drawing/2014/main" id="{8B746833-2180-67C9-1D9B-08502999DECF}"/>
              </a:ext>
            </a:extLst>
          </p:cNvPr>
          <p:cNvSpPr/>
          <p:nvPr/>
        </p:nvSpPr>
        <p:spPr>
          <a:xfrm>
            <a:off x="835372" y="2652298"/>
            <a:ext cx="4945974" cy="392509"/>
          </a:xfrm>
          <a:prstGeom prst="rect">
            <a:avLst/>
          </a:prstGeom>
          <a:noFill/>
          <a:ln/>
        </p:spPr>
        <p:txBody>
          <a:bodyPr wrap="square" lIns="16933" tIns="16933" rIns="16933" bIns="16933" rtlCol="0" anchor="t">
            <a:normAutofit/>
          </a:bodyPr>
          <a:lstStyle/>
          <a:p>
            <a:pPr algn="ctr">
              <a:lnSpc>
                <a:spcPct val="160000"/>
              </a:lnSpc>
            </a:pPr>
            <a:r>
              <a:rPr lang="en-US" sz="1600">
                <a:latin typeface="+mj-lt"/>
                <a:ea typeface="Georgia" pitchFamily="34" charset="-122"/>
                <a:cs typeface="Georgia" pitchFamily="34" charset="-120"/>
              </a:rPr>
              <a:t>FL(p</a:t>
            </a:r>
            <a:r>
              <a:rPr lang="en-US" sz="1400" baseline="-40000">
                <a:latin typeface="+mj-lt"/>
                <a:ea typeface="Georgia" pitchFamily="34" charset="-122"/>
                <a:cs typeface="Georgia" pitchFamily="34" charset="-120"/>
              </a:rPr>
              <a:t>t </a:t>
            </a:r>
            <a:r>
              <a:rPr lang="en-US" sz="1600">
                <a:latin typeface="+mj-lt"/>
                <a:ea typeface="Georgia" pitchFamily="34" charset="-122"/>
                <a:cs typeface="Georgia" pitchFamily="34" charset="-120"/>
              </a:rPr>
              <a:t>) = −(1 − p</a:t>
            </a:r>
            <a:r>
              <a:rPr lang="en-US" sz="1400" baseline="-40000">
                <a:latin typeface="+mj-lt"/>
                <a:ea typeface="Georgia" pitchFamily="34" charset="-122"/>
                <a:cs typeface="Georgia" pitchFamily="34" charset="-120"/>
              </a:rPr>
              <a:t>t</a:t>
            </a:r>
            <a:r>
              <a:rPr lang="en-US" sz="1600">
                <a:latin typeface="+mj-lt"/>
                <a:ea typeface="Georgia" pitchFamily="34" charset="-122"/>
                <a:cs typeface="Georgia" pitchFamily="34" charset="-120"/>
              </a:rPr>
              <a:t>)</a:t>
            </a:r>
            <a:r>
              <a:rPr lang="en-US" sz="1400" baseline="30000">
                <a:latin typeface="+mj-lt"/>
                <a:ea typeface="Georgia" pitchFamily="34" charset="-122"/>
                <a:cs typeface="Georgia" pitchFamily="34" charset="-120"/>
              </a:rPr>
              <a:t>γ </a:t>
            </a:r>
            <a:r>
              <a:rPr lang="en-US" sz="1600">
                <a:latin typeface="+mj-lt"/>
                <a:ea typeface="Georgia" pitchFamily="34" charset="-122"/>
                <a:cs typeface="Georgia" pitchFamily="34" charset="-120"/>
              </a:rPr>
              <a:t>log p</a:t>
            </a:r>
            <a:r>
              <a:rPr lang="en-US" sz="1400" baseline="-40000">
                <a:latin typeface="+mj-lt"/>
                <a:ea typeface="Georgia" pitchFamily="34" charset="-122"/>
                <a:cs typeface="Georgia" pitchFamily="34" charset="-120"/>
              </a:rPr>
              <a:t>t</a:t>
            </a:r>
            <a:endParaRPr lang="en-US" sz="1600">
              <a:latin typeface="+mj-lt"/>
            </a:endParaRPr>
          </a:p>
        </p:txBody>
      </p:sp>
      <p:sp>
        <p:nvSpPr>
          <p:cNvPr id="19" name="Text 10">
            <a:extLst>
              <a:ext uri="{FF2B5EF4-FFF2-40B4-BE49-F238E27FC236}">
                <a16:creationId xmlns:a16="http://schemas.microsoft.com/office/drawing/2014/main" id="{6F084CAB-C468-2E2D-FFB6-F88FA1FA721F}"/>
              </a:ext>
            </a:extLst>
          </p:cNvPr>
          <p:cNvSpPr/>
          <p:nvPr/>
        </p:nvSpPr>
        <p:spPr>
          <a:xfrm>
            <a:off x="835372" y="3082907"/>
            <a:ext cx="4945974" cy="244426"/>
          </a:xfrm>
          <a:prstGeom prst="rect">
            <a:avLst/>
          </a:prstGeom>
          <a:noFill/>
          <a:ln/>
        </p:spPr>
        <p:txBody>
          <a:bodyPr wrap="square" lIns="16933" tIns="16933" rIns="16933" bIns="16933" rtlCol="0" anchor="t">
            <a:noAutofit/>
          </a:bodyPr>
          <a:lstStyle/>
          <a:p>
            <a:pPr algn="ctr"/>
            <a:r>
              <a:rPr lang="en-US" sz="1400">
                <a:latin typeface="+mj-lt"/>
                <a:ea typeface="Courier New" pitchFamily="34" charset="-122"/>
                <a:cs typeface="Courier New" pitchFamily="34" charset="-120"/>
              </a:rPr>
              <a:t>γ = 2.0 · α = 0.6</a:t>
            </a:r>
            <a:endParaRPr lang="en-US" sz="1400">
              <a:latin typeface="+mj-lt"/>
            </a:endParaRPr>
          </a:p>
        </p:txBody>
      </p:sp>
      <p:sp>
        <p:nvSpPr>
          <p:cNvPr id="20" name="Text 11">
            <a:extLst>
              <a:ext uri="{FF2B5EF4-FFF2-40B4-BE49-F238E27FC236}">
                <a16:creationId xmlns:a16="http://schemas.microsoft.com/office/drawing/2014/main" id="{E42D5590-C04A-B15B-0F06-AF497142DF4D}"/>
              </a:ext>
            </a:extLst>
          </p:cNvPr>
          <p:cNvSpPr/>
          <p:nvPr/>
        </p:nvSpPr>
        <p:spPr>
          <a:xfrm>
            <a:off x="901700" y="3647372"/>
            <a:ext cx="5173109" cy="313225"/>
          </a:xfrm>
          <a:prstGeom prst="rect">
            <a:avLst/>
          </a:prstGeom>
          <a:noFill/>
          <a:ln/>
        </p:spPr>
        <p:txBody>
          <a:bodyPr wrap="square" lIns="16933" tIns="16933" rIns="16933" bIns="16933" rtlCol="0" anchor="t">
            <a:noAutofit/>
          </a:bodyPr>
          <a:lstStyle/>
          <a:p>
            <a:pPr>
              <a:lnSpc>
                <a:spcPct val="142000"/>
              </a:lnSpc>
            </a:pPr>
            <a:r>
              <a:rPr lang="en-US" sz="1600">
                <a:latin typeface="+mj-lt"/>
                <a:ea typeface="Georgia" pitchFamily="34" charset="-122"/>
                <a:cs typeface="Georgia" pitchFamily="34" charset="-120"/>
              </a:rPr>
              <a:t>Giảm trọng số mẫu </a:t>
            </a:r>
            <a:r>
              <a:rPr lang="en-US" sz="1600" b="1">
                <a:latin typeface="+mj-lt"/>
                <a:ea typeface="Georgia" pitchFamily="34" charset="-122"/>
                <a:cs typeface="Georgia" pitchFamily="34" charset="-120"/>
              </a:rPr>
              <a:t>dễ phân loại </a:t>
            </a:r>
            <a:r>
              <a:rPr lang="en-US" sz="1600">
                <a:latin typeface="+mj-lt"/>
                <a:ea typeface="Georgia" pitchFamily="34" charset="-122"/>
                <a:cs typeface="Georgia" pitchFamily="34" charset="-120"/>
              </a:rPr>
              <a:t>(background frames).</a:t>
            </a:r>
            <a:endParaRPr lang="en-US" sz="1600">
              <a:latin typeface="+mj-lt"/>
            </a:endParaRPr>
          </a:p>
        </p:txBody>
      </p:sp>
      <p:sp>
        <p:nvSpPr>
          <p:cNvPr id="21" name="Text 12">
            <a:extLst>
              <a:ext uri="{FF2B5EF4-FFF2-40B4-BE49-F238E27FC236}">
                <a16:creationId xmlns:a16="http://schemas.microsoft.com/office/drawing/2014/main" id="{36675FE4-1A34-BAE1-DC06-86A42DCABE81}"/>
              </a:ext>
            </a:extLst>
          </p:cNvPr>
          <p:cNvSpPr/>
          <p:nvPr/>
        </p:nvSpPr>
        <p:spPr>
          <a:xfrm>
            <a:off x="901700" y="4049478"/>
            <a:ext cx="5173109" cy="583731"/>
          </a:xfrm>
          <a:prstGeom prst="rect">
            <a:avLst/>
          </a:prstGeom>
          <a:noFill/>
          <a:ln/>
        </p:spPr>
        <p:txBody>
          <a:bodyPr wrap="square" lIns="16933" tIns="16933" rIns="16933" bIns="16933" rtlCol="0" anchor="t">
            <a:normAutofit/>
          </a:bodyPr>
          <a:lstStyle/>
          <a:p>
            <a:pPr>
              <a:lnSpc>
                <a:spcPct val="142000"/>
              </a:lnSpc>
            </a:pPr>
            <a:r>
              <a:rPr lang="en-US" sz="1600">
                <a:latin typeface="+mj-lt"/>
                <a:ea typeface="Georgia" pitchFamily="34" charset="-122"/>
                <a:cs typeface="Georgia" pitchFamily="34" charset="-120"/>
              </a:rPr>
              <a:t>Tập trung học các </a:t>
            </a:r>
            <a:r>
              <a:rPr lang="en-US" sz="1600" b="1">
                <a:latin typeface="+mj-lt"/>
                <a:ea typeface="Georgia" pitchFamily="34" charset="-122"/>
                <a:cs typeface="Georgia" pitchFamily="34" charset="-120"/>
              </a:rPr>
              <a:t>chuyển cảnh dần </a:t>
            </a:r>
            <a:r>
              <a:rPr lang="en-US" sz="1600">
                <a:latin typeface="+mj-lt"/>
                <a:ea typeface="Georgia" pitchFamily="34" charset="-122"/>
                <a:cs typeface="Georgia" pitchFamily="34" charset="-120"/>
              </a:rPr>
              <a:t>— vốn là mẫu khó nhất.</a:t>
            </a:r>
            <a:endParaRPr lang="en-US" sz="1600">
              <a:latin typeface="+mj-lt"/>
            </a:endParaRPr>
          </a:p>
        </p:txBody>
      </p:sp>
      <p:sp>
        <p:nvSpPr>
          <p:cNvPr id="22" name="Text 13">
            <a:extLst>
              <a:ext uri="{FF2B5EF4-FFF2-40B4-BE49-F238E27FC236}">
                <a16:creationId xmlns:a16="http://schemas.microsoft.com/office/drawing/2014/main" id="{D956CB50-D49F-1AE7-6BD4-F0E2C0351B7F}"/>
              </a:ext>
            </a:extLst>
          </p:cNvPr>
          <p:cNvSpPr/>
          <p:nvPr/>
        </p:nvSpPr>
        <p:spPr>
          <a:xfrm>
            <a:off x="901700" y="4722091"/>
            <a:ext cx="5173109" cy="295907"/>
          </a:xfrm>
          <a:prstGeom prst="rect">
            <a:avLst/>
          </a:prstGeom>
          <a:noFill/>
          <a:ln/>
        </p:spPr>
        <p:txBody>
          <a:bodyPr wrap="square" lIns="16933" tIns="16933" rIns="16933" bIns="16933" rtlCol="0" anchor="t">
            <a:noAutofit/>
          </a:bodyPr>
          <a:lstStyle/>
          <a:p>
            <a:pPr>
              <a:lnSpc>
                <a:spcPct val="142000"/>
              </a:lnSpc>
            </a:pPr>
            <a:r>
              <a:rPr lang="en-US" sz="1600">
                <a:latin typeface="+mj-lt"/>
                <a:ea typeface="Georgia" pitchFamily="34" charset="-122"/>
                <a:cs typeface="Georgia" pitchFamily="34" charset="-120"/>
              </a:rPr>
              <a:t>Thay thế BCE — không cần kiến trúc mới.</a:t>
            </a:r>
            <a:endParaRPr lang="en-US" sz="1600">
              <a:latin typeface="+mj-lt"/>
            </a:endParaRPr>
          </a:p>
        </p:txBody>
      </p:sp>
      <p:sp>
        <p:nvSpPr>
          <p:cNvPr id="23" name="Text 14">
            <a:extLst>
              <a:ext uri="{FF2B5EF4-FFF2-40B4-BE49-F238E27FC236}">
                <a16:creationId xmlns:a16="http://schemas.microsoft.com/office/drawing/2014/main" id="{0861DE6C-78BC-3ECE-8277-4BE9332F537B}"/>
              </a:ext>
            </a:extLst>
          </p:cNvPr>
          <p:cNvSpPr/>
          <p:nvPr/>
        </p:nvSpPr>
        <p:spPr>
          <a:xfrm>
            <a:off x="6273782" y="1696100"/>
            <a:ext cx="5376309" cy="221673"/>
          </a:xfrm>
          <a:prstGeom prst="rect">
            <a:avLst/>
          </a:prstGeom>
          <a:noFill/>
          <a:ln/>
        </p:spPr>
        <p:txBody>
          <a:bodyPr wrap="square" lIns="16933" tIns="16933" rIns="16933" bIns="16933" rtlCol="0" anchor="t">
            <a:noAutofit/>
          </a:bodyPr>
          <a:lstStyle/>
          <a:p>
            <a:r>
              <a:rPr lang="en-US" sz="1400" kern="0" spc="264">
                <a:latin typeface="+mj-lt"/>
                <a:ea typeface="Georgia" pitchFamily="34" charset="-122"/>
                <a:cs typeface="Georgia" pitchFamily="34" charset="-120"/>
              </a:rPr>
              <a:t>B · MANY-HOT LABELS</a:t>
            </a:r>
            <a:endParaRPr lang="en-US" sz="1400">
              <a:latin typeface="+mj-lt"/>
            </a:endParaRPr>
          </a:p>
        </p:txBody>
      </p:sp>
      <p:sp>
        <p:nvSpPr>
          <p:cNvPr id="24" name="Text 15">
            <a:extLst>
              <a:ext uri="{FF2B5EF4-FFF2-40B4-BE49-F238E27FC236}">
                <a16:creationId xmlns:a16="http://schemas.microsoft.com/office/drawing/2014/main" id="{67FEB5C0-93FE-B733-6EB0-7B05C53BEF2B}"/>
              </a:ext>
            </a:extLst>
          </p:cNvPr>
          <p:cNvSpPr/>
          <p:nvPr/>
        </p:nvSpPr>
        <p:spPr>
          <a:xfrm>
            <a:off x="6273782" y="2044719"/>
            <a:ext cx="5376309" cy="259015"/>
          </a:xfrm>
          <a:prstGeom prst="rect">
            <a:avLst/>
          </a:prstGeom>
          <a:noFill/>
          <a:ln/>
        </p:spPr>
        <p:txBody>
          <a:bodyPr wrap="square" lIns="16933" tIns="16933" rIns="16933" bIns="16933" rtlCol="0" anchor="t">
            <a:noAutofit/>
          </a:bodyPr>
          <a:lstStyle/>
          <a:p>
            <a:pPr>
              <a:lnSpc>
                <a:spcPct val="115000"/>
              </a:lnSpc>
            </a:pPr>
            <a:r>
              <a:rPr lang="en-US" sz="1600" i="1">
                <a:latin typeface="+mj-lt"/>
                <a:ea typeface="Georgia" pitchFamily="34" charset="-122"/>
                <a:cs typeface="Georgia" pitchFamily="34" charset="-120"/>
              </a:rPr>
              <a:t>Làm dày tín hiệu giám sát</a:t>
            </a:r>
            <a:endParaRPr lang="en-US" sz="1600">
              <a:latin typeface="+mj-lt"/>
            </a:endParaRPr>
          </a:p>
        </p:txBody>
      </p:sp>
      <p:pic>
        <p:nvPicPr>
          <p:cNvPr id="25" name="Image 0" descr="preencoded.png">
            <a:extLst>
              <a:ext uri="{FF2B5EF4-FFF2-40B4-BE49-F238E27FC236}">
                <a16:creationId xmlns:a16="http://schemas.microsoft.com/office/drawing/2014/main" id="{A8C785C3-DCE6-D20A-7268-002786B78160}"/>
              </a:ext>
            </a:extLst>
          </p:cNvPr>
          <p:cNvPicPr>
            <a:picLocks noChangeAspect="1"/>
          </p:cNvPicPr>
          <p:nvPr/>
        </p:nvPicPr>
        <p:blipFill>
          <a:blip r:embed="rId3"/>
          <a:stretch>
            <a:fillRect/>
          </a:stretch>
        </p:blipFill>
        <p:spPr>
          <a:xfrm>
            <a:off x="6273782" y="2468743"/>
            <a:ext cx="5219718" cy="1864140"/>
          </a:xfrm>
          <a:prstGeom prst="rect">
            <a:avLst/>
          </a:prstGeom>
        </p:spPr>
      </p:pic>
      <p:sp>
        <p:nvSpPr>
          <p:cNvPr id="26" name="Text 16">
            <a:extLst>
              <a:ext uri="{FF2B5EF4-FFF2-40B4-BE49-F238E27FC236}">
                <a16:creationId xmlns:a16="http://schemas.microsoft.com/office/drawing/2014/main" id="{12470A02-FFF6-436E-7631-11766958F833}"/>
              </a:ext>
            </a:extLst>
          </p:cNvPr>
          <p:cNvSpPr/>
          <p:nvPr/>
        </p:nvSpPr>
        <p:spPr>
          <a:xfrm>
            <a:off x="6476982" y="4561357"/>
            <a:ext cx="5173109" cy="313225"/>
          </a:xfrm>
          <a:prstGeom prst="rect">
            <a:avLst/>
          </a:prstGeom>
          <a:noFill/>
          <a:ln/>
        </p:spPr>
        <p:txBody>
          <a:bodyPr wrap="square" lIns="16933" tIns="16933" rIns="16933" bIns="16933" rtlCol="0" anchor="t">
            <a:noAutofit/>
          </a:bodyPr>
          <a:lstStyle/>
          <a:p>
            <a:pPr>
              <a:lnSpc>
                <a:spcPct val="142000"/>
              </a:lnSpc>
            </a:pPr>
            <a:r>
              <a:rPr lang="en-US" sz="1600">
                <a:latin typeface="+mj-lt"/>
                <a:ea typeface="Georgia" pitchFamily="34" charset="-122"/>
                <a:cs typeface="Georgia" pitchFamily="34" charset="-120"/>
              </a:rPr>
              <a:t>Mở rộng tín hiệu giám sát sang </a:t>
            </a:r>
            <a:r>
              <a:rPr lang="en-US" sz="1600" b="1">
                <a:latin typeface="+mj-lt"/>
                <a:ea typeface="Georgia" pitchFamily="34" charset="-122"/>
                <a:cs typeface="Georgia" pitchFamily="34" charset="-120"/>
              </a:rPr>
              <a:t>khung lân cận </a:t>
            </a:r>
            <a:r>
              <a:rPr lang="en-US" sz="1600">
                <a:latin typeface="+mj-lt"/>
                <a:ea typeface="Georgia" pitchFamily="34" charset="-122"/>
                <a:cs typeface="Georgia" pitchFamily="34" charset="-120"/>
              </a:rPr>
              <a:t>t±1.</a:t>
            </a:r>
            <a:endParaRPr lang="en-US" sz="1600">
              <a:latin typeface="+mj-lt"/>
            </a:endParaRPr>
          </a:p>
        </p:txBody>
      </p:sp>
      <p:sp>
        <p:nvSpPr>
          <p:cNvPr id="27" name="Text 17">
            <a:extLst>
              <a:ext uri="{FF2B5EF4-FFF2-40B4-BE49-F238E27FC236}">
                <a16:creationId xmlns:a16="http://schemas.microsoft.com/office/drawing/2014/main" id="{ED2810B4-293C-F5AE-1D97-F38EFC94EB94}"/>
              </a:ext>
            </a:extLst>
          </p:cNvPr>
          <p:cNvSpPr/>
          <p:nvPr/>
        </p:nvSpPr>
        <p:spPr>
          <a:xfrm>
            <a:off x="6476982" y="4963463"/>
            <a:ext cx="5173109" cy="313225"/>
          </a:xfrm>
          <a:prstGeom prst="rect">
            <a:avLst/>
          </a:prstGeom>
          <a:noFill/>
          <a:ln/>
        </p:spPr>
        <p:txBody>
          <a:bodyPr wrap="square" lIns="16933" tIns="16933" rIns="16933" bIns="16933" rtlCol="0" anchor="t">
            <a:noAutofit/>
          </a:bodyPr>
          <a:lstStyle/>
          <a:p>
            <a:pPr>
              <a:lnSpc>
                <a:spcPct val="142000"/>
              </a:lnSpc>
            </a:pPr>
            <a:r>
              <a:rPr lang="en-US" sz="1600">
                <a:latin typeface="+mj-lt"/>
                <a:ea typeface="Georgia" pitchFamily="34" charset="-122"/>
                <a:cs typeface="Georgia" pitchFamily="34" charset="-120"/>
              </a:rPr>
              <a:t>Cung cấp </a:t>
            </a:r>
            <a:r>
              <a:rPr lang="en-US" sz="1600" b="1">
                <a:latin typeface="+mj-lt"/>
                <a:ea typeface="Georgia" pitchFamily="34" charset="-122"/>
                <a:cs typeface="Georgia" pitchFamily="34" charset="-120"/>
              </a:rPr>
              <a:t>gradient dày đặc hơn </a:t>
            </a:r>
            <a:r>
              <a:rPr lang="en-US" sz="1600">
                <a:latin typeface="+mj-lt"/>
                <a:ea typeface="Georgia" pitchFamily="34" charset="-122"/>
                <a:cs typeface="Georgia" pitchFamily="34" charset="-120"/>
              </a:rPr>
              <a:t>quanh vùng ranh giới.</a:t>
            </a:r>
            <a:endParaRPr lang="en-US" sz="1600">
              <a:latin typeface="+mj-lt"/>
            </a:endParaRPr>
          </a:p>
        </p:txBody>
      </p:sp>
      <p:sp>
        <p:nvSpPr>
          <p:cNvPr id="28" name="Text 18">
            <a:extLst>
              <a:ext uri="{FF2B5EF4-FFF2-40B4-BE49-F238E27FC236}">
                <a16:creationId xmlns:a16="http://schemas.microsoft.com/office/drawing/2014/main" id="{979D3CB9-96A5-48F5-FCC2-BA70359EB8C1}"/>
              </a:ext>
            </a:extLst>
          </p:cNvPr>
          <p:cNvSpPr/>
          <p:nvPr/>
        </p:nvSpPr>
        <p:spPr>
          <a:xfrm>
            <a:off x="6476982" y="5365569"/>
            <a:ext cx="5173109" cy="295907"/>
          </a:xfrm>
          <a:prstGeom prst="rect">
            <a:avLst/>
          </a:prstGeom>
          <a:noFill/>
          <a:ln/>
        </p:spPr>
        <p:txBody>
          <a:bodyPr wrap="square" lIns="16933" tIns="16933" rIns="16933" bIns="16933" rtlCol="0" anchor="t">
            <a:normAutofit fontScale="92500" lnSpcReduction="20000"/>
          </a:bodyPr>
          <a:lstStyle/>
          <a:p>
            <a:pPr>
              <a:lnSpc>
                <a:spcPct val="142000"/>
              </a:lnSpc>
            </a:pPr>
            <a:r>
              <a:rPr lang="en-US" sz="1600">
                <a:latin typeface="+mj-lt"/>
                <a:ea typeface="Georgia" pitchFamily="34" charset="-122"/>
                <a:cs typeface="Georgia" pitchFamily="34" charset="-120"/>
              </a:rPr>
              <a:t>Phù hợp với chuyển cảnh dần (GT) trải qua nhiều khung.</a:t>
            </a:r>
            <a:endParaRPr lang="en-US" sz="1600">
              <a:latin typeface="+mj-lt"/>
            </a:endParaRPr>
          </a:p>
        </p:txBody>
      </p:sp>
    </p:spTree>
    <p:extLst>
      <p:ext uri="{BB962C8B-B14F-4D97-AF65-F5344CB8AC3E}">
        <p14:creationId xmlns:p14="http://schemas.microsoft.com/office/powerpoint/2010/main" val="3785098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BEB44-CD05-9524-A374-67FBAA7368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AA63B63-77D0-AA91-31A4-2344D3AE0470}"/>
              </a:ext>
            </a:extLst>
          </p:cNvPr>
          <p:cNvSpPr/>
          <p:nvPr/>
        </p:nvSpPr>
        <p:spPr>
          <a:xfrm>
            <a:off x="-19104"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3" name="Rectangle 2">
            <a:extLst>
              <a:ext uri="{FF2B5EF4-FFF2-40B4-BE49-F238E27FC236}">
                <a16:creationId xmlns:a16="http://schemas.microsoft.com/office/drawing/2014/main" id="{0EF0BEAF-9210-663C-6CBA-F89AFA7B8D9C}"/>
              </a:ext>
            </a:extLst>
          </p:cNvPr>
          <p:cNvSpPr/>
          <p:nvPr/>
        </p:nvSpPr>
        <p:spPr>
          <a:xfrm>
            <a:off x="0" y="0"/>
            <a:ext cx="164592"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latin typeface="+mj-lt"/>
            </a:endParaRPr>
          </a:p>
        </p:txBody>
      </p:sp>
      <p:sp>
        <p:nvSpPr>
          <p:cNvPr id="5" name="TextBox 4">
            <a:extLst>
              <a:ext uri="{FF2B5EF4-FFF2-40B4-BE49-F238E27FC236}">
                <a16:creationId xmlns:a16="http://schemas.microsoft.com/office/drawing/2014/main" id="{E8EFF720-A384-FC67-F2AE-217E8292A31D}"/>
              </a:ext>
            </a:extLst>
          </p:cNvPr>
          <p:cNvSpPr txBox="1"/>
          <p:nvPr/>
        </p:nvSpPr>
        <p:spPr>
          <a:xfrm>
            <a:off x="548640" y="594360"/>
            <a:ext cx="10972800" cy="954107"/>
          </a:xfrm>
          <a:prstGeom prst="rect">
            <a:avLst/>
          </a:prstGeom>
          <a:noFill/>
        </p:spPr>
        <p:txBody>
          <a:bodyPr wrap="square" lIns="0" tIns="0" rIns="0" bIns="0" anchor="t">
            <a:spAutoFit/>
          </a:bodyPr>
          <a:lstStyle/>
          <a:p>
            <a:r>
              <a:rPr lang="en-US" sz="3200" b="1" kern="0" spc="-48" err="1">
                <a:solidFill>
                  <a:srgbClr val="14110C"/>
                </a:solidFill>
                <a:latin typeface="+mj-lt"/>
                <a:ea typeface="Georgia" pitchFamily="34" charset="-122"/>
                <a:cs typeface="Georgia" pitchFamily="34" charset="-120"/>
              </a:rPr>
              <a:t>Phân</a:t>
            </a:r>
            <a:r>
              <a:rPr lang="en-US" sz="3200" b="1" kern="0" spc="-48">
                <a:solidFill>
                  <a:srgbClr val="14110C"/>
                </a:solidFill>
                <a:latin typeface="+mj-lt"/>
                <a:ea typeface="Georgia" pitchFamily="34" charset="-122"/>
                <a:cs typeface="Georgia" pitchFamily="34" charset="-120"/>
              </a:rPr>
              <a:t> </a:t>
            </a:r>
            <a:r>
              <a:rPr lang="en-US" sz="3200" b="1" kern="0" spc="-48" err="1">
                <a:solidFill>
                  <a:srgbClr val="14110C"/>
                </a:solidFill>
                <a:latin typeface="+mj-lt"/>
                <a:ea typeface="Georgia" pitchFamily="34" charset="-122"/>
                <a:cs typeface="Georgia" pitchFamily="34" charset="-120"/>
              </a:rPr>
              <a:t>tích</a:t>
            </a:r>
            <a:r>
              <a:rPr lang="en-US" sz="3200" b="1" kern="0" spc="-48">
                <a:solidFill>
                  <a:srgbClr val="14110C"/>
                </a:solidFill>
                <a:latin typeface="+mj-lt"/>
                <a:ea typeface="Georgia" pitchFamily="34" charset="-122"/>
                <a:cs typeface="Georgia" pitchFamily="34" charset="-120"/>
              </a:rPr>
              <a:t> kết quả cải thiện</a:t>
            </a:r>
            <a:endParaRPr lang="en-US" sz="3200" b="1">
              <a:latin typeface="+mj-lt"/>
            </a:endParaRPr>
          </a:p>
          <a:p>
            <a:pPr algn="l"/>
            <a:endParaRPr sz="3000" b="1">
              <a:solidFill>
                <a:srgbClr val="1F2A44"/>
              </a:solidFill>
              <a:latin typeface="+mj-lt"/>
            </a:endParaRPr>
          </a:p>
        </p:txBody>
      </p:sp>
      <p:cxnSp>
        <p:nvCxnSpPr>
          <p:cNvPr id="6" name="Connector 5">
            <a:extLst>
              <a:ext uri="{FF2B5EF4-FFF2-40B4-BE49-F238E27FC236}">
                <a16:creationId xmlns:a16="http://schemas.microsoft.com/office/drawing/2014/main" id="{53CA98DD-B1A1-75C2-DF40-79CA9827C51A}"/>
              </a:ext>
            </a:extLst>
          </p:cNvPr>
          <p:cNvCxnSpPr/>
          <p:nvPr/>
        </p:nvCxnSpPr>
        <p:spPr>
          <a:xfrm>
            <a:off x="548640" y="1325880"/>
            <a:ext cx="11091672" cy="0"/>
          </a:xfrm>
          <a:prstGeom prst="line">
            <a:avLst/>
          </a:prstGeom>
          <a:ln w="9525">
            <a:solidFill>
              <a:srgbClr val="E1E6EE"/>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6F21D7C8-4CCF-241B-D990-500AC1E5BDD9}"/>
              </a:ext>
            </a:extLst>
          </p:cNvPr>
          <p:cNvCxnSpPr/>
          <p:nvPr/>
        </p:nvCxnSpPr>
        <p:spPr>
          <a:xfrm>
            <a:off x="548640" y="6537960"/>
            <a:ext cx="11091672" cy="0"/>
          </a:xfrm>
          <a:prstGeom prst="line">
            <a:avLst/>
          </a:prstGeom>
          <a:ln w="6350">
            <a:solidFill>
              <a:srgbClr val="E1E6EE"/>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0EA20E5-034F-9E8E-DC2B-8455B01A001F}"/>
              </a:ext>
            </a:extLst>
          </p:cNvPr>
          <p:cNvSpPr txBox="1"/>
          <p:nvPr/>
        </p:nvSpPr>
        <p:spPr>
          <a:xfrm>
            <a:off x="10515600" y="6583680"/>
            <a:ext cx="1124712" cy="138499"/>
          </a:xfrm>
          <a:prstGeom prst="rect">
            <a:avLst/>
          </a:prstGeom>
          <a:noFill/>
        </p:spPr>
        <p:txBody>
          <a:bodyPr wrap="square" lIns="0" tIns="0" rIns="0" bIns="0" anchor="t">
            <a:spAutoFit/>
          </a:bodyPr>
          <a:lstStyle/>
          <a:p>
            <a:pPr algn="r"/>
            <a:r>
              <a:rPr sz="900" b="0">
                <a:solidFill>
                  <a:srgbClr val="5B6B85"/>
                </a:solidFill>
                <a:latin typeface="+mj-lt"/>
              </a:rPr>
              <a:t>22 / 25</a:t>
            </a:r>
          </a:p>
        </p:txBody>
      </p:sp>
      <p:sp>
        <p:nvSpPr>
          <p:cNvPr id="8" name="TextBox 7">
            <a:extLst>
              <a:ext uri="{FF2B5EF4-FFF2-40B4-BE49-F238E27FC236}">
                <a16:creationId xmlns:a16="http://schemas.microsoft.com/office/drawing/2014/main" id="{35A454AA-C21C-D70F-8F6D-B7BB8AA3B13C}"/>
              </a:ext>
            </a:extLst>
          </p:cNvPr>
          <p:cNvSpPr txBox="1"/>
          <p:nvPr/>
        </p:nvSpPr>
        <p:spPr>
          <a:xfrm>
            <a:off x="548640" y="320040"/>
            <a:ext cx="9144000" cy="215444"/>
          </a:xfrm>
          <a:prstGeom prst="rect">
            <a:avLst/>
          </a:prstGeom>
          <a:noFill/>
        </p:spPr>
        <p:txBody>
          <a:bodyPr wrap="square" lIns="0" tIns="0" rIns="0" bIns="0" anchor="t">
            <a:spAutoFit/>
          </a:bodyPr>
          <a:lstStyle/>
          <a:p>
            <a:pPr algn="l"/>
            <a:r>
              <a:rPr lang="en-US" sz="1400" b="1">
                <a:solidFill>
                  <a:srgbClr val="0891B2"/>
                </a:solidFill>
                <a:latin typeface="+mj-lt"/>
              </a:rPr>
              <a:t>4. </a:t>
            </a:r>
            <a:r>
              <a:rPr lang="en-US" sz="1400" b="1" err="1">
                <a:solidFill>
                  <a:srgbClr val="0891B2"/>
                </a:solidFill>
                <a:latin typeface="+mj-lt"/>
              </a:rPr>
              <a:t>THỰC</a:t>
            </a:r>
            <a:r>
              <a:rPr lang="en-US" sz="1400" b="1">
                <a:solidFill>
                  <a:srgbClr val="0891B2"/>
                </a:solidFill>
                <a:latin typeface="+mj-lt"/>
              </a:rPr>
              <a:t> </a:t>
            </a:r>
            <a:r>
              <a:rPr lang="en-US" sz="1400" b="1" err="1">
                <a:solidFill>
                  <a:srgbClr val="0891B2"/>
                </a:solidFill>
                <a:latin typeface="+mj-lt"/>
              </a:rPr>
              <a:t>NGHIỆM</a:t>
            </a:r>
            <a:r>
              <a:rPr lang="en-US" sz="1400" b="1">
                <a:solidFill>
                  <a:srgbClr val="0891B2"/>
                </a:solidFill>
                <a:latin typeface="+mj-lt"/>
              </a:rPr>
              <a:t> </a:t>
            </a:r>
            <a:r>
              <a:rPr lang="en-US" sz="1400" b="1" err="1">
                <a:solidFill>
                  <a:srgbClr val="0891B2"/>
                </a:solidFill>
                <a:latin typeface="+mj-lt"/>
              </a:rPr>
              <a:t>VÀ</a:t>
            </a:r>
            <a:r>
              <a:rPr lang="en-US" sz="1400" b="1">
                <a:solidFill>
                  <a:srgbClr val="0891B2"/>
                </a:solidFill>
                <a:latin typeface="+mj-lt"/>
              </a:rPr>
              <a:t> </a:t>
            </a:r>
            <a:r>
              <a:rPr lang="en-US" sz="1400" b="1" err="1">
                <a:solidFill>
                  <a:srgbClr val="0891B2"/>
                </a:solidFill>
                <a:latin typeface="+mj-lt"/>
              </a:rPr>
              <a:t>KẾT</a:t>
            </a:r>
            <a:r>
              <a:rPr lang="en-US" sz="1400" b="1">
                <a:solidFill>
                  <a:srgbClr val="0891B2"/>
                </a:solidFill>
                <a:latin typeface="+mj-lt"/>
              </a:rPr>
              <a:t> </a:t>
            </a:r>
            <a:r>
              <a:rPr lang="en-US" sz="1400" b="1" err="1">
                <a:solidFill>
                  <a:srgbClr val="0891B2"/>
                </a:solidFill>
                <a:latin typeface="+mj-lt"/>
              </a:rPr>
              <a:t>QUẢ</a:t>
            </a:r>
            <a:r>
              <a:rPr lang="en-US" sz="1400" b="1">
                <a:solidFill>
                  <a:srgbClr val="0891B2"/>
                </a:solidFill>
                <a:latin typeface="+mj-lt"/>
              </a:rPr>
              <a:t> </a:t>
            </a:r>
            <a:endParaRPr sz="1400" b="1">
              <a:solidFill>
                <a:srgbClr val="0891B2"/>
              </a:solidFill>
              <a:latin typeface="+mj-lt"/>
            </a:endParaRPr>
          </a:p>
        </p:txBody>
      </p:sp>
      <p:sp>
        <p:nvSpPr>
          <p:cNvPr id="4" name="Text 6">
            <a:extLst>
              <a:ext uri="{FF2B5EF4-FFF2-40B4-BE49-F238E27FC236}">
                <a16:creationId xmlns:a16="http://schemas.microsoft.com/office/drawing/2014/main" id="{803C9344-488A-30AA-FF72-7C42F68E0386}"/>
              </a:ext>
            </a:extLst>
          </p:cNvPr>
          <p:cNvSpPr/>
          <p:nvPr/>
        </p:nvSpPr>
        <p:spPr>
          <a:xfrm>
            <a:off x="698500" y="1543753"/>
            <a:ext cx="11118850" cy="337759"/>
          </a:xfrm>
          <a:prstGeom prst="rect">
            <a:avLst/>
          </a:prstGeom>
          <a:noFill/>
          <a:ln/>
        </p:spPr>
        <p:txBody>
          <a:bodyPr wrap="square" lIns="16933" tIns="16933" rIns="16933" bIns="16933" rtlCol="0" anchor="t">
            <a:noAutofit/>
          </a:bodyPr>
          <a:lstStyle/>
          <a:p>
            <a:pPr>
              <a:lnSpc>
                <a:spcPct val="142000"/>
              </a:lnSpc>
            </a:pPr>
            <a:r>
              <a:rPr lang="en-US">
                <a:latin typeface="+mj-lt"/>
                <a:ea typeface="Georgia" pitchFamily="34" charset="-122"/>
                <a:cs typeface="Georgia" pitchFamily="34" charset="-120"/>
              </a:rPr>
              <a:t>Mỗi thành phần đóng góp một mức cải thiện nhỏ và ổn định — các kỹ thuật </a:t>
            </a:r>
            <a:r>
              <a:rPr lang="en-US" i="1">
                <a:latin typeface="+mj-lt"/>
                <a:ea typeface="Georgia" pitchFamily="34" charset="-122"/>
                <a:cs typeface="Georgia" pitchFamily="34" charset="-120"/>
              </a:rPr>
              <a:t>bổ sung lẫn nhau</a:t>
            </a:r>
            <a:r>
              <a:rPr lang="en-US">
                <a:latin typeface="+mj-lt"/>
                <a:ea typeface="Georgia" pitchFamily="34" charset="-122"/>
                <a:cs typeface="Georgia" pitchFamily="34" charset="-120"/>
              </a:rPr>
              <a:t>, không trùng lặp.</a:t>
            </a:r>
            <a:endParaRPr lang="en-US">
              <a:latin typeface="+mj-lt"/>
            </a:endParaRPr>
          </a:p>
        </p:txBody>
      </p:sp>
      <p:sp>
        <p:nvSpPr>
          <p:cNvPr id="42" name="Shape 7">
            <a:extLst>
              <a:ext uri="{FF2B5EF4-FFF2-40B4-BE49-F238E27FC236}">
                <a16:creationId xmlns:a16="http://schemas.microsoft.com/office/drawing/2014/main" id="{0458764F-1128-3B4F-3F3F-054F9D8D391F}"/>
              </a:ext>
            </a:extLst>
          </p:cNvPr>
          <p:cNvSpPr/>
          <p:nvPr/>
        </p:nvSpPr>
        <p:spPr>
          <a:xfrm>
            <a:off x="698500" y="2478846"/>
            <a:ext cx="755596" cy="6350"/>
          </a:xfrm>
          <a:prstGeom prst="rect">
            <a:avLst/>
          </a:prstGeom>
          <a:solidFill>
            <a:srgbClr val="8C6A23"/>
          </a:solidFill>
          <a:ln/>
        </p:spPr>
        <p:txBody>
          <a:bodyPr/>
          <a:lstStyle/>
          <a:p>
            <a:endParaRPr lang="en-US" sz="1400">
              <a:latin typeface="+mj-lt"/>
            </a:endParaRPr>
          </a:p>
        </p:txBody>
      </p:sp>
      <p:sp>
        <p:nvSpPr>
          <p:cNvPr id="43" name="Text 8">
            <a:extLst>
              <a:ext uri="{FF2B5EF4-FFF2-40B4-BE49-F238E27FC236}">
                <a16:creationId xmlns:a16="http://schemas.microsoft.com/office/drawing/2014/main" id="{967C2E2F-C9C9-A6B0-7071-3EB4925FC8DD}"/>
              </a:ext>
            </a:extLst>
          </p:cNvPr>
          <p:cNvSpPr/>
          <p:nvPr/>
        </p:nvSpPr>
        <p:spPr>
          <a:xfrm>
            <a:off x="800100" y="2173576"/>
            <a:ext cx="603196" cy="241769"/>
          </a:xfrm>
          <a:prstGeom prst="rect">
            <a:avLst/>
          </a:prstGeom>
          <a:noFill/>
          <a:ln/>
        </p:spPr>
        <p:txBody>
          <a:bodyPr wrap="square" lIns="16933" tIns="16933" rIns="16933" bIns="16933" rtlCol="0" anchor="ctr">
            <a:noAutofit/>
          </a:bodyPr>
          <a:lstStyle/>
          <a:p>
            <a:r>
              <a:rPr lang="en-US" sz="1400" i="1">
                <a:latin typeface="+mj-lt"/>
                <a:ea typeface="Georgia" pitchFamily="34" charset="-122"/>
                <a:cs typeface="Georgia" pitchFamily="34" charset="-120"/>
              </a:rPr>
              <a:t>#</a:t>
            </a:r>
            <a:endParaRPr lang="en-US" sz="1400">
              <a:latin typeface="+mj-lt"/>
            </a:endParaRPr>
          </a:p>
        </p:txBody>
      </p:sp>
      <p:sp>
        <p:nvSpPr>
          <p:cNvPr id="44" name="Shape 9">
            <a:extLst>
              <a:ext uri="{FF2B5EF4-FFF2-40B4-BE49-F238E27FC236}">
                <a16:creationId xmlns:a16="http://schemas.microsoft.com/office/drawing/2014/main" id="{DFD96692-FFBC-CF59-DFBC-2F42BEFD2AB0}"/>
              </a:ext>
            </a:extLst>
          </p:cNvPr>
          <p:cNvSpPr/>
          <p:nvPr/>
        </p:nvSpPr>
        <p:spPr>
          <a:xfrm>
            <a:off x="1454097" y="2478846"/>
            <a:ext cx="7012059" cy="6350"/>
          </a:xfrm>
          <a:prstGeom prst="rect">
            <a:avLst/>
          </a:prstGeom>
          <a:solidFill>
            <a:srgbClr val="8C6A23"/>
          </a:solidFill>
          <a:ln/>
        </p:spPr>
        <p:txBody>
          <a:bodyPr/>
          <a:lstStyle/>
          <a:p>
            <a:endParaRPr lang="en-US" sz="1400">
              <a:latin typeface="+mj-lt"/>
            </a:endParaRPr>
          </a:p>
        </p:txBody>
      </p:sp>
      <p:sp>
        <p:nvSpPr>
          <p:cNvPr id="45" name="Text 10">
            <a:extLst>
              <a:ext uri="{FF2B5EF4-FFF2-40B4-BE49-F238E27FC236}">
                <a16:creationId xmlns:a16="http://schemas.microsoft.com/office/drawing/2014/main" id="{2632C3E4-9C02-1BF9-5E90-227AE2899DC6}"/>
              </a:ext>
            </a:extLst>
          </p:cNvPr>
          <p:cNvSpPr/>
          <p:nvPr/>
        </p:nvSpPr>
        <p:spPr>
          <a:xfrm>
            <a:off x="1555696" y="2173576"/>
            <a:ext cx="7019221" cy="241769"/>
          </a:xfrm>
          <a:prstGeom prst="rect">
            <a:avLst/>
          </a:prstGeom>
          <a:noFill/>
          <a:ln/>
        </p:spPr>
        <p:txBody>
          <a:bodyPr wrap="square" lIns="16933" tIns="16933" rIns="16933" bIns="16933" rtlCol="0" anchor="ctr">
            <a:noAutofit/>
          </a:bodyPr>
          <a:lstStyle/>
          <a:p>
            <a:r>
              <a:rPr lang="en-US" sz="1400" i="1">
                <a:latin typeface="+mj-lt"/>
                <a:ea typeface="Georgia" pitchFamily="34" charset="-122"/>
                <a:cs typeface="Georgia" pitchFamily="34" charset="-120"/>
              </a:rPr>
              <a:t>Cấu hình</a:t>
            </a:r>
            <a:endParaRPr lang="en-US" sz="1400">
              <a:latin typeface="+mj-lt"/>
            </a:endParaRPr>
          </a:p>
        </p:txBody>
      </p:sp>
      <p:sp>
        <p:nvSpPr>
          <p:cNvPr id="46" name="Shape 11">
            <a:extLst>
              <a:ext uri="{FF2B5EF4-FFF2-40B4-BE49-F238E27FC236}">
                <a16:creationId xmlns:a16="http://schemas.microsoft.com/office/drawing/2014/main" id="{E8068267-EA06-7222-9D3F-FF863BDC6AE4}"/>
              </a:ext>
            </a:extLst>
          </p:cNvPr>
          <p:cNvSpPr/>
          <p:nvPr/>
        </p:nvSpPr>
        <p:spPr>
          <a:xfrm>
            <a:off x="8466155" y="2478846"/>
            <a:ext cx="1018255" cy="6350"/>
          </a:xfrm>
          <a:prstGeom prst="rect">
            <a:avLst/>
          </a:prstGeom>
          <a:solidFill>
            <a:srgbClr val="8C6A23"/>
          </a:solidFill>
          <a:ln/>
        </p:spPr>
        <p:txBody>
          <a:bodyPr/>
          <a:lstStyle/>
          <a:p>
            <a:endParaRPr lang="en-US" sz="1400">
              <a:latin typeface="+mj-lt"/>
            </a:endParaRPr>
          </a:p>
        </p:txBody>
      </p:sp>
      <p:sp>
        <p:nvSpPr>
          <p:cNvPr id="47" name="Text 12">
            <a:extLst>
              <a:ext uri="{FF2B5EF4-FFF2-40B4-BE49-F238E27FC236}">
                <a16:creationId xmlns:a16="http://schemas.microsoft.com/office/drawing/2014/main" id="{634F39A8-DA28-5234-112A-77EC39F950FD}"/>
              </a:ext>
            </a:extLst>
          </p:cNvPr>
          <p:cNvSpPr/>
          <p:nvPr/>
        </p:nvSpPr>
        <p:spPr>
          <a:xfrm>
            <a:off x="8516955" y="2173576"/>
            <a:ext cx="865855" cy="241769"/>
          </a:xfrm>
          <a:prstGeom prst="rect">
            <a:avLst/>
          </a:prstGeom>
          <a:noFill/>
          <a:ln/>
        </p:spPr>
        <p:txBody>
          <a:bodyPr wrap="square" lIns="16933" tIns="16933" rIns="16933" bIns="16933" rtlCol="0" anchor="ctr">
            <a:noAutofit/>
          </a:bodyPr>
          <a:lstStyle/>
          <a:p>
            <a:pPr algn="r"/>
            <a:r>
              <a:rPr lang="en-US" sz="1400" i="1">
                <a:latin typeface="+mj-lt"/>
                <a:ea typeface="Courier New" pitchFamily="34" charset="-122"/>
                <a:cs typeface="Courier New" pitchFamily="34" charset="-120"/>
              </a:rPr>
              <a:t>F1</a:t>
            </a:r>
            <a:endParaRPr lang="en-US" sz="1400">
              <a:latin typeface="+mj-lt"/>
            </a:endParaRPr>
          </a:p>
        </p:txBody>
      </p:sp>
      <p:sp>
        <p:nvSpPr>
          <p:cNvPr id="48" name="Shape 13">
            <a:extLst>
              <a:ext uri="{FF2B5EF4-FFF2-40B4-BE49-F238E27FC236}">
                <a16:creationId xmlns:a16="http://schemas.microsoft.com/office/drawing/2014/main" id="{35E4B41C-F22D-40C4-FEBA-95B53EC2B7EC}"/>
              </a:ext>
            </a:extLst>
          </p:cNvPr>
          <p:cNvSpPr/>
          <p:nvPr/>
        </p:nvSpPr>
        <p:spPr>
          <a:xfrm>
            <a:off x="9484410" y="2478846"/>
            <a:ext cx="2009089" cy="6350"/>
          </a:xfrm>
          <a:prstGeom prst="rect">
            <a:avLst/>
          </a:prstGeom>
          <a:solidFill>
            <a:srgbClr val="8C6A23"/>
          </a:solidFill>
          <a:ln/>
        </p:spPr>
        <p:txBody>
          <a:bodyPr/>
          <a:lstStyle/>
          <a:p>
            <a:endParaRPr lang="en-US" sz="1400">
              <a:latin typeface="+mj-lt"/>
            </a:endParaRPr>
          </a:p>
        </p:txBody>
      </p:sp>
      <p:sp>
        <p:nvSpPr>
          <p:cNvPr id="49" name="Text 14">
            <a:extLst>
              <a:ext uri="{FF2B5EF4-FFF2-40B4-BE49-F238E27FC236}">
                <a16:creationId xmlns:a16="http://schemas.microsoft.com/office/drawing/2014/main" id="{A04046AB-0E77-3506-7587-71BC8550FEFD}"/>
              </a:ext>
            </a:extLst>
          </p:cNvPr>
          <p:cNvSpPr/>
          <p:nvPr/>
        </p:nvSpPr>
        <p:spPr>
          <a:xfrm>
            <a:off x="9525738" y="2173576"/>
            <a:ext cx="1866162" cy="241769"/>
          </a:xfrm>
          <a:prstGeom prst="rect">
            <a:avLst/>
          </a:prstGeom>
          <a:noFill/>
          <a:ln/>
        </p:spPr>
        <p:txBody>
          <a:bodyPr wrap="square" lIns="16933" tIns="16933" rIns="16933" bIns="16933" rtlCol="0" anchor="ctr">
            <a:noAutofit/>
          </a:bodyPr>
          <a:lstStyle/>
          <a:p>
            <a:pPr algn="r"/>
            <a:r>
              <a:rPr lang="en-US" sz="1400" i="1">
                <a:latin typeface="+mj-lt"/>
                <a:ea typeface="Courier New" pitchFamily="34" charset="-122"/>
                <a:cs typeface="Courier New" pitchFamily="34" charset="-120"/>
              </a:rPr>
              <a:t>Δ vs. AutoShot</a:t>
            </a:r>
            <a:endParaRPr lang="en-US" sz="1400">
              <a:latin typeface="+mj-lt"/>
            </a:endParaRPr>
          </a:p>
        </p:txBody>
      </p:sp>
      <p:sp>
        <p:nvSpPr>
          <p:cNvPr id="50" name="Shape 15">
            <a:extLst>
              <a:ext uri="{FF2B5EF4-FFF2-40B4-BE49-F238E27FC236}">
                <a16:creationId xmlns:a16="http://schemas.microsoft.com/office/drawing/2014/main" id="{61C7DAE7-2A96-8FDD-8AC3-7DDCE5AC088E}"/>
              </a:ext>
            </a:extLst>
          </p:cNvPr>
          <p:cNvSpPr/>
          <p:nvPr/>
        </p:nvSpPr>
        <p:spPr>
          <a:xfrm>
            <a:off x="698500" y="2926773"/>
            <a:ext cx="755596" cy="6350"/>
          </a:xfrm>
          <a:prstGeom prst="rect">
            <a:avLst/>
          </a:prstGeom>
          <a:solidFill>
            <a:srgbClr val="D8D0BF"/>
          </a:solidFill>
          <a:ln/>
        </p:spPr>
        <p:txBody>
          <a:bodyPr/>
          <a:lstStyle/>
          <a:p>
            <a:endParaRPr lang="en-US" sz="1400">
              <a:latin typeface="+mj-lt"/>
            </a:endParaRPr>
          </a:p>
        </p:txBody>
      </p:sp>
      <p:sp>
        <p:nvSpPr>
          <p:cNvPr id="51" name="Text 16">
            <a:extLst>
              <a:ext uri="{FF2B5EF4-FFF2-40B4-BE49-F238E27FC236}">
                <a16:creationId xmlns:a16="http://schemas.microsoft.com/office/drawing/2014/main" id="{5F7A850E-DA9E-07CC-8036-5A7F253CA87C}"/>
              </a:ext>
            </a:extLst>
          </p:cNvPr>
          <p:cNvSpPr/>
          <p:nvPr/>
        </p:nvSpPr>
        <p:spPr>
          <a:xfrm>
            <a:off x="800100" y="2598918"/>
            <a:ext cx="603196" cy="238955"/>
          </a:xfrm>
          <a:prstGeom prst="rect">
            <a:avLst/>
          </a:prstGeom>
          <a:noFill/>
          <a:ln/>
        </p:spPr>
        <p:txBody>
          <a:bodyPr wrap="square" lIns="16933" tIns="16933" rIns="16933" bIns="16933" rtlCol="0" anchor="ctr">
            <a:noAutofit/>
          </a:bodyPr>
          <a:lstStyle/>
          <a:p>
            <a:r>
              <a:rPr lang="en-US" sz="1400">
                <a:latin typeface="+mj-lt"/>
                <a:ea typeface="Georgia" pitchFamily="34" charset="-122"/>
                <a:cs typeface="Georgia" pitchFamily="34" charset="-120"/>
              </a:rPr>
              <a:t>0</a:t>
            </a:r>
            <a:endParaRPr lang="en-US" sz="1400">
              <a:latin typeface="+mj-lt"/>
            </a:endParaRPr>
          </a:p>
        </p:txBody>
      </p:sp>
      <p:sp>
        <p:nvSpPr>
          <p:cNvPr id="52" name="Shape 17">
            <a:extLst>
              <a:ext uri="{FF2B5EF4-FFF2-40B4-BE49-F238E27FC236}">
                <a16:creationId xmlns:a16="http://schemas.microsoft.com/office/drawing/2014/main" id="{3C747AF0-AE78-4CB9-86FA-67AE1A36AF81}"/>
              </a:ext>
            </a:extLst>
          </p:cNvPr>
          <p:cNvSpPr/>
          <p:nvPr/>
        </p:nvSpPr>
        <p:spPr>
          <a:xfrm>
            <a:off x="1454097" y="2926773"/>
            <a:ext cx="7012059" cy="6350"/>
          </a:xfrm>
          <a:prstGeom prst="rect">
            <a:avLst/>
          </a:prstGeom>
          <a:solidFill>
            <a:srgbClr val="D8D0BF"/>
          </a:solidFill>
          <a:ln/>
        </p:spPr>
        <p:txBody>
          <a:bodyPr/>
          <a:lstStyle/>
          <a:p>
            <a:endParaRPr lang="en-US" sz="1400">
              <a:latin typeface="+mj-lt"/>
            </a:endParaRPr>
          </a:p>
        </p:txBody>
      </p:sp>
      <p:sp>
        <p:nvSpPr>
          <p:cNvPr id="53" name="Text 18">
            <a:extLst>
              <a:ext uri="{FF2B5EF4-FFF2-40B4-BE49-F238E27FC236}">
                <a16:creationId xmlns:a16="http://schemas.microsoft.com/office/drawing/2014/main" id="{B418D84F-A029-D0EB-47C9-8B1AA1906186}"/>
              </a:ext>
            </a:extLst>
          </p:cNvPr>
          <p:cNvSpPr/>
          <p:nvPr/>
        </p:nvSpPr>
        <p:spPr>
          <a:xfrm>
            <a:off x="1555696" y="2598918"/>
            <a:ext cx="7019221" cy="238955"/>
          </a:xfrm>
          <a:prstGeom prst="rect">
            <a:avLst/>
          </a:prstGeom>
          <a:noFill/>
          <a:ln/>
        </p:spPr>
        <p:txBody>
          <a:bodyPr wrap="square" lIns="16933" tIns="16933" rIns="16933" bIns="16933" rtlCol="0" anchor="ctr">
            <a:noAutofit/>
          </a:bodyPr>
          <a:lstStyle/>
          <a:p>
            <a:r>
              <a:rPr lang="en-US" sz="1400">
                <a:latin typeface="+mj-lt"/>
                <a:ea typeface="Georgia" pitchFamily="34" charset="-122"/>
                <a:cs typeface="Georgia" pitchFamily="34" charset="-120"/>
              </a:rPr>
              <a:t>AutoShot gốc · baseline kế thừa</a:t>
            </a:r>
            <a:endParaRPr lang="en-US" sz="1400">
              <a:latin typeface="+mj-lt"/>
            </a:endParaRPr>
          </a:p>
        </p:txBody>
      </p:sp>
      <p:sp>
        <p:nvSpPr>
          <p:cNvPr id="54" name="Shape 19">
            <a:extLst>
              <a:ext uri="{FF2B5EF4-FFF2-40B4-BE49-F238E27FC236}">
                <a16:creationId xmlns:a16="http://schemas.microsoft.com/office/drawing/2014/main" id="{3DD3E073-C625-AE57-2883-F551220C19AE}"/>
              </a:ext>
            </a:extLst>
          </p:cNvPr>
          <p:cNvSpPr/>
          <p:nvPr/>
        </p:nvSpPr>
        <p:spPr>
          <a:xfrm>
            <a:off x="8466155" y="2926773"/>
            <a:ext cx="1018255" cy="6350"/>
          </a:xfrm>
          <a:prstGeom prst="rect">
            <a:avLst/>
          </a:prstGeom>
          <a:solidFill>
            <a:srgbClr val="D8D0BF"/>
          </a:solidFill>
          <a:ln/>
        </p:spPr>
        <p:txBody>
          <a:bodyPr/>
          <a:lstStyle/>
          <a:p>
            <a:endParaRPr lang="en-US" sz="1400">
              <a:latin typeface="+mj-lt"/>
            </a:endParaRPr>
          </a:p>
        </p:txBody>
      </p:sp>
      <p:sp>
        <p:nvSpPr>
          <p:cNvPr id="55" name="Text 20">
            <a:extLst>
              <a:ext uri="{FF2B5EF4-FFF2-40B4-BE49-F238E27FC236}">
                <a16:creationId xmlns:a16="http://schemas.microsoft.com/office/drawing/2014/main" id="{A441766F-75E2-7EDD-6157-43BE4E001132}"/>
              </a:ext>
            </a:extLst>
          </p:cNvPr>
          <p:cNvSpPr/>
          <p:nvPr/>
        </p:nvSpPr>
        <p:spPr>
          <a:xfrm>
            <a:off x="8516955" y="2598918"/>
            <a:ext cx="865855" cy="238955"/>
          </a:xfrm>
          <a:prstGeom prst="rect">
            <a:avLst/>
          </a:prstGeom>
          <a:noFill/>
          <a:ln/>
        </p:spPr>
        <p:txBody>
          <a:bodyPr wrap="square" lIns="16933" tIns="16933" rIns="16933" bIns="16933" rtlCol="0" anchor="ctr">
            <a:noAutofit/>
          </a:bodyPr>
          <a:lstStyle/>
          <a:p>
            <a:pPr algn="r"/>
            <a:r>
              <a:rPr lang="en-US" sz="1400">
                <a:latin typeface="+mj-lt"/>
                <a:ea typeface="Courier New" pitchFamily="34" charset="-122"/>
                <a:cs typeface="Courier New" pitchFamily="34" charset="-120"/>
              </a:rPr>
              <a:t>0.840</a:t>
            </a:r>
            <a:endParaRPr lang="en-US" sz="1400">
              <a:latin typeface="+mj-lt"/>
            </a:endParaRPr>
          </a:p>
        </p:txBody>
      </p:sp>
      <p:sp>
        <p:nvSpPr>
          <p:cNvPr id="56" name="Shape 21">
            <a:extLst>
              <a:ext uri="{FF2B5EF4-FFF2-40B4-BE49-F238E27FC236}">
                <a16:creationId xmlns:a16="http://schemas.microsoft.com/office/drawing/2014/main" id="{9DDCAD1A-24C4-5079-663E-BB4E25FC6CFC}"/>
              </a:ext>
            </a:extLst>
          </p:cNvPr>
          <p:cNvSpPr/>
          <p:nvPr/>
        </p:nvSpPr>
        <p:spPr>
          <a:xfrm>
            <a:off x="9484410" y="2926773"/>
            <a:ext cx="2009089" cy="6350"/>
          </a:xfrm>
          <a:prstGeom prst="rect">
            <a:avLst/>
          </a:prstGeom>
          <a:solidFill>
            <a:srgbClr val="D8D0BF"/>
          </a:solidFill>
          <a:ln/>
        </p:spPr>
        <p:txBody>
          <a:bodyPr/>
          <a:lstStyle/>
          <a:p>
            <a:endParaRPr lang="en-US" sz="1400">
              <a:latin typeface="+mj-lt"/>
            </a:endParaRPr>
          </a:p>
        </p:txBody>
      </p:sp>
      <p:sp>
        <p:nvSpPr>
          <p:cNvPr id="57" name="Text 22">
            <a:extLst>
              <a:ext uri="{FF2B5EF4-FFF2-40B4-BE49-F238E27FC236}">
                <a16:creationId xmlns:a16="http://schemas.microsoft.com/office/drawing/2014/main" id="{20DDBF03-393A-8F66-E0E5-4D6FDB1CAC8B}"/>
              </a:ext>
            </a:extLst>
          </p:cNvPr>
          <p:cNvSpPr/>
          <p:nvPr/>
        </p:nvSpPr>
        <p:spPr>
          <a:xfrm>
            <a:off x="9525738" y="2598918"/>
            <a:ext cx="1866162" cy="238955"/>
          </a:xfrm>
          <a:prstGeom prst="rect">
            <a:avLst/>
          </a:prstGeom>
          <a:noFill/>
          <a:ln/>
        </p:spPr>
        <p:txBody>
          <a:bodyPr wrap="square" lIns="16933" tIns="16933" rIns="16933" bIns="16933" rtlCol="0" anchor="ctr">
            <a:noAutofit/>
          </a:bodyPr>
          <a:lstStyle/>
          <a:p>
            <a:pPr algn="r"/>
            <a:r>
              <a:rPr lang="en-US" sz="1400">
                <a:latin typeface="+mj-lt"/>
                <a:ea typeface="Courier New" pitchFamily="34" charset="-122"/>
                <a:cs typeface="Courier New" pitchFamily="34" charset="-120"/>
              </a:rPr>
              <a:t>—</a:t>
            </a:r>
            <a:endParaRPr lang="en-US" sz="1400">
              <a:latin typeface="+mj-lt"/>
            </a:endParaRPr>
          </a:p>
        </p:txBody>
      </p:sp>
      <p:sp>
        <p:nvSpPr>
          <p:cNvPr id="58" name="Shape 23">
            <a:extLst>
              <a:ext uri="{FF2B5EF4-FFF2-40B4-BE49-F238E27FC236}">
                <a16:creationId xmlns:a16="http://schemas.microsoft.com/office/drawing/2014/main" id="{C3FBBF6B-E378-996F-5952-C15DBC4F5DF8}"/>
              </a:ext>
            </a:extLst>
          </p:cNvPr>
          <p:cNvSpPr/>
          <p:nvPr/>
        </p:nvSpPr>
        <p:spPr>
          <a:xfrm>
            <a:off x="698500" y="3374700"/>
            <a:ext cx="755596" cy="6350"/>
          </a:xfrm>
          <a:prstGeom prst="rect">
            <a:avLst/>
          </a:prstGeom>
          <a:solidFill>
            <a:srgbClr val="D8D0BF"/>
          </a:solidFill>
          <a:ln/>
        </p:spPr>
        <p:txBody>
          <a:bodyPr/>
          <a:lstStyle/>
          <a:p>
            <a:endParaRPr lang="en-US" sz="1400">
              <a:latin typeface="+mj-lt"/>
            </a:endParaRPr>
          </a:p>
        </p:txBody>
      </p:sp>
      <p:sp>
        <p:nvSpPr>
          <p:cNvPr id="59" name="Text 24">
            <a:extLst>
              <a:ext uri="{FF2B5EF4-FFF2-40B4-BE49-F238E27FC236}">
                <a16:creationId xmlns:a16="http://schemas.microsoft.com/office/drawing/2014/main" id="{17F645A7-F548-E4A2-D363-8950D5054C1A}"/>
              </a:ext>
            </a:extLst>
          </p:cNvPr>
          <p:cNvSpPr/>
          <p:nvPr/>
        </p:nvSpPr>
        <p:spPr>
          <a:xfrm>
            <a:off x="800100" y="3046845"/>
            <a:ext cx="603196" cy="238955"/>
          </a:xfrm>
          <a:prstGeom prst="rect">
            <a:avLst/>
          </a:prstGeom>
          <a:noFill/>
          <a:ln/>
        </p:spPr>
        <p:txBody>
          <a:bodyPr wrap="square" lIns="16933" tIns="16933" rIns="16933" bIns="16933" rtlCol="0" anchor="ctr">
            <a:noAutofit/>
          </a:bodyPr>
          <a:lstStyle/>
          <a:p>
            <a:r>
              <a:rPr lang="en-US" sz="1400">
                <a:latin typeface="+mj-lt"/>
                <a:ea typeface="Georgia" pitchFamily="34" charset="-122"/>
                <a:cs typeface="Georgia" pitchFamily="34" charset="-120"/>
              </a:rPr>
              <a:t>1</a:t>
            </a:r>
            <a:endParaRPr lang="en-US" sz="1400">
              <a:latin typeface="+mj-lt"/>
            </a:endParaRPr>
          </a:p>
        </p:txBody>
      </p:sp>
      <p:sp>
        <p:nvSpPr>
          <p:cNvPr id="60" name="Shape 25">
            <a:extLst>
              <a:ext uri="{FF2B5EF4-FFF2-40B4-BE49-F238E27FC236}">
                <a16:creationId xmlns:a16="http://schemas.microsoft.com/office/drawing/2014/main" id="{BE06C832-7AE2-EBC5-C140-18C8DF31ACCD}"/>
              </a:ext>
            </a:extLst>
          </p:cNvPr>
          <p:cNvSpPr/>
          <p:nvPr/>
        </p:nvSpPr>
        <p:spPr>
          <a:xfrm>
            <a:off x="1454097" y="3374700"/>
            <a:ext cx="7012059" cy="6350"/>
          </a:xfrm>
          <a:prstGeom prst="rect">
            <a:avLst/>
          </a:prstGeom>
          <a:solidFill>
            <a:srgbClr val="D8D0BF"/>
          </a:solidFill>
          <a:ln/>
        </p:spPr>
        <p:txBody>
          <a:bodyPr/>
          <a:lstStyle/>
          <a:p>
            <a:endParaRPr lang="en-US" sz="1400">
              <a:latin typeface="+mj-lt"/>
            </a:endParaRPr>
          </a:p>
        </p:txBody>
      </p:sp>
      <p:sp>
        <p:nvSpPr>
          <p:cNvPr id="61" name="Text 26">
            <a:extLst>
              <a:ext uri="{FF2B5EF4-FFF2-40B4-BE49-F238E27FC236}">
                <a16:creationId xmlns:a16="http://schemas.microsoft.com/office/drawing/2014/main" id="{F9A42DED-C4B3-C5F5-5068-92024084407B}"/>
              </a:ext>
            </a:extLst>
          </p:cNvPr>
          <p:cNvSpPr/>
          <p:nvPr/>
        </p:nvSpPr>
        <p:spPr>
          <a:xfrm>
            <a:off x="1555696" y="3046845"/>
            <a:ext cx="7019221" cy="238955"/>
          </a:xfrm>
          <a:prstGeom prst="rect">
            <a:avLst/>
          </a:prstGeom>
          <a:noFill/>
          <a:ln/>
        </p:spPr>
        <p:txBody>
          <a:bodyPr wrap="square" lIns="16933" tIns="16933" rIns="16933" bIns="16933" rtlCol="0" anchor="ctr">
            <a:noAutofit/>
          </a:bodyPr>
          <a:lstStyle/>
          <a:p>
            <a:r>
              <a:rPr lang="en-US" sz="1400">
                <a:latin typeface="+mj-lt"/>
                <a:ea typeface="Georgia" pitchFamily="34" charset="-122"/>
                <a:cs typeface="Georgia" pitchFamily="34" charset="-120"/>
              </a:rPr>
              <a:t>+ ClassificationHead mới (Focal Loss)</a:t>
            </a:r>
            <a:endParaRPr lang="en-US" sz="1400">
              <a:latin typeface="+mj-lt"/>
            </a:endParaRPr>
          </a:p>
        </p:txBody>
      </p:sp>
      <p:sp>
        <p:nvSpPr>
          <p:cNvPr id="62" name="Shape 27">
            <a:extLst>
              <a:ext uri="{FF2B5EF4-FFF2-40B4-BE49-F238E27FC236}">
                <a16:creationId xmlns:a16="http://schemas.microsoft.com/office/drawing/2014/main" id="{D6B090A1-EF50-F8E7-AC5C-12E02FA440ED}"/>
              </a:ext>
            </a:extLst>
          </p:cNvPr>
          <p:cNvSpPr/>
          <p:nvPr/>
        </p:nvSpPr>
        <p:spPr>
          <a:xfrm>
            <a:off x="8466155" y="3374700"/>
            <a:ext cx="1018255" cy="6350"/>
          </a:xfrm>
          <a:prstGeom prst="rect">
            <a:avLst/>
          </a:prstGeom>
          <a:solidFill>
            <a:srgbClr val="D8D0BF"/>
          </a:solidFill>
          <a:ln/>
        </p:spPr>
        <p:txBody>
          <a:bodyPr/>
          <a:lstStyle/>
          <a:p>
            <a:endParaRPr lang="en-US" sz="1400">
              <a:latin typeface="+mj-lt"/>
            </a:endParaRPr>
          </a:p>
        </p:txBody>
      </p:sp>
      <p:sp>
        <p:nvSpPr>
          <p:cNvPr id="63" name="Text 28">
            <a:extLst>
              <a:ext uri="{FF2B5EF4-FFF2-40B4-BE49-F238E27FC236}">
                <a16:creationId xmlns:a16="http://schemas.microsoft.com/office/drawing/2014/main" id="{D37DC3DA-9104-E82C-75F6-126A88B32625}"/>
              </a:ext>
            </a:extLst>
          </p:cNvPr>
          <p:cNvSpPr/>
          <p:nvPr/>
        </p:nvSpPr>
        <p:spPr>
          <a:xfrm>
            <a:off x="8516955" y="3046845"/>
            <a:ext cx="865855" cy="238955"/>
          </a:xfrm>
          <a:prstGeom prst="rect">
            <a:avLst/>
          </a:prstGeom>
          <a:noFill/>
          <a:ln/>
        </p:spPr>
        <p:txBody>
          <a:bodyPr wrap="square" lIns="16933" tIns="16933" rIns="16933" bIns="16933" rtlCol="0" anchor="ctr">
            <a:noAutofit/>
          </a:bodyPr>
          <a:lstStyle/>
          <a:p>
            <a:pPr algn="r"/>
            <a:r>
              <a:rPr lang="en-US" sz="1400">
                <a:latin typeface="+mj-lt"/>
                <a:ea typeface="Courier New" pitchFamily="34" charset="-122"/>
                <a:cs typeface="Courier New" pitchFamily="34" charset="-120"/>
              </a:rPr>
              <a:t>0.845</a:t>
            </a:r>
            <a:endParaRPr lang="en-US" sz="1400">
              <a:latin typeface="+mj-lt"/>
            </a:endParaRPr>
          </a:p>
        </p:txBody>
      </p:sp>
      <p:sp>
        <p:nvSpPr>
          <p:cNvPr id="64" name="Shape 29">
            <a:extLst>
              <a:ext uri="{FF2B5EF4-FFF2-40B4-BE49-F238E27FC236}">
                <a16:creationId xmlns:a16="http://schemas.microsoft.com/office/drawing/2014/main" id="{6AC98BC0-B3A0-5527-D086-8BBD823D215B}"/>
              </a:ext>
            </a:extLst>
          </p:cNvPr>
          <p:cNvSpPr/>
          <p:nvPr/>
        </p:nvSpPr>
        <p:spPr>
          <a:xfrm>
            <a:off x="9484410" y="3374700"/>
            <a:ext cx="2009089" cy="6350"/>
          </a:xfrm>
          <a:prstGeom prst="rect">
            <a:avLst/>
          </a:prstGeom>
          <a:solidFill>
            <a:srgbClr val="D8D0BF"/>
          </a:solidFill>
          <a:ln/>
        </p:spPr>
        <p:txBody>
          <a:bodyPr/>
          <a:lstStyle/>
          <a:p>
            <a:endParaRPr lang="en-US" sz="1400">
              <a:latin typeface="+mj-lt"/>
            </a:endParaRPr>
          </a:p>
        </p:txBody>
      </p:sp>
      <p:sp>
        <p:nvSpPr>
          <p:cNvPr id="65" name="Text 30">
            <a:extLst>
              <a:ext uri="{FF2B5EF4-FFF2-40B4-BE49-F238E27FC236}">
                <a16:creationId xmlns:a16="http://schemas.microsoft.com/office/drawing/2014/main" id="{08E98E6D-EFDE-6629-8E73-9AB886D49CD6}"/>
              </a:ext>
            </a:extLst>
          </p:cNvPr>
          <p:cNvSpPr/>
          <p:nvPr/>
        </p:nvSpPr>
        <p:spPr>
          <a:xfrm>
            <a:off x="9525738" y="3046845"/>
            <a:ext cx="1866162" cy="238955"/>
          </a:xfrm>
          <a:prstGeom prst="rect">
            <a:avLst/>
          </a:prstGeom>
          <a:noFill/>
          <a:ln/>
        </p:spPr>
        <p:txBody>
          <a:bodyPr wrap="square" lIns="16933" tIns="16933" rIns="16933" bIns="16933" rtlCol="0" anchor="ctr">
            <a:normAutofit lnSpcReduction="10000"/>
          </a:bodyPr>
          <a:lstStyle/>
          <a:p>
            <a:pPr algn="r"/>
            <a:r>
              <a:rPr lang="en-US" sz="1400">
                <a:latin typeface="+mj-lt"/>
                <a:ea typeface="Courier New" pitchFamily="34" charset="-122"/>
                <a:cs typeface="Courier New" pitchFamily="34" charset="-120"/>
              </a:rPr>
              <a:t>+0.5</a:t>
            </a:r>
            <a:endParaRPr lang="en-US" sz="1400">
              <a:latin typeface="+mj-lt"/>
            </a:endParaRPr>
          </a:p>
        </p:txBody>
      </p:sp>
      <p:sp>
        <p:nvSpPr>
          <p:cNvPr id="66" name="Shape 31">
            <a:extLst>
              <a:ext uri="{FF2B5EF4-FFF2-40B4-BE49-F238E27FC236}">
                <a16:creationId xmlns:a16="http://schemas.microsoft.com/office/drawing/2014/main" id="{3A89105B-C226-56F1-B843-519F2590B40E}"/>
              </a:ext>
            </a:extLst>
          </p:cNvPr>
          <p:cNvSpPr/>
          <p:nvPr/>
        </p:nvSpPr>
        <p:spPr>
          <a:xfrm>
            <a:off x="698500" y="3793764"/>
            <a:ext cx="755596" cy="6350"/>
          </a:xfrm>
          <a:prstGeom prst="rect">
            <a:avLst/>
          </a:prstGeom>
          <a:solidFill>
            <a:srgbClr val="D8D0BF"/>
          </a:solidFill>
          <a:ln/>
        </p:spPr>
        <p:txBody>
          <a:bodyPr/>
          <a:lstStyle/>
          <a:p>
            <a:endParaRPr lang="en-US" sz="1400">
              <a:latin typeface="+mj-lt"/>
            </a:endParaRPr>
          </a:p>
        </p:txBody>
      </p:sp>
      <p:sp>
        <p:nvSpPr>
          <p:cNvPr id="67" name="Text 32">
            <a:extLst>
              <a:ext uri="{FF2B5EF4-FFF2-40B4-BE49-F238E27FC236}">
                <a16:creationId xmlns:a16="http://schemas.microsoft.com/office/drawing/2014/main" id="{5289644E-351F-B383-05FF-776ADBCB6CE9}"/>
              </a:ext>
            </a:extLst>
          </p:cNvPr>
          <p:cNvSpPr/>
          <p:nvPr/>
        </p:nvSpPr>
        <p:spPr>
          <a:xfrm>
            <a:off x="800100" y="3494773"/>
            <a:ext cx="603196" cy="210091"/>
          </a:xfrm>
          <a:prstGeom prst="rect">
            <a:avLst/>
          </a:prstGeom>
          <a:noFill/>
          <a:ln/>
        </p:spPr>
        <p:txBody>
          <a:bodyPr wrap="square" lIns="16933" tIns="16933" rIns="16933" bIns="16933" rtlCol="0" anchor="ctr">
            <a:noAutofit/>
          </a:bodyPr>
          <a:lstStyle/>
          <a:p>
            <a:r>
              <a:rPr lang="en-US" sz="1400">
                <a:latin typeface="+mj-lt"/>
                <a:ea typeface="Georgia" pitchFamily="34" charset="-122"/>
                <a:cs typeface="Georgia" pitchFamily="34" charset="-120"/>
              </a:rPr>
              <a:t>2</a:t>
            </a:r>
            <a:endParaRPr lang="en-US" sz="1400">
              <a:latin typeface="+mj-lt"/>
            </a:endParaRPr>
          </a:p>
        </p:txBody>
      </p:sp>
      <p:sp>
        <p:nvSpPr>
          <p:cNvPr id="68" name="Shape 33">
            <a:extLst>
              <a:ext uri="{FF2B5EF4-FFF2-40B4-BE49-F238E27FC236}">
                <a16:creationId xmlns:a16="http://schemas.microsoft.com/office/drawing/2014/main" id="{02519422-7773-39EE-08D9-6E23394527D1}"/>
              </a:ext>
            </a:extLst>
          </p:cNvPr>
          <p:cNvSpPr/>
          <p:nvPr/>
        </p:nvSpPr>
        <p:spPr>
          <a:xfrm>
            <a:off x="1454097" y="3793764"/>
            <a:ext cx="7012059" cy="6350"/>
          </a:xfrm>
          <a:prstGeom prst="rect">
            <a:avLst/>
          </a:prstGeom>
          <a:solidFill>
            <a:srgbClr val="D8D0BF"/>
          </a:solidFill>
          <a:ln/>
        </p:spPr>
        <p:txBody>
          <a:bodyPr/>
          <a:lstStyle/>
          <a:p>
            <a:endParaRPr lang="en-US" sz="1400">
              <a:latin typeface="+mj-lt"/>
            </a:endParaRPr>
          </a:p>
        </p:txBody>
      </p:sp>
      <p:sp>
        <p:nvSpPr>
          <p:cNvPr id="69" name="Text 34">
            <a:extLst>
              <a:ext uri="{FF2B5EF4-FFF2-40B4-BE49-F238E27FC236}">
                <a16:creationId xmlns:a16="http://schemas.microsoft.com/office/drawing/2014/main" id="{A61FFFBA-BA7C-FCDB-3CD7-B9A15524007F}"/>
              </a:ext>
            </a:extLst>
          </p:cNvPr>
          <p:cNvSpPr/>
          <p:nvPr/>
        </p:nvSpPr>
        <p:spPr>
          <a:xfrm>
            <a:off x="1555696" y="3494773"/>
            <a:ext cx="7019221" cy="210091"/>
          </a:xfrm>
          <a:prstGeom prst="rect">
            <a:avLst/>
          </a:prstGeom>
          <a:noFill/>
          <a:ln/>
        </p:spPr>
        <p:txBody>
          <a:bodyPr wrap="square" lIns="16933" tIns="16933" rIns="16933" bIns="16933" rtlCol="0" anchor="ctr">
            <a:noAutofit/>
          </a:bodyPr>
          <a:lstStyle/>
          <a:p>
            <a:r>
              <a:rPr lang="en-US" sz="1400">
                <a:latin typeface="+mj-lt"/>
                <a:ea typeface="Georgia" pitchFamily="34" charset="-122"/>
                <a:cs typeface="Georgia" pitchFamily="34" charset="-120"/>
              </a:rPr>
              <a:t>+ Focal Loss (γ = 2.0)</a:t>
            </a:r>
            <a:endParaRPr lang="en-US" sz="1400">
              <a:latin typeface="+mj-lt"/>
            </a:endParaRPr>
          </a:p>
        </p:txBody>
      </p:sp>
      <p:sp>
        <p:nvSpPr>
          <p:cNvPr id="70" name="Shape 35">
            <a:extLst>
              <a:ext uri="{FF2B5EF4-FFF2-40B4-BE49-F238E27FC236}">
                <a16:creationId xmlns:a16="http://schemas.microsoft.com/office/drawing/2014/main" id="{BB78DD0A-A49E-6AF4-4477-F38360EA0F83}"/>
              </a:ext>
            </a:extLst>
          </p:cNvPr>
          <p:cNvSpPr/>
          <p:nvPr/>
        </p:nvSpPr>
        <p:spPr>
          <a:xfrm>
            <a:off x="8466155" y="3793764"/>
            <a:ext cx="1018255" cy="6350"/>
          </a:xfrm>
          <a:prstGeom prst="rect">
            <a:avLst/>
          </a:prstGeom>
          <a:solidFill>
            <a:srgbClr val="D8D0BF"/>
          </a:solidFill>
          <a:ln/>
        </p:spPr>
        <p:txBody>
          <a:bodyPr/>
          <a:lstStyle/>
          <a:p>
            <a:endParaRPr lang="en-US" sz="1400">
              <a:latin typeface="+mj-lt"/>
            </a:endParaRPr>
          </a:p>
        </p:txBody>
      </p:sp>
      <p:sp>
        <p:nvSpPr>
          <p:cNvPr id="71" name="Text 36">
            <a:extLst>
              <a:ext uri="{FF2B5EF4-FFF2-40B4-BE49-F238E27FC236}">
                <a16:creationId xmlns:a16="http://schemas.microsoft.com/office/drawing/2014/main" id="{F72A5DFD-63AE-A164-9158-EA07B7AAC47F}"/>
              </a:ext>
            </a:extLst>
          </p:cNvPr>
          <p:cNvSpPr/>
          <p:nvPr/>
        </p:nvSpPr>
        <p:spPr>
          <a:xfrm>
            <a:off x="8516955" y="3494773"/>
            <a:ext cx="865855" cy="210091"/>
          </a:xfrm>
          <a:prstGeom prst="rect">
            <a:avLst/>
          </a:prstGeom>
          <a:noFill/>
          <a:ln/>
        </p:spPr>
        <p:txBody>
          <a:bodyPr wrap="square" lIns="16933" tIns="16933" rIns="16933" bIns="16933" rtlCol="0" anchor="ctr">
            <a:noAutofit/>
          </a:bodyPr>
          <a:lstStyle/>
          <a:p>
            <a:pPr algn="r"/>
            <a:r>
              <a:rPr lang="en-US" sz="1400">
                <a:latin typeface="+mj-lt"/>
                <a:ea typeface="Courier New" pitchFamily="34" charset="-122"/>
                <a:cs typeface="Courier New" pitchFamily="34" charset="-120"/>
              </a:rPr>
              <a:t>0.848</a:t>
            </a:r>
            <a:endParaRPr lang="en-US" sz="1400">
              <a:latin typeface="+mj-lt"/>
            </a:endParaRPr>
          </a:p>
        </p:txBody>
      </p:sp>
      <p:sp>
        <p:nvSpPr>
          <p:cNvPr id="72" name="Shape 37">
            <a:extLst>
              <a:ext uri="{FF2B5EF4-FFF2-40B4-BE49-F238E27FC236}">
                <a16:creationId xmlns:a16="http://schemas.microsoft.com/office/drawing/2014/main" id="{3FE7BC17-D694-AA2D-90D5-57212047A55B}"/>
              </a:ext>
            </a:extLst>
          </p:cNvPr>
          <p:cNvSpPr/>
          <p:nvPr/>
        </p:nvSpPr>
        <p:spPr>
          <a:xfrm>
            <a:off x="9484410" y="3793764"/>
            <a:ext cx="2009089" cy="6350"/>
          </a:xfrm>
          <a:prstGeom prst="rect">
            <a:avLst/>
          </a:prstGeom>
          <a:solidFill>
            <a:srgbClr val="D8D0BF"/>
          </a:solidFill>
          <a:ln/>
        </p:spPr>
        <p:txBody>
          <a:bodyPr/>
          <a:lstStyle/>
          <a:p>
            <a:endParaRPr lang="en-US" sz="1400">
              <a:latin typeface="+mj-lt"/>
            </a:endParaRPr>
          </a:p>
        </p:txBody>
      </p:sp>
      <p:sp>
        <p:nvSpPr>
          <p:cNvPr id="73" name="Text 38">
            <a:extLst>
              <a:ext uri="{FF2B5EF4-FFF2-40B4-BE49-F238E27FC236}">
                <a16:creationId xmlns:a16="http://schemas.microsoft.com/office/drawing/2014/main" id="{A3382614-AF94-B0B3-BBCE-546FB791C518}"/>
              </a:ext>
            </a:extLst>
          </p:cNvPr>
          <p:cNvSpPr/>
          <p:nvPr/>
        </p:nvSpPr>
        <p:spPr>
          <a:xfrm>
            <a:off x="9525738" y="3494773"/>
            <a:ext cx="1866162" cy="210091"/>
          </a:xfrm>
          <a:prstGeom prst="rect">
            <a:avLst/>
          </a:prstGeom>
          <a:noFill/>
          <a:ln/>
        </p:spPr>
        <p:txBody>
          <a:bodyPr wrap="square" lIns="16933" tIns="16933" rIns="16933" bIns="16933" rtlCol="0" anchor="ctr">
            <a:normAutofit fontScale="92500" lnSpcReduction="20000"/>
          </a:bodyPr>
          <a:lstStyle/>
          <a:p>
            <a:pPr algn="r"/>
            <a:r>
              <a:rPr lang="en-US" sz="1400">
                <a:latin typeface="+mj-lt"/>
                <a:ea typeface="Courier New" pitchFamily="34" charset="-122"/>
                <a:cs typeface="Courier New" pitchFamily="34" charset="-120"/>
              </a:rPr>
              <a:t>+0.7</a:t>
            </a:r>
            <a:endParaRPr lang="en-US" sz="1400">
              <a:latin typeface="+mj-lt"/>
            </a:endParaRPr>
          </a:p>
        </p:txBody>
      </p:sp>
      <p:sp>
        <p:nvSpPr>
          <p:cNvPr id="74" name="Shape 39">
            <a:extLst>
              <a:ext uri="{FF2B5EF4-FFF2-40B4-BE49-F238E27FC236}">
                <a16:creationId xmlns:a16="http://schemas.microsoft.com/office/drawing/2014/main" id="{DA98C0A8-949C-6D40-CF54-C235261E767F}"/>
              </a:ext>
            </a:extLst>
          </p:cNvPr>
          <p:cNvSpPr/>
          <p:nvPr/>
        </p:nvSpPr>
        <p:spPr>
          <a:xfrm>
            <a:off x="698500" y="4212828"/>
            <a:ext cx="755596" cy="6350"/>
          </a:xfrm>
          <a:prstGeom prst="rect">
            <a:avLst/>
          </a:prstGeom>
          <a:solidFill>
            <a:srgbClr val="D8D0BF"/>
          </a:solidFill>
          <a:ln/>
        </p:spPr>
        <p:txBody>
          <a:bodyPr/>
          <a:lstStyle/>
          <a:p>
            <a:endParaRPr lang="en-US" sz="1400">
              <a:latin typeface="+mj-lt"/>
            </a:endParaRPr>
          </a:p>
        </p:txBody>
      </p:sp>
      <p:sp>
        <p:nvSpPr>
          <p:cNvPr id="75" name="Text 40">
            <a:extLst>
              <a:ext uri="{FF2B5EF4-FFF2-40B4-BE49-F238E27FC236}">
                <a16:creationId xmlns:a16="http://schemas.microsoft.com/office/drawing/2014/main" id="{95D60653-F356-D1A5-3F62-126716B9B979}"/>
              </a:ext>
            </a:extLst>
          </p:cNvPr>
          <p:cNvSpPr/>
          <p:nvPr/>
        </p:nvSpPr>
        <p:spPr>
          <a:xfrm>
            <a:off x="800100" y="3913837"/>
            <a:ext cx="603196" cy="210091"/>
          </a:xfrm>
          <a:prstGeom prst="rect">
            <a:avLst/>
          </a:prstGeom>
          <a:noFill/>
          <a:ln/>
        </p:spPr>
        <p:txBody>
          <a:bodyPr wrap="square" lIns="16933" tIns="16933" rIns="16933" bIns="16933" rtlCol="0" anchor="ctr">
            <a:noAutofit/>
          </a:bodyPr>
          <a:lstStyle/>
          <a:p>
            <a:r>
              <a:rPr lang="en-US" sz="1400">
                <a:latin typeface="+mj-lt"/>
                <a:ea typeface="Georgia" pitchFamily="34" charset="-122"/>
                <a:cs typeface="Georgia" pitchFamily="34" charset="-120"/>
              </a:rPr>
              <a:t>3</a:t>
            </a:r>
            <a:endParaRPr lang="en-US" sz="1400">
              <a:latin typeface="+mj-lt"/>
            </a:endParaRPr>
          </a:p>
        </p:txBody>
      </p:sp>
      <p:sp>
        <p:nvSpPr>
          <p:cNvPr id="76" name="Shape 41">
            <a:extLst>
              <a:ext uri="{FF2B5EF4-FFF2-40B4-BE49-F238E27FC236}">
                <a16:creationId xmlns:a16="http://schemas.microsoft.com/office/drawing/2014/main" id="{D61E4C83-82E5-9911-BEB5-35B3AA4DC6B3}"/>
              </a:ext>
            </a:extLst>
          </p:cNvPr>
          <p:cNvSpPr/>
          <p:nvPr/>
        </p:nvSpPr>
        <p:spPr>
          <a:xfrm>
            <a:off x="1454097" y="4212828"/>
            <a:ext cx="7012059" cy="6350"/>
          </a:xfrm>
          <a:prstGeom prst="rect">
            <a:avLst/>
          </a:prstGeom>
          <a:solidFill>
            <a:srgbClr val="D8D0BF"/>
          </a:solidFill>
          <a:ln/>
        </p:spPr>
        <p:txBody>
          <a:bodyPr/>
          <a:lstStyle/>
          <a:p>
            <a:endParaRPr lang="en-US" sz="1400">
              <a:latin typeface="+mj-lt"/>
            </a:endParaRPr>
          </a:p>
        </p:txBody>
      </p:sp>
      <p:sp>
        <p:nvSpPr>
          <p:cNvPr id="77" name="Text 42">
            <a:extLst>
              <a:ext uri="{FF2B5EF4-FFF2-40B4-BE49-F238E27FC236}">
                <a16:creationId xmlns:a16="http://schemas.microsoft.com/office/drawing/2014/main" id="{F6A09856-50FC-1A91-54DF-AE7091E1CAC9}"/>
              </a:ext>
            </a:extLst>
          </p:cNvPr>
          <p:cNvSpPr/>
          <p:nvPr/>
        </p:nvSpPr>
        <p:spPr>
          <a:xfrm>
            <a:off x="1555696" y="3913837"/>
            <a:ext cx="7019221" cy="210091"/>
          </a:xfrm>
          <a:prstGeom prst="rect">
            <a:avLst/>
          </a:prstGeom>
          <a:noFill/>
          <a:ln/>
        </p:spPr>
        <p:txBody>
          <a:bodyPr wrap="square" lIns="16933" tIns="16933" rIns="16933" bIns="16933" rtlCol="0" anchor="ctr">
            <a:noAutofit/>
          </a:bodyPr>
          <a:lstStyle/>
          <a:p>
            <a:r>
              <a:rPr lang="en-US" sz="1400">
                <a:latin typeface="+mj-lt"/>
                <a:ea typeface="Georgia" pitchFamily="34" charset="-122"/>
                <a:cs typeface="Georgia" pitchFamily="34" charset="-120"/>
              </a:rPr>
              <a:t>+ Many-hot labels (t ± 1)</a:t>
            </a:r>
            <a:endParaRPr lang="en-US" sz="1400">
              <a:latin typeface="+mj-lt"/>
            </a:endParaRPr>
          </a:p>
        </p:txBody>
      </p:sp>
      <p:sp>
        <p:nvSpPr>
          <p:cNvPr id="78" name="Shape 43">
            <a:extLst>
              <a:ext uri="{FF2B5EF4-FFF2-40B4-BE49-F238E27FC236}">
                <a16:creationId xmlns:a16="http://schemas.microsoft.com/office/drawing/2014/main" id="{3BD5E2E1-08D4-577E-FD7B-BCEDFC6F7352}"/>
              </a:ext>
            </a:extLst>
          </p:cNvPr>
          <p:cNvSpPr/>
          <p:nvPr/>
        </p:nvSpPr>
        <p:spPr>
          <a:xfrm>
            <a:off x="8466155" y="4212828"/>
            <a:ext cx="1018255" cy="6350"/>
          </a:xfrm>
          <a:prstGeom prst="rect">
            <a:avLst/>
          </a:prstGeom>
          <a:solidFill>
            <a:srgbClr val="D8D0BF"/>
          </a:solidFill>
          <a:ln/>
        </p:spPr>
        <p:txBody>
          <a:bodyPr/>
          <a:lstStyle/>
          <a:p>
            <a:endParaRPr lang="en-US" sz="1400">
              <a:latin typeface="+mj-lt"/>
            </a:endParaRPr>
          </a:p>
        </p:txBody>
      </p:sp>
      <p:sp>
        <p:nvSpPr>
          <p:cNvPr id="79" name="Text 44">
            <a:extLst>
              <a:ext uri="{FF2B5EF4-FFF2-40B4-BE49-F238E27FC236}">
                <a16:creationId xmlns:a16="http://schemas.microsoft.com/office/drawing/2014/main" id="{6DB44066-68DE-E502-5DD0-F6440F849ABD}"/>
              </a:ext>
            </a:extLst>
          </p:cNvPr>
          <p:cNvSpPr/>
          <p:nvPr/>
        </p:nvSpPr>
        <p:spPr>
          <a:xfrm>
            <a:off x="8516955" y="3913837"/>
            <a:ext cx="865855" cy="210091"/>
          </a:xfrm>
          <a:prstGeom prst="rect">
            <a:avLst/>
          </a:prstGeom>
          <a:noFill/>
          <a:ln/>
        </p:spPr>
        <p:txBody>
          <a:bodyPr wrap="square" lIns="16933" tIns="16933" rIns="16933" bIns="16933" rtlCol="0" anchor="ctr">
            <a:noAutofit/>
          </a:bodyPr>
          <a:lstStyle/>
          <a:p>
            <a:pPr algn="r"/>
            <a:r>
              <a:rPr lang="en-US" sz="1400">
                <a:latin typeface="+mj-lt"/>
                <a:ea typeface="Courier New" pitchFamily="34" charset="-122"/>
                <a:cs typeface="Courier New" pitchFamily="34" charset="-120"/>
              </a:rPr>
              <a:t>0.851</a:t>
            </a:r>
            <a:endParaRPr lang="en-US" sz="1400">
              <a:latin typeface="+mj-lt"/>
            </a:endParaRPr>
          </a:p>
        </p:txBody>
      </p:sp>
      <p:sp>
        <p:nvSpPr>
          <p:cNvPr id="80" name="Shape 45">
            <a:extLst>
              <a:ext uri="{FF2B5EF4-FFF2-40B4-BE49-F238E27FC236}">
                <a16:creationId xmlns:a16="http://schemas.microsoft.com/office/drawing/2014/main" id="{07E324F8-6459-7EF2-86F5-BB69E53212F5}"/>
              </a:ext>
            </a:extLst>
          </p:cNvPr>
          <p:cNvSpPr/>
          <p:nvPr/>
        </p:nvSpPr>
        <p:spPr>
          <a:xfrm>
            <a:off x="9484410" y="4212828"/>
            <a:ext cx="2009089" cy="6350"/>
          </a:xfrm>
          <a:prstGeom prst="rect">
            <a:avLst/>
          </a:prstGeom>
          <a:solidFill>
            <a:srgbClr val="D8D0BF"/>
          </a:solidFill>
          <a:ln/>
        </p:spPr>
        <p:txBody>
          <a:bodyPr/>
          <a:lstStyle/>
          <a:p>
            <a:endParaRPr lang="en-US" sz="1400">
              <a:latin typeface="+mj-lt"/>
            </a:endParaRPr>
          </a:p>
        </p:txBody>
      </p:sp>
      <p:sp>
        <p:nvSpPr>
          <p:cNvPr id="81" name="Text 46">
            <a:extLst>
              <a:ext uri="{FF2B5EF4-FFF2-40B4-BE49-F238E27FC236}">
                <a16:creationId xmlns:a16="http://schemas.microsoft.com/office/drawing/2014/main" id="{1B010D04-1C5E-5FB3-EEFF-12D0FA9F246A}"/>
              </a:ext>
            </a:extLst>
          </p:cNvPr>
          <p:cNvSpPr/>
          <p:nvPr/>
        </p:nvSpPr>
        <p:spPr>
          <a:xfrm>
            <a:off x="9525738" y="3913837"/>
            <a:ext cx="1866162" cy="210091"/>
          </a:xfrm>
          <a:prstGeom prst="rect">
            <a:avLst/>
          </a:prstGeom>
          <a:noFill/>
          <a:ln/>
        </p:spPr>
        <p:txBody>
          <a:bodyPr wrap="square" lIns="16933" tIns="16933" rIns="16933" bIns="16933" rtlCol="0" anchor="ctr">
            <a:normAutofit fontScale="92500" lnSpcReduction="20000"/>
          </a:bodyPr>
          <a:lstStyle/>
          <a:p>
            <a:pPr algn="r"/>
            <a:r>
              <a:rPr lang="en-US" sz="1400">
                <a:latin typeface="+mj-lt"/>
                <a:ea typeface="Courier New" pitchFamily="34" charset="-122"/>
                <a:cs typeface="Courier New" pitchFamily="34" charset="-120"/>
              </a:rPr>
              <a:t>+1.0</a:t>
            </a:r>
            <a:endParaRPr lang="en-US" sz="1400">
              <a:latin typeface="+mj-lt"/>
            </a:endParaRPr>
          </a:p>
        </p:txBody>
      </p:sp>
      <p:sp>
        <p:nvSpPr>
          <p:cNvPr id="82" name="Shape 47">
            <a:extLst>
              <a:ext uri="{FF2B5EF4-FFF2-40B4-BE49-F238E27FC236}">
                <a16:creationId xmlns:a16="http://schemas.microsoft.com/office/drawing/2014/main" id="{29D09A31-6DD1-9009-E34F-7BB9E528A372}"/>
              </a:ext>
            </a:extLst>
          </p:cNvPr>
          <p:cNvSpPr/>
          <p:nvPr/>
        </p:nvSpPr>
        <p:spPr>
          <a:xfrm>
            <a:off x="698500" y="4218601"/>
            <a:ext cx="755596" cy="456587"/>
          </a:xfrm>
          <a:prstGeom prst="rect">
            <a:avLst/>
          </a:prstGeom>
          <a:solidFill>
            <a:schemeClr val="bg1"/>
          </a:solidFill>
          <a:ln/>
        </p:spPr>
        <p:txBody>
          <a:bodyPr/>
          <a:lstStyle/>
          <a:p>
            <a:endParaRPr lang="en-US" sz="1400">
              <a:highlight>
                <a:srgbClr val="FFFF00"/>
              </a:highlight>
              <a:latin typeface="+mj-lt"/>
            </a:endParaRPr>
          </a:p>
        </p:txBody>
      </p:sp>
      <p:sp>
        <p:nvSpPr>
          <p:cNvPr id="83" name="Text 48">
            <a:extLst>
              <a:ext uri="{FF2B5EF4-FFF2-40B4-BE49-F238E27FC236}">
                <a16:creationId xmlns:a16="http://schemas.microsoft.com/office/drawing/2014/main" id="{0D6121D5-3CC5-55FB-8C0C-ADFAD4D2AA66}"/>
              </a:ext>
            </a:extLst>
          </p:cNvPr>
          <p:cNvSpPr/>
          <p:nvPr/>
        </p:nvSpPr>
        <p:spPr>
          <a:xfrm>
            <a:off x="800100" y="4332901"/>
            <a:ext cx="603196" cy="253387"/>
          </a:xfrm>
          <a:prstGeom prst="rect">
            <a:avLst/>
          </a:prstGeom>
          <a:noFill/>
          <a:ln/>
        </p:spPr>
        <p:txBody>
          <a:bodyPr wrap="square" lIns="16933" tIns="16933" rIns="16933" bIns="16933" rtlCol="0" anchor="ctr">
            <a:normAutofit/>
          </a:bodyPr>
          <a:lstStyle/>
          <a:p>
            <a:r>
              <a:rPr lang="en-US" sz="1400">
                <a:latin typeface="+mj-lt"/>
                <a:ea typeface="Georgia" pitchFamily="34" charset="-122"/>
                <a:cs typeface="Georgia" pitchFamily="34" charset="-120"/>
              </a:rPr>
              <a:t>4</a:t>
            </a:r>
            <a:endParaRPr lang="en-US" sz="1400">
              <a:latin typeface="+mj-lt"/>
            </a:endParaRPr>
          </a:p>
        </p:txBody>
      </p:sp>
      <p:sp>
        <p:nvSpPr>
          <p:cNvPr id="84" name="Shape 49">
            <a:extLst>
              <a:ext uri="{FF2B5EF4-FFF2-40B4-BE49-F238E27FC236}">
                <a16:creationId xmlns:a16="http://schemas.microsoft.com/office/drawing/2014/main" id="{5A0C6702-5E78-1EC7-5389-2E94BB1B46F1}"/>
              </a:ext>
            </a:extLst>
          </p:cNvPr>
          <p:cNvSpPr/>
          <p:nvPr/>
        </p:nvSpPr>
        <p:spPr>
          <a:xfrm>
            <a:off x="1454097" y="4218601"/>
            <a:ext cx="7012059" cy="456587"/>
          </a:xfrm>
          <a:prstGeom prst="rect">
            <a:avLst/>
          </a:prstGeom>
          <a:solidFill>
            <a:schemeClr val="bg1"/>
          </a:solidFill>
          <a:ln/>
        </p:spPr>
        <p:txBody>
          <a:bodyPr/>
          <a:lstStyle/>
          <a:p>
            <a:endParaRPr lang="en-US" sz="1400">
              <a:solidFill>
                <a:schemeClr val="bg2">
                  <a:lumMod val="75000"/>
                </a:schemeClr>
              </a:solidFill>
              <a:latin typeface="+mj-lt"/>
            </a:endParaRPr>
          </a:p>
        </p:txBody>
      </p:sp>
      <p:sp>
        <p:nvSpPr>
          <p:cNvPr id="85" name="Text 50">
            <a:extLst>
              <a:ext uri="{FF2B5EF4-FFF2-40B4-BE49-F238E27FC236}">
                <a16:creationId xmlns:a16="http://schemas.microsoft.com/office/drawing/2014/main" id="{0C055B17-A166-0D6E-454B-A2C9009E3AED}"/>
              </a:ext>
            </a:extLst>
          </p:cNvPr>
          <p:cNvSpPr/>
          <p:nvPr/>
        </p:nvSpPr>
        <p:spPr>
          <a:xfrm>
            <a:off x="1555696" y="4332901"/>
            <a:ext cx="7019221" cy="253387"/>
          </a:xfrm>
          <a:prstGeom prst="rect">
            <a:avLst/>
          </a:prstGeom>
          <a:noFill/>
          <a:ln/>
        </p:spPr>
        <p:txBody>
          <a:bodyPr wrap="square" lIns="16933" tIns="16933" rIns="16933" bIns="16933" rtlCol="0" anchor="ctr">
            <a:normAutofit/>
          </a:bodyPr>
          <a:lstStyle/>
          <a:p>
            <a:r>
              <a:rPr lang="en-US" sz="1400" b="1">
                <a:latin typeface="+mj-lt"/>
                <a:ea typeface="Georgia" pitchFamily="34" charset="-122"/>
                <a:cs typeface="Georgia" pitchFamily="34" charset="-120"/>
              </a:rPr>
              <a:t>+ Temperature Scaling + Gaussian Smoothing - </a:t>
            </a:r>
            <a:r>
              <a:rPr lang="en-US" sz="1400" i="1" err="1">
                <a:latin typeface="+mj-lt"/>
                <a:ea typeface="Georgia" pitchFamily="34" charset="-122"/>
                <a:cs typeface="Georgia" pitchFamily="34" charset="-120"/>
              </a:rPr>
              <a:t>AutoShotV2</a:t>
            </a:r>
            <a:r>
              <a:rPr lang="en-US" sz="1400" i="1">
                <a:latin typeface="+mj-lt"/>
                <a:ea typeface="Georgia" pitchFamily="34" charset="-122"/>
                <a:cs typeface="Georgia" pitchFamily="34" charset="-120"/>
              </a:rPr>
              <a:t> </a:t>
            </a:r>
            <a:r>
              <a:rPr lang="en-US" sz="1400" i="1" err="1">
                <a:latin typeface="+mj-lt"/>
                <a:ea typeface="Georgia" pitchFamily="34" charset="-122"/>
                <a:cs typeface="Georgia" pitchFamily="34" charset="-120"/>
              </a:rPr>
              <a:t>đầy</a:t>
            </a:r>
            <a:r>
              <a:rPr lang="en-US" sz="1400" i="1">
                <a:latin typeface="+mj-lt"/>
                <a:ea typeface="Georgia" pitchFamily="34" charset="-122"/>
                <a:cs typeface="Georgia" pitchFamily="34" charset="-120"/>
              </a:rPr>
              <a:t> </a:t>
            </a:r>
            <a:r>
              <a:rPr lang="en-US" sz="1400" i="1" err="1">
                <a:latin typeface="+mj-lt"/>
                <a:ea typeface="Georgia" pitchFamily="34" charset="-122"/>
                <a:cs typeface="Georgia" pitchFamily="34" charset="-120"/>
              </a:rPr>
              <a:t>đủ</a:t>
            </a:r>
            <a:endParaRPr lang="en-US" sz="1400">
              <a:latin typeface="+mj-lt"/>
            </a:endParaRPr>
          </a:p>
        </p:txBody>
      </p:sp>
      <p:sp>
        <p:nvSpPr>
          <p:cNvPr id="86" name="Shape 51">
            <a:extLst>
              <a:ext uri="{FF2B5EF4-FFF2-40B4-BE49-F238E27FC236}">
                <a16:creationId xmlns:a16="http://schemas.microsoft.com/office/drawing/2014/main" id="{E13980C9-1015-C26D-A2D4-441D3F102B1C}"/>
              </a:ext>
            </a:extLst>
          </p:cNvPr>
          <p:cNvSpPr/>
          <p:nvPr/>
        </p:nvSpPr>
        <p:spPr>
          <a:xfrm>
            <a:off x="8466155" y="4218601"/>
            <a:ext cx="1018255" cy="456587"/>
          </a:xfrm>
          <a:prstGeom prst="rect">
            <a:avLst/>
          </a:prstGeom>
          <a:solidFill>
            <a:schemeClr val="bg1"/>
          </a:solidFill>
          <a:ln/>
        </p:spPr>
        <p:txBody>
          <a:bodyPr/>
          <a:lstStyle/>
          <a:p>
            <a:endParaRPr lang="en-US" sz="1400">
              <a:solidFill>
                <a:schemeClr val="bg2">
                  <a:lumMod val="75000"/>
                </a:schemeClr>
              </a:solidFill>
              <a:latin typeface="+mj-lt"/>
            </a:endParaRPr>
          </a:p>
        </p:txBody>
      </p:sp>
      <p:sp>
        <p:nvSpPr>
          <p:cNvPr id="87" name="Text 52">
            <a:extLst>
              <a:ext uri="{FF2B5EF4-FFF2-40B4-BE49-F238E27FC236}">
                <a16:creationId xmlns:a16="http://schemas.microsoft.com/office/drawing/2014/main" id="{CB6D3943-2852-FCD4-FCAB-6F28B35C4E9A}"/>
              </a:ext>
            </a:extLst>
          </p:cNvPr>
          <p:cNvSpPr/>
          <p:nvPr/>
        </p:nvSpPr>
        <p:spPr>
          <a:xfrm>
            <a:off x="8516955" y="4332901"/>
            <a:ext cx="865855" cy="253387"/>
          </a:xfrm>
          <a:prstGeom prst="rect">
            <a:avLst/>
          </a:prstGeom>
          <a:noFill/>
          <a:ln/>
        </p:spPr>
        <p:txBody>
          <a:bodyPr wrap="square" lIns="16933" tIns="16933" rIns="16933" bIns="16933" rtlCol="0" anchor="ctr">
            <a:normAutofit/>
          </a:bodyPr>
          <a:lstStyle/>
          <a:p>
            <a:pPr algn="r"/>
            <a:r>
              <a:rPr lang="en-US" sz="1400">
                <a:latin typeface="+mj-lt"/>
                <a:ea typeface="Courier New" pitchFamily="34" charset="-122"/>
                <a:cs typeface="Courier New" pitchFamily="34" charset="-120"/>
              </a:rPr>
              <a:t>0.861</a:t>
            </a:r>
            <a:endParaRPr lang="en-US" sz="1400">
              <a:latin typeface="+mj-lt"/>
            </a:endParaRPr>
          </a:p>
        </p:txBody>
      </p:sp>
      <p:sp>
        <p:nvSpPr>
          <p:cNvPr id="88" name="Shape 53">
            <a:extLst>
              <a:ext uri="{FF2B5EF4-FFF2-40B4-BE49-F238E27FC236}">
                <a16:creationId xmlns:a16="http://schemas.microsoft.com/office/drawing/2014/main" id="{8218C5C4-B3CF-F628-8A97-594CFFF1B638}"/>
              </a:ext>
            </a:extLst>
          </p:cNvPr>
          <p:cNvSpPr/>
          <p:nvPr/>
        </p:nvSpPr>
        <p:spPr>
          <a:xfrm>
            <a:off x="9484410" y="4218601"/>
            <a:ext cx="2009089" cy="456587"/>
          </a:xfrm>
          <a:prstGeom prst="rect">
            <a:avLst/>
          </a:prstGeom>
          <a:solidFill>
            <a:schemeClr val="bg1"/>
          </a:solidFill>
          <a:ln/>
        </p:spPr>
        <p:txBody>
          <a:bodyPr/>
          <a:lstStyle/>
          <a:p>
            <a:endParaRPr lang="en-US" sz="1400">
              <a:solidFill>
                <a:schemeClr val="bg2">
                  <a:lumMod val="75000"/>
                </a:schemeClr>
              </a:solidFill>
              <a:latin typeface="+mj-lt"/>
            </a:endParaRPr>
          </a:p>
        </p:txBody>
      </p:sp>
      <p:sp>
        <p:nvSpPr>
          <p:cNvPr id="89" name="Text 54">
            <a:extLst>
              <a:ext uri="{FF2B5EF4-FFF2-40B4-BE49-F238E27FC236}">
                <a16:creationId xmlns:a16="http://schemas.microsoft.com/office/drawing/2014/main" id="{84555E87-A280-CD34-2A16-02606E9D259D}"/>
              </a:ext>
            </a:extLst>
          </p:cNvPr>
          <p:cNvSpPr/>
          <p:nvPr/>
        </p:nvSpPr>
        <p:spPr>
          <a:xfrm>
            <a:off x="9525738" y="4332901"/>
            <a:ext cx="1866162" cy="253387"/>
          </a:xfrm>
          <a:prstGeom prst="rect">
            <a:avLst/>
          </a:prstGeom>
          <a:noFill/>
          <a:ln/>
        </p:spPr>
        <p:txBody>
          <a:bodyPr wrap="square" lIns="16933" tIns="16933" rIns="16933" bIns="16933" rtlCol="0" anchor="ctr">
            <a:normAutofit/>
          </a:bodyPr>
          <a:lstStyle/>
          <a:p>
            <a:pPr algn="r"/>
            <a:r>
              <a:rPr lang="en-US" sz="1400">
                <a:latin typeface="+mj-lt"/>
                <a:ea typeface="Courier New" pitchFamily="34" charset="-122"/>
                <a:cs typeface="Courier New" pitchFamily="34" charset="-120"/>
              </a:rPr>
              <a:t>+2.1</a:t>
            </a:r>
            <a:endParaRPr lang="en-US" sz="1400">
              <a:latin typeface="+mj-lt"/>
            </a:endParaRPr>
          </a:p>
        </p:txBody>
      </p:sp>
    </p:spTree>
    <p:extLst>
      <p:ext uri="{BB962C8B-B14F-4D97-AF65-F5344CB8AC3E}">
        <p14:creationId xmlns:p14="http://schemas.microsoft.com/office/powerpoint/2010/main" val="3412001763"/>
      </p:ext>
    </p:extLst>
  </p:cSld>
  <p:clrMapOvr>
    <a:masterClrMapping/>
  </p:clrMapOvr>
</p:sld>
</file>

<file path=ppt/theme/theme1.xml><?xml version="1.0" encoding="utf-8"?>
<a:theme xmlns:a="http://schemas.openxmlformats.org/drawingml/2006/main" name="Office Theme [1776864661826]">
  <a:themeElements>
    <a:clrScheme name="Office">
      <a:dk1>
        <a:srgbClr val="1E293B"/>
      </a:dk1>
      <a:lt1>
        <a:srgbClr val="FAFBFC"/>
      </a:lt1>
      <a:dk2>
        <a:srgbClr val="1B365D"/>
      </a:dk2>
      <a:lt2>
        <a:srgbClr val="F1F5F9"/>
      </a:lt2>
      <a:accent1>
        <a:srgbClr val="1B365D"/>
      </a:accent1>
      <a:accent2>
        <a:srgbClr val="0891B2"/>
      </a:accent2>
      <a:accent3>
        <a:srgbClr val="2E5C8A"/>
      </a:accent3>
      <a:accent4>
        <a:srgbClr val="06B6D4"/>
      </a:accent4>
      <a:accent5>
        <a:srgbClr val="64748B"/>
      </a:accent5>
      <a:accent6>
        <a:srgbClr val="14B8A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93F74D73-C38C-457A-A979-48AFB934ED66}">
  <we:reference id="WA200010001" version="1.0.0.1" store="Omex" storeType="OMEX"/>
  <we:alternateReferences>
    <we:reference id="WA200010001" version="1.0.0.1" store="WA200010001" storeType="OMEX"/>
  </we:alternateReferences>
  <we:properties>
    <we:property name="claude.fileId" value="&quot;b8821819-95ab-4a47-841c-60fe2460954f&quot;"/>
  </we:properties>
  <we:bindings/>
  <we:snapshot xmlns:r="http://schemas.openxmlformats.org/officeDocument/2006/relationships"/>
</we:webextension>
</file>

<file path=ppt/webextensions/webextension2.xml><?xml version="1.0" encoding="utf-8"?>
<we:webextension xmlns:we="http://schemas.microsoft.com/office/webextensions/webextension/2010/11" id="{06FCA7AE-F85F-42DC-B8AD-E10E88D7AFAD}">
  <we:reference id="wa200010215" version="2.0.0.0" store="vi-VN" storeType="OMEX"/>
  <we:alternateReferences>
    <we:reference id="WA200010215" version="2.0.0.0" store="WA200010215"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845fe17-0817-4ef9-96bc-9199a3d73a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71C697862BC5E40A1558EFFD2E56BC8" ma:contentTypeVersion="6" ma:contentTypeDescription="Create a new document." ma:contentTypeScope="" ma:versionID="3ff5d4528bdbce09fce98595fe103f54">
  <xsd:schema xmlns:xsd="http://www.w3.org/2001/XMLSchema" xmlns:xs="http://www.w3.org/2001/XMLSchema" xmlns:p="http://schemas.microsoft.com/office/2006/metadata/properties" xmlns:ns3="9845fe17-0817-4ef9-96bc-9199a3d73abc" targetNamespace="http://schemas.microsoft.com/office/2006/metadata/properties" ma:root="true" ma:fieldsID="7ff903029824f3bac751d3ee647d9cf3" ns3:_="">
    <xsd:import namespace="9845fe17-0817-4ef9-96bc-9199a3d73abc"/>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45fe17-0817-4ef9-96bc-9199a3d73a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045D2D-2253-4E86-B3D2-15772D44CFFC}">
  <ds:schemaRefs>
    <ds:schemaRef ds:uri="http://schemas.openxmlformats.org/package/2006/metadata/core-properties"/>
    <ds:schemaRef ds:uri="http://schemas.microsoft.com/office/2006/documentManagement/types"/>
    <ds:schemaRef ds:uri="http://schemas.microsoft.com/office/2006/metadata/properties"/>
    <ds:schemaRef ds:uri="http://purl.org/dc/elements/1.1/"/>
    <ds:schemaRef ds:uri="http://purl.org/dc/dcmitype/"/>
    <ds:schemaRef ds:uri="http://www.w3.org/XML/1998/namespace"/>
    <ds:schemaRef ds:uri="http://schemas.microsoft.com/office/infopath/2007/PartnerControls"/>
    <ds:schemaRef ds:uri="9845fe17-0817-4ef9-96bc-9199a3d73abc"/>
    <ds:schemaRef ds:uri="http://purl.org/dc/terms/"/>
  </ds:schemaRefs>
</ds:datastoreItem>
</file>

<file path=customXml/itemProps2.xml><?xml version="1.0" encoding="utf-8"?>
<ds:datastoreItem xmlns:ds="http://schemas.openxmlformats.org/officeDocument/2006/customXml" ds:itemID="{0A0DDDB5-5701-48A7-9602-FC2743A7CAB7}">
  <ds:schemaRefs>
    <ds:schemaRef ds:uri="9845fe17-0817-4ef9-96bc-9199a3d73ab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CE4559C-E47D-4656-BA67-20800A705A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168</TotalTime>
  <Words>7445</Words>
  <Application>Microsoft Office PowerPoint</Application>
  <PresentationFormat>Widescreen</PresentationFormat>
  <Paragraphs>686</Paragraphs>
  <Slides>29</Slides>
  <Notes>28</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 [1776864661826]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Mạnh Đỗ</dc:creator>
  <cp:keywords/>
  <dc:description>generated using python-pptx</dc:description>
  <cp:lastModifiedBy>ĐỖ TIẾN MẠNH</cp:lastModifiedBy>
  <cp:revision>23</cp:revision>
  <dcterms:created xsi:type="dcterms:W3CDTF">2013-01-27T09:14:16Z</dcterms:created>
  <dcterms:modified xsi:type="dcterms:W3CDTF">2026-07-08T10:24:47Z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0x010100171C697862BC5E40A1558EFFD2E56BC8</vt:lpwstr>
  </property>
</Properties>
</file>