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383280" y="5669280"/>
            <a:ext cx="731520" cy="731520"/>
          </a:xfrm>
          <a:prstGeom prst="rect">
            <a:avLst/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KHÓA LUẬN TỐT NGHIỆP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HCMUS  |  Khoa CNTT</a:t>
            </a:r>
          </a:p>
        </p:txBody>
      </p:sp>
      <p:pic>
        <p:nvPicPr>
          <p:cNvPr id="7" name="Picture 6" descr="logo-kht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03178"/>
            <a:ext cx="1463040" cy="11493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0" y="1463040"/>
            <a:ext cx="7132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5FFF"/>
                </a:solidFill>
                <a:latin typeface="Calibri"/>
              </a:rPr>
              <a:t>Đề tài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73152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F2A44"/>
                </a:solidFill>
                <a:latin typeface="Calibri"/>
              </a:rPr>
              <a:t>PHÁT HIỆN RANH GIỚI
CẢNH QUAY DỰA TRÊN
MÔ HÌNH HỌC SÂU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0" y="4160520"/>
            <a:ext cx="1828800" cy="0"/>
          </a:xfrm>
          <a:prstGeom prst="line">
            <a:avLst/>
          </a:prstGeom>
          <a:ln w="25400">
            <a:solidFill>
              <a:srgbClr val="FF7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0" y="4343400"/>
            <a:ext cx="7132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B6B85"/>
                </a:solidFill>
                <a:latin typeface="Calibri"/>
              </a:rPr>
              <a:t>Sinh viên thực hiện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663440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A44"/>
                </a:solidFill>
                <a:latin typeface="Calibri"/>
              </a:rPr>
              <a:t>Tặng Sềnh Mành — 22120202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983480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A44"/>
                </a:solidFill>
                <a:latin typeface="Calibri"/>
              </a:rPr>
              <a:t>Đỗ Tiến Mạnh — 22120203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5486400"/>
            <a:ext cx="7132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B6B85"/>
                </a:solidFill>
                <a:latin typeface="Calibri"/>
              </a:rPr>
              <a:t>Giảng viên hướng dẫn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5806440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A44"/>
                </a:solidFill>
                <a:latin typeface="Calibri"/>
              </a:rPr>
              <a:t>TS. Trần Thái Sơn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309360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B85"/>
                </a:solidFill>
                <a:latin typeface="Calibri"/>
              </a:rPr>
              <a:t>TP. Hồ Chí Minh  •  Tháng 04/2026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5FFF"/>
                </a:solidFill>
                <a:latin typeface="Calibri"/>
              </a:rPr>
              <a:t>MỤC LỤC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Nội dung trình bày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9525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6537960"/>
            <a:ext cx="11091672" cy="0"/>
          </a:xfrm>
          <a:prstGeom prst="line">
            <a:avLst/>
          </a:prstGeom>
          <a:ln w="6350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83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B85"/>
                </a:solidFill>
                <a:latin typeface="Calibri"/>
              </a:rPr>
              <a:t>AutoShotV2  |  HCMUS 04/2026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83680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B85"/>
                </a:solidFill>
                <a:latin typeface="Calibri"/>
              </a:rPr>
              <a:t>2 / 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28800"/>
            <a:ext cx="640080" cy="640080"/>
          </a:xfrm>
          <a:prstGeom prst="roundRect">
            <a:avLst>
              <a:gd name="adj" fmla="val 12000"/>
            </a:avLst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7452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2A44"/>
                </a:solidFill>
                <a:latin typeface="Calibri"/>
              </a:rPr>
              <a:t>Giới thiệu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26771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B6B85"/>
                </a:solidFill>
                <a:latin typeface="Calibri"/>
              </a:rPr>
              <a:t>Bối cảnh, bài toán, đóng góp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606040"/>
            <a:ext cx="640080" cy="640080"/>
          </a:xfrm>
          <a:prstGeom prst="roundRect">
            <a:avLst>
              <a:gd name="adj" fmla="val 12000"/>
            </a:avLst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65176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2A44"/>
                </a:solidFill>
                <a:latin typeface="Calibri"/>
              </a:rPr>
              <a:t>Công trình liên quan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04495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B6B85"/>
                </a:solidFill>
                <a:latin typeface="Calibri"/>
              </a:rPr>
              <a:t>Từ cổ điển đến NAS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383280"/>
            <a:ext cx="640080" cy="640080"/>
          </a:xfrm>
          <a:prstGeom prst="roundRect">
            <a:avLst>
              <a:gd name="adj" fmla="val 12000"/>
            </a:avLst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42900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2A44"/>
                </a:solidFill>
                <a:latin typeface="Calibri"/>
              </a:rPr>
              <a:t>Phương pháp đề xuất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82219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B6B85"/>
                </a:solidFill>
                <a:latin typeface="Calibri"/>
              </a:rPr>
              <a:t>AutoShotV2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160520"/>
            <a:ext cx="640080" cy="640080"/>
          </a:xfrm>
          <a:prstGeom prst="roundRect">
            <a:avLst>
              <a:gd name="adj" fmla="val 12000"/>
            </a:avLst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20624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2A44"/>
                </a:solidFill>
                <a:latin typeface="Calibri"/>
              </a:rPr>
              <a:t>Thực nghiệm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59943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B6B85"/>
                </a:solidFill>
                <a:latin typeface="Calibri"/>
              </a:rPr>
              <a:t>Dữ liệu, kết quả, ablation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937760"/>
            <a:ext cx="640080" cy="640080"/>
          </a:xfrm>
          <a:prstGeom prst="roundRect">
            <a:avLst>
              <a:gd name="adj" fmla="val 12000"/>
            </a:avLst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98348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2A44"/>
                </a:solidFill>
                <a:latin typeface="Calibri"/>
              </a:rPr>
              <a:t>Kết luận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37667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B6B85"/>
                </a:solidFill>
                <a:latin typeface="Calibri"/>
              </a:rPr>
              <a:t>Đóng góp, hạn chế, hướng phát triển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5F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Tóm tắt một trang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9525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6537960"/>
            <a:ext cx="11091672" cy="0"/>
          </a:xfrm>
          <a:prstGeom prst="line">
            <a:avLst/>
          </a:prstGeom>
          <a:ln w="6350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83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B85"/>
                </a:solidFill>
                <a:latin typeface="Calibri"/>
              </a:rPr>
              <a:t>AutoShotV2  |  HCMUS 04/2026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83680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B85"/>
                </a:solidFill>
                <a:latin typeface="Calibri"/>
              </a:rPr>
              <a:t>3 / 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3566160" cy="237744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9456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200" b="1">
                <a:solidFill>
                  <a:srgbClr val="0B5FFF"/>
                </a:solidFill>
                <a:latin typeface="Calibri"/>
              </a:rPr>
              <a:t>853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4612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Calibri"/>
              </a:rPr>
              <a:t>video trong tập SHOT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5760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B6B85"/>
                </a:solidFill>
                <a:latin typeface="Calibri"/>
              </a:rPr>
              <a:t>11.606 nhãn • 960.794 khung hình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828800"/>
            <a:ext cx="3566160" cy="237744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219456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200" b="1">
                <a:solidFill>
                  <a:srgbClr val="0B5FFF"/>
                </a:solidFill>
                <a:latin typeface="Calibri"/>
              </a:rPr>
              <a:t>0.855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24612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Calibri"/>
              </a:rPr>
              <a:t>F1 của AutoShotV2 trên SHOT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65760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B6B85"/>
                </a:solidFill>
                <a:latin typeface="Calibri"/>
              </a:rPr>
              <a:t>đạt trạng thái tốt nhất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828800"/>
            <a:ext cx="3566160" cy="237744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219456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200" b="1">
                <a:solidFill>
                  <a:srgbClr val="0B5FFF"/>
                </a:solidFill>
                <a:latin typeface="Calibri"/>
              </a:rPr>
              <a:t>+5.5%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324612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Calibri"/>
              </a:rPr>
              <a:t>cải thiện so với TransNetV2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65760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B6B85"/>
                </a:solidFill>
                <a:latin typeface="Calibri"/>
              </a:rPr>
              <a:t>+1.4% so với AutoShot gốc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8920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7A45"/>
                </a:solidFill>
                <a:latin typeface="Calibri"/>
              </a:rPr>
              <a:t>Đóng góp cốt lõi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21208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Kết hợp Focal Loss + Many-hot labels + Temperature scaling + Gaussian smoothing trên backbone NAS, đóng băng hoàn toàn để huấn luyện lại classification head cho video ngắn.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5FFF"/>
                </a:solidFill>
                <a:latin typeface="Calibri"/>
              </a:rPr>
              <a:t>CHƯƠNG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Bối cảnh &amp; động lực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9525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6537960"/>
            <a:ext cx="11091672" cy="0"/>
          </a:xfrm>
          <a:prstGeom prst="line">
            <a:avLst/>
          </a:prstGeom>
          <a:ln w="6350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83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B85"/>
                </a:solidFill>
                <a:latin typeface="Calibri"/>
              </a:rPr>
              <a:t>AutoShotV2  |  HCMUS 04/2026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83680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B85"/>
                </a:solidFill>
                <a:latin typeface="Calibri"/>
              </a:rPr>
              <a:t>4 / 27</a:t>
            </a:r>
          </a:p>
        </p:txBody>
      </p:sp>
      <p:pic>
        <p:nvPicPr>
          <p:cNvPr id="10" name="Picture 9" descr="tang_truong_sh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98320"/>
            <a:ext cx="6400800" cy="426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0" y="1828800"/>
            <a:ext cx="43891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1">
                <a:solidFill>
                  <a:srgbClr val="0B5FFF"/>
                </a:solidFill>
                <a:latin typeface="Calibri"/>
              </a:rPr>
              <a:t>•  </a:t>
            </a:r>
            <a:r>
              <a:rPr sz="1600" b="1">
                <a:solidFill>
                  <a:srgbClr val="1F2A44"/>
                </a:solidFill>
                <a:latin typeface="Calibri"/>
              </a:rPr>
              <a:t>Short-form bùng nổ: </a:t>
            </a:r>
            <a:r>
              <a:rPr sz="1600">
                <a:solidFill>
                  <a:srgbClr val="1F2A44"/>
                </a:solidFill>
                <a:latin typeface="Calibri"/>
              </a:rPr>
              <a:t>TikTok, Reels, Shorts chiếm lĩnh nội dung số.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1">
                <a:solidFill>
                  <a:srgbClr val="0B5FFF"/>
                </a:solidFill>
                <a:latin typeface="Calibri"/>
              </a:rPr>
              <a:t>•  </a:t>
            </a:r>
            <a:r>
              <a:rPr sz="1600" b="1">
                <a:solidFill>
                  <a:srgbClr val="1F2A44"/>
                </a:solidFill>
                <a:latin typeface="Calibri"/>
              </a:rPr>
              <a:t>Nhu cầu phân tích tự động: </a:t>
            </a:r>
            <a:r>
              <a:rPr sz="1600">
                <a:solidFill>
                  <a:srgbClr val="1F2A44"/>
                </a:solidFill>
                <a:latin typeface="Calibri"/>
              </a:rPr>
              <a:t>chỉ mục, đề xuất, kiểm duyệt, quảng cáo.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1">
                <a:solidFill>
                  <a:srgbClr val="0B5FFF"/>
                </a:solidFill>
                <a:latin typeface="Calibri"/>
              </a:rPr>
              <a:t>•  </a:t>
            </a:r>
            <a:r>
              <a:rPr sz="1600" b="1">
                <a:solidFill>
                  <a:srgbClr val="1F2A44"/>
                </a:solidFill>
                <a:latin typeface="Calibri"/>
              </a:rPr>
              <a:t>Shot Boundary Detection (SBD): </a:t>
            </a:r>
            <a:r>
              <a:rPr sz="1600">
                <a:solidFill>
                  <a:srgbClr val="1F2A44"/>
                </a:solidFill>
                <a:latin typeface="Calibri"/>
              </a:rPr>
              <a:t>bước nền cho hầu hết pipeline phân tích video.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1">
                <a:solidFill>
                  <a:srgbClr val="0B5FFF"/>
                </a:solidFill>
                <a:latin typeface="Calibri"/>
              </a:rPr>
              <a:t>•  </a:t>
            </a:r>
            <a:r>
              <a:rPr sz="1600" b="1">
                <a:solidFill>
                  <a:srgbClr val="1F2A44"/>
                </a:solidFill>
                <a:latin typeface="Calibri"/>
              </a:rPr>
              <a:t>Phương pháp cũ lệch miền: </a:t>
            </a:r>
            <a:r>
              <a:rPr sz="1600">
                <a:solidFill>
                  <a:srgbClr val="1F2A44"/>
                </a:solidFill>
                <a:latin typeface="Calibri"/>
              </a:rPr>
              <a:t>hiệu năng giảm mạnh trên video ngắn.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5FFF"/>
                </a:solidFill>
                <a:latin typeface="Calibri"/>
              </a:rPr>
              <a:t>CHƯƠNG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Bài toán Shot Boundary Detection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9525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6537960"/>
            <a:ext cx="11091672" cy="0"/>
          </a:xfrm>
          <a:prstGeom prst="line">
            <a:avLst/>
          </a:prstGeom>
          <a:ln w="6350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83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B85"/>
                </a:solidFill>
                <a:latin typeface="Calibri"/>
              </a:rPr>
              <a:t>AutoShotV2  |  HCMUS 04/2026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83680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B85"/>
                </a:solidFill>
                <a:latin typeface="Calibri"/>
              </a:rPr>
              <a:t>5 / 27</a:t>
            </a:r>
          </a:p>
        </p:txBody>
      </p:sp>
      <p:pic>
        <p:nvPicPr>
          <p:cNvPr id="10" name="Picture 9" descr="video_sce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96444"/>
            <a:ext cx="5943600" cy="267095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58000" y="1828800"/>
            <a:ext cx="4846320" cy="18288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86600" y="19659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5FFF"/>
                </a:solidFill>
                <a:latin typeface="Calibri"/>
              </a:rPr>
              <a:t>Định nghĩa hình thức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286000"/>
            <a:ext cx="4572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Calibri"/>
              </a:rPr>
              <a:t>Input:  V = {f₁, f₂, …, fₙ}
Output: B = {b₁, b₂, …, bₘ}
              + loại chuyển cảnh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9319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Calibri"/>
              </a:rPr>
              <a:t>Hai loại chuyển cảnh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343400"/>
            <a:ext cx="48463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0B5FFF"/>
                </a:solidFill>
                <a:latin typeface="Calibri"/>
              </a:rPr>
              <a:t>•  </a:t>
            </a:r>
            <a:r>
              <a:rPr sz="1400" b="1">
                <a:solidFill>
                  <a:srgbClr val="1F2A44"/>
                </a:solidFill>
                <a:latin typeface="Calibri"/>
              </a:rPr>
              <a:t>Cut: </a:t>
            </a:r>
            <a:r>
              <a:rPr sz="1400">
                <a:solidFill>
                  <a:srgbClr val="1F2A44"/>
                </a:solidFill>
                <a:latin typeface="Calibri"/>
              </a:rPr>
              <a:t>ranh giới đột ngột giữa 2 khung hình liên tiếp.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0B5FFF"/>
                </a:solidFill>
                <a:latin typeface="Calibri"/>
              </a:rPr>
              <a:t>•  </a:t>
            </a:r>
            <a:r>
              <a:rPr sz="1400" b="1">
                <a:solidFill>
                  <a:srgbClr val="1F2A44"/>
                </a:solidFill>
                <a:latin typeface="Calibri"/>
              </a:rPr>
              <a:t>Gradual: </a:t>
            </a:r>
            <a:r>
              <a:rPr sz="1400">
                <a:solidFill>
                  <a:srgbClr val="1F2A44"/>
                </a:solidFill>
                <a:latin typeface="Calibri"/>
              </a:rPr>
              <a:t>fade, dissolve, wipe — thay đổi trên nhiều khung.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5FFF"/>
                </a:solidFill>
                <a:latin typeface="Calibri"/>
              </a:rPr>
              <a:t>CHƯƠNG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Minh họa các loại chuyển cảnh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9525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6537960"/>
            <a:ext cx="11091672" cy="0"/>
          </a:xfrm>
          <a:prstGeom prst="line">
            <a:avLst/>
          </a:prstGeom>
          <a:ln w="6350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83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B85"/>
                </a:solidFill>
                <a:latin typeface="Calibri"/>
              </a:rPr>
              <a:t>AutoShotV2  |  HCMUS 04/2026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83680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B85"/>
                </a:solidFill>
                <a:latin typeface="Calibri"/>
              </a:rPr>
              <a:t>6 / 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2697480" cy="214884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ut_tran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729903"/>
            <a:ext cx="2423160" cy="34663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4069080"/>
            <a:ext cx="2697480" cy="8229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11480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0B5FFF"/>
                </a:solidFill>
                <a:latin typeface="Calibri"/>
              </a:rPr>
              <a:t>Cut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48056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B6B85"/>
                </a:solidFill>
                <a:latin typeface="Calibri"/>
              </a:rPr>
              <a:t>Đổi đột ngột giữa 2 khung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1828800"/>
            <a:ext cx="2697480" cy="214884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dissol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2726200"/>
            <a:ext cx="2423160" cy="35404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3429000" y="4069080"/>
            <a:ext cx="2697480" cy="8229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411480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0B5FFF"/>
                </a:solidFill>
                <a:latin typeface="Calibri"/>
              </a:rPr>
              <a:t>Dissolve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48056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B6B85"/>
                </a:solidFill>
                <a:latin typeface="Calibri"/>
              </a:rPr>
              <a:t>Hòa trộn tuyến tính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828800"/>
            <a:ext cx="2697480" cy="214884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fade_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2729181"/>
            <a:ext cx="2423160" cy="348078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6309360" y="4069080"/>
            <a:ext cx="2697480" cy="8229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11480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0B5FFF"/>
                </a:solidFill>
                <a:latin typeface="Calibri"/>
              </a:rPr>
              <a:t>Fade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48056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B6B85"/>
                </a:solidFill>
                <a:latin typeface="Calibri"/>
              </a:rPr>
              <a:t>Xuất hiện / biến mất dần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89720" y="1828800"/>
            <a:ext cx="2697480" cy="214884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wip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234" y="1965960"/>
            <a:ext cx="2332451" cy="187452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9189720" y="4069080"/>
            <a:ext cx="2697480" cy="8229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0" y="411480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0B5FFF"/>
                </a:solidFill>
                <a:latin typeface="Calibri"/>
              </a:rPr>
              <a:t>Wipe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448056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5B6B85"/>
                </a:solidFill>
                <a:latin typeface="Calibri"/>
              </a:rPr>
              <a:t>Quét ranh giới hình học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5FFF"/>
                </a:solidFill>
                <a:latin typeface="Calibri"/>
              </a:rPr>
              <a:t>CHƯƠNG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Thách thức riêng của video ngắn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9525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6537960"/>
            <a:ext cx="11091672" cy="0"/>
          </a:xfrm>
          <a:prstGeom prst="line">
            <a:avLst/>
          </a:prstGeom>
          <a:ln w="6350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83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B85"/>
                </a:solidFill>
                <a:latin typeface="Calibri"/>
              </a:rPr>
              <a:t>AutoShotV2  |  HCMUS 04/2026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83680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B85"/>
                </a:solidFill>
                <a:latin typeface="Calibri"/>
              </a:rPr>
              <a:t>7 / 27</a:t>
            </a:r>
          </a:p>
        </p:txBody>
      </p:sp>
      <p:pic>
        <p:nvPicPr>
          <p:cNvPr id="10" name="Picture 9" descr="tikto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6341" y="1691640"/>
            <a:ext cx="1076598" cy="2331720"/>
          </a:xfrm>
          <a:prstGeom prst="rect">
            <a:avLst/>
          </a:prstGeom>
        </p:spPr>
      </p:pic>
      <p:pic>
        <p:nvPicPr>
          <p:cNvPr id="11" name="Picture 10" descr="flas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887" y="4114800"/>
            <a:ext cx="3071505" cy="2148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94960" y="1691640"/>
            <a:ext cx="6400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600" b="1">
                <a:solidFill>
                  <a:srgbClr val="0B5FFF"/>
                </a:solidFill>
                <a:latin typeface="Calibri"/>
              </a:rPr>
              <a:t>•  </a:t>
            </a:r>
            <a:r>
              <a:rPr sz="1600" b="1">
                <a:solidFill>
                  <a:srgbClr val="1F2A44"/>
                </a:solidFill>
                <a:latin typeface="Calibri"/>
              </a:rPr>
              <a:t>Shot dày đặc: </a:t>
            </a:r>
            <a:r>
              <a:rPr sz="1600">
                <a:solidFill>
                  <a:srgbClr val="1F2A44"/>
                </a:solidFill>
                <a:latin typeface="Calibri"/>
              </a:rPr>
              <a:t>trung bình 2,59 s / shot (vs 6–15 s truyền thống).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600" b="1">
                <a:solidFill>
                  <a:srgbClr val="0B5FFF"/>
                </a:solidFill>
                <a:latin typeface="Calibri"/>
              </a:rPr>
              <a:t>•  </a:t>
            </a:r>
            <a:r>
              <a:rPr sz="1600" b="1">
                <a:solidFill>
                  <a:srgbClr val="1F2A44"/>
                </a:solidFill>
                <a:latin typeface="Calibri"/>
              </a:rPr>
              <a:t>Hiệu ứng phức tạp: </a:t>
            </a:r>
            <a:r>
              <a:rPr sz="1600">
                <a:solidFill>
                  <a:srgbClr val="1F2A44"/>
                </a:solidFill>
                <a:latin typeface="Calibri"/>
              </a:rPr>
              <a:t>gradual chồng lớp, hiệu ứng editor đa dạng.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600" b="1">
                <a:solidFill>
                  <a:srgbClr val="0B5FFF"/>
                </a:solidFill>
                <a:latin typeface="Calibri"/>
              </a:rPr>
              <a:t>•  </a:t>
            </a:r>
            <a:r>
              <a:rPr sz="1600" b="1">
                <a:solidFill>
                  <a:srgbClr val="1F2A44"/>
                </a:solidFill>
                <a:latin typeface="Calibri"/>
              </a:rPr>
              <a:t>Khung dọc có viền tĩnh: </a:t>
            </a:r>
            <a:r>
              <a:rPr sz="1600">
                <a:solidFill>
                  <a:srgbClr val="1F2A44"/>
                </a:solidFill>
                <a:latin typeface="Calibri"/>
              </a:rPr>
              <a:t>cấu trúc ba phần gây nhầm lẫn cho SBD.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600" b="1">
                <a:solidFill>
                  <a:srgbClr val="0B5FFF"/>
                </a:solidFill>
                <a:latin typeface="Calibri"/>
              </a:rPr>
              <a:t>•  </a:t>
            </a:r>
            <a:r>
              <a:rPr sz="1600" b="1">
                <a:solidFill>
                  <a:srgbClr val="1F2A44"/>
                </a:solidFill>
                <a:latin typeface="Calibri"/>
              </a:rPr>
              <a:t>Flash &amp; camera motion: </a:t>
            </a:r>
            <a:r>
              <a:rPr sz="1600">
                <a:solidFill>
                  <a:srgbClr val="1F2A44"/>
                </a:solidFill>
                <a:latin typeface="Calibri"/>
              </a:rPr>
              <a:t>tạo false positive khó phân biệt.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600" b="1">
                <a:solidFill>
                  <a:srgbClr val="0B5FFF"/>
                </a:solidFill>
                <a:latin typeface="Calibri"/>
              </a:rPr>
              <a:t>•  </a:t>
            </a:r>
            <a:r>
              <a:rPr sz="1600" b="1">
                <a:solidFill>
                  <a:srgbClr val="1F2A44"/>
                </a:solidFill>
                <a:latin typeface="Calibri"/>
              </a:rPr>
              <a:t>Nội dung ảo / game: </a:t>
            </a:r>
            <a:r>
              <a:rPr sz="1600">
                <a:solidFill>
                  <a:srgbClr val="1F2A44"/>
                </a:solidFill>
                <a:latin typeface="Calibri"/>
              </a:rPr>
              <a:t>biến đổi thị giác ngay trong một shot.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5FFF"/>
                </a:solidFill>
                <a:latin typeface="Calibri"/>
              </a:rPr>
              <a:t>CHƯƠNG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Câu hỏi nghiên cứu &amp; đóng góp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9525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6537960"/>
            <a:ext cx="11091672" cy="0"/>
          </a:xfrm>
          <a:prstGeom prst="line">
            <a:avLst/>
          </a:prstGeom>
          <a:ln w="6350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83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B85"/>
                </a:solidFill>
                <a:latin typeface="Calibri"/>
              </a:rPr>
              <a:t>AutoShotV2  |  HCMUS 04/2026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83680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B85"/>
                </a:solidFill>
                <a:latin typeface="Calibri"/>
              </a:rPr>
              <a:t>8 / 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5486400" cy="36576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373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CÂU HỎI NGHIÊN CỨU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103120"/>
            <a:ext cx="5486400" cy="420624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2286000"/>
            <a:ext cx="822960" cy="502920"/>
          </a:xfrm>
          <a:prstGeom prst="roundRect">
            <a:avLst>
              <a:gd name="adj" fmla="val 12000"/>
            </a:avLst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359152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RQ1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286000"/>
            <a:ext cx="4206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NAS có giúp kiến trúc vượt trội so với backbone cố định trên video ngắn?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566160"/>
            <a:ext cx="822960" cy="502920"/>
          </a:xfrm>
          <a:prstGeom prst="roundRect">
            <a:avLst>
              <a:gd name="adj" fmla="val 12000"/>
            </a:avLst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639312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RQ2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566160"/>
            <a:ext cx="4206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Các kỹ thuật head + hậu xử lý (Focal, many-hot, temp scaling, Gaussian) có cải thiện F1 mà không đổi backbone?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846320"/>
            <a:ext cx="822960" cy="502920"/>
          </a:xfrm>
          <a:prstGeom prst="roundRect">
            <a:avLst>
              <a:gd name="adj" fmla="val 12000"/>
            </a:avLst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919472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RQ3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846320"/>
            <a:ext cx="4206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Cải tiến trên SHOT có tổng quát hóa sang BBC / ClipShots?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691640"/>
            <a:ext cx="5486400" cy="365760"/>
          </a:xfrm>
          <a:prstGeom prst="rect">
            <a:avLst/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7373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ĐÓNG GÓP CHÍNH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103120"/>
            <a:ext cx="5486400" cy="420624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228600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7A45"/>
                </a:solidFill>
                <a:latin typeface="Calibri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228600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Calibri"/>
              </a:rPr>
              <a:t>Tổng quan có hệ thống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2697480"/>
            <a:ext cx="4297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B85"/>
                </a:solidFill>
                <a:latin typeface="Calibri"/>
              </a:rPr>
              <a:t>SBD cổ điển → deep learning → NAS.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56616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7A45"/>
                </a:solidFill>
                <a:latin typeface="Calibri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356616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Calibri"/>
              </a:rPr>
              <a:t>Pipeline AutoShotV2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3977640"/>
            <a:ext cx="4297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B85"/>
                </a:solidFill>
                <a:latin typeface="Calibri"/>
              </a:rPr>
              <a:t>Focal Loss, many-hot, temp scaling, Gaussian trên backbone NAS đóng băng.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8463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7A45"/>
                </a:solidFill>
                <a:latin typeface="Calibri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484632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Calibri"/>
              </a:rPr>
              <a:t>Đánh giá đa miền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5257800"/>
            <a:ext cx="4297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B85"/>
                </a:solidFill>
                <a:latin typeface="Calibri"/>
              </a:rPr>
              <a:t>SHOT, BBC, ClipShots — phân tích tổng quát hóa.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5FFF"/>
                </a:solidFill>
                <a:latin typeface="Calibri"/>
              </a:rPr>
              <a:t>CHƯƠNG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Tiến hóa các phương pháp SBD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9525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6537960"/>
            <a:ext cx="11091672" cy="0"/>
          </a:xfrm>
          <a:prstGeom prst="line">
            <a:avLst/>
          </a:prstGeom>
          <a:ln w="6350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83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B85"/>
                </a:solidFill>
                <a:latin typeface="Calibri"/>
              </a:rPr>
              <a:t>AutoShotV2  |  HCMUS 04/2026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83680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B85"/>
                </a:solidFill>
                <a:latin typeface="Calibri"/>
              </a:rPr>
              <a:t>9 / 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3657600" cy="402336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3657600" cy="457200"/>
          </a:xfrm>
          <a:prstGeom prst="rect">
            <a:avLst/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20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Pre-2016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4688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2A44"/>
                </a:solidFill>
                <a:latin typeface="Calibri"/>
              </a:rPr>
              <a:t>Cổ điển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" y="3017520"/>
            <a:ext cx="1143000" cy="0"/>
          </a:xfrm>
          <a:prstGeom prst="line">
            <a:avLst/>
          </a:prstGeom>
          <a:ln w="31750">
            <a:solidFill>
              <a:srgbClr val="5B6B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324612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Calibri"/>
              </a:rPr>
              <a:t>Histogram • pixel diff • 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160520"/>
            <a:ext cx="3200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B6B85"/>
                </a:solidFill>
                <a:latin typeface="Calibri"/>
              </a:rPr>
              <a:t>Nhẹ, trực quan nhưng kém tổng quát hóa.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1828800"/>
            <a:ext cx="3657600" cy="402336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1828800"/>
            <a:ext cx="3657600" cy="4572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1920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2017 – 2020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4688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2A44"/>
                </a:solidFill>
                <a:latin typeface="Calibri"/>
              </a:rPr>
              <a:t>Deep Learning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72000" y="3017520"/>
            <a:ext cx="1143000" cy="0"/>
          </a:xfrm>
          <a:prstGeom prst="line">
            <a:avLst/>
          </a:prstGeom>
          <a:ln w="31750">
            <a:solidFill>
              <a:srgbClr val="0B5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72000" y="324612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Calibri"/>
              </a:rPr>
              <a:t>C3D (DeepSBD) • TransNetV2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160520"/>
            <a:ext cx="3200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B6B85"/>
                </a:solidFill>
                <a:latin typeface="Calibri"/>
              </a:rPr>
              <a:t>Học đặc trưng không – thời gian; mạnh trên phim dài.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1828800"/>
            <a:ext cx="3657600" cy="402336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60" y="1828800"/>
            <a:ext cx="3657600" cy="457200"/>
          </a:xfrm>
          <a:prstGeom prst="rect">
            <a:avLst/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1920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2023 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24688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2A44"/>
                </a:solidFill>
                <a:latin typeface="Calibri"/>
              </a:rPr>
              <a:t>NAS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366760" y="3017520"/>
            <a:ext cx="1143000" cy="0"/>
          </a:xfrm>
          <a:prstGeom prst="line">
            <a:avLst/>
          </a:prstGeom>
          <a:ln w="31750">
            <a:solidFill>
              <a:srgbClr val="FF7A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366760" y="324612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Calibri"/>
              </a:rPr>
              <a:t>AutoShot • AutoShotV2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160520"/>
            <a:ext cx="3200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B6B85"/>
                </a:solidFill>
                <a:latin typeface="Calibri"/>
              </a:rPr>
              <a:t>Tự tìm kiến trúc tối ưu cho short-form video.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5FFF"/>
                </a:solidFill>
                <a:latin typeface="Calibri"/>
              </a:rPr>
              <a:t>CHƯƠNG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TransNetV2 &amp; AutoShot — baseline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9525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6537960"/>
            <a:ext cx="11091672" cy="0"/>
          </a:xfrm>
          <a:prstGeom prst="line">
            <a:avLst/>
          </a:prstGeom>
          <a:ln w="6350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83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B85"/>
                </a:solidFill>
                <a:latin typeface="Calibri"/>
              </a:rPr>
              <a:t>AutoShotV2  |  HCMUS 04/2026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83680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B85"/>
                </a:solidFill>
                <a:latin typeface="Calibri"/>
              </a:rPr>
              <a:t>10 / 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9235440" cy="50292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938528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Mô hình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938528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F1 SHOT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1938528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F1 BBC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1938528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F1 ClipShots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93852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Ghi chú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331720"/>
            <a:ext cx="9235440" cy="5029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441448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Calibri"/>
              </a:rPr>
              <a:t>TransNetV2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441448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0.799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2441448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0.962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2441448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0.776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244144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Tối ưu cho phim dài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834640"/>
            <a:ext cx="92354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2944368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Calibri"/>
              </a:rPr>
              <a:t>AutoShot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2944368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0.841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9080" y="2944368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0.971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0680" y="2944368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0.787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294436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NAS cho short-form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0233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5FFF"/>
                </a:solidFill>
                <a:latin typeface="Calibri"/>
              </a:rPr>
              <a:t>Nhận xét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434840"/>
            <a:ext cx="110642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1">
                <a:solidFill>
                  <a:srgbClr val="0B5FFF"/>
                </a:solidFill>
                <a:latin typeface="Calibri"/>
              </a:rPr>
              <a:t>•  </a:t>
            </a:r>
            <a:r>
              <a:rPr sz="1500" b="1">
                <a:solidFill>
                  <a:srgbClr val="1F2A44"/>
                </a:solidFill>
                <a:latin typeface="Calibri"/>
              </a:rPr>
              <a:t>TransNetV2 tối ưu cho phim dài: </a:t>
            </a:r>
            <a:r>
              <a:rPr sz="1500">
                <a:solidFill>
                  <a:srgbClr val="1F2A44"/>
                </a:solidFill>
                <a:latin typeface="Calibri"/>
              </a:rPr>
              <a:t>F1 giảm khi chuyển sang video ngắn.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1">
                <a:solidFill>
                  <a:srgbClr val="0B5FFF"/>
                </a:solidFill>
                <a:latin typeface="Calibri"/>
              </a:rPr>
              <a:t>•  </a:t>
            </a:r>
            <a:r>
              <a:rPr sz="1500" b="1">
                <a:solidFill>
                  <a:srgbClr val="1F2A44"/>
                </a:solidFill>
                <a:latin typeface="Calibri"/>
              </a:rPr>
              <a:t>AutoShot (NAS) vượt baseline </a:t>
            </a:r>
            <a:r>
              <a:rPr sz="1500">
                <a:solidFill>
                  <a:srgbClr val="1F2A44"/>
                </a:solidFill>
                <a:latin typeface="Calibri"/>
              </a:rPr>
              <a:t>+4,2% trên SHOT — cho thấy NAS phù hợp với miền short-form.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1">
                <a:solidFill>
                  <a:srgbClr val="0B5FFF"/>
                </a:solidFill>
                <a:latin typeface="Calibri"/>
              </a:rPr>
              <a:t>•  </a:t>
            </a:r>
            <a:r>
              <a:rPr sz="1500" b="1">
                <a:solidFill>
                  <a:srgbClr val="1F2A44"/>
                </a:solidFill>
                <a:latin typeface="Calibri"/>
              </a:rPr>
              <a:t>Vẫn còn dư địa: </a:t>
            </a:r>
            <a:r>
              <a:rPr sz="1500">
                <a:solidFill>
                  <a:srgbClr val="1F2A44"/>
                </a:solidFill>
                <a:latin typeface="Calibri"/>
              </a:rPr>
              <a:t>head classification và hậu xử lý chưa được khai thác hệ thống.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5FFF"/>
                </a:solidFill>
                <a:latin typeface="Calibri"/>
              </a:rPr>
              <a:t>CHƯƠNG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Khoảng trống nghiên cứu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9525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6537960"/>
            <a:ext cx="11091672" cy="0"/>
          </a:xfrm>
          <a:prstGeom prst="line">
            <a:avLst/>
          </a:prstGeom>
          <a:ln w="6350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83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B85"/>
                </a:solidFill>
                <a:latin typeface="Calibri"/>
              </a:rPr>
              <a:t>AutoShotV2  |  HCMUS 04/2026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83680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B85"/>
                </a:solidFill>
                <a:latin typeface="Calibri"/>
              </a:rPr>
              <a:t>11 / 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11680"/>
            <a:ext cx="1188720" cy="1188720"/>
          </a:xfrm>
          <a:prstGeom prst="roundRect">
            <a:avLst>
              <a:gd name="adj" fmla="val 12000"/>
            </a:avLst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31720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103120"/>
            <a:ext cx="9692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F2A44"/>
                </a:solidFill>
                <a:latin typeface="Calibri"/>
              </a:rPr>
              <a:t>Domain shift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51460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B85"/>
                </a:solidFill>
                <a:latin typeface="Calibri"/>
              </a:rPr>
              <a:t>Bộ dữ liệu truyền thống (BBC, RAI) có đặc trưng khác hẳn short-form video hiện đại.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37560"/>
            <a:ext cx="1188720" cy="1188720"/>
          </a:xfrm>
          <a:prstGeom prst="roundRect">
            <a:avLst>
              <a:gd name="adj" fmla="val 12000"/>
            </a:avLst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657600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429000"/>
            <a:ext cx="9692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F2A44"/>
                </a:solidFill>
                <a:latin typeface="Calibri"/>
              </a:rPr>
              <a:t>Tổng quát hóa đa miền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84048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B85"/>
                </a:solidFill>
                <a:latin typeface="Calibri"/>
              </a:rPr>
              <a:t>F1 cao trên SHOT không đảm bảo F1 cao trên BBC hay ClipShots.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63440"/>
            <a:ext cx="1188720" cy="1188720"/>
          </a:xfrm>
          <a:prstGeom prst="roundRect">
            <a:avLst>
              <a:gd name="adj" fmla="val 12000"/>
            </a:avLst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983480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4754880"/>
            <a:ext cx="9692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F2A44"/>
                </a:solidFill>
                <a:latin typeface="Calibri"/>
              </a:rPr>
              <a:t>Head &amp; post-processing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516636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B85"/>
                </a:solidFill>
                <a:latin typeface="Calibri"/>
              </a:rPr>
              <a:t>Ít nghiên cứu hệ thống về classification head + hiệu chỉnh xác suất + làm mượt thời gian.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7A45"/>
                </a:solidFill>
                <a:latin typeface="Calibri"/>
              </a:rPr>
              <a:t>→ AutoShotV2 tập trung lấp khoảng trống thứ ba, đồng thời đo kiểm tổng quát hóa.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5FFF"/>
                </a:solidFill>
                <a:latin typeface="Calibri"/>
              </a:rPr>
              <a:t>CHƯƠNG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Kiến trúc tổng quan AutoShot / AutoShotV2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9525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6537960"/>
            <a:ext cx="11091672" cy="0"/>
          </a:xfrm>
          <a:prstGeom prst="line">
            <a:avLst/>
          </a:prstGeom>
          <a:ln w="6350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83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B85"/>
                </a:solidFill>
                <a:latin typeface="Calibri"/>
              </a:rPr>
              <a:t>AutoShotV2  |  HCMUS 04/2026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83680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B85"/>
                </a:solidFill>
                <a:latin typeface="Calibri"/>
              </a:rPr>
              <a:t>12 / 27</a:t>
            </a:r>
          </a:p>
        </p:txBody>
      </p:sp>
      <p:pic>
        <p:nvPicPr>
          <p:cNvPr id="10" name="Picture 9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839" y="1645920"/>
            <a:ext cx="6597680" cy="4754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0" y="182880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5FFF"/>
                </a:solidFill>
                <a:latin typeface="Calibri"/>
              </a:rPr>
              <a:t>Pipeline 4 giai đoạn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286000"/>
            <a:ext cx="35661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1">
                <a:solidFill>
                  <a:srgbClr val="0B5FFF"/>
                </a:solidFill>
                <a:latin typeface="Calibri"/>
              </a:rPr>
              <a:t>•  </a:t>
            </a:r>
            <a:r>
              <a:rPr sz="1400" b="1">
                <a:solidFill>
                  <a:srgbClr val="1F2A44"/>
                </a:solidFill>
                <a:latin typeface="Calibri"/>
              </a:rPr>
              <a:t>Input: </a:t>
            </a:r>
            <a:r>
              <a:rPr sz="1400">
                <a:solidFill>
                  <a:srgbClr val="1F2A44"/>
                </a:solidFill>
                <a:latin typeface="Calibri"/>
              </a:rPr>
              <a:t>chuỗi khung hình video.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1">
                <a:solidFill>
                  <a:srgbClr val="0B5FFF"/>
                </a:solidFill>
                <a:latin typeface="Calibri"/>
              </a:rPr>
              <a:t>•  </a:t>
            </a:r>
            <a:r>
              <a:rPr sz="1400" b="1">
                <a:solidFill>
                  <a:srgbClr val="1F2A44"/>
                </a:solidFill>
                <a:latin typeface="Calibri"/>
              </a:rPr>
              <a:t>Backbone: </a:t>
            </a:r>
            <a:r>
              <a:rPr sz="1400">
                <a:solidFill>
                  <a:srgbClr val="1F2A44"/>
                </a:solidFill>
                <a:latin typeface="Calibri"/>
              </a:rPr>
              <a:t>3D CNN + Transformer (tìm bằng NAS).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1">
                <a:solidFill>
                  <a:srgbClr val="0B5FFF"/>
                </a:solidFill>
                <a:latin typeface="Calibri"/>
              </a:rPr>
              <a:t>•  </a:t>
            </a:r>
            <a:r>
              <a:rPr sz="1400" b="1">
                <a:solidFill>
                  <a:srgbClr val="1F2A44"/>
                </a:solidFill>
                <a:latin typeface="Calibri"/>
              </a:rPr>
              <a:t>Head: </a:t>
            </a:r>
            <a:r>
              <a:rPr sz="1400">
                <a:solidFill>
                  <a:srgbClr val="1F2A44"/>
                </a:solidFill>
                <a:latin typeface="Calibri"/>
              </a:rPr>
              <a:t>dự đoán xác suất boundary.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1">
                <a:solidFill>
                  <a:srgbClr val="0B5FFF"/>
                </a:solidFill>
                <a:latin typeface="Calibri"/>
              </a:rPr>
              <a:t>•  </a:t>
            </a:r>
            <a:r>
              <a:rPr sz="1400" b="1">
                <a:solidFill>
                  <a:srgbClr val="1F2A44"/>
                </a:solidFill>
                <a:latin typeface="Calibri"/>
              </a:rPr>
              <a:t>Post-proc: </a:t>
            </a:r>
            <a:r>
              <a:rPr sz="1400">
                <a:solidFill>
                  <a:srgbClr val="1F2A44"/>
                </a:solidFill>
                <a:latin typeface="Calibri"/>
              </a:rPr>
              <a:t>smoothing + ngưỡng hóa → boundary.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5FFF"/>
                </a:solidFill>
                <a:latin typeface="Calibri"/>
              </a:rPr>
              <a:t>CHƯƠNG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Neural Architecture Search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9525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6537960"/>
            <a:ext cx="11091672" cy="0"/>
          </a:xfrm>
          <a:prstGeom prst="line">
            <a:avLst/>
          </a:prstGeom>
          <a:ln w="6350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83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B85"/>
                </a:solidFill>
                <a:latin typeface="Calibri"/>
              </a:rPr>
              <a:t>AutoShotV2  |  HCMUS 04/2026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83680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B85"/>
                </a:solidFill>
                <a:latin typeface="Calibri"/>
              </a:rPr>
              <a:t>13 / 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5303520" cy="45720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65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5FFF"/>
                </a:solidFill>
                <a:latin typeface="Calibri"/>
              </a:rPr>
              <a:t>Không gian tìm kiếm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31720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>
                <a:solidFill>
                  <a:srgbClr val="0B5FFF"/>
                </a:solidFill>
                <a:latin typeface="Calibri"/>
              </a:rPr>
              <a:t>83,9 triệu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204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kiến trúc ứng viên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B85"/>
                </a:solidFill>
                <a:latin typeface="Calibri"/>
              </a:rPr>
              <a:t>= 4 biến thể DDCNNV2 × 6 block stack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20" y="4480560"/>
            <a:ext cx="4937760" cy="0"/>
          </a:xfrm>
          <a:prstGeom prst="line">
            <a:avLst/>
          </a:prstGeom>
          <a:ln w="9525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1520" y="4617720"/>
            <a:ext cx="49377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0B5FFF"/>
                </a:solidFill>
                <a:latin typeface="Calibri"/>
              </a:rPr>
              <a:t>•  </a:t>
            </a:r>
            <a:r>
              <a:rPr sz="1300" b="1">
                <a:solidFill>
                  <a:srgbClr val="1F2A44"/>
                </a:solidFill>
                <a:latin typeface="Calibri"/>
              </a:rPr>
              <a:t>Hybrid: </a:t>
            </a:r>
            <a:r>
              <a:rPr sz="1300">
                <a:solidFill>
                  <a:srgbClr val="1F2A44"/>
                </a:solidFill>
                <a:latin typeface="Calibri"/>
              </a:rPr>
              <a:t>3D CNN + Transformer block.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0B5FFF"/>
                </a:solidFill>
                <a:latin typeface="Calibri"/>
              </a:rPr>
              <a:t>•  </a:t>
            </a:r>
            <a:r>
              <a:rPr sz="1300" b="1">
                <a:solidFill>
                  <a:srgbClr val="1F2A44"/>
                </a:solidFill>
                <a:latin typeface="Calibri"/>
              </a:rPr>
              <a:t>DDCNNV2: </a:t>
            </a:r>
            <a:r>
              <a:rPr sz="1300">
                <a:solidFill>
                  <a:srgbClr val="1F2A44"/>
                </a:solidFill>
                <a:latin typeface="Calibri"/>
              </a:rPr>
              <a:t>dilated conv + kernel factorization.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5FFF"/>
                </a:solidFill>
                <a:latin typeface="Calibri"/>
              </a:rPr>
              <a:t>Ba thành phần của NAS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331720"/>
            <a:ext cx="5486400" cy="123444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331720"/>
            <a:ext cx="182880" cy="123444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46888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Calibri"/>
              </a:rPr>
              <a:t>Search Space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880360"/>
            <a:ext cx="4937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B85"/>
                </a:solidFill>
                <a:latin typeface="Calibri"/>
              </a:rPr>
              <a:t>Tập hợp kiến trúc có thể tạo ra (83,9 M).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703320"/>
            <a:ext cx="5486400" cy="123444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3703320"/>
            <a:ext cx="182880" cy="123444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384048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Calibri"/>
              </a:rPr>
              <a:t>Search Strategy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251960"/>
            <a:ext cx="4937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B85"/>
                </a:solidFill>
                <a:latin typeface="Calibri"/>
              </a:rPr>
              <a:t>One-shot SuperNet: chia sẻ trọng số giữa các ứng viên.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5074920"/>
            <a:ext cx="5486400" cy="123444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5074920"/>
            <a:ext cx="182880" cy="123444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521208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A44"/>
                </a:solidFill>
                <a:latin typeface="Calibri"/>
              </a:rPr>
              <a:t>Performance Estimation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5623560"/>
            <a:ext cx="4937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B85"/>
                </a:solidFill>
                <a:latin typeface="Calibri"/>
              </a:rPr>
              <a:t>Early stopping + gradient-based refinement để đánh giá nhanh.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5FFF"/>
                </a:solidFill>
                <a:latin typeface="Calibri"/>
              </a:rPr>
              <a:t>CHƯƠNG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AutoShotV2 — cải tiến hàm mất mát &amp; nhãn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9525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6537960"/>
            <a:ext cx="11091672" cy="0"/>
          </a:xfrm>
          <a:prstGeom prst="line">
            <a:avLst/>
          </a:prstGeom>
          <a:ln w="6350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83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B85"/>
                </a:solidFill>
                <a:latin typeface="Calibri"/>
              </a:rPr>
              <a:t>AutoShotV2  |  HCMUS 04/2026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83680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B85"/>
                </a:solidFill>
                <a:latin typeface="Calibri"/>
              </a:rPr>
              <a:t>14 / 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37360"/>
            <a:ext cx="5486400" cy="448056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37360"/>
            <a:ext cx="5486400" cy="50292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FOCAL LOSS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423160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2A44"/>
                </a:solidFill>
                <a:latin typeface="Calibri"/>
              </a:rPr>
              <a:t>FL(p) = −α (1 − p)^γ log(p)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4612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B85"/>
                </a:solidFill>
                <a:latin typeface="Calibri"/>
              </a:rPr>
              <a:t>γ = 1.0, α = 0.5   (grid search)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40480"/>
            <a:ext cx="51206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0B5FFF"/>
                </a:solidFill>
                <a:latin typeface="Calibri"/>
              </a:rPr>
              <a:t>•  </a:t>
            </a:r>
            <a:r>
              <a:rPr sz="1400">
                <a:solidFill>
                  <a:srgbClr val="1F2A44"/>
                </a:solidFill>
                <a:latin typeface="Calibri"/>
              </a:rPr>
              <a:t>Giảm trọng số cho khung non-boundary (dễ).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0B5FFF"/>
                </a:solidFill>
                <a:latin typeface="Calibri"/>
              </a:rPr>
              <a:t>•  </a:t>
            </a:r>
            <a:r>
              <a:rPr sz="1400">
                <a:solidFill>
                  <a:srgbClr val="1F2A44"/>
                </a:solidFill>
                <a:latin typeface="Calibri"/>
              </a:rPr>
              <a:t>Tập trung học trên mẫu hard / boundary hiếm.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0B5FFF"/>
                </a:solidFill>
                <a:latin typeface="Calibri"/>
              </a:rPr>
              <a:t>•  </a:t>
            </a:r>
            <a:r>
              <a:rPr sz="1400">
                <a:solidFill>
                  <a:srgbClr val="1F2A44"/>
                </a:solidFill>
                <a:latin typeface="Calibri"/>
              </a:rPr>
              <a:t>Giải quyết mất cân bằng lớp nặng của SBD.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737360"/>
            <a:ext cx="5486400" cy="448056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737360"/>
            <a:ext cx="5486400" cy="502920"/>
          </a:xfrm>
          <a:prstGeom prst="rect">
            <a:avLst/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MANY-HOT LABELS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423160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F2A44"/>
                </a:solidFill>
                <a:latin typeface="Calibri"/>
              </a:rPr>
              <a:t>[…, 0, 0.5, 1.0, 0.5, 0, …]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24612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B85"/>
                </a:solidFill>
                <a:latin typeface="Calibri"/>
              </a:rPr>
              <a:t>thay vì {0, 1} cứng tại ranh giới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840480"/>
            <a:ext cx="51206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0B5FFF"/>
                </a:solidFill>
                <a:latin typeface="Calibri"/>
              </a:rPr>
              <a:t>•  </a:t>
            </a:r>
            <a:r>
              <a:rPr sz="1400">
                <a:solidFill>
                  <a:srgbClr val="1F2A44"/>
                </a:solidFill>
                <a:latin typeface="Calibri"/>
              </a:rPr>
              <a:t>Nhãn mềm quanh biên giúp mô hình học chuyển tiếp mượt.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0B5FFF"/>
                </a:solidFill>
                <a:latin typeface="Calibri"/>
              </a:rPr>
              <a:t>•  </a:t>
            </a:r>
            <a:r>
              <a:rPr sz="1400">
                <a:solidFill>
                  <a:srgbClr val="1F2A44"/>
                </a:solidFill>
                <a:latin typeface="Calibri"/>
              </a:rPr>
              <a:t>Giảm penalty khi dự đoán lệch 1 khung.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0B5FFF"/>
                </a:solidFill>
                <a:latin typeface="Calibri"/>
              </a:rPr>
              <a:t>•  </a:t>
            </a:r>
            <a:r>
              <a:rPr sz="1400">
                <a:solidFill>
                  <a:srgbClr val="1F2A44"/>
                </a:solidFill>
                <a:latin typeface="Calibri"/>
              </a:rPr>
              <a:t>Kết hợp song song với one-hot trong head hai đầu ra.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5FFF"/>
                </a:solidFill>
                <a:latin typeface="Calibri"/>
              </a:rPr>
              <a:t>CHƯƠNG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Hiệu chỉnh xác suất &amp; hậu xử lý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9525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6537960"/>
            <a:ext cx="11091672" cy="0"/>
          </a:xfrm>
          <a:prstGeom prst="line">
            <a:avLst/>
          </a:prstGeom>
          <a:ln w="6350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83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B85"/>
                </a:solidFill>
                <a:latin typeface="Calibri"/>
              </a:rPr>
              <a:t>AutoShotV2  |  HCMUS 04/2026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83680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B85"/>
                </a:solidFill>
                <a:latin typeface="Calibri"/>
              </a:rPr>
              <a:t>15 / 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37360"/>
            <a:ext cx="5486400" cy="448056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37360"/>
            <a:ext cx="5486400" cy="50292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TEMPERATURE SCALING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468880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F2A44"/>
                </a:solidFill>
                <a:latin typeface="Calibri"/>
              </a:rPr>
              <a:t>p = σ(z / 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8328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B85"/>
                </a:solidFill>
                <a:latin typeface="Calibri"/>
              </a:rPr>
              <a:t>Học T trên validation để confidence khớp tần suất đúng.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31920"/>
            <a:ext cx="51206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0B5FFF"/>
                </a:solidFill>
                <a:latin typeface="Calibri"/>
              </a:rPr>
              <a:t>•  </a:t>
            </a:r>
            <a:r>
              <a:rPr sz="1400" b="1">
                <a:solidFill>
                  <a:srgbClr val="1F2A44"/>
                </a:solidFill>
                <a:latin typeface="Calibri"/>
              </a:rPr>
              <a:t>Ngưỡng tối ưu dịch: </a:t>
            </a:r>
            <a:r>
              <a:rPr sz="1400">
                <a:solidFill>
                  <a:srgbClr val="1F2A44"/>
                </a:solidFill>
                <a:latin typeface="Calibri"/>
              </a:rPr>
              <a:t>0.296 → 0.02.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0B5FFF"/>
                </a:solidFill>
                <a:latin typeface="Calibri"/>
              </a:rPr>
              <a:t>•  </a:t>
            </a:r>
            <a:r>
              <a:rPr sz="1400">
                <a:solidFill>
                  <a:srgbClr val="1F2A44"/>
                </a:solidFill>
                <a:latin typeface="Calibri"/>
              </a:rPr>
              <a:t>Phân bố xác suất nhất quán hơn giữa các video.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0B5FFF"/>
                </a:solidFill>
                <a:latin typeface="Calibri"/>
              </a:rPr>
              <a:t>•  </a:t>
            </a:r>
            <a:r>
              <a:rPr sz="1400">
                <a:solidFill>
                  <a:srgbClr val="1F2A44"/>
                </a:solidFill>
                <a:latin typeface="Calibri"/>
              </a:rPr>
              <a:t>Dễ dàng hơn cho bước ngưỡng hóa.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737360"/>
            <a:ext cx="5486400" cy="448056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737360"/>
            <a:ext cx="5486400" cy="502920"/>
          </a:xfrm>
          <a:prstGeom prst="rect">
            <a:avLst/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GAUSSIAN SMOOTHING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468880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2A44"/>
                </a:solidFill>
                <a:latin typeface="Calibri"/>
              </a:rPr>
              <a:t>p̃ = Gaussian(p; σ = 2.0)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38328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B85"/>
                </a:solidFill>
                <a:latin typeface="Calibri"/>
              </a:rPr>
              <a:t>Tích chập 1-D trên chuỗi xác suất thời gian.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931920"/>
            <a:ext cx="51206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0B5FFF"/>
                </a:solidFill>
                <a:latin typeface="Calibri"/>
              </a:rPr>
              <a:t>•  </a:t>
            </a:r>
            <a:r>
              <a:rPr sz="1400">
                <a:solidFill>
                  <a:srgbClr val="1F2A44"/>
                </a:solidFill>
                <a:latin typeface="Calibri"/>
              </a:rPr>
              <a:t>Triệt tiêu false positive đơn lẻ.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0B5FFF"/>
                </a:solidFill>
                <a:latin typeface="Calibri"/>
              </a:rPr>
              <a:t>•  </a:t>
            </a:r>
            <a:r>
              <a:rPr sz="1400">
                <a:solidFill>
                  <a:srgbClr val="1F2A44"/>
                </a:solidFill>
                <a:latin typeface="Calibri"/>
              </a:rPr>
              <a:t>Giữ vùng đỉnh liên tục quanh boundary thật.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0B5FFF"/>
                </a:solidFill>
                <a:latin typeface="Calibri"/>
              </a:rPr>
              <a:t>•  </a:t>
            </a:r>
            <a:r>
              <a:rPr sz="1400" b="1">
                <a:solidFill>
                  <a:srgbClr val="1F2A44"/>
                </a:solidFill>
                <a:latin typeface="Calibri"/>
              </a:rPr>
              <a:t>Đóng góp rõ rệt nhất: </a:t>
            </a:r>
            <a:r>
              <a:rPr sz="1400">
                <a:solidFill>
                  <a:srgbClr val="1F2A44"/>
                </a:solidFill>
                <a:latin typeface="Calibri"/>
              </a:rPr>
              <a:t>+3.02% trên ClipShots.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5FFF"/>
                </a:solidFill>
                <a:latin typeface="Calibri"/>
              </a:rPr>
              <a:t>CHƯƠNG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Chiến lược huấn luyện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9525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6537960"/>
            <a:ext cx="11091672" cy="0"/>
          </a:xfrm>
          <a:prstGeom prst="line">
            <a:avLst/>
          </a:prstGeom>
          <a:ln w="6350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83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B85"/>
                </a:solidFill>
                <a:latin typeface="Calibri"/>
              </a:rPr>
              <a:t>AutoShotV2  |  HCMUS 04/2026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83680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B85"/>
                </a:solidFill>
                <a:latin typeface="Calibri"/>
              </a:rPr>
              <a:t>16 / 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5669280" cy="41148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830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Chiến lược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148840"/>
            <a:ext cx="5669280" cy="416052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53949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1">
                <a:solidFill>
                  <a:srgbClr val="0B5FFF"/>
                </a:solidFill>
                <a:latin typeface="Calibri"/>
              </a:rPr>
              <a:t>•  </a:t>
            </a:r>
            <a:r>
              <a:rPr sz="1400" b="1">
                <a:solidFill>
                  <a:srgbClr val="1F2A44"/>
                </a:solidFill>
                <a:latin typeface="Calibri"/>
              </a:rPr>
              <a:t>Backbone đóng băng: </a:t>
            </a:r>
            <a:r>
              <a:rPr sz="1400">
                <a:solidFill>
                  <a:srgbClr val="1F2A44"/>
                </a:solidFill>
                <a:latin typeface="Calibri"/>
              </a:rPr>
              <a:t>giữ nguyên trọng số AutoShot.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1">
                <a:solidFill>
                  <a:srgbClr val="0B5FFF"/>
                </a:solidFill>
                <a:latin typeface="Calibri"/>
              </a:rPr>
              <a:t>•  </a:t>
            </a:r>
            <a:r>
              <a:rPr sz="1400" b="1">
                <a:solidFill>
                  <a:srgbClr val="1F2A44"/>
                </a:solidFill>
                <a:latin typeface="Calibri"/>
              </a:rPr>
              <a:t>Chỉ huấn luyện ClassificationHead </a:t>
            </a:r>
            <a:r>
              <a:rPr sz="1400">
                <a:solidFill>
                  <a:srgbClr val="1F2A44"/>
                </a:solidFill>
                <a:latin typeface="Calibri"/>
              </a:rPr>
              <a:t>(input 4864-D).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1">
                <a:solidFill>
                  <a:srgbClr val="0B5FFF"/>
                </a:solidFill>
                <a:latin typeface="Calibri"/>
              </a:rPr>
              <a:t>•  </a:t>
            </a:r>
            <a:r>
              <a:rPr sz="1400" b="1">
                <a:solidFill>
                  <a:srgbClr val="1F2A44"/>
                </a:solidFill>
                <a:latin typeface="Calibri"/>
              </a:rPr>
              <a:t>Warm-up + cosine annealing </a:t>
            </a:r>
            <a:r>
              <a:rPr sz="1400">
                <a:solidFill>
                  <a:srgbClr val="1F2A44"/>
                </a:solidFill>
                <a:latin typeface="Calibri"/>
              </a:rPr>
              <a:t>learning rate.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1">
                <a:solidFill>
                  <a:srgbClr val="0B5FFF"/>
                </a:solidFill>
                <a:latin typeface="Calibri"/>
              </a:rPr>
              <a:t>•  </a:t>
            </a:r>
            <a:r>
              <a:rPr sz="1400" b="1">
                <a:solidFill>
                  <a:srgbClr val="1F2A44"/>
                </a:solidFill>
                <a:latin typeface="Calibri"/>
              </a:rPr>
              <a:t>Early stopping </a:t>
            </a:r>
            <a:r>
              <a:rPr sz="1400">
                <a:solidFill>
                  <a:srgbClr val="1F2A44"/>
                </a:solidFill>
                <a:latin typeface="Calibri"/>
              </a:rPr>
              <a:t>theo F1 trên validation.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1">
                <a:solidFill>
                  <a:srgbClr val="0B5FFF"/>
                </a:solidFill>
                <a:latin typeface="Calibri"/>
              </a:rPr>
              <a:t>•  </a:t>
            </a:r>
            <a:r>
              <a:rPr sz="1400" b="1">
                <a:solidFill>
                  <a:srgbClr val="1F2A44"/>
                </a:solidFill>
                <a:latin typeface="Calibri"/>
              </a:rPr>
              <a:t>Focal Loss + Many-hot labels </a:t>
            </a:r>
            <a:r>
              <a:rPr sz="1400">
                <a:solidFill>
                  <a:srgbClr val="1F2A44"/>
                </a:solidFill>
                <a:latin typeface="Calibri"/>
              </a:rPr>
              <a:t>kết hợp trong head 2 đầu ra.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737360"/>
            <a:ext cx="5212080" cy="411480"/>
          </a:xfrm>
          <a:prstGeom prst="rect">
            <a:avLst/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7830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Siêu tham số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240280"/>
            <a:ext cx="5212080" cy="5029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235000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Focal Loss 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35000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5FFF"/>
                </a:solidFill>
                <a:latin typeface="Calibri"/>
              </a:rPr>
              <a:t>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743200"/>
            <a:ext cx="52120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85292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Focal Loss 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285292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5FFF"/>
                </a:solidFill>
                <a:latin typeface="Calibri"/>
              </a:rPr>
              <a:t>0.5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246120"/>
            <a:ext cx="5212080" cy="5029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35584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Gaussian 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35584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5FFF"/>
                </a:solidFill>
                <a:latin typeface="Calibri"/>
              </a:rPr>
              <a:t>2.0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749040"/>
            <a:ext cx="52120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385876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Threshold (V2)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385876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5FFF"/>
                </a:solidFill>
                <a:latin typeface="Calibri"/>
              </a:rPr>
              <a:t>0.02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251960"/>
            <a:ext cx="5212080" cy="5029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436168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LR schedule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436168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5FFF"/>
                </a:solidFill>
                <a:latin typeface="Calibri"/>
              </a:rPr>
              <a:t>Warm-up + Cosine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4754880"/>
            <a:ext cx="52120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486460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Head size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486460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5FFF"/>
                </a:solidFill>
                <a:latin typeface="Calibri"/>
              </a:rPr>
              <a:t>4864 → 1024 → 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5FFF"/>
                </a:solidFill>
                <a:latin typeface="Calibri"/>
              </a:rPr>
              <a:t>CHƯƠNG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AutoShot vs AutoShotV2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9525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6537960"/>
            <a:ext cx="11091672" cy="0"/>
          </a:xfrm>
          <a:prstGeom prst="line">
            <a:avLst/>
          </a:prstGeom>
          <a:ln w="6350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83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B85"/>
                </a:solidFill>
                <a:latin typeface="Calibri"/>
              </a:rPr>
              <a:t>AutoShotV2  |  HCMUS 04/2026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83680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B85"/>
                </a:solidFill>
                <a:latin typeface="Calibri"/>
              </a:rPr>
              <a:t>17 / 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11064239" cy="5029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938528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Thành phần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1938528"/>
            <a:ext cx="3566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AutoShot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1938528"/>
            <a:ext cx="347471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AutoShotV2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31720"/>
            <a:ext cx="11064239" cy="5029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441448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Backbone NAS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2441448"/>
            <a:ext cx="3566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Huấn luyện full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2441448"/>
            <a:ext cx="347471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Đóng băng hoàn toàn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834640"/>
            <a:ext cx="11064239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944368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Classification head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2944368"/>
            <a:ext cx="3566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Lớp gốc, fc1_0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2944368"/>
            <a:ext cx="347471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Head mới (4864 → 1024 → 1)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337560"/>
            <a:ext cx="11064239" cy="5029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447288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Loss function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3447288"/>
            <a:ext cx="3566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Binary cross-entropy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3447288"/>
            <a:ext cx="347471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Focal Loss (γ=1.0, α=0.5)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840480"/>
            <a:ext cx="11064239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950208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Label format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3950208"/>
            <a:ext cx="3566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One-hot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3950208"/>
            <a:ext cx="347471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One-hot + Many-hot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343400"/>
            <a:ext cx="11064239" cy="5029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453128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Calibration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0520" y="4453128"/>
            <a:ext cx="3566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4453128"/>
            <a:ext cx="347471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Temperature scaling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846320"/>
            <a:ext cx="11064239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4956048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Post-processing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4956048"/>
            <a:ext cx="3566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1000" y="4956048"/>
            <a:ext cx="347471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Gaussian smoothing (σ=2.0)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349240"/>
            <a:ext cx="11064239" cy="502920"/>
          </a:xfrm>
          <a:prstGeom prst="rect">
            <a:avLst/>
          </a:prstGeom>
          <a:solidFill>
            <a:srgbClr val="E7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5458968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F1 trên SHOT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60520" y="5458968"/>
            <a:ext cx="3566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0.841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01000" y="5458968"/>
            <a:ext cx="347471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5FFF"/>
                </a:solidFill>
                <a:latin typeface="Calibri"/>
              </a:rPr>
              <a:t>0.855  (+1.4%)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5FFF"/>
                </a:solidFill>
                <a:latin typeface="Calibri"/>
              </a:rPr>
              <a:t>CHƯƠNG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Bộ dữ liệu SHOT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9525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6537960"/>
            <a:ext cx="11091672" cy="0"/>
          </a:xfrm>
          <a:prstGeom prst="line">
            <a:avLst/>
          </a:prstGeom>
          <a:ln w="6350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83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B85"/>
                </a:solidFill>
                <a:latin typeface="Calibri"/>
              </a:rPr>
              <a:t>AutoShotV2  |  HCMUS 04/2026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83680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B85"/>
                </a:solidFill>
                <a:latin typeface="Calibri"/>
              </a:rPr>
              <a:t>18 / 27</a:t>
            </a:r>
          </a:p>
        </p:txBody>
      </p:sp>
      <p:pic>
        <p:nvPicPr>
          <p:cNvPr id="10" name="Picture 9" descr="Anh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878" y="1737360"/>
            <a:ext cx="3336324" cy="4572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223760" y="1828800"/>
            <a:ext cx="4572000" cy="77724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196596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5FFF"/>
                </a:solidFill>
                <a:latin typeface="Calibri"/>
              </a:rPr>
              <a:t>853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202996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video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2697480"/>
            <a:ext cx="4572000" cy="77724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283464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5FFF"/>
                </a:solidFill>
                <a:latin typeface="Calibri"/>
              </a:rPr>
              <a:t>11.606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89864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nhãn boundary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3566160"/>
            <a:ext cx="4572000" cy="77724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370332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5FFF"/>
                </a:solidFill>
                <a:latin typeface="Calibri"/>
              </a:rPr>
              <a:t>960.794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376732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khung hình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23760" y="4434840"/>
            <a:ext cx="4572000" cy="77724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0" y="457200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5FFF"/>
                </a:solidFill>
                <a:latin typeface="Calibri"/>
              </a:rPr>
              <a:t>39,5 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463600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độ dài video TB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5303520"/>
            <a:ext cx="4572000" cy="77724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544068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5FFF"/>
                </a:solidFill>
                <a:latin typeface="Calibri"/>
              </a:rPr>
              <a:t>2,59 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550468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độ dài shot TB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5FFF"/>
                </a:solidFill>
                <a:latin typeface="Calibri"/>
              </a:rPr>
              <a:t>CHƯƠNG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Đặc trưng khó của SHOT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9525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6537960"/>
            <a:ext cx="11091672" cy="0"/>
          </a:xfrm>
          <a:prstGeom prst="line">
            <a:avLst/>
          </a:prstGeom>
          <a:ln w="6350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83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B85"/>
                </a:solidFill>
                <a:latin typeface="Calibri"/>
              </a:rPr>
              <a:t>AutoShotV2  |  HCMUS 04/2026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83680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B85"/>
                </a:solidFill>
                <a:latin typeface="Calibri"/>
              </a:rPr>
              <a:t>19 / 27</a:t>
            </a:r>
          </a:p>
        </p:txBody>
      </p:sp>
      <p:pic>
        <p:nvPicPr>
          <p:cNvPr id="10" name="Picture 9" descr="Anh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285" y="1737360"/>
            <a:ext cx="5571909" cy="457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38160" y="1828800"/>
            <a:ext cx="36576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1">
                <a:solidFill>
                  <a:srgbClr val="0B5FFF"/>
                </a:solidFill>
                <a:latin typeface="Calibri"/>
              </a:rPr>
              <a:t>•  </a:t>
            </a:r>
            <a:r>
              <a:rPr sz="1400" b="1">
                <a:solidFill>
                  <a:srgbClr val="1F2A44"/>
                </a:solidFill>
                <a:latin typeface="Calibri"/>
              </a:rPr>
              <a:t>Gradual phức tạp: </a:t>
            </a:r>
            <a:r>
              <a:rPr sz="1400">
                <a:solidFill>
                  <a:srgbClr val="1F2A44"/>
                </a:solidFill>
                <a:latin typeface="Calibri"/>
              </a:rPr>
              <a:t>dissolve / wipe chồng nhiều lớp.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1">
                <a:solidFill>
                  <a:srgbClr val="0B5FFF"/>
                </a:solidFill>
                <a:latin typeface="Calibri"/>
              </a:rPr>
              <a:t>•  </a:t>
            </a:r>
            <a:r>
              <a:rPr sz="1400" b="1">
                <a:solidFill>
                  <a:srgbClr val="1F2A44"/>
                </a:solidFill>
                <a:latin typeface="Calibri"/>
              </a:rPr>
              <a:t>Cấu trúc ba phần: </a:t>
            </a:r>
            <a:r>
              <a:rPr sz="1400">
                <a:solidFill>
                  <a:srgbClr val="1F2A44"/>
                </a:solidFill>
                <a:latin typeface="Calibri"/>
              </a:rPr>
              <a:t>viền tĩnh trên–dưới gây nhiễu.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1">
                <a:solidFill>
                  <a:srgbClr val="0B5FFF"/>
                </a:solidFill>
                <a:latin typeface="Calibri"/>
              </a:rPr>
              <a:t>•  </a:t>
            </a:r>
            <a:r>
              <a:rPr sz="1400" b="1">
                <a:solidFill>
                  <a:srgbClr val="1F2A44"/>
                </a:solidFill>
                <a:latin typeface="Calibri"/>
              </a:rPr>
              <a:t>Game / ảo: </a:t>
            </a:r>
            <a:r>
              <a:rPr sz="1400">
                <a:solidFill>
                  <a:srgbClr val="1F2A44"/>
                </a:solidFill>
                <a:latin typeface="Calibri"/>
              </a:rPr>
              <a:t>biến đổi nội bộ shot mạnh.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1">
                <a:solidFill>
                  <a:srgbClr val="0B5FFF"/>
                </a:solidFill>
                <a:latin typeface="Calibri"/>
              </a:rPr>
              <a:t>•  </a:t>
            </a:r>
            <a:r>
              <a:rPr sz="1400" b="1">
                <a:solidFill>
                  <a:srgbClr val="1F2A44"/>
                </a:solidFill>
                <a:latin typeface="Calibri"/>
              </a:rPr>
              <a:t>Camera motion: </a:t>
            </a:r>
            <a:r>
              <a:rPr sz="1400">
                <a:solidFill>
                  <a:srgbClr val="1F2A44"/>
                </a:solidFill>
                <a:latin typeface="Calibri"/>
              </a:rPr>
              <a:t>pan/zoom nhanh giống boundary.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1">
                <a:solidFill>
                  <a:srgbClr val="0B5FFF"/>
                </a:solidFill>
                <a:latin typeface="Calibri"/>
              </a:rPr>
              <a:t>•  </a:t>
            </a:r>
            <a:r>
              <a:rPr sz="1400" b="1">
                <a:solidFill>
                  <a:srgbClr val="1F2A44"/>
                </a:solidFill>
                <a:latin typeface="Calibri"/>
              </a:rPr>
              <a:t>Flash &amp; lighting: </a:t>
            </a:r>
            <a:r>
              <a:rPr sz="1400">
                <a:solidFill>
                  <a:srgbClr val="1F2A44"/>
                </a:solidFill>
                <a:latin typeface="Calibri"/>
              </a:rPr>
              <a:t>thay đổi đột ngột — false positive.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5FFF"/>
                </a:solidFill>
                <a:latin typeface="Calibri"/>
              </a:rPr>
              <a:t>CHƯƠNG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Các bộ dữ liệu đối chứng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9525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6537960"/>
            <a:ext cx="11091672" cy="0"/>
          </a:xfrm>
          <a:prstGeom prst="line">
            <a:avLst/>
          </a:prstGeom>
          <a:ln w="6350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83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B85"/>
                </a:solidFill>
                <a:latin typeface="Calibri"/>
              </a:rPr>
              <a:t>AutoShotV2  |  HCMUS 04/2026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83680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B85"/>
                </a:solidFill>
                <a:latin typeface="Calibri"/>
              </a:rPr>
              <a:t>20 / 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11064239" cy="54864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96596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Dataset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1965960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Số video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96596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Độ dài video TB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96596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Độ dài shot TB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1965960"/>
            <a:ext cx="34747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Đặc trưng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377440"/>
            <a:ext cx="11064239" cy="548640"/>
          </a:xfrm>
          <a:prstGeom prst="rect">
            <a:avLst/>
          </a:prstGeom>
          <a:solidFill>
            <a:srgbClr val="E7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532888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5FFF"/>
                </a:solidFill>
                <a:latin typeface="Calibri"/>
              </a:rPr>
              <a:t>SHOT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2532888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853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2532888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39,5 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2532888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2,59 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2532888"/>
            <a:ext cx="34747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Short-form đa nền tảng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926080"/>
            <a:ext cx="11064239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081528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BBC Planet Earth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3081528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3081528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≈ 49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3081528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6,57 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3081528"/>
            <a:ext cx="34747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Phim tài liệu thiên nhiên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474720"/>
            <a:ext cx="11064239" cy="5486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630168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RAI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3630168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94760" y="3630168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≈ 10 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20" y="3630168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5,65 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3630168"/>
            <a:ext cx="34747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TV giáo dục Ý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023360"/>
            <a:ext cx="11064239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4178808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ClipShots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31720" y="4178808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~500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94760" y="4178808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237 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89320" y="4178808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15,34 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4178808"/>
            <a:ext cx="34747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YouTube/Weibo đa dạng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9377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5FFF"/>
                </a:solidFill>
                <a:latin typeface="Calibri"/>
              </a:rPr>
              <a:t>Nhận xét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349240"/>
            <a:ext cx="110642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0B5FFF"/>
                </a:solidFill>
                <a:latin typeface="Calibri"/>
              </a:rPr>
              <a:t>•  </a:t>
            </a:r>
            <a:r>
              <a:rPr sz="1300">
                <a:solidFill>
                  <a:srgbClr val="1F2A44"/>
                </a:solidFill>
                <a:latin typeface="Calibri"/>
              </a:rPr>
              <a:t>SHOT có shot ngắn gấp 2–6 lần so với các bộ truyền thống → miền hoàn toàn khác.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0B5FFF"/>
                </a:solidFill>
                <a:latin typeface="Calibri"/>
              </a:rPr>
              <a:t>•  </a:t>
            </a:r>
            <a:r>
              <a:rPr sz="1300">
                <a:solidFill>
                  <a:srgbClr val="1F2A44"/>
                </a:solidFill>
                <a:latin typeface="Calibri"/>
              </a:rPr>
              <a:t>Đánh giá trên cả 4 bộ giúp đo kiểm khả năng tổng quát hóa của mô hình.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5FFF"/>
                </a:solidFill>
                <a:latin typeface="Calibri"/>
              </a:rPr>
              <a:t>CHƯƠNG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Độ đo đánh giá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9525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6537960"/>
            <a:ext cx="11091672" cy="0"/>
          </a:xfrm>
          <a:prstGeom prst="line">
            <a:avLst/>
          </a:prstGeom>
          <a:ln w="6350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83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B85"/>
                </a:solidFill>
                <a:latin typeface="Calibri"/>
              </a:rPr>
              <a:t>AutoShotV2  |  HCMUS 04/2026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83680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B85"/>
                </a:solidFill>
                <a:latin typeface="Calibri"/>
              </a:rPr>
              <a:t>21 / 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3657600" cy="310896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3657600" cy="54864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659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0604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F2A44"/>
                </a:solidFill>
                <a:latin typeface="Calibri"/>
              </a:rPr>
              <a:t>TP / (TP + FP)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" y="3520440"/>
            <a:ext cx="3200400" cy="0"/>
          </a:xfrm>
          <a:prstGeom prst="line">
            <a:avLst/>
          </a:prstGeom>
          <a:ln w="9525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365760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B6B85"/>
                </a:solidFill>
                <a:latin typeface="Calibri"/>
              </a:rPr>
              <a:t>Tỉ lệ dự đoán đúng trong số boundary dự đoán.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1828800"/>
            <a:ext cx="3657600" cy="310896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1828800"/>
            <a:ext cx="3657600" cy="54864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19659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Recall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60604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F2A44"/>
                </a:solidFill>
                <a:latin typeface="Calibri"/>
              </a:rPr>
              <a:t>TP / (TP + FN)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72000" y="3520440"/>
            <a:ext cx="3200400" cy="0"/>
          </a:xfrm>
          <a:prstGeom prst="line">
            <a:avLst/>
          </a:prstGeom>
          <a:ln w="9525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72000" y="365760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B6B85"/>
                </a:solidFill>
                <a:latin typeface="Calibri"/>
              </a:rPr>
              <a:t>Tỉ lệ boundary thật được phát hiện.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1828800"/>
            <a:ext cx="3657600" cy="310896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1828800"/>
            <a:ext cx="3657600" cy="548640"/>
          </a:xfrm>
          <a:prstGeom prst="rect">
            <a:avLst/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19659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F1-Score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260604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F2A44"/>
                </a:solidFill>
                <a:latin typeface="Calibri"/>
              </a:rPr>
              <a:t>2 · P · R / (P + R)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366760" y="3520440"/>
            <a:ext cx="3200400" cy="0"/>
          </a:xfrm>
          <a:prstGeom prst="line">
            <a:avLst/>
          </a:prstGeom>
          <a:ln w="9525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366760" y="365760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B6B85"/>
                </a:solidFill>
                <a:latin typeface="Calibri"/>
              </a:rPr>
              <a:t>Trung bình điều hòa — độ đo chính của SBD.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212080"/>
            <a:ext cx="11064240" cy="1188720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34924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7A45"/>
                </a:solidFill>
                <a:latin typeface="Calibri"/>
              </a:rPr>
              <a:t>Độ đo bổ sung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71500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Precision @ Fixed Recall  •  F1 riêng cho Cut vs Gradual  •  Đánh giá chéo SHOT / BBC / ClipShots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5FFF"/>
                </a:solidFill>
                <a:latin typeface="Calibri"/>
              </a:rPr>
              <a:t>CHƯƠNG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Kết quả chính trên SHOT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9525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6537960"/>
            <a:ext cx="11091672" cy="0"/>
          </a:xfrm>
          <a:prstGeom prst="line">
            <a:avLst/>
          </a:prstGeom>
          <a:ln w="6350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83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B85"/>
                </a:solidFill>
                <a:latin typeface="Calibri"/>
              </a:rPr>
              <a:t>AutoShotV2  |  HCMUS 04/2026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83680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B85"/>
                </a:solidFill>
                <a:latin typeface="Calibri"/>
              </a:rPr>
              <a:t>22 / 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5943600" cy="54864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965960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Mô hình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196596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77440"/>
            <a:ext cx="5943600" cy="5486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532888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TransNetV2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2532888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Calibri"/>
              </a:rPr>
              <a:t>0.799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926080"/>
            <a:ext cx="59436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081528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AutoShot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3081528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Calibri"/>
              </a:rPr>
              <a:t>0.841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474720"/>
            <a:ext cx="5943600" cy="5486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630168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Calibri"/>
              </a:rPr>
              <a:t>AutoShotV1 (+Gaussian)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3630168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Calibri"/>
              </a:rPr>
              <a:t>0.848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023360"/>
            <a:ext cx="5943600" cy="548640"/>
          </a:xfrm>
          <a:prstGeom prst="rect">
            <a:avLst/>
          </a:prstGeom>
          <a:solidFill>
            <a:srgbClr val="E7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178808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Calibri"/>
              </a:rPr>
              <a:t>AutoShotV2 (3 kỹ thuật)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4178808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B5FFF"/>
                </a:solidFill>
                <a:latin typeface="Calibri"/>
              </a:rPr>
              <a:t>0.855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1828800"/>
            <a:ext cx="4937760" cy="32004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03720" y="196596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B6B85"/>
                </a:solidFill>
                <a:latin typeface="Calibri"/>
              </a:rPr>
              <a:t>F1-score trên SHOT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578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A44"/>
                </a:solidFill>
                <a:latin typeface="Calibri"/>
              </a:rPr>
              <a:t>TransNetV2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80" y="2468880"/>
            <a:ext cx="1634398" cy="457200"/>
          </a:xfrm>
          <a:prstGeom prst="rect">
            <a:avLst/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81118" y="2578608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alibri"/>
              </a:rPr>
              <a:t>0.799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2644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A44"/>
                </a:solidFill>
                <a:latin typeface="Calibri"/>
              </a:rPr>
              <a:t>AutoShot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55280" y="3154680"/>
            <a:ext cx="2320747" cy="4572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67467" y="3264408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alibri"/>
              </a:rPr>
              <a:t>0.841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9502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A44"/>
                </a:solidFill>
                <a:latin typeface="Calibri"/>
              </a:rPr>
              <a:t>AutoShotV2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80" y="3840480"/>
            <a:ext cx="2544349" cy="457200"/>
          </a:xfrm>
          <a:prstGeom prst="rect">
            <a:avLst/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91069" y="3950208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alibri"/>
              </a:rPr>
              <a:t>0.855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955280" y="4526280"/>
            <a:ext cx="3291840" cy="0"/>
          </a:xfrm>
          <a:prstGeom prst="line">
            <a:avLst/>
          </a:prstGeom>
          <a:ln w="9525">
            <a:solidFill>
              <a:srgbClr val="5B6B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955280" y="4526280"/>
            <a:ext cx="0" cy="73152"/>
          </a:xfrm>
          <a:prstGeom prst="line">
            <a:avLst/>
          </a:prstGeom>
          <a:ln w="6350">
            <a:solidFill>
              <a:srgbClr val="5B6B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726680" y="46177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5B6B85"/>
                </a:solidFill>
                <a:latin typeface="Calibri"/>
              </a:rPr>
              <a:t>0.70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778240" y="4526280"/>
            <a:ext cx="0" cy="73152"/>
          </a:xfrm>
          <a:prstGeom prst="line">
            <a:avLst/>
          </a:prstGeom>
          <a:ln w="6350">
            <a:solidFill>
              <a:srgbClr val="5B6B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549640" y="46177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5B6B85"/>
                </a:solidFill>
                <a:latin typeface="Calibri"/>
              </a:rPr>
              <a:t>0.75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601200" y="4526280"/>
            <a:ext cx="0" cy="73152"/>
          </a:xfrm>
          <a:prstGeom prst="line">
            <a:avLst/>
          </a:prstGeom>
          <a:ln w="6350">
            <a:solidFill>
              <a:srgbClr val="5B6B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372600" y="46177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5B6B85"/>
                </a:solidFill>
                <a:latin typeface="Calibri"/>
              </a:rPr>
              <a:t>0.80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0424159" y="4526280"/>
            <a:ext cx="0" cy="73152"/>
          </a:xfrm>
          <a:prstGeom prst="line">
            <a:avLst/>
          </a:prstGeom>
          <a:ln w="6350">
            <a:solidFill>
              <a:srgbClr val="5B6B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0195559" y="46177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5B6B85"/>
                </a:solidFill>
                <a:latin typeface="Calibri"/>
              </a:rPr>
              <a:t>0.85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1247120" y="4526280"/>
            <a:ext cx="0" cy="73152"/>
          </a:xfrm>
          <a:prstGeom prst="line">
            <a:avLst/>
          </a:prstGeom>
          <a:ln w="6350">
            <a:solidFill>
              <a:srgbClr val="5B6B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1018520" y="46177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5B6B85"/>
                </a:solidFill>
                <a:latin typeface="Calibri"/>
              </a:rPr>
              <a:t>0.90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5486400"/>
            <a:ext cx="11064240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56235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7A45"/>
                </a:solidFill>
                <a:latin typeface="Calibri"/>
              </a:rPr>
              <a:t>Kết luận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594360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AutoShotV2 đạt F1 = 0.855 — cao nhất trên SHOT, +1.4% so với AutoShot gốc và +5.5% so với TransNetV2.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5FFF"/>
                </a:solidFill>
                <a:latin typeface="Calibri"/>
              </a:rPr>
              <a:t>CHƯƠNG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Kết quả trên BBC &amp; ClipShots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9525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6537960"/>
            <a:ext cx="11091672" cy="0"/>
          </a:xfrm>
          <a:prstGeom prst="line">
            <a:avLst/>
          </a:prstGeom>
          <a:ln w="6350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83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B85"/>
                </a:solidFill>
                <a:latin typeface="Calibri"/>
              </a:rPr>
              <a:t>AutoShotV2  |  HCMUS 04/2026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83680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B85"/>
                </a:solidFill>
                <a:latin typeface="Calibri"/>
              </a:rPr>
              <a:t>23 / 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8321040" cy="50292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938528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Mô hình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1938528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SHOT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1938528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BBC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1938528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ClipShots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331720"/>
            <a:ext cx="8321040" cy="5029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441448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TransNetV2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2441448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0.799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2441448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0.962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2441448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0.776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834640"/>
            <a:ext cx="83210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944368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AutoShot (báo cáo)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2944368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0.841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0" y="2944368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0.971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944368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0.787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337560"/>
            <a:ext cx="8321040" cy="5029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447288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AutoShot tự chạy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9080" y="3447288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0.841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5000" y="3447288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0.955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3447288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0.775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840480"/>
            <a:ext cx="83210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3950208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AutoShotV1 (Gaussian)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69080" y="3950208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0.848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15000" y="3950208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0.951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3950208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Calibri"/>
              </a:rPr>
              <a:t>0.799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343400"/>
            <a:ext cx="8321040" cy="502920"/>
          </a:xfrm>
          <a:prstGeom prst="rect">
            <a:avLst/>
          </a:prstGeom>
          <a:solidFill>
            <a:srgbClr val="E7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4453128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AutoShotV2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69080" y="4453128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5FFF"/>
                </a:solidFill>
                <a:latin typeface="Calibri"/>
              </a:rPr>
              <a:t>0.855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15000" y="4453128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5FFF"/>
                </a:solidFill>
                <a:latin typeface="Calibri"/>
              </a:rPr>
              <a:t>0.966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60920" y="4453128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5FFF"/>
                </a:solidFill>
                <a:latin typeface="Calibri"/>
              </a:rPr>
              <a:t>0.756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8463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5FFF"/>
                </a:solidFill>
                <a:latin typeface="Calibri"/>
              </a:rPr>
              <a:t>Phân tích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257800"/>
            <a:ext cx="110642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0B5FFF"/>
                </a:solidFill>
                <a:latin typeface="Calibri"/>
              </a:rPr>
              <a:t>•  </a:t>
            </a:r>
            <a:r>
              <a:rPr sz="1300" b="1">
                <a:solidFill>
                  <a:srgbClr val="1F2A44"/>
                </a:solidFill>
                <a:latin typeface="Calibri"/>
              </a:rPr>
              <a:t>Mạnh trên SHOT (miền mục tiêu): </a:t>
            </a:r>
            <a:r>
              <a:rPr sz="1300">
                <a:solidFill>
                  <a:srgbClr val="1F2A44"/>
                </a:solidFill>
                <a:latin typeface="Calibri"/>
              </a:rPr>
              <a:t>F1 tốt nhất (0.855).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0B5FFF"/>
                </a:solidFill>
                <a:latin typeface="Calibri"/>
              </a:rPr>
              <a:t>•  </a:t>
            </a:r>
            <a:r>
              <a:rPr sz="1300" b="1">
                <a:solidFill>
                  <a:srgbClr val="1F2A44"/>
                </a:solidFill>
                <a:latin typeface="Calibri"/>
              </a:rPr>
              <a:t>Vượt baseline trên BBC: </a:t>
            </a:r>
            <a:r>
              <a:rPr sz="1300">
                <a:solidFill>
                  <a:srgbClr val="1F2A44"/>
                </a:solidFill>
                <a:latin typeface="Calibri"/>
              </a:rPr>
              <a:t>AutoShotV2 (0.966) cao hơn TransNetV2 (0.962) và AutoShot tự chạy (0.955).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>
                <a:solidFill>
                  <a:srgbClr val="0B5FFF"/>
                </a:solidFill>
                <a:latin typeface="Calibri"/>
              </a:rPr>
              <a:t>•  </a:t>
            </a:r>
            <a:r>
              <a:rPr sz="1300" b="1">
                <a:solidFill>
                  <a:srgbClr val="1F2A44"/>
                </a:solidFill>
                <a:latin typeface="Calibri"/>
              </a:rPr>
              <a:t>Giảm trên ClipShots (−3.4%): </a:t>
            </a:r>
            <a:r>
              <a:rPr sz="1300">
                <a:solidFill>
                  <a:srgbClr val="1F2A44"/>
                </a:solidFill>
                <a:latin typeface="Calibri"/>
              </a:rPr>
              <a:t>post-processing tối ưu cho SHOT chưa chuyển dịch sang miền video web đa dạng.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5FFF"/>
                </a:solidFill>
                <a:latin typeface="Calibri"/>
              </a:rPr>
              <a:t>CHƯƠNG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Ablation &amp; minh họa dự đoán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9525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6537960"/>
            <a:ext cx="11091672" cy="0"/>
          </a:xfrm>
          <a:prstGeom prst="line">
            <a:avLst/>
          </a:prstGeom>
          <a:ln w="6350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83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B85"/>
                </a:solidFill>
                <a:latin typeface="Calibri"/>
              </a:rPr>
              <a:t>AutoShotV2  |  HCMUS 04/2026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83680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B85"/>
                </a:solidFill>
                <a:latin typeface="Calibri"/>
              </a:rPr>
              <a:t>24 / 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5852160" cy="50292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938528"/>
            <a:ext cx="307238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Cấu hình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0208" y="1938528"/>
            <a:ext cx="9692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F1 SHOT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38928" y="1938528"/>
            <a:ext cx="115214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Δ vs AutoShot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31720"/>
            <a:ext cx="5852160" cy="5029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441448"/>
            <a:ext cx="307238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alibri"/>
              </a:rPr>
              <a:t>A1 — BCE + one-hot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50208" y="2441448"/>
            <a:ext cx="9692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Calibri"/>
              </a:rPr>
              <a:t>0.838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2441448"/>
            <a:ext cx="115214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Calibri"/>
              </a:rPr>
              <a:t>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834640"/>
            <a:ext cx="58521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944368"/>
            <a:ext cx="307238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alibri"/>
              </a:rPr>
              <a:t>B4 — Temperature + Gaussian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50208" y="2944368"/>
            <a:ext cx="9692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Calibri"/>
              </a:rPr>
              <a:t>0.854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38928" y="2944368"/>
            <a:ext cx="115214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Calibri"/>
              </a:rPr>
              <a:t>+1.6%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337560"/>
            <a:ext cx="5852160" cy="502920"/>
          </a:xfrm>
          <a:prstGeom prst="rect">
            <a:avLst/>
          </a:prstGeom>
          <a:solidFill>
            <a:srgbClr val="E7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447288"/>
            <a:ext cx="307238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alibri"/>
              </a:rPr>
              <a:t>B5 — Full candidate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0208" y="3447288"/>
            <a:ext cx="9692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5FFF"/>
                </a:solidFill>
                <a:latin typeface="Calibri"/>
              </a:rPr>
              <a:t>0.854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38928" y="3447288"/>
            <a:ext cx="115214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5FFF"/>
                </a:solidFill>
                <a:latin typeface="Calibri"/>
              </a:rPr>
              <a:t>+1.6%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65760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5FFF"/>
                </a:solidFill>
                <a:latin typeface="Calibri"/>
              </a:rPr>
              <a:t>Quan sát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069080"/>
            <a:ext cx="585216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1">
                <a:solidFill>
                  <a:srgbClr val="0B5FFF"/>
                </a:solidFill>
                <a:latin typeface="Calibri"/>
              </a:rPr>
              <a:t>•  </a:t>
            </a:r>
            <a:r>
              <a:rPr sz="1200" b="1">
                <a:solidFill>
                  <a:srgbClr val="1F2A44"/>
                </a:solidFill>
                <a:latin typeface="Calibri"/>
              </a:rPr>
              <a:t>Gaussian smoothing: </a:t>
            </a:r>
            <a:r>
              <a:rPr sz="1200">
                <a:solidFill>
                  <a:srgbClr val="1F2A44"/>
                </a:solidFill>
                <a:latin typeface="Calibri"/>
              </a:rPr>
              <a:t>cải tiến ổn định nhất qua các miền.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1">
                <a:solidFill>
                  <a:srgbClr val="0B5FFF"/>
                </a:solidFill>
                <a:latin typeface="Calibri"/>
              </a:rPr>
              <a:t>•  </a:t>
            </a:r>
            <a:r>
              <a:rPr sz="1200" b="1">
                <a:solidFill>
                  <a:srgbClr val="1F2A44"/>
                </a:solidFill>
                <a:latin typeface="Calibri"/>
              </a:rPr>
              <a:t>Focal + many-hot + temp: </a:t>
            </a:r>
            <a:r>
              <a:rPr sz="1200">
                <a:solidFill>
                  <a:srgbClr val="1F2A44"/>
                </a:solidFill>
                <a:latin typeface="Calibri"/>
              </a:rPr>
              <a:t>tăng rõ trên SHOT.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1">
                <a:solidFill>
                  <a:srgbClr val="0B5FFF"/>
                </a:solidFill>
                <a:latin typeface="Calibri"/>
              </a:rPr>
              <a:t>•  </a:t>
            </a:r>
            <a:r>
              <a:rPr sz="1200" b="1">
                <a:solidFill>
                  <a:srgbClr val="1F2A44"/>
                </a:solidFill>
                <a:latin typeface="Calibri"/>
              </a:rPr>
              <a:t>Trade-off: </a:t>
            </a:r>
            <a:r>
              <a:rPr sz="1200">
                <a:solidFill>
                  <a:srgbClr val="1F2A44"/>
                </a:solidFill>
                <a:latin typeface="Calibri"/>
              </a:rPr>
              <a:t>cấu hình tối ưu cho SHOT làm giảm ClipShots.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18288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B5FFF"/>
                </a:solidFill>
                <a:latin typeface="Calibri"/>
              </a:rPr>
              <a:t>Ví dụ boundary dự đoán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0" y="2240280"/>
            <a:ext cx="4754880" cy="196596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cut_tran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3027052"/>
            <a:ext cx="2743200" cy="39241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784080" y="2606040"/>
            <a:ext cx="19202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Calibri"/>
              </a:rPr>
              <a:t>Cut — AutoShotV2 dự đoán đúng (p ≈ 0.93).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0" y="4434840"/>
            <a:ext cx="4754880" cy="196596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dissol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5217420"/>
            <a:ext cx="2743200" cy="4008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784080" y="4800600"/>
            <a:ext cx="19202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Calibri"/>
              </a:rPr>
              <a:t>Dissolve — nhiều khung cùng có p cao; Gaussian giữ đỉnh.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5FFF"/>
                </a:solidFill>
                <a:latin typeface="Calibri"/>
              </a:rPr>
              <a:t>CHƯƠNG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Kết luận &amp; đóng góp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9525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6537960"/>
            <a:ext cx="11091672" cy="0"/>
          </a:xfrm>
          <a:prstGeom prst="line">
            <a:avLst/>
          </a:prstGeom>
          <a:ln w="6350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83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B85"/>
                </a:solidFill>
                <a:latin typeface="Calibri"/>
              </a:rPr>
              <a:t>AutoShotV2  |  HCMUS 04/2026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83680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B85"/>
                </a:solidFill>
                <a:latin typeface="Calibri"/>
              </a:rPr>
              <a:t>25 / 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3566160" cy="237744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103120"/>
            <a:ext cx="822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5FFF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8803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A44"/>
                </a:solidFill>
                <a:latin typeface="Calibri"/>
              </a:rPr>
              <a:t>Tổng quan hệ thống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9184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B85"/>
                </a:solidFill>
                <a:latin typeface="Calibri"/>
              </a:rPr>
              <a:t>Khảo sát SBD từ phương pháp cổ điển đến NAS.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828800"/>
            <a:ext cx="3566160" cy="237744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103120"/>
            <a:ext cx="822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5FFF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8803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A44"/>
                </a:solidFill>
                <a:latin typeface="Calibri"/>
              </a:rPr>
              <a:t>Pipeline AutoShotV2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29184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B85"/>
                </a:solidFill>
                <a:latin typeface="Calibri"/>
              </a:rPr>
              <a:t>Focal + many-hot + temp scaling + Gaussian trên backbone NAS đóng băng.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828800"/>
            <a:ext cx="3566160" cy="237744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103120"/>
            <a:ext cx="822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5FFF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8803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A44"/>
                </a:solidFill>
                <a:latin typeface="Calibri"/>
              </a:rPr>
              <a:t>Hiệu năng vượt trội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29184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B85"/>
                </a:solidFill>
                <a:latin typeface="Calibri"/>
              </a:rPr>
              <a:t>F1 = 0.855 trên SHOT — SOTA cho short-form.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572000"/>
            <a:ext cx="11064240" cy="1554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7548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7A45"/>
                </a:solidFill>
                <a:latin typeface="Calibri"/>
              </a:rPr>
              <a:t>Thông điệp chính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12064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Không cần thay đổi backbone — chỉ với classification head + hiệu chỉnh xác suất + hậu xử lý phù hợp, ta đã cải thiện F1 trên video ngắn một cách rõ rệt.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5FFF"/>
                </a:solidFill>
                <a:latin typeface="Calibri"/>
              </a:rPr>
              <a:t>CHƯƠNG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Hạn chế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9525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6537960"/>
            <a:ext cx="11091672" cy="0"/>
          </a:xfrm>
          <a:prstGeom prst="line">
            <a:avLst/>
          </a:prstGeom>
          <a:ln w="6350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83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B85"/>
                </a:solidFill>
                <a:latin typeface="Calibri"/>
              </a:rPr>
              <a:t>AutoShotV2  |  HCMUS 04/2026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83680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B85"/>
                </a:solidFill>
                <a:latin typeface="Calibri"/>
              </a:rPr>
              <a:t>26 / 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914400" cy="777240"/>
          </a:xfrm>
          <a:prstGeom prst="roundRect">
            <a:avLst>
              <a:gd name="adj" fmla="val 12000"/>
            </a:avLst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0116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874520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A44"/>
                </a:solidFill>
                <a:latin typeface="Calibri"/>
              </a:rPr>
              <a:t>Chi phí GPU cho NAS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240280"/>
            <a:ext cx="9966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B85"/>
                </a:solidFill>
                <a:latin typeface="Calibri"/>
              </a:rPr>
              <a:t>Tìm kiếm kiến trúc vẫn tốn hàng chục giờ GPU — khó mở rộng.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697480"/>
            <a:ext cx="914400" cy="777240"/>
          </a:xfrm>
          <a:prstGeom prst="roundRect">
            <a:avLst>
              <a:gd name="adj" fmla="val 12000"/>
            </a:avLst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88036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743200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A44"/>
                </a:solidFill>
                <a:latin typeface="Calibri"/>
              </a:rPr>
              <a:t>False positive với flash &amp; motion mạnh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108960"/>
            <a:ext cx="9966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B85"/>
                </a:solidFill>
                <a:latin typeface="Calibri"/>
              </a:rPr>
              <a:t>Camera shake / flash vẫn nhầm thành boundary.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66160"/>
            <a:ext cx="914400" cy="777240"/>
          </a:xfrm>
          <a:prstGeom prst="roundRect">
            <a:avLst>
              <a:gd name="adj" fmla="val 12000"/>
            </a:avLst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7490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611880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A44"/>
                </a:solidFill>
                <a:latin typeface="Calibri"/>
              </a:rPr>
              <a:t>Recall gradual còn thấp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977640"/>
            <a:ext cx="9966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B85"/>
                </a:solidFill>
                <a:latin typeface="Calibri"/>
              </a:rPr>
              <a:t>Chuyển cảnh dần khó hơn cut — cần đặc trưng dài hạn hơn.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434840"/>
            <a:ext cx="914400" cy="777240"/>
          </a:xfrm>
          <a:prstGeom prst="roundRect">
            <a:avLst>
              <a:gd name="adj" fmla="val 12000"/>
            </a:avLst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6177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480560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A44"/>
                </a:solidFill>
                <a:latin typeface="Calibri"/>
              </a:rPr>
              <a:t>Domain shift trên ClipShots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4846320"/>
            <a:ext cx="9966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B85"/>
                </a:solidFill>
                <a:latin typeface="Calibri"/>
              </a:rPr>
              <a:t>Cấu hình tối ưu cho SHOT giảm F1 trên ClipShots −3.4pp; recall gradual chỉ 4.4% là nút thắt chính.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303520"/>
            <a:ext cx="914400" cy="777240"/>
          </a:xfrm>
          <a:prstGeom prst="roundRect">
            <a:avLst>
              <a:gd name="adj" fmla="val 12000"/>
            </a:avLst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48640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5349240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A44"/>
                </a:solidFill>
                <a:latin typeface="Calibri"/>
              </a:rPr>
              <a:t>Không đầy đủ ablation đa miền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5715000"/>
            <a:ext cx="9966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6B85"/>
                </a:solidFill>
                <a:latin typeface="Calibri"/>
              </a:rPr>
              <a:t>Chưa chạy lại ma trận ablation trên tất cả dataset do giới hạn compute.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B5FFF"/>
                </a:solidFill>
                <a:latin typeface="Calibri"/>
              </a:rPr>
              <a:t>CHƯƠNG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Hướng phát triển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25880"/>
            <a:ext cx="11091672" cy="0"/>
          </a:xfrm>
          <a:prstGeom prst="line">
            <a:avLst/>
          </a:prstGeom>
          <a:ln w="9525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6537960"/>
            <a:ext cx="11091672" cy="0"/>
          </a:xfrm>
          <a:prstGeom prst="line">
            <a:avLst/>
          </a:prstGeom>
          <a:ln w="6350">
            <a:solidFill>
              <a:srgbClr val="E1E6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83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B6B85"/>
                </a:solidFill>
                <a:latin typeface="Calibri"/>
              </a:rPr>
              <a:t>AutoShotV2  |  HCMUS 04/2026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83680"/>
            <a:ext cx="1124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B6B85"/>
                </a:solidFill>
                <a:latin typeface="Calibri"/>
              </a:rPr>
              <a:t>27 / 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3657600" cy="214884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182880" cy="214884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1031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A44"/>
                </a:solidFill>
                <a:latin typeface="Calibri"/>
              </a:rPr>
              <a:t>Real-time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4400" y="2651760"/>
            <a:ext cx="1005840" cy="0"/>
          </a:xfrm>
          <a:prstGeom prst="line">
            <a:avLst/>
          </a:prstGeom>
          <a:ln w="25400">
            <a:solidFill>
              <a:srgbClr val="0B5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4400" y="2834640"/>
            <a:ext cx="31089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B6B85"/>
                </a:solidFill>
                <a:latin typeface="Calibri"/>
              </a:rPr>
              <a:t>Prune • Quantize • Distill cho edge device.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1828800"/>
            <a:ext cx="3657600" cy="214884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1828800"/>
            <a:ext cx="182880" cy="214884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21031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A44"/>
                </a:solidFill>
                <a:latin typeface="Calibri"/>
              </a:rPr>
              <a:t>Multimodal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754880" y="2651760"/>
            <a:ext cx="1005840" cy="0"/>
          </a:xfrm>
          <a:prstGeom prst="line">
            <a:avLst/>
          </a:prstGeom>
          <a:ln w="25400">
            <a:solidFill>
              <a:srgbClr val="0B5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754880" y="2834640"/>
            <a:ext cx="31089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B6B85"/>
                </a:solidFill>
                <a:latin typeface="Calibri"/>
              </a:rPr>
              <a:t>Tích hợp audio + motion vector tăng độ bền vững.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1828800"/>
            <a:ext cx="3657600" cy="214884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828800"/>
            <a:ext cx="182880" cy="214884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0" y="21031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A44"/>
                </a:solidFill>
                <a:latin typeface="Calibri"/>
              </a:rPr>
              <a:t>Domain adaptation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595360" y="2651760"/>
            <a:ext cx="1005840" cy="0"/>
          </a:xfrm>
          <a:prstGeom prst="line">
            <a:avLst/>
          </a:prstGeom>
          <a:ln w="25400">
            <a:solidFill>
              <a:srgbClr val="0B5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595360" y="2834640"/>
            <a:ext cx="31089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B6B85"/>
                </a:solidFill>
                <a:latin typeface="Calibri"/>
              </a:rPr>
              <a:t>Thích ứng đa nền tảng (TikTok ↔ YouTube ↔ phim dài).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160520"/>
            <a:ext cx="3657600" cy="214884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160520"/>
            <a:ext cx="182880" cy="214884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4348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A44"/>
                </a:solidFill>
                <a:latin typeface="Calibri"/>
              </a:rPr>
              <a:t>Fine-grained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14400" y="4983480"/>
            <a:ext cx="1005840" cy="0"/>
          </a:xfrm>
          <a:prstGeom prst="line">
            <a:avLst/>
          </a:prstGeom>
          <a:ln w="25400">
            <a:solidFill>
              <a:srgbClr val="0B5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" y="5166360"/>
            <a:ext cx="31089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B6B85"/>
                </a:solidFill>
                <a:latin typeface="Calibri"/>
              </a:rPr>
              <a:t>Nhận dạng loại gradual cụ thể (Dissolve vs Wipe).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4160520"/>
            <a:ext cx="3657600" cy="214884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89120" y="4160520"/>
            <a:ext cx="182880" cy="214884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0" y="44348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A44"/>
                </a:solidFill>
                <a:latin typeface="Calibri"/>
              </a:rPr>
              <a:t>Self-supervised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754880" y="4983480"/>
            <a:ext cx="1005840" cy="0"/>
          </a:xfrm>
          <a:prstGeom prst="line">
            <a:avLst/>
          </a:prstGeom>
          <a:ln w="25400">
            <a:solidFill>
              <a:srgbClr val="0B5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754880" y="5166360"/>
            <a:ext cx="31089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B6B85"/>
                </a:solidFill>
                <a:latin typeface="Calibri"/>
              </a:rPr>
              <a:t>Tận dụng video chưa gán nhãn — pretext boundary-aware.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